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4"/>
  </p:sldMasterIdLst>
  <p:notesMasterIdLst>
    <p:notesMasterId r:id="rId63"/>
  </p:notesMasterIdLst>
  <p:handoutMasterIdLst>
    <p:handoutMasterId r:id="rId64"/>
  </p:handoutMasterIdLst>
  <p:sldIdLst>
    <p:sldId id="310" r:id="rId5"/>
    <p:sldId id="311" r:id="rId6"/>
    <p:sldId id="312" r:id="rId7"/>
    <p:sldId id="313" r:id="rId8"/>
    <p:sldId id="355" r:id="rId9"/>
    <p:sldId id="352" r:id="rId10"/>
    <p:sldId id="353" r:id="rId11"/>
    <p:sldId id="354" r:id="rId12"/>
    <p:sldId id="314" r:id="rId13"/>
    <p:sldId id="318" r:id="rId14"/>
    <p:sldId id="365" r:id="rId15"/>
    <p:sldId id="366" r:id="rId16"/>
    <p:sldId id="317" r:id="rId17"/>
    <p:sldId id="328" r:id="rId18"/>
    <p:sldId id="329" r:id="rId19"/>
    <p:sldId id="335" r:id="rId20"/>
    <p:sldId id="336" r:id="rId21"/>
    <p:sldId id="337" r:id="rId22"/>
    <p:sldId id="338" r:id="rId23"/>
    <p:sldId id="330" r:id="rId24"/>
    <p:sldId id="342" r:id="rId25"/>
    <p:sldId id="363" r:id="rId26"/>
    <p:sldId id="364" r:id="rId27"/>
    <p:sldId id="362" r:id="rId28"/>
    <p:sldId id="344" r:id="rId29"/>
    <p:sldId id="341" r:id="rId30"/>
    <p:sldId id="340" r:id="rId31"/>
    <p:sldId id="343" r:id="rId32"/>
    <p:sldId id="316" r:id="rId33"/>
    <p:sldId id="315" r:id="rId34"/>
    <p:sldId id="320" r:id="rId35"/>
    <p:sldId id="339" r:id="rId36"/>
    <p:sldId id="356" r:id="rId37"/>
    <p:sldId id="319" r:id="rId38"/>
    <p:sldId id="358" r:id="rId39"/>
    <p:sldId id="359" r:id="rId40"/>
    <p:sldId id="357" r:id="rId41"/>
    <p:sldId id="360" r:id="rId42"/>
    <p:sldId id="321" r:id="rId43"/>
    <p:sldId id="361" r:id="rId44"/>
    <p:sldId id="325" r:id="rId45"/>
    <p:sldId id="326" r:id="rId46"/>
    <p:sldId id="322" r:id="rId47"/>
    <p:sldId id="323" r:id="rId48"/>
    <p:sldId id="324" r:id="rId49"/>
    <p:sldId id="327" r:id="rId50"/>
    <p:sldId id="331" r:id="rId51"/>
    <p:sldId id="347" r:id="rId52"/>
    <p:sldId id="349" r:id="rId53"/>
    <p:sldId id="348" r:id="rId54"/>
    <p:sldId id="351" r:id="rId55"/>
    <p:sldId id="367" r:id="rId56"/>
    <p:sldId id="346" r:id="rId57"/>
    <p:sldId id="368" r:id="rId58"/>
    <p:sldId id="333" r:id="rId59"/>
    <p:sldId id="334" r:id="rId60"/>
    <p:sldId id="332" r:id="rId61"/>
    <p:sldId id="345" r:id="rId62"/>
  </p:sldIdLst>
  <p:sldSz cx="9144000" cy="6858000" type="screen4x3"/>
  <p:notesSz cx="6759575" cy="9867900"/>
  <p:defaultTextStyle>
    <a:defPPr>
      <a:defRPr lang="ru-RU"/>
    </a:defPPr>
    <a:lvl1pPr algn="l" rtl="0" fontAlgn="base">
      <a:spcBef>
        <a:spcPct val="0"/>
      </a:spcBef>
      <a:spcAft>
        <a:spcPct val="0"/>
      </a:spcAft>
      <a:defRPr sz="2400" kern="1200">
        <a:solidFill>
          <a:schemeClr val="tx1"/>
        </a:solidFill>
        <a:latin typeface="Times New Roman" pitchFamily="18" charset="0"/>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C016E7D-43F1-4195-8379-FAF21B0F7501}" v="1" dt="2024-11-21T14:19:25.854"/>
  </p1510:revLst>
</p1510:revInfo>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144" autoAdjust="0"/>
    <p:restoredTop sz="90708" autoAdjust="0"/>
  </p:normalViewPr>
  <p:slideViewPr>
    <p:cSldViewPr>
      <p:cViewPr varScale="1">
        <p:scale>
          <a:sx n="103" d="100"/>
          <a:sy n="103" d="100"/>
        </p:scale>
        <p:origin x="1824"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notesMaster" Target="notesMasters/notesMaster1.xml"/><Relationship Id="rId68"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viewProps" Target="viewProp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handoutMaster" Target="handoutMasters/handoutMaster1.xml"/><Relationship Id="rId69" Type="http://schemas.microsoft.com/office/2016/11/relationships/changesInfo" Target="changesInfos/changesInfo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Сидоренко Валентина Геннадьевна" userId="S::sidorenko_v@edu.rut-miit.ru::9fd89ba1-258d-4f41-8d6a-6540ac52a2c2" providerId="AD" clId="Web-{F6232239-48D1-4992-B6AB-B123629098BC}"/>
    <pc:docChg chg="addSld modSld">
      <pc:chgData name="Сидоренко Валентина Геннадьевна" userId="S::sidorenko_v@edu.rut-miit.ru::9fd89ba1-258d-4f41-8d6a-6540ac52a2c2" providerId="AD" clId="Web-{F6232239-48D1-4992-B6AB-B123629098BC}" dt="2022-08-10T14:21:28.767" v="16"/>
      <pc:docMkLst>
        <pc:docMk/>
      </pc:docMkLst>
      <pc:sldChg chg="addSp delSp modSp add replId">
        <pc:chgData name="Сидоренко Валентина Геннадьевна" userId="S::sidorenko_v@edu.rut-miit.ru::9fd89ba1-258d-4f41-8d6a-6540ac52a2c2" providerId="AD" clId="Web-{F6232239-48D1-4992-B6AB-B123629098BC}" dt="2022-08-10T14:21:28.767" v="16"/>
        <pc:sldMkLst>
          <pc:docMk/>
          <pc:sldMk cId="1137736846" sldId="365"/>
        </pc:sldMkLst>
        <pc:spChg chg="del">
          <ac:chgData name="Сидоренко Валентина Геннадьевна" userId="S::sidorenko_v@edu.rut-miit.ru::9fd89ba1-258d-4f41-8d6a-6540ac52a2c2" providerId="AD" clId="Web-{F6232239-48D1-4992-B6AB-B123629098BC}" dt="2022-08-10T14:21:15.830" v="13"/>
          <ac:spMkLst>
            <pc:docMk/>
            <pc:sldMk cId="1137736846" sldId="365"/>
            <ac:spMk id="9221" creationId="{00000000-0000-0000-0000-000000000000}"/>
          </ac:spMkLst>
        </pc:spChg>
        <pc:picChg chg="add del mod">
          <ac:chgData name="Сидоренко Валентина Геннадьевна" userId="S::sidorenko_v@edu.rut-miit.ru::9fd89ba1-258d-4f41-8d6a-6540ac52a2c2" providerId="AD" clId="Web-{F6232239-48D1-4992-B6AB-B123629098BC}" dt="2022-08-10T14:21:28.767" v="16"/>
          <ac:picMkLst>
            <pc:docMk/>
            <pc:sldMk cId="1137736846" sldId="365"/>
            <ac:picMk id="2" creationId="{40605581-CDCE-A4A5-7560-E2F8AAC7FE2B}"/>
          </ac:picMkLst>
        </pc:picChg>
        <pc:picChg chg="del">
          <ac:chgData name="Сидоренко Валентина Геннадьевна" userId="S::sidorenko_v@edu.rut-miit.ru::9fd89ba1-258d-4f41-8d6a-6540ac52a2c2" providerId="AD" clId="Web-{F6232239-48D1-4992-B6AB-B123629098BC}" dt="2022-08-10T14:20:53.861" v="2"/>
          <ac:picMkLst>
            <pc:docMk/>
            <pc:sldMk cId="1137736846" sldId="365"/>
            <ac:picMk id="15" creationId="{00000000-0000-0000-0000-000000000000}"/>
          </ac:picMkLst>
        </pc:picChg>
      </pc:sldChg>
      <pc:sldChg chg="delSp modSp add replId">
        <pc:chgData name="Сидоренко Валентина Геннадьевна" userId="S::sidorenko_v@edu.rut-miit.ru::9fd89ba1-258d-4f41-8d6a-6540ac52a2c2" providerId="AD" clId="Web-{F6232239-48D1-4992-B6AB-B123629098BC}" dt="2022-08-10T14:21:22.408" v="14" actId="14100"/>
        <pc:sldMkLst>
          <pc:docMk/>
          <pc:sldMk cId="1491622081" sldId="366"/>
        </pc:sldMkLst>
        <pc:spChg chg="mod">
          <ac:chgData name="Сидоренко Валентина Геннадьевна" userId="S::sidorenko_v@edu.rut-miit.ru::9fd89ba1-258d-4f41-8d6a-6540ac52a2c2" providerId="AD" clId="Web-{F6232239-48D1-4992-B6AB-B123629098BC}" dt="2022-08-10T14:21:22.408" v="14" actId="14100"/>
          <ac:spMkLst>
            <pc:docMk/>
            <pc:sldMk cId="1491622081" sldId="366"/>
            <ac:spMk id="9221" creationId="{00000000-0000-0000-0000-000000000000}"/>
          </ac:spMkLst>
        </pc:spChg>
        <pc:picChg chg="del">
          <ac:chgData name="Сидоренко Валентина Геннадьевна" userId="S::sidorenko_v@edu.rut-miit.ru::9fd89ba1-258d-4f41-8d6a-6540ac52a2c2" providerId="AD" clId="Web-{F6232239-48D1-4992-B6AB-B123629098BC}" dt="2022-08-10T14:20:55.642" v="3"/>
          <ac:picMkLst>
            <pc:docMk/>
            <pc:sldMk cId="1491622081" sldId="366"/>
            <ac:picMk id="15" creationId="{00000000-0000-0000-0000-000000000000}"/>
          </ac:picMkLst>
        </pc:picChg>
      </pc:sldChg>
    </pc:docChg>
  </pc:docChgLst>
  <pc:docChgLst>
    <pc:chgData name="Сидоренко Валентина Геннадьевна" userId="S::sidorenko_v@edu.rut-miit.ru::9fd89ba1-258d-4f41-8d6a-6540ac52a2c2" providerId="AD" clId="Web-{E48A657F-9A52-4503-BAEB-7DA9EFC4B77F}"/>
    <pc:docChg chg="modSld">
      <pc:chgData name="Сидоренко Валентина Геннадьевна" userId="S::sidorenko_v@edu.rut-miit.ru::9fd89ba1-258d-4f41-8d6a-6540ac52a2c2" providerId="AD" clId="Web-{E48A657F-9A52-4503-BAEB-7DA9EFC4B77F}" dt="2022-08-10T14:25:41.783" v="22" actId="1076"/>
      <pc:docMkLst>
        <pc:docMk/>
      </pc:docMkLst>
      <pc:sldChg chg="addSp modSp">
        <pc:chgData name="Сидоренко Валентина Геннадьевна" userId="S::sidorenko_v@edu.rut-miit.ru::9fd89ba1-258d-4f41-8d6a-6540ac52a2c2" providerId="AD" clId="Web-{E48A657F-9A52-4503-BAEB-7DA9EFC4B77F}" dt="2022-08-10T14:24:20.407" v="18" actId="1076"/>
        <pc:sldMkLst>
          <pc:docMk/>
          <pc:sldMk cId="1137736846" sldId="365"/>
        </pc:sldMkLst>
        <pc:spChg chg="add mod">
          <ac:chgData name="Сидоренко Валентина Геннадьевна" userId="S::sidorenko_v@edu.rut-miit.ru::9fd89ba1-258d-4f41-8d6a-6540ac52a2c2" providerId="AD" clId="Web-{E48A657F-9A52-4503-BAEB-7DA9EFC4B77F}" dt="2022-08-10T14:23:52.923" v="13" actId="20577"/>
          <ac:spMkLst>
            <pc:docMk/>
            <pc:sldMk cId="1137736846" sldId="365"/>
            <ac:spMk id="3" creationId="{DFBFCEEA-9C2D-7057-E895-E2FCF6618220}"/>
          </ac:spMkLst>
        </pc:spChg>
        <pc:picChg chg="add mod">
          <ac:chgData name="Сидоренко Валентина Геннадьевна" userId="S::sidorenko_v@edu.rut-miit.ru::9fd89ba1-258d-4f41-8d6a-6540ac52a2c2" providerId="AD" clId="Web-{E48A657F-9A52-4503-BAEB-7DA9EFC4B77F}" dt="2022-08-10T14:24:20.407" v="18" actId="1076"/>
          <ac:picMkLst>
            <pc:docMk/>
            <pc:sldMk cId="1137736846" sldId="365"/>
            <ac:picMk id="4" creationId="{6D20080D-3FA4-6DAC-C3BA-C4D741AA301C}"/>
          </ac:picMkLst>
        </pc:picChg>
      </pc:sldChg>
      <pc:sldChg chg="addSp modSp">
        <pc:chgData name="Сидоренко Валентина Геннадьевна" userId="S::sidorenko_v@edu.rut-miit.ru::9fd89ba1-258d-4f41-8d6a-6540ac52a2c2" providerId="AD" clId="Web-{E48A657F-9A52-4503-BAEB-7DA9EFC4B77F}" dt="2022-08-10T14:25:41.783" v="22" actId="1076"/>
        <pc:sldMkLst>
          <pc:docMk/>
          <pc:sldMk cId="1491622081" sldId="366"/>
        </pc:sldMkLst>
        <pc:spChg chg="mod">
          <ac:chgData name="Сидоренко Валентина Геннадьевна" userId="S::sidorenko_v@edu.rut-miit.ru::9fd89ba1-258d-4f41-8d6a-6540ac52a2c2" providerId="AD" clId="Web-{E48A657F-9A52-4503-BAEB-7DA9EFC4B77F}" dt="2022-08-10T14:22:37.844" v="7" actId="20577"/>
          <ac:spMkLst>
            <pc:docMk/>
            <pc:sldMk cId="1491622081" sldId="366"/>
            <ac:spMk id="9221" creationId="{00000000-0000-0000-0000-000000000000}"/>
          </ac:spMkLst>
        </pc:spChg>
        <pc:picChg chg="add mod">
          <ac:chgData name="Сидоренко Валентина Геннадьевна" userId="S::sidorenko_v@edu.rut-miit.ru::9fd89ba1-258d-4f41-8d6a-6540ac52a2c2" providerId="AD" clId="Web-{E48A657F-9A52-4503-BAEB-7DA9EFC4B77F}" dt="2022-08-10T14:25:41.783" v="22" actId="1076"/>
          <ac:picMkLst>
            <pc:docMk/>
            <pc:sldMk cId="1491622081" sldId="366"/>
            <ac:picMk id="2" creationId="{85AE242E-ADFC-363A-C73C-24F0290EFBEE}"/>
          </ac:picMkLst>
        </pc:picChg>
      </pc:sldChg>
    </pc:docChg>
  </pc:docChgLst>
  <pc:docChgLst>
    <pc:chgData name="Сидоренко Валентина Геннадьевна" userId="S::sidorenko_v@edu.rut-miit.ru::9fd89ba1-258d-4f41-8d6a-6540ac52a2c2" providerId="AD" clId="Web-{5C016E7D-43F1-4195-8379-FAF21B0F7501}"/>
    <pc:docChg chg="modSld">
      <pc:chgData name="Сидоренко Валентина Геннадьевна" userId="S::sidorenko_v@edu.rut-miit.ru::9fd89ba1-258d-4f41-8d6a-6540ac52a2c2" providerId="AD" clId="Web-{5C016E7D-43F1-4195-8379-FAF21B0F7501}" dt="2024-11-21T14:19:25.854" v="0" actId="1076"/>
      <pc:docMkLst>
        <pc:docMk/>
      </pc:docMkLst>
      <pc:sldChg chg="modSp">
        <pc:chgData name="Сидоренко Валентина Геннадьевна" userId="S::sidorenko_v@edu.rut-miit.ru::9fd89ba1-258d-4f41-8d6a-6540ac52a2c2" providerId="AD" clId="Web-{5C016E7D-43F1-4195-8379-FAF21B0F7501}" dt="2024-11-21T14:19:25.854" v="0" actId="1076"/>
        <pc:sldMkLst>
          <pc:docMk/>
          <pc:sldMk cId="1137736846" sldId="365"/>
        </pc:sldMkLst>
        <pc:picChg chg="mod">
          <ac:chgData name="Сидоренко Валентина Геннадьевна" userId="S::sidorenko_v@edu.rut-miit.ru::9fd89ba1-258d-4f41-8d6a-6540ac52a2c2" providerId="AD" clId="Web-{5C016E7D-43F1-4195-8379-FAF21B0F7501}" dt="2024-11-21T14:19:25.854" v="0" actId="1076"/>
          <ac:picMkLst>
            <pc:docMk/>
            <pc:sldMk cId="1137736846" sldId="365"/>
            <ac:picMk id="4" creationId="{6D20080D-3FA4-6DAC-C3BA-C4D741AA301C}"/>
          </ac:picMkLst>
        </pc:picChg>
      </pc:sldChg>
    </pc:docChg>
  </pc:docChgLst>
  <pc:docChgLst>
    <pc:chgData name="Сидоренко Валентина Геннадьевна" userId="S::sidorenko_v@edu.rut-miit.ru::9fd89ba1-258d-4f41-8d6a-6540ac52a2c2" providerId="AD" clId="Web-{AEF38AE6-6DBE-466F-B078-92B8D2852754}"/>
    <pc:docChg chg="modSld">
      <pc:chgData name="Сидоренко Валентина Геннадьевна" userId="S::sidorenko_v@edu.rut-miit.ru::9fd89ba1-258d-4f41-8d6a-6540ac52a2c2" providerId="AD" clId="Web-{AEF38AE6-6DBE-466F-B078-92B8D2852754}" dt="2022-08-07T16:54:57.796" v="252"/>
      <pc:docMkLst>
        <pc:docMk/>
      </pc:docMkLst>
      <pc:sldChg chg="modSp">
        <pc:chgData name="Сидоренко Валентина Геннадьевна" userId="S::sidorenko_v@edu.rut-miit.ru::9fd89ba1-258d-4f41-8d6a-6540ac52a2c2" providerId="AD" clId="Web-{AEF38AE6-6DBE-466F-B078-92B8D2852754}" dt="2022-08-07T16:54:57.796" v="252"/>
        <pc:sldMkLst>
          <pc:docMk/>
          <pc:sldMk cId="716628545" sldId="364"/>
        </pc:sldMkLst>
        <pc:graphicFrameChg chg="mod modGraphic">
          <ac:chgData name="Сидоренко Валентина Геннадьевна" userId="S::sidorenko_v@edu.rut-miit.ru::9fd89ba1-258d-4f41-8d6a-6540ac52a2c2" providerId="AD" clId="Web-{AEF38AE6-6DBE-466F-B078-92B8D2852754}" dt="2022-08-07T16:54:57.796" v="252"/>
          <ac:graphicFrameMkLst>
            <pc:docMk/>
            <pc:sldMk cId="716628545" sldId="364"/>
            <ac:graphicFrameMk id="3" creationId="{04433F72-EC44-F2C4-E6B8-AAF6C94FE834}"/>
          </ac:graphicFrameMkLst>
        </pc:graphicFrameChg>
      </pc:sldChg>
    </pc:docChg>
  </pc:docChgLst>
  <pc:docChgLst>
    <pc:chgData name="Сидоренко Валентина Геннадьевна" userId="S::sidorenko_v@edu.rut-miit.ru::9fd89ba1-258d-4f41-8d6a-6540ac52a2c2" providerId="AD" clId="Web-{4FA61F74-9646-496C-BA8D-707C52F6C761}"/>
    <pc:docChg chg="addSld modSld">
      <pc:chgData name="Сидоренко Валентина Геннадьевна" userId="S::sidorenko_v@edu.rut-miit.ru::9fd89ba1-258d-4f41-8d6a-6540ac52a2c2" providerId="AD" clId="Web-{4FA61F74-9646-496C-BA8D-707C52F6C761}" dt="2022-04-23T07:39:53.183" v="814"/>
      <pc:docMkLst>
        <pc:docMk/>
      </pc:docMkLst>
      <pc:sldChg chg="addSp delSp modSp add replId">
        <pc:chgData name="Сидоренко Валентина Геннадьевна" userId="S::sidorenko_v@edu.rut-miit.ru::9fd89ba1-258d-4f41-8d6a-6540ac52a2c2" providerId="AD" clId="Web-{4FA61F74-9646-496C-BA8D-707C52F6C761}" dt="2022-04-23T07:39:53.183" v="814"/>
        <pc:sldMkLst>
          <pc:docMk/>
          <pc:sldMk cId="716628545" sldId="364"/>
        </pc:sldMkLst>
        <pc:spChg chg="del">
          <ac:chgData name="Сидоренко Валентина Геннадьевна" userId="S::sidorenko_v@edu.rut-miit.ru::9fd89ba1-258d-4f41-8d6a-6540ac52a2c2" providerId="AD" clId="Web-{4FA61F74-9646-496C-BA8D-707C52F6C761}" dt="2022-04-23T07:29:39.671" v="251"/>
          <ac:spMkLst>
            <pc:docMk/>
            <pc:sldMk cId="716628545" sldId="364"/>
            <ac:spMk id="2" creationId="{00000000-0000-0000-0000-000000000000}"/>
          </ac:spMkLst>
        </pc:spChg>
        <pc:spChg chg="del">
          <ac:chgData name="Сидоренко Валентина Геннадьевна" userId="S::sidorenko_v@edu.rut-miit.ru::9fd89ba1-258d-4f41-8d6a-6540ac52a2c2" providerId="AD" clId="Web-{4FA61F74-9646-496C-BA8D-707C52F6C761}" dt="2022-04-23T07:20:53.935" v="3"/>
          <ac:spMkLst>
            <pc:docMk/>
            <pc:sldMk cId="716628545" sldId="364"/>
            <ac:spMk id="16" creationId="{591B8E9D-5AA0-4722-9480-C15765142D1B}"/>
          </ac:spMkLst>
        </pc:spChg>
        <pc:spChg chg="del">
          <ac:chgData name="Сидоренко Валентина Геннадьевна" userId="S::sidorenko_v@edu.rut-miit.ru::9fd89ba1-258d-4f41-8d6a-6540ac52a2c2" providerId="AD" clId="Web-{4FA61F74-9646-496C-BA8D-707C52F6C761}" dt="2022-04-23T07:20:56.997" v="4"/>
          <ac:spMkLst>
            <pc:docMk/>
            <pc:sldMk cId="716628545" sldId="364"/>
            <ac:spMk id="9220" creationId="{00000000-0000-0000-0000-000000000000}"/>
          </ac:spMkLst>
        </pc:spChg>
        <pc:graphicFrameChg chg="add mod modGraphic">
          <ac:chgData name="Сидоренко Валентина Геннадьевна" userId="S::sidorenko_v@edu.rut-miit.ru::9fd89ba1-258d-4f41-8d6a-6540ac52a2c2" providerId="AD" clId="Web-{4FA61F74-9646-496C-BA8D-707C52F6C761}" dt="2022-04-23T07:39:53.183" v="814"/>
          <ac:graphicFrameMkLst>
            <pc:docMk/>
            <pc:sldMk cId="716628545" sldId="364"/>
            <ac:graphicFrameMk id="3" creationId="{04433F72-EC44-F2C4-E6B8-AAF6C94FE834}"/>
          </ac:graphicFrameMkLst>
        </pc:graphicFrameChg>
        <pc:picChg chg="del">
          <ac:chgData name="Сидоренко Валентина Геннадьевна" userId="S::sidorenko_v@edu.rut-miit.ru::9fd89ba1-258d-4f41-8d6a-6540ac52a2c2" providerId="AD" clId="Web-{4FA61F74-9646-496C-BA8D-707C52F6C761}" dt="2022-04-23T07:20:46.153" v="1"/>
          <ac:picMkLst>
            <pc:docMk/>
            <pc:sldMk cId="716628545" sldId="364"/>
            <ac:picMk id="110598" creationId="{019FCBA7-3C32-401E-9EF0-099F08AB68FA}"/>
          </ac:picMkLst>
        </pc:picChg>
        <pc:picChg chg="del">
          <ac:chgData name="Сидоренко Валентина Геннадьевна" userId="S::sidorenko_v@edu.rut-miit.ru::9fd89ba1-258d-4f41-8d6a-6540ac52a2c2" providerId="AD" clId="Web-{4FA61F74-9646-496C-BA8D-707C52F6C761}" dt="2022-04-23T07:20:46.153" v="2"/>
          <ac:picMkLst>
            <pc:docMk/>
            <pc:sldMk cId="716628545" sldId="364"/>
            <ac:picMk id="111622" creationId="{A15338D8-5D77-465C-8129-32B877057712}"/>
          </ac:picMkLst>
        </pc:pic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oleObject" Target="file:///C:\Users\Whan\Desktop\experiment\300%20-%203400\Rus_radio_35_minut.xls"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G:\Book1%20(autocorrelation).xls"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1750303463375983"/>
          <c:y val="3.5655648584824028E-2"/>
          <c:w val="0.8359583032304676"/>
          <c:h val="0.82334841765470135"/>
        </c:manualLayout>
      </c:layout>
      <c:scatterChart>
        <c:scatterStyle val="smoothMarker"/>
        <c:varyColors val="0"/>
        <c:ser>
          <c:idx val="0"/>
          <c:order val="0"/>
          <c:spPr>
            <a:ln w="19050">
              <a:solidFill>
                <a:schemeClr val="tx1"/>
              </a:solidFill>
              <a:prstDash val="solid"/>
            </a:ln>
          </c:spPr>
          <c:marker>
            <c:symbol val="none"/>
          </c:marker>
          <c:dPt>
            <c:idx val="3"/>
            <c:marker>
              <c:symbol val="diamond"/>
              <c:size val="7"/>
              <c:spPr>
                <a:solidFill>
                  <a:schemeClr val="tx1"/>
                </a:solidFill>
                <a:ln>
                  <a:solidFill>
                    <a:schemeClr val="tx1"/>
                  </a:solidFill>
                </a:ln>
              </c:spPr>
            </c:marker>
            <c:bubble3D val="0"/>
            <c:extLst>
              <c:ext xmlns:c16="http://schemas.microsoft.com/office/drawing/2014/chart" uri="{C3380CC4-5D6E-409C-BE32-E72D297353CC}">
                <c16:uniqueId val="{00000000-FA14-4018-BF60-06A044D975AC}"/>
              </c:ext>
            </c:extLst>
          </c:dPt>
          <c:dLbls>
            <c:dLbl>
              <c:idx val="3"/>
              <c:layout>
                <c:manualLayout>
                  <c:x val="1.6288539848749301E-2"/>
                  <c:y val="-1.4072119613016715E-2"/>
                </c:manualLayout>
              </c:layout>
              <c:tx>
                <c:rich>
                  <a:bodyPr/>
                  <a:lstStyle/>
                  <a:p>
                    <a:r>
                      <a:rPr lang="en-US" sz="1000"/>
                      <a:t>0,002117</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FA14-4018-BF60-06A044D975AC}"/>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xVal>
            <c:numRef>
              <c:f>'300-3400'!$A$6:$A$18</c:f>
              <c:numCache>
                <c:formatCode>General</c:formatCode>
                <c:ptCount val="13"/>
                <c:pt idx="0">
                  <c:v>300</c:v>
                </c:pt>
                <c:pt idx="1">
                  <c:v>315</c:v>
                </c:pt>
                <c:pt idx="2">
                  <c:v>400</c:v>
                </c:pt>
                <c:pt idx="3">
                  <c:v>500</c:v>
                </c:pt>
                <c:pt idx="4">
                  <c:v>630</c:v>
                </c:pt>
                <c:pt idx="5">
                  <c:v>800</c:v>
                </c:pt>
                <c:pt idx="6">
                  <c:v>1000</c:v>
                </c:pt>
                <c:pt idx="7">
                  <c:v>1250</c:v>
                </c:pt>
                <c:pt idx="8">
                  <c:v>1600</c:v>
                </c:pt>
                <c:pt idx="9">
                  <c:v>2000</c:v>
                </c:pt>
                <c:pt idx="10">
                  <c:v>2500</c:v>
                </c:pt>
                <c:pt idx="11">
                  <c:v>3150</c:v>
                </c:pt>
                <c:pt idx="12">
                  <c:v>3400</c:v>
                </c:pt>
              </c:numCache>
            </c:numRef>
          </c:xVal>
          <c:yVal>
            <c:numRef>
              <c:f>'300-3400'!$H$6:$H$18</c:f>
              <c:numCache>
                <c:formatCode>0.000000</c:formatCode>
                <c:ptCount val="13"/>
                <c:pt idx="0" formatCode="General">
                  <c:v>0</c:v>
                </c:pt>
                <c:pt idx="1">
                  <c:v>1.3894702565305681E-3</c:v>
                </c:pt>
                <c:pt idx="2">
                  <c:v>1.8738090041969288E-3</c:v>
                </c:pt>
                <c:pt idx="3">
                  <c:v>2.1165090802210012E-3</c:v>
                </c:pt>
                <c:pt idx="4">
                  <c:v>1.9796651290059689E-3</c:v>
                </c:pt>
                <c:pt idx="5">
                  <c:v>5.7871993355294133E-4</c:v>
                </c:pt>
                <c:pt idx="6">
                  <c:v>2.2233052020845194E-4</c:v>
                </c:pt>
                <c:pt idx="7">
                  <c:v>1.4691080362749681E-4</c:v>
                </c:pt>
                <c:pt idx="8">
                  <c:v>7.6077995642053975E-5</c:v>
                </c:pt>
                <c:pt idx="9">
                  <c:v>4.1216637578674955E-5</c:v>
                </c:pt>
                <c:pt idx="10">
                  <c:v>1.7978408325040795E-5</c:v>
                </c:pt>
                <c:pt idx="11">
                  <c:v>5.3233735694087424E-6</c:v>
                </c:pt>
                <c:pt idx="12" formatCode="General">
                  <c:v>0</c:v>
                </c:pt>
              </c:numCache>
            </c:numRef>
          </c:yVal>
          <c:smooth val="1"/>
          <c:extLst>
            <c:ext xmlns:c16="http://schemas.microsoft.com/office/drawing/2014/chart" uri="{C3380CC4-5D6E-409C-BE32-E72D297353CC}">
              <c16:uniqueId val="{00000001-FA14-4018-BF60-06A044D975AC}"/>
            </c:ext>
          </c:extLst>
        </c:ser>
        <c:dLbls>
          <c:showLegendKey val="0"/>
          <c:showVal val="0"/>
          <c:showCatName val="0"/>
          <c:showSerName val="0"/>
          <c:showPercent val="0"/>
          <c:showBubbleSize val="0"/>
        </c:dLbls>
        <c:axId val="117179904"/>
        <c:axId val="117181824"/>
      </c:scatterChart>
      <c:valAx>
        <c:axId val="117179904"/>
        <c:scaling>
          <c:orientation val="minMax"/>
          <c:max val="3400"/>
        </c:scaling>
        <c:delete val="0"/>
        <c:axPos val="b"/>
        <c:majorGridlines>
          <c:spPr>
            <a:ln w="3175">
              <a:solidFill>
                <a:schemeClr val="tx1"/>
              </a:solidFill>
            </a:ln>
          </c:spPr>
        </c:majorGridlines>
        <c:minorGridlines/>
        <c:title>
          <c:tx>
            <c:rich>
              <a:bodyPr/>
              <a:lstStyle/>
              <a:p>
                <a:pPr>
                  <a:defRPr lang="en-US" sz="1400" b="0" i="0" u="none" strike="noStrike" baseline="0">
                    <a:solidFill>
                      <a:srgbClr val="000000"/>
                    </a:solidFill>
                    <a:latin typeface="Times New Roman"/>
                    <a:ea typeface="Times New Roman"/>
                    <a:cs typeface="Times New Roman"/>
                  </a:defRPr>
                </a:pPr>
                <a:r>
                  <a:rPr lang="en-US" sz="1200" b="1" i="1" u="none" strike="noStrike" baseline="0">
                    <a:solidFill>
                      <a:srgbClr val="000000"/>
                    </a:solidFill>
                    <a:latin typeface="Times New Roman"/>
                    <a:cs typeface="Times New Roman"/>
                  </a:rPr>
                  <a:t>f</a:t>
                </a:r>
                <a:r>
                  <a:rPr lang="en-US" sz="1200" b="1" i="0" u="none" strike="noStrike" baseline="0">
                    <a:solidFill>
                      <a:srgbClr val="000000"/>
                    </a:solidFill>
                    <a:latin typeface="Times New Roman"/>
                    <a:cs typeface="Times New Roman"/>
                  </a:rPr>
                  <a:t>, </a:t>
                </a:r>
                <a:r>
                  <a:rPr lang="ru-RU" sz="1200" b="1" i="0" u="none" strike="noStrike" baseline="0">
                    <a:solidFill>
                      <a:srgbClr val="000000"/>
                    </a:solidFill>
                    <a:latin typeface="Times New Roman"/>
                    <a:cs typeface="Times New Roman"/>
                  </a:rPr>
                  <a:t>Гц</a:t>
                </a:r>
              </a:p>
            </c:rich>
          </c:tx>
          <c:layout>
            <c:manualLayout>
              <c:xMode val="edge"/>
              <c:yMode val="edge"/>
              <c:x val="0.51249999999999996"/>
              <c:y val="0.93602693602693599"/>
            </c:manualLayout>
          </c:layout>
          <c:overlay val="0"/>
          <c:spPr>
            <a:noFill/>
            <a:ln w="25400">
              <a:noFill/>
            </a:ln>
          </c:spPr>
        </c:title>
        <c:numFmt formatCode="General" sourceLinked="0"/>
        <c:majorTickMark val="out"/>
        <c:minorTickMark val="none"/>
        <c:tickLblPos val="nextTo"/>
        <c:spPr>
          <a:ln w="15875">
            <a:solidFill>
              <a:sysClr val="windowText" lastClr="000000"/>
            </a:solidFill>
          </a:ln>
        </c:spPr>
        <c:txPr>
          <a:bodyPr rot="0" vert="horz"/>
          <a:lstStyle/>
          <a:p>
            <a:pPr>
              <a:defRPr lang="en-US" sz="1000" b="0" i="0" u="none" strike="noStrike" baseline="0">
                <a:solidFill>
                  <a:srgbClr val="000000"/>
                </a:solidFill>
                <a:latin typeface="Times New Roman"/>
                <a:ea typeface="Times New Roman"/>
                <a:cs typeface="Times New Roman"/>
              </a:defRPr>
            </a:pPr>
            <a:endParaRPr lang="ru-RU"/>
          </a:p>
        </c:txPr>
        <c:crossAx val="117181824"/>
        <c:crosses val="autoZero"/>
        <c:crossBetween val="midCat"/>
        <c:majorUnit val="200"/>
        <c:minorUnit val="200"/>
      </c:valAx>
      <c:valAx>
        <c:axId val="117181824"/>
        <c:scaling>
          <c:orientation val="minMax"/>
          <c:max val="2.5000000000000109E-3"/>
          <c:min val="0"/>
        </c:scaling>
        <c:delete val="0"/>
        <c:axPos val="l"/>
        <c:majorGridlines>
          <c:spPr>
            <a:ln>
              <a:solidFill>
                <a:schemeClr val="tx1">
                  <a:lumMod val="95000"/>
                  <a:lumOff val="5000"/>
                </a:schemeClr>
              </a:solidFill>
            </a:ln>
          </c:spPr>
        </c:majorGridlines>
        <c:minorGridlines>
          <c:spPr>
            <a:ln>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c:spPr>
        </c:minorGridlines>
        <c:title>
          <c:tx>
            <c:rich>
              <a:bodyPr/>
              <a:lstStyle/>
              <a:p>
                <a:pPr>
                  <a:defRPr lang="en-US" sz="1400" b="0" i="0" u="none" strike="noStrike" baseline="0">
                    <a:solidFill>
                      <a:srgbClr val="000000"/>
                    </a:solidFill>
                    <a:latin typeface="Times New Roman"/>
                    <a:ea typeface="Times New Roman"/>
                    <a:cs typeface="Times New Roman"/>
                  </a:defRPr>
                </a:pPr>
                <a:r>
                  <a:rPr lang="en-US" sz="1200" b="1" i="1" u="none" strike="noStrike" baseline="0">
                    <a:solidFill>
                      <a:srgbClr val="000000"/>
                    </a:solidFill>
                    <a:latin typeface="Times New Roman"/>
                    <a:cs typeface="Times New Roman"/>
                  </a:rPr>
                  <a:t>S</a:t>
                </a:r>
                <a:r>
                  <a:rPr lang="en-US" sz="1200" b="1" i="1" u="none" strike="noStrike" baseline="-25000">
                    <a:solidFill>
                      <a:srgbClr val="000000"/>
                    </a:solidFill>
                    <a:latin typeface="Times New Roman"/>
                    <a:cs typeface="Times New Roman"/>
                  </a:rPr>
                  <a:t>x</a:t>
                </a:r>
                <a:r>
                  <a:rPr lang="en-US" sz="1200" b="1" i="1" u="none" strike="noStrike" baseline="0">
                    <a:solidFill>
                      <a:srgbClr val="000000"/>
                    </a:solidFill>
                    <a:latin typeface="Times New Roman"/>
                    <a:cs typeface="Times New Roman"/>
                  </a:rPr>
                  <a:t>(f)</a:t>
                </a:r>
                <a:r>
                  <a:rPr lang="en-US" sz="1200" b="1" i="0" u="none" strike="noStrike" baseline="0">
                    <a:solidFill>
                      <a:srgbClr val="000000"/>
                    </a:solidFill>
                    <a:latin typeface="Times New Roman"/>
                    <a:cs typeface="Times New Roman"/>
                  </a:rPr>
                  <a:t>, </a:t>
                </a:r>
                <a:r>
                  <a:rPr lang="ru-RU" sz="1200" b="1" i="0" u="none" strike="noStrike" baseline="0">
                    <a:solidFill>
                      <a:srgbClr val="000000"/>
                    </a:solidFill>
                    <a:latin typeface="Times New Roman"/>
                    <a:cs typeface="Times New Roman"/>
                  </a:rPr>
                  <a:t>раз/Гц</a:t>
                </a:r>
              </a:p>
            </c:rich>
          </c:tx>
          <c:layout>
            <c:manualLayout>
              <c:xMode val="edge"/>
              <c:yMode val="edge"/>
              <c:x val="1.0132241323237748E-3"/>
              <c:y val="0.36151192182771685"/>
            </c:manualLayout>
          </c:layout>
          <c:overlay val="0"/>
          <c:spPr>
            <a:noFill/>
            <a:ln w="25400">
              <a:noFill/>
            </a:ln>
          </c:spPr>
        </c:title>
        <c:numFmt formatCode="General" sourceLinked="1"/>
        <c:majorTickMark val="out"/>
        <c:minorTickMark val="none"/>
        <c:tickLblPos val="nextTo"/>
        <c:spPr>
          <a:ln w="15875">
            <a:solidFill>
              <a:sysClr val="windowText" lastClr="000000"/>
            </a:solidFill>
          </a:ln>
        </c:spPr>
        <c:txPr>
          <a:bodyPr rot="0" vert="horz"/>
          <a:lstStyle/>
          <a:p>
            <a:pPr>
              <a:defRPr lang="en-US" sz="1000" b="0" i="0" u="none" strike="noStrike" baseline="0">
                <a:solidFill>
                  <a:srgbClr val="000000"/>
                </a:solidFill>
                <a:latin typeface="Times New Roman"/>
                <a:ea typeface="Times New Roman"/>
                <a:cs typeface="Times New Roman"/>
              </a:defRPr>
            </a:pPr>
            <a:endParaRPr lang="ru-RU"/>
          </a:p>
        </c:txPr>
        <c:crossAx val="117179904"/>
        <c:crosses val="autoZero"/>
        <c:crossBetween val="midCat"/>
        <c:majorUnit val="5.0000000000000543E-4"/>
        <c:minorUnit val="5.0000000000000543E-4"/>
      </c:valAx>
      <c:spPr>
        <a:ln>
          <a:solidFill>
            <a:schemeClr val="tx1"/>
          </a:solidFill>
        </a:ln>
      </c:spPr>
    </c:plotArea>
    <c:plotVisOnly val="1"/>
    <c:dispBlanksAs val="gap"/>
    <c:showDLblsOverMax val="0"/>
  </c:chart>
  <c:spPr>
    <a:solidFill>
      <a:srgbClr val="FFFFFF"/>
    </a:solidFill>
    <a:ln w="9525">
      <a:noFill/>
    </a:ln>
  </c:spPr>
  <c:txPr>
    <a:bodyPr/>
    <a:lstStyle/>
    <a:p>
      <a:pPr>
        <a:defRPr sz="1400" b="0" i="0" u="none" strike="noStrike" baseline="0">
          <a:solidFill>
            <a:srgbClr val="000000"/>
          </a:solidFill>
          <a:latin typeface="Times New Roman"/>
          <a:ea typeface="Times New Roman"/>
          <a:cs typeface="Times New Roman"/>
        </a:defRPr>
      </a:pPr>
      <a:endParaRPr lang="ru-RU"/>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0738522954091829"/>
          <c:y val="3.2376740104931231E-2"/>
          <c:w val="0.79730538922155658"/>
          <c:h val="0.87499634979487062"/>
        </c:manualLayout>
      </c:layout>
      <c:scatterChart>
        <c:scatterStyle val="smoothMarker"/>
        <c:varyColors val="0"/>
        <c:ser>
          <c:idx val="0"/>
          <c:order val="0"/>
          <c:spPr>
            <a:ln w="22225">
              <a:solidFill>
                <a:schemeClr val="tx1"/>
              </a:solidFill>
              <a:prstDash val="solid"/>
            </a:ln>
          </c:spPr>
          <c:marker>
            <c:symbol val="none"/>
          </c:marker>
          <c:xVal>
            <c:numRef>
              <c:f>'мьян и рус по 1.12'!$B$2:$B$202</c:f>
              <c:numCache>
                <c:formatCode>General</c:formatCode>
                <c:ptCount val="201"/>
                <c:pt idx="0">
                  <c:v>0</c:v>
                </c:pt>
                <c:pt idx="1">
                  <c:v>1.0000000000000221E-4</c:v>
                </c:pt>
                <c:pt idx="2">
                  <c:v>2.0000000000000052E-4</c:v>
                </c:pt>
                <c:pt idx="3">
                  <c:v>3.0000000000001006E-4</c:v>
                </c:pt>
                <c:pt idx="4">
                  <c:v>4.0000000000000034E-4</c:v>
                </c:pt>
                <c:pt idx="5">
                  <c:v>5.0000000000000034E-4</c:v>
                </c:pt>
                <c:pt idx="6">
                  <c:v>6.0000000000002022E-4</c:v>
                </c:pt>
                <c:pt idx="7">
                  <c:v>7.0000000000002124E-4</c:v>
                </c:pt>
                <c:pt idx="8">
                  <c:v>8.0000000000000264E-4</c:v>
                </c:pt>
                <c:pt idx="9">
                  <c:v>9.0000000000000247E-4</c:v>
                </c:pt>
                <c:pt idx="10">
                  <c:v>1.0000000000000041E-3</c:v>
                </c:pt>
                <c:pt idx="11">
                  <c:v>1.1000000000000391E-3</c:v>
                </c:pt>
                <c:pt idx="12">
                  <c:v>1.1999999999999999E-3</c:v>
                </c:pt>
                <c:pt idx="13">
                  <c:v>1.2999999999999978E-3</c:v>
                </c:pt>
                <c:pt idx="14">
                  <c:v>1.4000000000000041E-3</c:v>
                </c:pt>
                <c:pt idx="15">
                  <c:v>1.5000000000000221E-3</c:v>
                </c:pt>
                <c:pt idx="16">
                  <c:v>1.6000000000000489E-3</c:v>
                </c:pt>
                <c:pt idx="17">
                  <c:v>1.7000000000000081E-3</c:v>
                </c:pt>
                <c:pt idx="18">
                  <c:v>1.8000000000000483E-3</c:v>
                </c:pt>
                <c:pt idx="19">
                  <c:v>1.900000000000064E-3</c:v>
                </c:pt>
                <c:pt idx="20">
                  <c:v>2.0000000000000052E-3</c:v>
                </c:pt>
                <c:pt idx="21">
                  <c:v>2.0999999999999999E-3</c:v>
                </c:pt>
                <c:pt idx="22">
                  <c:v>2.2000000000000092E-3</c:v>
                </c:pt>
                <c:pt idx="23">
                  <c:v>2.3000000000000052E-3</c:v>
                </c:pt>
                <c:pt idx="24">
                  <c:v>2.3999999999999998E-3</c:v>
                </c:pt>
                <c:pt idx="25">
                  <c:v>2.5000000000000092E-3</c:v>
                </c:pt>
                <c:pt idx="26">
                  <c:v>2.5999999999999999E-3</c:v>
                </c:pt>
                <c:pt idx="27">
                  <c:v>2.7000000000000812E-3</c:v>
                </c:pt>
                <c:pt idx="28">
                  <c:v>2.8000000000000052E-3</c:v>
                </c:pt>
                <c:pt idx="29">
                  <c:v>2.8999999999999998E-3</c:v>
                </c:pt>
                <c:pt idx="30">
                  <c:v>3.0000000000000092E-3</c:v>
                </c:pt>
                <c:pt idx="31">
                  <c:v>3.1000000000000879E-3</c:v>
                </c:pt>
                <c:pt idx="32">
                  <c:v>3.2000000000001077E-3</c:v>
                </c:pt>
                <c:pt idx="33">
                  <c:v>3.3000000000000052E-3</c:v>
                </c:pt>
                <c:pt idx="34">
                  <c:v>3.4000000000000692E-3</c:v>
                </c:pt>
                <c:pt idx="35">
                  <c:v>3.5000000000000612E-3</c:v>
                </c:pt>
                <c:pt idx="36">
                  <c:v>3.6000000000001001E-3</c:v>
                </c:pt>
                <c:pt idx="37">
                  <c:v>3.7000000000001194E-3</c:v>
                </c:pt>
                <c:pt idx="38">
                  <c:v>3.8000000000000052E-3</c:v>
                </c:pt>
                <c:pt idx="39">
                  <c:v>3.9000000000000692E-3</c:v>
                </c:pt>
                <c:pt idx="40">
                  <c:v>4.0000000000000114E-3</c:v>
                </c:pt>
                <c:pt idx="41">
                  <c:v>4.1000000000000003E-3</c:v>
                </c:pt>
                <c:pt idx="42">
                  <c:v>4.1999999999999997E-3</c:v>
                </c:pt>
                <c:pt idx="43">
                  <c:v>4.3000000000000104E-3</c:v>
                </c:pt>
                <c:pt idx="44">
                  <c:v>4.4000000000000124E-3</c:v>
                </c:pt>
                <c:pt idx="45">
                  <c:v>4.5000000000000014E-3</c:v>
                </c:pt>
                <c:pt idx="46">
                  <c:v>4.6000000000000034E-3</c:v>
                </c:pt>
                <c:pt idx="47">
                  <c:v>4.7000000000000123E-3</c:v>
                </c:pt>
                <c:pt idx="48">
                  <c:v>4.8000000000000004E-3</c:v>
                </c:pt>
                <c:pt idx="49">
                  <c:v>4.9000000000001803E-3</c:v>
                </c:pt>
                <c:pt idx="50">
                  <c:v>5.0000000000000114E-3</c:v>
                </c:pt>
                <c:pt idx="51">
                  <c:v>5.1000000000000004E-3</c:v>
                </c:pt>
                <c:pt idx="52">
                  <c:v>5.1999999999999998E-3</c:v>
                </c:pt>
                <c:pt idx="53">
                  <c:v>5.3000000000000104E-3</c:v>
                </c:pt>
                <c:pt idx="54">
                  <c:v>5.4000000000000124E-3</c:v>
                </c:pt>
                <c:pt idx="55">
                  <c:v>5.5000000000000014E-3</c:v>
                </c:pt>
                <c:pt idx="56">
                  <c:v>5.6000000000000034E-3</c:v>
                </c:pt>
                <c:pt idx="57">
                  <c:v>5.7000000000000123E-3</c:v>
                </c:pt>
                <c:pt idx="58">
                  <c:v>5.8000000000000013E-3</c:v>
                </c:pt>
                <c:pt idx="59">
                  <c:v>5.900000000000202E-3</c:v>
                </c:pt>
                <c:pt idx="60">
                  <c:v>6.0000000000000114E-3</c:v>
                </c:pt>
                <c:pt idx="61">
                  <c:v>6.1000000000000004E-3</c:v>
                </c:pt>
                <c:pt idx="62">
                  <c:v>6.2000000000001819E-3</c:v>
                </c:pt>
                <c:pt idx="63">
                  <c:v>6.3000000000000113E-3</c:v>
                </c:pt>
                <c:pt idx="64">
                  <c:v>6.4000000000002119E-3</c:v>
                </c:pt>
                <c:pt idx="65">
                  <c:v>6.5000000000000934E-3</c:v>
                </c:pt>
                <c:pt idx="66">
                  <c:v>6.6000000000000034E-3</c:v>
                </c:pt>
                <c:pt idx="67">
                  <c:v>6.7000000000001928E-3</c:v>
                </c:pt>
                <c:pt idx="68">
                  <c:v>6.8000000000000334E-3</c:v>
                </c:pt>
                <c:pt idx="69">
                  <c:v>6.9000000000002124E-3</c:v>
                </c:pt>
                <c:pt idx="70">
                  <c:v>7.0000000000000114E-3</c:v>
                </c:pt>
                <c:pt idx="71">
                  <c:v>7.1000000000000004E-3</c:v>
                </c:pt>
                <c:pt idx="72">
                  <c:v>7.2000000000002028E-3</c:v>
                </c:pt>
                <c:pt idx="73">
                  <c:v>7.3000000000000113E-3</c:v>
                </c:pt>
                <c:pt idx="74">
                  <c:v>7.4000000000002345E-3</c:v>
                </c:pt>
                <c:pt idx="75">
                  <c:v>7.5000000000000934E-3</c:v>
                </c:pt>
                <c:pt idx="76">
                  <c:v>7.6000000000000104E-3</c:v>
                </c:pt>
                <c:pt idx="77">
                  <c:v>7.7000000000002162E-3</c:v>
                </c:pt>
                <c:pt idx="78">
                  <c:v>7.8000000000000534E-3</c:v>
                </c:pt>
                <c:pt idx="79">
                  <c:v>7.9000000000002124E-3</c:v>
                </c:pt>
                <c:pt idx="80">
                  <c:v>8.0000000000000227E-3</c:v>
                </c:pt>
                <c:pt idx="81">
                  <c:v>8.1000000000000048E-3</c:v>
                </c:pt>
                <c:pt idx="82">
                  <c:v>8.2000000000000007E-3</c:v>
                </c:pt>
                <c:pt idx="83">
                  <c:v>8.3000000000000226E-3</c:v>
                </c:pt>
                <c:pt idx="84">
                  <c:v>8.4000000000000047E-3</c:v>
                </c:pt>
                <c:pt idx="85">
                  <c:v>8.5000000000000006E-3</c:v>
                </c:pt>
                <c:pt idx="86">
                  <c:v>8.6000000000000208E-3</c:v>
                </c:pt>
                <c:pt idx="87">
                  <c:v>8.7000000000000046E-3</c:v>
                </c:pt>
                <c:pt idx="88">
                  <c:v>8.8000000000000248E-3</c:v>
                </c:pt>
                <c:pt idx="89">
                  <c:v>8.9000000000000207E-3</c:v>
                </c:pt>
                <c:pt idx="90">
                  <c:v>9.0000000000000028E-3</c:v>
                </c:pt>
                <c:pt idx="91">
                  <c:v>9.1000000000000004E-3</c:v>
                </c:pt>
                <c:pt idx="92">
                  <c:v>9.2000000000000068E-3</c:v>
                </c:pt>
                <c:pt idx="93">
                  <c:v>9.3000000000000548E-3</c:v>
                </c:pt>
                <c:pt idx="94">
                  <c:v>9.4000000000000247E-3</c:v>
                </c:pt>
                <c:pt idx="95">
                  <c:v>9.5000000000000067E-3</c:v>
                </c:pt>
                <c:pt idx="96">
                  <c:v>9.6000000000000026E-3</c:v>
                </c:pt>
                <c:pt idx="97">
                  <c:v>9.7000000000000003E-3</c:v>
                </c:pt>
                <c:pt idx="98">
                  <c:v>9.8000000000000708E-3</c:v>
                </c:pt>
                <c:pt idx="99">
                  <c:v>9.9000000000000268E-3</c:v>
                </c:pt>
                <c:pt idx="100">
                  <c:v>1.0000000000000005E-2</c:v>
                </c:pt>
                <c:pt idx="101">
                  <c:v>1.0100000000000001E-2</c:v>
                </c:pt>
                <c:pt idx="102">
                  <c:v>1.0200000000000001E-2</c:v>
                </c:pt>
                <c:pt idx="103">
                  <c:v>1.0300000000000005E-2</c:v>
                </c:pt>
                <c:pt idx="104">
                  <c:v>1.0400000000000001E-2</c:v>
                </c:pt>
                <c:pt idx="105">
                  <c:v>1.0500000000000021E-2</c:v>
                </c:pt>
                <c:pt idx="106">
                  <c:v>1.0600000000000021E-2</c:v>
                </c:pt>
                <c:pt idx="107">
                  <c:v>1.0699999999999998E-2</c:v>
                </c:pt>
                <c:pt idx="108">
                  <c:v>1.0800000000000021E-2</c:v>
                </c:pt>
                <c:pt idx="109">
                  <c:v>1.0900000000000003E-2</c:v>
                </c:pt>
                <c:pt idx="110">
                  <c:v>1.0999999999999998E-2</c:v>
                </c:pt>
                <c:pt idx="111">
                  <c:v>1.1100000000000203E-2</c:v>
                </c:pt>
                <c:pt idx="112">
                  <c:v>1.1200000000000081E-2</c:v>
                </c:pt>
                <c:pt idx="113">
                  <c:v>1.1299999999999998E-2</c:v>
                </c:pt>
                <c:pt idx="114">
                  <c:v>1.1400000000000281E-2</c:v>
                </c:pt>
                <c:pt idx="115">
                  <c:v>1.1500000000000381E-2</c:v>
                </c:pt>
                <c:pt idx="116">
                  <c:v>1.1599999999999996E-2</c:v>
                </c:pt>
                <c:pt idx="117">
                  <c:v>1.170000000000042E-2</c:v>
                </c:pt>
                <c:pt idx="118">
                  <c:v>1.1800000000000433E-2</c:v>
                </c:pt>
                <c:pt idx="119">
                  <c:v>1.1900000000000443E-2</c:v>
                </c:pt>
                <c:pt idx="120">
                  <c:v>1.2E-2</c:v>
                </c:pt>
                <c:pt idx="121">
                  <c:v>1.2100000000000001E-2</c:v>
                </c:pt>
                <c:pt idx="122">
                  <c:v>1.2200000000000001E-2</c:v>
                </c:pt>
                <c:pt idx="123">
                  <c:v>1.2300000000000005E-2</c:v>
                </c:pt>
                <c:pt idx="124">
                  <c:v>1.2400000000000001E-2</c:v>
                </c:pt>
                <c:pt idx="125">
                  <c:v>1.2500000000000001E-2</c:v>
                </c:pt>
                <c:pt idx="126">
                  <c:v>1.2600000000000005E-2</c:v>
                </c:pt>
                <c:pt idx="127">
                  <c:v>1.2699999999999998E-2</c:v>
                </c:pt>
                <c:pt idx="128">
                  <c:v>1.2800000000000021E-2</c:v>
                </c:pt>
                <c:pt idx="129">
                  <c:v>1.2900000000000003E-2</c:v>
                </c:pt>
                <c:pt idx="130">
                  <c:v>1.2999999999999998E-2</c:v>
                </c:pt>
                <c:pt idx="131">
                  <c:v>1.3100000000000021E-2</c:v>
                </c:pt>
                <c:pt idx="132">
                  <c:v>1.3200000000000081E-2</c:v>
                </c:pt>
                <c:pt idx="133">
                  <c:v>1.3299999999999998E-2</c:v>
                </c:pt>
                <c:pt idx="134">
                  <c:v>1.3400000000000281E-2</c:v>
                </c:pt>
                <c:pt idx="135">
                  <c:v>1.3500000000000373E-2</c:v>
                </c:pt>
                <c:pt idx="136">
                  <c:v>1.3599999999999998E-2</c:v>
                </c:pt>
                <c:pt idx="137">
                  <c:v>1.3700000000000389E-2</c:v>
                </c:pt>
                <c:pt idx="138">
                  <c:v>1.3800000000000404E-2</c:v>
                </c:pt>
                <c:pt idx="139">
                  <c:v>1.3899999999999999E-2</c:v>
                </c:pt>
                <c:pt idx="140">
                  <c:v>1.4E-2</c:v>
                </c:pt>
                <c:pt idx="141">
                  <c:v>1.4100000000000001E-2</c:v>
                </c:pt>
                <c:pt idx="142">
                  <c:v>1.4200000000000001E-2</c:v>
                </c:pt>
                <c:pt idx="143">
                  <c:v>1.43E-2</c:v>
                </c:pt>
                <c:pt idx="144">
                  <c:v>1.4400000000000001E-2</c:v>
                </c:pt>
                <c:pt idx="145">
                  <c:v>1.4500000000000001E-2</c:v>
                </c:pt>
                <c:pt idx="146">
                  <c:v>1.4600000000000005E-2</c:v>
                </c:pt>
                <c:pt idx="147">
                  <c:v>1.4700000000000001E-2</c:v>
                </c:pt>
                <c:pt idx="148">
                  <c:v>1.4800000000000001E-2</c:v>
                </c:pt>
                <c:pt idx="149">
                  <c:v>1.4900000000000005E-2</c:v>
                </c:pt>
                <c:pt idx="150">
                  <c:v>1.4999999999999998E-2</c:v>
                </c:pt>
                <c:pt idx="151">
                  <c:v>1.5100000000000021E-2</c:v>
                </c:pt>
                <c:pt idx="152">
                  <c:v>1.5200000000000003E-2</c:v>
                </c:pt>
                <c:pt idx="153">
                  <c:v>1.5299999999999998E-2</c:v>
                </c:pt>
                <c:pt idx="154">
                  <c:v>1.5400000000000021E-2</c:v>
                </c:pt>
                <c:pt idx="155">
                  <c:v>1.5500000000000081E-2</c:v>
                </c:pt>
                <c:pt idx="156">
                  <c:v>1.5599999999999998E-2</c:v>
                </c:pt>
                <c:pt idx="157">
                  <c:v>1.5699999999999999E-2</c:v>
                </c:pt>
                <c:pt idx="158">
                  <c:v>1.5800000000000043E-2</c:v>
                </c:pt>
                <c:pt idx="159">
                  <c:v>1.5900000000000001E-2</c:v>
                </c:pt>
                <c:pt idx="160">
                  <c:v>1.6000000000000021E-2</c:v>
                </c:pt>
                <c:pt idx="161">
                  <c:v>1.6100000000000041E-2</c:v>
                </c:pt>
                <c:pt idx="162">
                  <c:v>1.6199999999999999E-2</c:v>
                </c:pt>
                <c:pt idx="163">
                  <c:v>1.6299999999999999E-2</c:v>
                </c:pt>
                <c:pt idx="164">
                  <c:v>1.6400000000000001E-2</c:v>
                </c:pt>
                <c:pt idx="165">
                  <c:v>1.6500000000000101E-2</c:v>
                </c:pt>
                <c:pt idx="166">
                  <c:v>1.6600000000000201E-2</c:v>
                </c:pt>
                <c:pt idx="167">
                  <c:v>1.6700000000000301E-2</c:v>
                </c:pt>
                <c:pt idx="168">
                  <c:v>1.6799999999999999E-2</c:v>
                </c:pt>
                <c:pt idx="169">
                  <c:v>1.6899999999999998E-2</c:v>
                </c:pt>
                <c:pt idx="170">
                  <c:v>1.7000000000000001E-2</c:v>
                </c:pt>
                <c:pt idx="171">
                  <c:v>1.7100000000000001E-2</c:v>
                </c:pt>
                <c:pt idx="172">
                  <c:v>1.72E-2</c:v>
                </c:pt>
                <c:pt idx="173">
                  <c:v>1.7299999999999996E-2</c:v>
                </c:pt>
                <c:pt idx="174">
                  <c:v>1.7399999999999999E-2</c:v>
                </c:pt>
                <c:pt idx="175">
                  <c:v>1.7500000000000005E-2</c:v>
                </c:pt>
                <c:pt idx="176">
                  <c:v>1.7600000000000001E-2</c:v>
                </c:pt>
                <c:pt idx="177">
                  <c:v>1.77E-2</c:v>
                </c:pt>
                <c:pt idx="178">
                  <c:v>1.7800000000000003E-2</c:v>
                </c:pt>
                <c:pt idx="179">
                  <c:v>1.7899999999999999E-2</c:v>
                </c:pt>
                <c:pt idx="180">
                  <c:v>1.7999999999999999E-2</c:v>
                </c:pt>
                <c:pt idx="181">
                  <c:v>1.8100000000000043E-2</c:v>
                </c:pt>
                <c:pt idx="182">
                  <c:v>1.8200000000000063E-2</c:v>
                </c:pt>
                <c:pt idx="183">
                  <c:v>1.8300000000000021E-2</c:v>
                </c:pt>
                <c:pt idx="184">
                  <c:v>1.8400000000000041E-2</c:v>
                </c:pt>
                <c:pt idx="185">
                  <c:v>1.8499999999999999E-2</c:v>
                </c:pt>
                <c:pt idx="186">
                  <c:v>1.8599999999999998E-2</c:v>
                </c:pt>
                <c:pt idx="187">
                  <c:v>1.8700000000000341E-2</c:v>
                </c:pt>
                <c:pt idx="188">
                  <c:v>1.8800000000000441E-2</c:v>
                </c:pt>
                <c:pt idx="189">
                  <c:v>1.8900000000000493E-2</c:v>
                </c:pt>
                <c:pt idx="190">
                  <c:v>1.9000000000000499E-2</c:v>
                </c:pt>
                <c:pt idx="191">
                  <c:v>1.9099999999999999E-2</c:v>
                </c:pt>
                <c:pt idx="192">
                  <c:v>1.9199999999999998E-2</c:v>
                </c:pt>
                <c:pt idx="193">
                  <c:v>1.9300000000000529E-2</c:v>
                </c:pt>
                <c:pt idx="194">
                  <c:v>1.9400000000000556E-2</c:v>
                </c:pt>
                <c:pt idx="195">
                  <c:v>1.9500000000000565E-2</c:v>
                </c:pt>
                <c:pt idx="196">
                  <c:v>1.9599999999999999E-2</c:v>
                </c:pt>
                <c:pt idx="197">
                  <c:v>1.9699999999999999E-2</c:v>
                </c:pt>
                <c:pt idx="198">
                  <c:v>1.9800000000000609E-2</c:v>
                </c:pt>
                <c:pt idx="199">
                  <c:v>1.9900000000000626E-2</c:v>
                </c:pt>
                <c:pt idx="200">
                  <c:v>2.0000000000000011E-2</c:v>
                </c:pt>
              </c:numCache>
            </c:numRef>
          </c:xVal>
          <c:yVal>
            <c:numRef>
              <c:f>'мьян и рус по 1.12'!$C$2:$C$202</c:f>
              <c:numCache>
                <c:formatCode>General</c:formatCode>
                <c:ptCount val="201"/>
                <c:pt idx="0">
                  <c:v>1</c:v>
                </c:pt>
                <c:pt idx="1">
                  <c:v>0.88539999999999996</c:v>
                </c:pt>
                <c:pt idx="2">
                  <c:v>0.70120000000000005</c:v>
                </c:pt>
                <c:pt idx="3">
                  <c:v>0.47430000000000438</c:v>
                </c:pt>
                <c:pt idx="4">
                  <c:v>0.23219999999999999</c:v>
                </c:pt>
                <c:pt idx="5">
                  <c:v>-1.0000000000000221E-4</c:v>
                </c:pt>
                <c:pt idx="6">
                  <c:v>-0.20119999999999999</c:v>
                </c:pt>
                <c:pt idx="7">
                  <c:v>-0.35630000000000811</c:v>
                </c:pt>
                <c:pt idx="8">
                  <c:v>-0.45660000000000001</c:v>
                </c:pt>
                <c:pt idx="9">
                  <c:v>-0.49970000000000031</c:v>
                </c:pt>
                <c:pt idx="10">
                  <c:v>-0.48920000000000002</c:v>
                </c:pt>
                <c:pt idx="11">
                  <c:v>-0.43310000000000032</c:v>
                </c:pt>
                <c:pt idx="12">
                  <c:v>-0.34300000000000008</c:v>
                </c:pt>
                <c:pt idx="13">
                  <c:v>-0.23200000000000001</c:v>
                </c:pt>
                <c:pt idx="14">
                  <c:v>-0.11360000000000002</c:v>
                </c:pt>
                <c:pt idx="15">
                  <c:v>1.0000000000000041E-3</c:v>
                </c:pt>
                <c:pt idx="16">
                  <c:v>9.8400000000000043E-2</c:v>
                </c:pt>
                <c:pt idx="17">
                  <c:v>0.17430000000000001</c:v>
                </c:pt>
                <c:pt idx="18">
                  <c:v>0.22339999999999999</c:v>
                </c:pt>
                <c:pt idx="19">
                  <c:v>0.24450000000000024</c:v>
                </c:pt>
                <c:pt idx="20">
                  <c:v>0.23930000000000001</c:v>
                </c:pt>
                <c:pt idx="21">
                  <c:v>0.21190000000000428</c:v>
                </c:pt>
                <c:pt idx="22">
                  <c:v>0.1678</c:v>
                </c:pt>
                <c:pt idx="23">
                  <c:v>0.1135</c:v>
                </c:pt>
                <c:pt idx="24">
                  <c:v>5.5600000000000004E-2</c:v>
                </c:pt>
                <c:pt idx="25">
                  <c:v>0</c:v>
                </c:pt>
                <c:pt idx="26">
                  <c:v>-4.82E-2</c:v>
                </c:pt>
                <c:pt idx="27">
                  <c:v>-8.5300000000000001E-2</c:v>
                </c:pt>
                <c:pt idx="28">
                  <c:v>-0.10929999999999999</c:v>
                </c:pt>
                <c:pt idx="29">
                  <c:v>-0.11960000000000012</c:v>
                </c:pt>
                <c:pt idx="30">
                  <c:v>-0.11710000000000002</c:v>
                </c:pt>
                <c:pt idx="31">
                  <c:v>-0.10370000000000019</c:v>
                </c:pt>
                <c:pt idx="32">
                  <c:v>-8.2100000000000006E-2</c:v>
                </c:pt>
                <c:pt idx="33">
                  <c:v>-5.5500000000000022E-2</c:v>
                </c:pt>
                <c:pt idx="34">
                  <c:v>-2.7200000000000012E-2</c:v>
                </c:pt>
                <c:pt idx="35">
                  <c:v>0</c:v>
                </c:pt>
                <c:pt idx="36">
                  <c:v>2.3599999999999993E-2</c:v>
                </c:pt>
                <c:pt idx="37">
                  <c:v>4.1700000000000001E-2</c:v>
                </c:pt>
                <c:pt idx="38">
                  <c:v>5.3499999999999999E-2</c:v>
                </c:pt>
                <c:pt idx="39">
                  <c:v>5.8500000000000003E-2</c:v>
                </c:pt>
                <c:pt idx="40">
                  <c:v>5.7300000000000434E-2</c:v>
                </c:pt>
                <c:pt idx="41">
                  <c:v>5.0700000000000023E-2</c:v>
                </c:pt>
                <c:pt idx="42">
                  <c:v>4.02E-2</c:v>
                </c:pt>
                <c:pt idx="43">
                  <c:v>2.7200000000000012E-2</c:v>
                </c:pt>
                <c:pt idx="44">
                  <c:v>1.3299999999999998E-2</c:v>
                </c:pt>
                <c:pt idx="45">
                  <c:v>0</c:v>
                </c:pt>
                <c:pt idx="46">
                  <c:v>-1.1500000000000381E-2</c:v>
                </c:pt>
                <c:pt idx="47">
                  <c:v>-2.0400000000000001E-2</c:v>
                </c:pt>
                <c:pt idx="48">
                  <c:v>-2.6100000000000002E-2</c:v>
                </c:pt>
                <c:pt idx="49">
                  <c:v>-2.86E-2</c:v>
                </c:pt>
                <c:pt idx="50">
                  <c:v>-2.8000000000000001E-2</c:v>
                </c:pt>
                <c:pt idx="51">
                  <c:v>-2.4799999999999999E-2</c:v>
                </c:pt>
                <c:pt idx="52">
                  <c:v>-1.9599999999999999E-2</c:v>
                </c:pt>
                <c:pt idx="53">
                  <c:v>-1.3299999999999998E-2</c:v>
                </c:pt>
                <c:pt idx="54">
                  <c:v>-6.5000000000000934E-3</c:v>
                </c:pt>
                <c:pt idx="55">
                  <c:v>0</c:v>
                </c:pt>
                <c:pt idx="56">
                  <c:v>5.6000000000000034E-3</c:v>
                </c:pt>
                <c:pt idx="57">
                  <c:v>1.0000000000000005E-2</c:v>
                </c:pt>
                <c:pt idx="58">
                  <c:v>1.2800000000000021E-2</c:v>
                </c:pt>
                <c:pt idx="59">
                  <c:v>1.4E-2</c:v>
                </c:pt>
                <c:pt idx="60">
                  <c:v>1.3700000000000389E-2</c:v>
                </c:pt>
                <c:pt idx="61">
                  <c:v>1.2100000000000001E-2</c:v>
                </c:pt>
                <c:pt idx="62">
                  <c:v>9.6000000000000026E-3</c:v>
                </c:pt>
                <c:pt idx="63">
                  <c:v>6.5000000000000934E-3</c:v>
                </c:pt>
                <c:pt idx="64">
                  <c:v>3.2000000000001077E-3</c:v>
                </c:pt>
                <c:pt idx="65">
                  <c:v>0</c:v>
                </c:pt>
                <c:pt idx="66">
                  <c:v>-2.8000000000000052E-3</c:v>
                </c:pt>
                <c:pt idx="67">
                  <c:v>-4.9000000000001803E-3</c:v>
                </c:pt>
                <c:pt idx="68">
                  <c:v>-6.3000000000000113E-3</c:v>
                </c:pt>
                <c:pt idx="69">
                  <c:v>-6.8000000000000334E-3</c:v>
                </c:pt>
                <c:pt idx="70">
                  <c:v>-6.7000000000001928E-3</c:v>
                </c:pt>
                <c:pt idx="71">
                  <c:v>-5.900000000000202E-3</c:v>
                </c:pt>
                <c:pt idx="72">
                  <c:v>-4.7000000000000123E-3</c:v>
                </c:pt>
                <c:pt idx="73">
                  <c:v>-3.2000000000001077E-3</c:v>
                </c:pt>
                <c:pt idx="74">
                  <c:v>-1.6000000000000489E-3</c:v>
                </c:pt>
                <c:pt idx="75">
                  <c:v>0</c:v>
                </c:pt>
                <c:pt idx="76">
                  <c:v>1.2999999999999978E-3</c:v>
                </c:pt>
                <c:pt idx="77">
                  <c:v>2.3999999999999998E-3</c:v>
                </c:pt>
                <c:pt idx="78">
                  <c:v>3.1000000000000879E-3</c:v>
                </c:pt>
                <c:pt idx="79">
                  <c:v>3.4000000000000692E-3</c:v>
                </c:pt>
                <c:pt idx="80">
                  <c:v>3.3000000000000052E-3</c:v>
                </c:pt>
                <c:pt idx="81">
                  <c:v>2.8999999999999998E-3</c:v>
                </c:pt>
                <c:pt idx="82">
                  <c:v>2.3000000000000052E-3</c:v>
                </c:pt>
                <c:pt idx="83">
                  <c:v>1.6000000000000489E-3</c:v>
                </c:pt>
                <c:pt idx="84">
                  <c:v>8.0000000000000264E-4</c:v>
                </c:pt>
                <c:pt idx="85">
                  <c:v>0</c:v>
                </c:pt>
                <c:pt idx="86">
                  <c:v>-7.0000000000002124E-4</c:v>
                </c:pt>
                <c:pt idx="87">
                  <c:v>-1.1999999999999999E-3</c:v>
                </c:pt>
                <c:pt idx="88">
                  <c:v>-1.5000000000000221E-3</c:v>
                </c:pt>
                <c:pt idx="89">
                  <c:v>-1.6000000000000489E-3</c:v>
                </c:pt>
                <c:pt idx="90">
                  <c:v>-1.6000000000000489E-3</c:v>
                </c:pt>
                <c:pt idx="91">
                  <c:v>-1.4000000000000041E-3</c:v>
                </c:pt>
                <c:pt idx="92">
                  <c:v>-1.1000000000000391E-3</c:v>
                </c:pt>
                <c:pt idx="93">
                  <c:v>-8.0000000000000264E-4</c:v>
                </c:pt>
                <c:pt idx="94">
                  <c:v>-4.0000000000000034E-4</c:v>
                </c:pt>
                <c:pt idx="95">
                  <c:v>0</c:v>
                </c:pt>
                <c:pt idx="96">
                  <c:v>3.0000000000001006E-4</c:v>
                </c:pt>
                <c:pt idx="97">
                  <c:v>6.0000000000002022E-4</c:v>
                </c:pt>
                <c:pt idx="98">
                  <c:v>7.0000000000002124E-4</c:v>
                </c:pt>
                <c:pt idx="99">
                  <c:v>8.0000000000000264E-4</c:v>
                </c:pt>
                <c:pt idx="100">
                  <c:v>8.0000000000000264E-4</c:v>
                </c:pt>
                <c:pt idx="101">
                  <c:v>7.0000000000002124E-4</c:v>
                </c:pt>
                <c:pt idx="102">
                  <c:v>6.0000000000002022E-4</c:v>
                </c:pt>
                <c:pt idx="103">
                  <c:v>4.0000000000000034E-4</c:v>
                </c:pt>
                <c:pt idx="104">
                  <c:v>2.0000000000000052E-4</c:v>
                </c:pt>
                <c:pt idx="105">
                  <c:v>0</c:v>
                </c:pt>
                <c:pt idx="106">
                  <c:v>-2.0000000000000052E-4</c:v>
                </c:pt>
                <c:pt idx="107">
                  <c:v>-3.0000000000001006E-4</c:v>
                </c:pt>
                <c:pt idx="108">
                  <c:v>-4.0000000000000034E-4</c:v>
                </c:pt>
                <c:pt idx="109">
                  <c:v>-4.0000000000000034E-4</c:v>
                </c:pt>
                <c:pt idx="110">
                  <c:v>-4.0000000000000034E-4</c:v>
                </c:pt>
                <c:pt idx="111">
                  <c:v>-3.0000000000001006E-4</c:v>
                </c:pt>
                <c:pt idx="112">
                  <c:v>-3.0000000000001006E-4</c:v>
                </c:pt>
                <c:pt idx="113">
                  <c:v>-2.0000000000000052E-4</c:v>
                </c:pt>
                <c:pt idx="114">
                  <c:v>-1.0000000000000221E-4</c:v>
                </c:pt>
                <c:pt idx="115">
                  <c:v>0</c:v>
                </c:pt>
                <c:pt idx="116">
                  <c:v>1.0000000000000221E-4</c:v>
                </c:pt>
                <c:pt idx="117">
                  <c:v>1.0000000000000221E-4</c:v>
                </c:pt>
                <c:pt idx="118">
                  <c:v>2.0000000000000052E-4</c:v>
                </c:pt>
                <c:pt idx="119">
                  <c:v>2.0000000000000052E-4</c:v>
                </c:pt>
                <c:pt idx="120">
                  <c:v>2.0000000000000052E-4</c:v>
                </c:pt>
                <c:pt idx="121">
                  <c:v>2.0000000000000052E-4</c:v>
                </c:pt>
                <c:pt idx="122">
                  <c:v>1.0000000000000221E-4</c:v>
                </c:pt>
                <c:pt idx="123">
                  <c:v>1.0000000000000221E-4</c:v>
                </c:pt>
                <c:pt idx="124">
                  <c:v>0</c:v>
                </c:pt>
                <c:pt idx="125">
                  <c:v>0</c:v>
                </c:pt>
                <c:pt idx="126">
                  <c:v>0</c:v>
                </c:pt>
                <c:pt idx="127">
                  <c:v>-1.0000000000000221E-4</c:v>
                </c:pt>
                <c:pt idx="128">
                  <c:v>-1.0000000000000221E-4</c:v>
                </c:pt>
                <c:pt idx="129">
                  <c:v>-1.0000000000000221E-4</c:v>
                </c:pt>
                <c:pt idx="130">
                  <c:v>-1.0000000000000221E-4</c:v>
                </c:pt>
                <c:pt idx="131">
                  <c:v>-1.0000000000000221E-4</c:v>
                </c:pt>
                <c:pt idx="132">
                  <c:v>-1.0000000000000221E-4</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numCache>
            </c:numRef>
          </c:yVal>
          <c:smooth val="1"/>
          <c:extLst>
            <c:ext xmlns:c16="http://schemas.microsoft.com/office/drawing/2014/chart" uri="{C3380CC4-5D6E-409C-BE32-E72D297353CC}">
              <c16:uniqueId val="{00000000-0581-40B5-B394-F56D7FE95F25}"/>
            </c:ext>
          </c:extLst>
        </c:ser>
        <c:ser>
          <c:idx val="1"/>
          <c:order val="1"/>
          <c:spPr>
            <a:ln w="22225">
              <a:solidFill>
                <a:schemeClr val="tx1"/>
              </a:solidFill>
              <a:prstDash val="sysDash"/>
            </a:ln>
          </c:spPr>
          <c:marker>
            <c:symbol val="none"/>
          </c:marker>
          <c:xVal>
            <c:numRef>
              <c:f>'мьян и рус по 1.12'!$B$2:$B$202</c:f>
              <c:numCache>
                <c:formatCode>General</c:formatCode>
                <c:ptCount val="201"/>
                <c:pt idx="0">
                  <c:v>0</c:v>
                </c:pt>
                <c:pt idx="1">
                  <c:v>1.0000000000000221E-4</c:v>
                </c:pt>
                <c:pt idx="2">
                  <c:v>2.0000000000000052E-4</c:v>
                </c:pt>
                <c:pt idx="3">
                  <c:v>3.0000000000001006E-4</c:v>
                </c:pt>
                <c:pt idx="4">
                  <c:v>4.0000000000000034E-4</c:v>
                </c:pt>
                <c:pt idx="5">
                  <c:v>5.0000000000000034E-4</c:v>
                </c:pt>
                <c:pt idx="6">
                  <c:v>6.0000000000002022E-4</c:v>
                </c:pt>
                <c:pt idx="7">
                  <c:v>7.0000000000002124E-4</c:v>
                </c:pt>
                <c:pt idx="8">
                  <c:v>8.0000000000000264E-4</c:v>
                </c:pt>
                <c:pt idx="9">
                  <c:v>9.0000000000000247E-4</c:v>
                </c:pt>
                <c:pt idx="10">
                  <c:v>1.0000000000000041E-3</c:v>
                </c:pt>
                <c:pt idx="11">
                  <c:v>1.1000000000000391E-3</c:v>
                </c:pt>
                <c:pt idx="12">
                  <c:v>1.1999999999999999E-3</c:v>
                </c:pt>
                <c:pt idx="13">
                  <c:v>1.2999999999999978E-3</c:v>
                </c:pt>
                <c:pt idx="14">
                  <c:v>1.4000000000000041E-3</c:v>
                </c:pt>
                <c:pt idx="15">
                  <c:v>1.5000000000000221E-3</c:v>
                </c:pt>
                <c:pt idx="16">
                  <c:v>1.6000000000000489E-3</c:v>
                </c:pt>
                <c:pt idx="17">
                  <c:v>1.7000000000000081E-3</c:v>
                </c:pt>
                <c:pt idx="18">
                  <c:v>1.8000000000000483E-3</c:v>
                </c:pt>
                <c:pt idx="19">
                  <c:v>1.900000000000064E-3</c:v>
                </c:pt>
                <c:pt idx="20">
                  <c:v>2.0000000000000052E-3</c:v>
                </c:pt>
                <c:pt idx="21">
                  <c:v>2.0999999999999999E-3</c:v>
                </c:pt>
                <c:pt idx="22">
                  <c:v>2.2000000000000092E-3</c:v>
                </c:pt>
                <c:pt idx="23">
                  <c:v>2.3000000000000052E-3</c:v>
                </c:pt>
                <c:pt idx="24">
                  <c:v>2.3999999999999998E-3</c:v>
                </c:pt>
                <c:pt idx="25">
                  <c:v>2.5000000000000092E-3</c:v>
                </c:pt>
                <c:pt idx="26">
                  <c:v>2.5999999999999999E-3</c:v>
                </c:pt>
                <c:pt idx="27">
                  <c:v>2.7000000000000812E-3</c:v>
                </c:pt>
                <c:pt idx="28">
                  <c:v>2.8000000000000052E-3</c:v>
                </c:pt>
                <c:pt idx="29">
                  <c:v>2.8999999999999998E-3</c:v>
                </c:pt>
                <c:pt idx="30">
                  <c:v>3.0000000000000092E-3</c:v>
                </c:pt>
                <c:pt idx="31">
                  <c:v>3.1000000000000879E-3</c:v>
                </c:pt>
                <c:pt idx="32">
                  <c:v>3.2000000000001077E-3</c:v>
                </c:pt>
                <c:pt idx="33">
                  <c:v>3.3000000000000052E-3</c:v>
                </c:pt>
                <c:pt idx="34">
                  <c:v>3.4000000000000692E-3</c:v>
                </c:pt>
                <c:pt idx="35">
                  <c:v>3.5000000000000612E-3</c:v>
                </c:pt>
                <c:pt idx="36">
                  <c:v>3.6000000000001001E-3</c:v>
                </c:pt>
                <c:pt idx="37">
                  <c:v>3.7000000000001194E-3</c:v>
                </c:pt>
                <c:pt idx="38">
                  <c:v>3.8000000000000052E-3</c:v>
                </c:pt>
                <c:pt idx="39">
                  <c:v>3.9000000000000692E-3</c:v>
                </c:pt>
                <c:pt idx="40">
                  <c:v>4.0000000000000114E-3</c:v>
                </c:pt>
                <c:pt idx="41">
                  <c:v>4.1000000000000003E-3</c:v>
                </c:pt>
                <c:pt idx="42">
                  <c:v>4.1999999999999997E-3</c:v>
                </c:pt>
                <c:pt idx="43">
                  <c:v>4.3000000000000104E-3</c:v>
                </c:pt>
                <c:pt idx="44">
                  <c:v>4.4000000000000124E-3</c:v>
                </c:pt>
                <c:pt idx="45">
                  <c:v>4.5000000000000014E-3</c:v>
                </c:pt>
                <c:pt idx="46">
                  <c:v>4.6000000000000034E-3</c:v>
                </c:pt>
                <c:pt idx="47">
                  <c:v>4.7000000000000123E-3</c:v>
                </c:pt>
                <c:pt idx="48">
                  <c:v>4.8000000000000004E-3</c:v>
                </c:pt>
                <c:pt idx="49">
                  <c:v>4.9000000000001803E-3</c:v>
                </c:pt>
                <c:pt idx="50">
                  <c:v>5.0000000000000114E-3</c:v>
                </c:pt>
                <c:pt idx="51">
                  <c:v>5.1000000000000004E-3</c:v>
                </c:pt>
                <c:pt idx="52">
                  <c:v>5.1999999999999998E-3</c:v>
                </c:pt>
                <c:pt idx="53">
                  <c:v>5.3000000000000104E-3</c:v>
                </c:pt>
                <c:pt idx="54">
                  <c:v>5.4000000000000124E-3</c:v>
                </c:pt>
                <c:pt idx="55">
                  <c:v>5.5000000000000014E-3</c:v>
                </c:pt>
                <c:pt idx="56">
                  <c:v>5.6000000000000034E-3</c:v>
                </c:pt>
                <c:pt idx="57">
                  <c:v>5.7000000000000123E-3</c:v>
                </c:pt>
                <c:pt idx="58">
                  <c:v>5.8000000000000013E-3</c:v>
                </c:pt>
                <c:pt idx="59">
                  <c:v>5.900000000000202E-3</c:v>
                </c:pt>
                <c:pt idx="60">
                  <c:v>6.0000000000000114E-3</c:v>
                </c:pt>
                <c:pt idx="61">
                  <c:v>6.1000000000000004E-3</c:v>
                </c:pt>
                <c:pt idx="62">
                  <c:v>6.2000000000001819E-3</c:v>
                </c:pt>
                <c:pt idx="63">
                  <c:v>6.3000000000000113E-3</c:v>
                </c:pt>
                <c:pt idx="64">
                  <c:v>6.4000000000002119E-3</c:v>
                </c:pt>
                <c:pt idx="65">
                  <c:v>6.5000000000000934E-3</c:v>
                </c:pt>
                <c:pt idx="66">
                  <c:v>6.6000000000000034E-3</c:v>
                </c:pt>
                <c:pt idx="67">
                  <c:v>6.7000000000001928E-3</c:v>
                </c:pt>
                <c:pt idx="68">
                  <c:v>6.8000000000000334E-3</c:v>
                </c:pt>
                <c:pt idx="69">
                  <c:v>6.9000000000002124E-3</c:v>
                </c:pt>
                <c:pt idx="70">
                  <c:v>7.0000000000000114E-3</c:v>
                </c:pt>
                <c:pt idx="71">
                  <c:v>7.1000000000000004E-3</c:v>
                </c:pt>
                <c:pt idx="72">
                  <c:v>7.2000000000002028E-3</c:v>
                </c:pt>
                <c:pt idx="73">
                  <c:v>7.3000000000000113E-3</c:v>
                </c:pt>
                <c:pt idx="74">
                  <c:v>7.4000000000002345E-3</c:v>
                </c:pt>
                <c:pt idx="75">
                  <c:v>7.5000000000000934E-3</c:v>
                </c:pt>
                <c:pt idx="76">
                  <c:v>7.6000000000000104E-3</c:v>
                </c:pt>
                <c:pt idx="77">
                  <c:v>7.7000000000002162E-3</c:v>
                </c:pt>
                <c:pt idx="78">
                  <c:v>7.8000000000000534E-3</c:v>
                </c:pt>
                <c:pt idx="79">
                  <c:v>7.9000000000002124E-3</c:v>
                </c:pt>
                <c:pt idx="80">
                  <c:v>8.0000000000000227E-3</c:v>
                </c:pt>
                <c:pt idx="81">
                  <c:v>8.1000000000000048E-3</c:v>
                </c:pt>
                <c:pt idx="82">
                  <c:v>8.2000000000000007E-3</c:v>
                </c:pt>
                <c:pt idx="83">
                  <c:v>8.3000000000000226E-3</c:v>
                </c:pt>
                <c:pt idx="84">
                  <c:v>8.4000000000000047E-3</c:v>
                </c:pt>
                <c:pt idx="85">
                  <c:v>8.5000000000000006E-3</c:v>
                </c:pt>
                <c:pt idx="86">
                  <c:v>8.6000000000000208E-3</c:v>
                </c:pt>
                <c:pt idx="87">
                  <c:v>8.7000000000000046E-3</c:v>
                </c:pt>
                <c:pt idx="88">
                  <c:v>8.8000000000000248E-3</c:v>
                </c:pt>
                <c:pt idx="89">
                  <c:v>8.9000000000000207E-3</c:v>
                </c:pt>
                <c:pt idx="90">
                  <c:v>9.0000000000000028E-3</c:v>
                </c:pt>
                <c:pt idx="91">
                  <c:v>9.1000000000000004E-3</c:v>
                </c:pt>
                <c:pt idx="92">
                  <c:v>9.2000000000000068E-3</c:v>
                </c:pt>
                <c:pt idx="93">
                  <c:v>9.3000000000000548E-3</c:v>
                </c:pt>
                <c:pt idx="94">
                  <c:v>9.4000000000000247E-3</c:v>
                </c:pt>
                <c:pt idx="95">
                  <c:v>9.5000000000000067E-3</c:v>
                </c:pt>
                <c:pt idx="96">
                  <c:v>9.6000000000000026E-3</c:v>
                </c:pt>
                <c:pt idx="97">
                  <c:v>9.7000000000000003E-3</c:v>
                </c:pt>
                <c:pt idx="98">
                  <c:v>9.8000000000000708E-3</c:v>
                </c:pt>
                <c:pt idx="99">
                  <c:v>9.9000000000000268E-3</c:v>
                </c:pt>
                <c:pt idx="100">
                  <c:v>1.0000000000000005E-2</c:v>
                </c:pt>
                <c:pt idx="101">
                  <c:v>1.0100000000000001E-2</c:v>
                </c:pt>
                <c:pt idx="102">
                  <c:v>1.0200000000000001E-2</c:v>
                </c:pt>
                <c:pt idx="103">
                  <c:v>1.0300000000000005E-2</c:v>
                </c:pt>
                <c:pt idx="104">
                  <c:v>1.0400000000000001E-2</c:v>
                </c:pt>
                <c:pt idx="105">
                  <c:v>1.0500000000000021E-2</c:v>
                </c:pt>
                <c:pt idx="106">
                  <c:v>1.0600000000000021E-2</c:v>
                </c:pt>
                <c:pt idx="107">
                  <c:v>1.0699999999999998E-2</c:v>
                </c:pt>
                <c:pt idx="108">
                  <c:v>1.0800000000000021E-2</c:v>
                </c:pt>
                <c:pt idx="109">
                  <c:v>1.0900000000000003E-2</c:v>
                </c:pt>
                <c:pt idx="110">
                  <c:v>1.0999999999999998E-2</c:v>
                </c:pt>
                <c:pt idx="111">
                  <c:v>1.1100000000000203E-2</c:v>
                </c:pt>
                <c:pt idx="112">
                  <c:v>1.1200000000000081E-2</c:v>
                </c:pt>
                <c:pt idx="113">
                  <c:v>1.1299999999999998E-2</c:v>
                </c:pt>
                <c:pt idx="114">
                  <c:v>1.1400000000000281E-2</c:v>
                </c:pt>
                <c:pt idx="115">
                  <c:v>1.1500000000000381E-2</c:v>
                </c:pt>
                <c:pt idx="116">
                  <c:v>1.1599999999999996E-2</c:v>
                </c:pt>
                <c:pt idx="117">
                  <c:v>1.170000000000042E-2</c:v>
                </c:pt>
                <c:pt idx="118">
                  <c:v>1.1800000000000433E-2</c:v>
                </c:pt>
                <c:pt idx="119">
                  <c:v>1.1900000000000443E-2</c:v>
                </c:pt>
                <c:pt idx="120">
                  <c:v>1.2E-2</c:v>
                </c:pt>
                <c:pt idx="121">
                  <c:v>1.2100000000000001E-2</c:v>
                </c:pt>
                <c:pt idx="122">
                  <c:v>1.2200000000000001E-2</c:v>
                </c:pt>
                <c:pt idx="123">
                  <c:v>1.2300000000000005E-2</c:v>
                </c:pt>
                <c:pt idx="124">
                  <c:v>1.2400000000000001E-2</c:v>
                </c:pt>
                <c:pt idx="125">
                  <c:v>1.2500000000000001E-2</c:v>
                </c:pt>
                <c:pt idx="126">
                  <c:v>1.2600000000000005E-2</c:v>
                </c:pt>
                <c:pt idx="127">
                  <c:v>1.2699999999999998E-2</c:v>
                </c:pt>
                <c:pt idx="128">
                  <c:v>1.2800000000000021E-2</c:v>
                </c:pt>
                <c:pt idx="129">
                  <c:v>1.2900000000000003E-2</c:v>
                </c:pt>
                <c:pt idx="130">
                  <c:v>1.2999999999999998E-2</c:v>
                </c:pt>
                <c:pt idx="131">
                  <c:v>1.3100000000000021E-2</c:v>
                </c:pt>
                <c:pt idx="132">
                  <c:v>1.3200000000000081E-2</c:v>
                </c:pt>
                <c:pt idx="133">
                  <c:v>1.3299999999999998E-2</c:v>
                </c:pt>
                <c:pt idx="134">
                  <c:v>1.3400000000000281E-2</c:v>
                </c:pt>
                <c:pt idx="135">
                  <c:v>1.3500000000000373E-2</c:v>
                </c:pt>
                <c:pt idx="136">
                  <c:v>1.3599999999999998E-2</c:v>
                </c:pt>
                <c:pt idx="137">
                  <c:v>1.3700000000000389E-2</c:v>
                </c:pt>
                <c:pt idx="138">
                  <c:v>1.3800000000000404E-2</c:v>
                </c:pt>
                <c:pt idx="139">
                  <c:v>1.3899999999999999E-2</c:v>
                </c:pt>
                <c:pt idx="140">
                  <c:v>1.4E-2</c:v>
                </c:pt>
                <c:pt idx="141">
                  <c:v>1.4100000000000001E-2</c:v>
                </c:pt>
                <c:pt idx="142">
                  <c:v>1.4200000000000001E-2</c:v>
                </c:pt>
                <c:pt idx="143">
                  <c:v>1.43E-2</c:v>
                </c:pt>
                <c:pt idx="144">
                  <c:v>1.4400000000000001E-2</c:v>
                </c:pt>
                <c:pt idx="145">
                  <c:v>1.4500000000000001E-2</c:v>
                </c:pt>
                <c:pt idx="146">
                  <c:v>1.4600000000000005E-2</c:v>
                </c:pt>
                <c:pt idx="147">
                  <c:v>1.4700000000000001E-2</c:v>
                </c:pt>
                <c:pt idx="148">
                  <c:v>1.4800000000000001E-2</c:v>
                </c:pt>
                <c:pt idx="149">
                  <c:v>1.4900000000000005E-2</c:v>
                </c:pt>
                <c:pt idx="150">
                  <c:v>1.4999999999999998E-2</c:v>
                </c:pt>
                <c:pt idx="151">
                  <c:v>1.5100000000000021E-2</c:v>
                </c:pt>
                <c:pt idx="152">
                  <c:v>1.5200000000000003E-2</c:v>
                </c:pt>
                <c:pt idx="153">
                  <c:v>1.5299999999999998E-2</c:v>
                </c:pt>
                <c:pt idx="154">
                  <c:v>1.5400000000000021E-2</c:v>
                </c:pt>
                <c:pt idx="155">
                  <c:v>1.5500000000000081E-2</c:v>
                </c:pt>
                <c:pt idx="156">
                  <c:v>1.5599999999999998E-2</c:v>
                </c:pt>
                <c:pt idx="157">
                  <c:v>1.5699999999999999E-2</c:v>
                </c:pt>
                <c:pt idx="158">
                  <c:v>1.5800000000000043E-2</c:v>
                </c:pt>
                <c:pt idx="159">
                  <c:v>1.5900000000000001E-2</c:v>
                </c:pt>
                <c:pt idx="160">
                  <c:v>1.6000000000000021E-2</c:v>
                </c:pt>
                <c:pt idx="161">
                  <c:v>1.6100000000000041E-2</c:v>
                </c:pt>
                <c:pt idx="162">
                  <c:v>1.6199999999999999E-2</c:v>
                </c:pt>
                <c:pt idx="163">
                  <c:v>1.6299999999999999E-2</c:v>
                </c:pt>
                <c:pt idx="164">
                  <c:v>1.6400000000000001E-2</c:v>
                </c:pt>
                <c:pt idx="165">
                  <c:v>1.6500000000000101E-2</c:v>
                </c:pt>
                <c:pt idx="166">
                  <c:v>1.6600000000000201E-2</c:v>
                </c:pt>
                <c:pt idx="167">
                  <c:v>1.6700000000000301E-2</c:v>
                </c:pt>
                <c:pt idx="168">
                  <c:v>1.6799999999999999E-2</c:v>
                </c:pt>
                <c:pt idx="169">
                  <c:v>1.6899999999999998E-2</c:v>
                </c:pt>
                <c:pt idx="170">
                  <c:v>1.7000000000000001E-2</c:v>
                </c:pt>
                <c:pt idx="171">
                  <c:v>1.7100000000000001E-2</c:v>
                </c:pt>
                <c:pt idx="172">
                  <c:v>1.72E-2</c:v>
                </c:pt>
                <c:pt idx="173">
                  <c:v>1.7299999999999996E-2</c:v>
                </c:pt>
                <c:pt idx="174">
                  <c:v>1.7399999999999999E-2</c:v>
                </c:pt>
                <c:pt idx="175">
                  <c:v>1.7500000000000005E-2</c:v>
                </c:pt>
                <c:pt idx="176">
                  <c:v>1.7600000000000001E-2</c:v>
                </c:pt>
                <c:pt idx="177">
                  <c:v>1.77E-2</c:v>
                </c:pt>
                <c:pt idx="178">
                  <c:v>1.7800000000000003E-2</c:v>
                </c:pt>
                <c:pt idx="179">
                  <c:v>1.7899999999999999E-2</c:v>
                </c:pt>
                <c:pt idx="180">
                  <c:v>1.7999999999999999E-2</c:v>
                </c:pt>
                <c:pt idx="181">
                  <c:v>1.8100000000000043E-2</c:v>
                </c:pt>
                <c:pt idx="182">
                  <c:v>1.8200000000000063E-2</c:v>
                </c:pt>
                <c:pt idx="183">
                  <c:v>1.8300000000000021E-2</c:v>
                </c:pt>
                <c:pt idx="184">
                  <c:v>1.8400000000000041E-2</c:v>
                </c:pt>
                <c:pt idx="185">
                  <c:v>1.8499999999999999E-2</c:v>
                </c:pt>
                <c:pt idx="186">
                  <c:v>1.8599999999999998E-2</c:v>
                </c:pt>
                <c:pt idx="187">
                  <c:v>1.8700000000000341E-2</c:v>
                </c:pt>
                <c:pt idx="188">
                  <c:v>1.8800000000000441E-2</c:v>
                </c:pt>
                <c:pt idx="189">
                  <c:v>1.8900000000000493E-2</c:v>
                </c:pt>
                <c:pt idx="190">
                  <c:v>1.9000000000000499E-2</c:v>
                </c:pt>
                <c:pt idx="191">
                  <c:v>1.9099999999999999E-2</c:v>
                </c:pt>
                <c:pt idx="192">
                  <c:v>1.9199999999999998E-2</c:v>
                </c:pt>
                <c:pt idx="193">
                  <c:v>1.9300000000000529E-2</c:v>
                </c:pt>
                <c:pt idx="194">
                  <c:v>1.9400000000000556E-2</c:v>
                </c:pt>
                <c:pt idx="195">
                  <c:v>1.9500000000000565E-2</c:v>
                </c:pt>
                <c:pt idx="196">
                  <c:v>1.9599999999999999E-2</c:v>
                </c:pt>
                <c:pt idx="197">
                  <c:v>1.9699999999999999E-2</c:v>
                </c:pt>
                <c:pt idx="198">
                  <c:v>1.9800000000000609E-2</c:v>
                </c:pt>
                <c:pt idx="199">
                  <c:v>1.9900000000000626E-2</c:v>
                </c:pt>
                <c:pt idx="200">
                  <c:v>2.0000000000000011E-2</c:v>
                </c:pt>
              </c:numCache>
            </c:numRef>
          </c:xVal>
          <c:yVal>
            <c:numRef>
              <c:f>'мьян и рус по 1.12'!$D$2:$D$202</c:f>
              <c:numCache>
                <c:formatCode>General</c:formatCode>
                <c:ptCount val="201"/>
                <c:pt idx="0">
                  <c:v>1</c:v>
                </c:pt>
                <c:pt idx="1">
                  <c:v>0.93840000000000001</c:v>
                </c:pt>
                <c:pt idx="2">
                  <c:v>0.82560000000001554</c:v>
                </c:pt>
                <c:pt idx="3">
                  <c:v>0.67140000000001065</c:v>
                </c:pt>
                <c:pt idx="4">
                  <c:v>0.48760000000000031</c:v>
                </c:pt>
                <c:pt idx="5">
                  <c:v>0.28690000000000032</c:v>
                </c:pt>
                <c:pt idx="6">
                  <c:v>8.2200000000000009E-2</c:v>
                </c:pt>
                <c:pt idx="7">
                  <c:v>-0.11409999999999998</c:v>
                </c:pt>
                <c:pt idx="8">
                  <c:v>-0.29120000000000001</c:v>
                </c:pt>
                <c:pt idx="9">
                  <c:v>-0.43970000000000031</c:v>
                </c:pt>
                <c:pt idx="10">
                  <c:v>-0.55280000000000062</c:v>
                </c:pt>
                <c:pt idx="11">
                  <c:v>-0.62610000000000265</c:v>
                </c:pt>
                <c:pt idx="12">
                  <c:v>-0.65780000000001992</c:v>
                </c:pt>
                <c:pt idx="13">
                  <c:v>-0.64880000000001992</c:v>
                </c:pt>
                <c:pt idx="14">
                  <c:v>-0.60220000000000062</c:v>
                </c:pt>
                <c:pt idx="15">
                  <c:v>-0.52310000000000001</c:v>
                </c:pt>
                <c:pt idx="16">
                  <c:v>-0.41830000000000805</c:v>
                </c:pt>
                <c:pt idx="17">
                  <c:v>-0.29560000000000008</c:v>
                </c:pt>
                <c:pt idx="18">
                  <c:v>-0.16339999999999999</c:v>
                </c:pt>
                <c:pt idx="19">
                  <c:v>-3.0100000000000002E-2</c:v>
                </c:pt>
                <c:pt idx="20">
                  <c:v>9.6500000000000044E-2</c:v>
                </c:pt>
                <c:pt idx="21">
                  <c:v>0.20920000000000041</c:v>
                </c:pt>
                <c:pt idx="22">
                  <c:v>0.30230000000000867</c:v>
                </c:pt>
                <c:pt idx="23">
                  <c:v>0.37170000000000031</c:v>
                </c:pt>
                <c:pt idx="24">
                  <c:v>0.41480000000000772</c:v>
                </c:pt>
                <c:pt idx="25">
                  <c:v>0.43060000000000032</c:v>
                </c:pt>
                <c:pt idx="26">
                  <c:v>0.42010000000000008</c:v>
                </c:pt>
                <c:pt idx="27">
                  <c:v>0.38560000000000288</c:v>
                </c:pt>
                <c:pt idx="28">
                  <c:v>0.33050000000000906</c:v>
                </c:pt>
                <c:pt idx="29">
                  <c:v>0.2596</c:v>
                </c:pt>
                <c:pt idx="30">
                  <c:v>0.17790000000000294</c:v>
                </c:pt>
                <c:pt idx="31">
                  <c:v>9.1000000000000025E-2</c:v>
                </c:pt>
                <c:pt idx="32">
                  <c:v>4.3000000000000104E-3</c:v>
                </c:pt>
                <c:pt idx="33">
                  <c:v>-7.6999999999999999E-2</c:v>
                </c:pt>
                <c:pt idx="34">
                  <c:v>-0.14860000000000001</c:v>
                </c:pt>
                <c:pt idx="35">
                  <c:v>-0.20690000000000044</c:v>
                </c:pt>
                <c:pt idx="36">
                  <c:v>-0.24920000000000425</c:v>
                </c:pt>
                <c:pt idx="37">
                  <c:v>-0.27410000000000001</c:v>
                </c:pt>
                <c:pt idx="38">
                  <c:v>-0.28130000000000038</c:v>
                </c:pt>
                <c:pt idx="39">
                  <c:v>-0.27150000000000002</c:v>
                </c:pt>
                <c:pt idx="40">
                  <c:v>-0.24630000000000021</c:v>
                </c:pt>
                <c:pt idx="41">
                  <c:v>-0.20830000000000001</c:v>
                </c:pt>
                <c:pt idx="42">
                  <c:v>-0.16039999999999999</c:v>
                </c:pt>
                <c:pt idx="43">
                  <c:v>-0.10620000000000022</c:v>
                </c:pt>
                <c:pt idx="44">
                  <c:v>-4.9200000000000021E-2</c:v>
                </c:pt>
                <c:pt idx="45">
                  <c:v>7.0000000000000114E-3</c:v>
                </c:pt>
                <c:pt idx="46">
                  <c:v>5.9300000000002004E-2</c:v>
                </c:pt>
                <c:pt idx="47">
                  <c:v>0.10460000000000012</c:v>
                </c:pt>
                <c:pt idx="48">
                  <c:v>0.14090000000000041</c:v>
                </c:pt>
                <c:pt idx="49">
                  <c:v>0.1666</c:v>
                </c:pt>
                <c:pt idx="50">
                  <c:v>0.18080000000000004</c:v>
                </c:pt>
                <c:pt idx="51">
                  <c:v>0.18340000000000461</c:v>
                </c:pt>
                <c:pt idx="52">
                  <c:v>0.17510000000000001</c:v>
                </c:pt>
                <c:pt idx="53">
                  <c:v>0.15700000000000044</c:v>
                </c:pt>
                <c:pt idx="54">
                  <c:v>0.13089999999999999</c:v>
                </c:pt>
                <c:pt idx="55">
                  <c:v>9.8700000000000246E-2</c:v>
                </c:pt>
                <c:pt idx="56">
                  <c:v>6.2800000000000022E-2</c:v>
                </c:pt>
                <c:pt idx="57">
                  <c:v>2.5399999999999999E-2</c:v>
                </c:pt>
                <c:pt idx="58">
                  <c:v>-1.0999999999999998E-2</c:v>
                </c:pt>
                <c:pt idx="59">
                  <c:v>-4.4400000000000113E-2</c:v>
                </c:pt>
                <c:pt idx="60">
                  <c:v>-7.3099999999999998E-2</c:v>
                </c:pt>
                <c:pt idx="61">
                  <c:v>-9.5600000000000046E-2</c:v>
                </c:pt>
                <c:pt idx="62">
                  <c:v>-0.111</c:v>
                </c:pt>
                <c:pt idx="63">
                  <c:v>-0.11899999999999998</c:v>
                </c:pt>
                <c:pt idx="64">
                  <c:v>-0.11940000000000002</c:v>
                </c:pt>
                <c:pt idx="65">
                  <c:v>-0.11269999999999998</c:v>
                </c:pt>
                <c:pt idx="66">
                  <c:v>-9.9900000000000044E-2</c:v>
                </c:pt>
                <c:pt idx="67">
                  <c:v>-8.2000000000000003E-2</c:v>
                </c:pt>
                <c:pt idx="68">
                  <c:v>-6.0400000000000023E-2</c:v>
                </c:pt>
                <c:pt idx="69">
                  <c:v>-3.6600000000000042E-2</c:v>
                </c:pt>
                <c:pt idx="70">
                  <c:v>-1.2300000000000005E-2</c:v>
                </c:pt>
                <c:pt idx="71">
                  <c:v>1.1299999999999998E-2</c:v>
                </c:pt>
                <c:pt idx="72">
                  <c:v>3.2600000000000212E-2</c:v>
                </c:pt>
                <c:pt idx="73">
                  <c:v>5.0700000000000023E-2</c:v>
                </c:pt>
                <c:pt idx="74">
                  <c:v>6.4600000000000019E-2</c:v>
                </c:pt>
                <c:pt idx="75">
                  <c:v>7.3800000000000004E-2</c:v>
                </c:pt>
                <c:pt idx="76">
                  <c:v>7.8100000000000003E-2</c:v>
                </c:pt>
                <c:pt idx="77">
                  <c:v>7.7500000000000013E-2</c:v>
                </c:pt>
                <c:pt idx="78">
                  <c:v>7.2400000000000034E-2</c:v>
                </c:pt>
                <c:pt idx="79">
                  <c:v>6.3400000000000012E-2</c:v>
                </c:pt>
                <c:pt idx="80">
                  <c:v>5.1199999999999996E-2</c:v>
                </c:pt>
                <c:pt idx="81">
                  <c:v>3.670000000000001E-2</c:v>
                </c:pt>
                <c:pt idx="82">
                  <c:v>2.1100000000000001E-2</c:v>
                </c:pt>
                <c:pt idx="83">
                  <c:v>5.1999999999999998E-3</c:v>
                </c:pt>
                <c:pt idx="84">
                  <c:v>-1.0000000000000005E-2</c:v>
                </c:pt>
                <c:pt idx="85">
                  <c:v>-2.3599999999999993E-2</c:v>
                </c:pt>
                <c:pt idx="86">
                  <c:v>-3.500000000000001E-2</c:v>
                </c:pt>
                <c:pt idx="87">
                  <c:v>-4.3500000000000004E-2</c:v>
                </c:pt>
                <c:pt idx="88">
                  <c:v>-4.9000000000000113E-2</c:v>
                </c:pt>
                <c:pt idx="89">
                  <c:v>-5.1199999999999996E-2</c:v>
                </c:pt>
                <c:pt idx="90">
                  <c:v>-5.0299999999999997E-2</c:v>
                </c:pt>
                <c:pt idx="91">
                  <c:v>-4.6400000000000004E-2</c:v>
                </c:pt>
                <c:pt idx="92">
                  <c:v>-4.0100000000000004E-2</c:v>
                </c:pt>
                <c:pt idx="93">
                  <c:v>-3.1800000000000002E-2</c:v>
                </c:pt>
                <c:pt idx="94">
                  <c:v>-2.2200000000000056E-2</c:v>
                </c:pt>
                <c:pt idx="95">
                  <c:v>-1.1900000000000443E-2</c:v>
                </c:pt>
                <c:pt idx="96">
                  <c:v>-1.6000000000000489E-3</c:v>
                </c:pt>
                <c:pt idx="97">
                  <c:v>8.2000000000000007E-3</c:v>
                </c:pt>
                <c:pt idx="98">
                  <c:v>1.6899999999999998E-2</c:v>
                </c:pt>
                <c:pt idx="99">
                  <c:v>2.4E-2</c:v>
                </c:pt>
                <c:pt idx="100">
                  <c:v>2.9200000000000011E-2</c:v>
                </c:pt>
                <c:pt idx="101">
                  <c:v>3.2399999999999998E-2</c:v>
                </c:pt>
                <c:pt idx="102">
                  <c:v>3.3500000000000002E-2</c:v>
                </c:pt>
                <c:pt idx="103">
                  <c:v>3.2500000000000001E-2</c:v>
                </c:pt>
                <c:pt idx="104">
                  <c:v>2.9700000000000001E-2</c:v>
                </c:pt>
                <c:pt idx="105">
                  <c:v>2.53E-2</c:v>
                </c:pt>
                <c:pt idx="106">
                  <c:v>1.9699999999999999E-2</c:v>
                </c:pt>
                <c:pt idx="107">
                  <c:v>1.3299999999999998E-2</c:v>
                </c:pt>
                <c:pt idx="108">
                  <c:v>6.6000000000000034E-3</c:v>
                </c:pt>
                <c:pt idx="109">
                  <c:v>-2.0000000000000052E-4</c:v>
                </c:pt>
                <c:pt idx="110">
                  <c:v>-6.4000000000002119E-3</c:v>
                </c:pt>
                <c:pt idx="111">
                  <c:v>-1.1900000000000443E-2</c:v>
                </c:pt>
                <c:pt idx="112">
                  <c:v>-1.6400000000000001E-2</c:v>
                </c:pt>
                <c:pt idx="113">
                  <c:v>-1.9599999999999999E-2</c:v>
                </c:pt>
                <c:pt idx="114">
                  <c:v>-2.1399999999999999E-2</c:v>
                </c:pt>
                <c:pt idx="115">
                  <c:v>-2.1900000000000006E-2</c:v>
                </c:pt>
                <c:pt idx="116">
                  <c:v>-2.1000000000000012E-2</c:v>
                </c:pt>
                <c:pt idx="117">
                  <c:v>-1.9000000000000499E-2</c:v>
                </c:pt>
                <c:pt idx="118">
                  <c:v>-1.5900000000000001E-2</c:v>
                </c:pt>
                <c:pt idx="119">
                  <c:v>-1.2200000000000001E-2</c:v>
                </c:pt>
                <c:pt idx="120">
                  <c:v>-7.9000000000002124E-3</c:v>
                </c:pt>
                <c:pt idx="121">
                  <c:v>-3.5000000000000612E-3</c:v>
                </c:pt>
                <c:pt idx="122">
                  <c:v>9.0000000000000247E-4</c:v>
                </c:pt>
                <c:pt idx="123">
                  <c:v>4.9000000000001803E-3</c:v>
                </c:pt>
                <c:pt idx="124">
                  <c:v>8.4000000000000047E-3</c:v>
                </c:pt>
                <c:pt idx="125">
                  <c:v>1.1100000000000203E-2</c:v>
                </c:pt>
                <c:pt idx="126">
                  <c:v>1.3100000000000021E-2</c:v>
                </c:pt>
                <c:pt idx="127">
                  <c:v>1.4100000000000001E-2</c:v>
                </c:pt>
                <c:pt idx="128">
                  <c:v>1.4200000000000001E-2</c:v>
                </c:pt>
                <c:pt idx="129">
                  <c:v>1.3500000000000373E-2</c:v>
                </c:pt>
                <c:pt idx="130">
                  <c:v>1.2100000000000001E-2</c:v>
                </c:pt>
                <c:pt idx="131">
                  <c:v>1.0000000000000005E-2</c:v>
                </c:pt>
                <c:pt idx="132">
                  <c:v>7.5000000000000934E-3</c:v>
                </c:pt>
                <c:pt idx="133">
                  <c:v>4.7000000000000123E-3</c:v>
                </c:pt>
                <c:pt idx="134">
                  <c:v>1.8000000000000483E-3</c:v>
                </c:pt>
                <c:pt idx="135">
                  <c:v>-1.1000000000000391E-3</c:v>
                </c:pt>
                <c:pt idx="136">
                  <c:v>-3.6000000000001001E-3</c:v>
                </c:pt>
                <c:pt idx="137">
                  <c:v>-5.8000000000000013E-3</c:v>
                </c:pt>
                <c:pt idx="138">
                  <c:v>-7.5000000000000934E-3</c:v>
                </c:pt>
                <c:pt idx="139">
                  <c:v>-8.7000000000000046E-3</c:v>
                </c:pt>
                <c:pt idx="140">
                  <c:v>-9.3000000000000548E-3</c:v>
                </c:pt>
                <c:pt idx="141">
                  <c:v>-9.3000000000000548E-3</c:v>
                </c:pt>
                <c:pt idx="142">
                  <c:v>-8.7000000000000046E-3</c:v>
                </c:pt>
                <c:pt idx="143">
                  <c:v>-7.7000000000002162E-3</c:v>
                </c:pt>
                <c:pt idx="144">
                  <c:v>-6.3000000000000113E-3</c:v>
                </c:pt>
                <c:pt idx="145">
                  <c:v>-4.6000000000000034E-3</c:v>
                </c:pt>
                <c:pt idx="146">
                  <c:v>-2.7000000000000812E-3</c:v>
                </c:pt>
                <c:pt idx="147">
                  <c:v>-8.0000000000000264E-4</c:v>
                </c:pt>
                <c:pt idx="148">
                  <c:v>1.0000000000000041E-3</c:v>
                </c:pt>
                <c:pt idx="149">
                  <c:v>2.7000000000000812E-3</c:v>
                </c:pt>
                <c:pt idx="150">
                  <c:v>4.0000000000000114E-3</c:v>
                </c:pt>
                <c:pt idx="151">
                  <c:v>5.1000000000000004E-3</c:v>
                </c:pt>
                <c:pt idx="152">
                  <c:v>5.8000000000000013E-3</c:v>
                </c:pt>
                <c:pt idx="153">
                  <c:v>6.1000000000000004E-3</c:v>
                </c:pt>
                <c:pt idx="154">
                  <c:v>6.0000000000000114E-3</c:v>
                </c:pt>
                <c:pt idx="155">
                  <c:v>5.6000000000000034E-3</c:v>
                </c:pt>
                <c:pt idx="156">
                  <c:v>4.9000000000001803E-3</c:v>
                </c:pt>
                <c:pt idx="157">
                  <c:v>3.9000000000000692E-3</c:v>
                </c:pt>
                <c:pt idx="158">
                  <c:v>2.8000000000000052E-3</c:v>
                </c:pt>
                <c:pt idx="159">
                  <c:v>1.5000000000000221E-3</c:v>
                </c:pt>
                <c:pt idx="160">
                  <c:v>3.0000000000001006E-4</c:v>
                </c:pt>
                <c:pt idx="161">
                  <c:v>-9.0000000000000247E-4</c:v>
                </c:pt>
                <c:pt idx="162">
                  <c:v>-1.900000000000064E-3</c:v>
                </c:pt>
                <c:pt idx="163">
                  <c:v>-2.8000000000000052E-3</c:v>
                </c:pt>
                <c:pt idx="164">
                  <c:v>-3.4000000000000692E-3</c:v>
                </c:pt>
                <c:pt idx="165">
                  <c:v>-3.8000000000000052E-3</c:v>
                </c:pt>
                <c:pt idx="166">
                  <c:v>-4.0000000000000114E-3</c:v>
                </c:pt>
                <c:pt idx="167">
                  <c:v>-3.9000000000000692E-3</c:v>
                </c:pt>
                <c:pt idx="168">
                  <c:v>-3.6000000000001001E-3</c:v>
                </c:pt>
                <c:pt idx="169">
                  <c:v>-3.1000000000000879E-3</c:v>
                </c:pt>
                <c:pt idx="170">
                  <c:v>-2.3999999999999998E-3</c:v>
                </c:pt>
                <c:pt idx="171">
                  <c:v>-1.7000000000000081E-3</c:v>
                </c:pt>
                <c:pt idx="172">
                  <c:v>-9.0000000000000247E-4</c:v>
                </c:pt>
                <c:pt idx="173">
                  <c:v>-1.0000000000000221E-4</c:v>
                </c:pt>
                <c:pt idx="174">
                  <c:v>7.0000000000002124E-4</c:v>
                </c:pt>
                <c:pt idx="175">
                  <c:v>1.4000000000000041E-3</c:v>
                </c:pt>
                <c:pt idx="176">
                  <c:v>1.900000000000064E-3</c:v>
                </c:pt>
                <c:pt idx="177">
                  <c:v>2.3000000000000052E-3</c:v>
                </c:pt>
                <c:pt idx="178">
                  <c:v>2.5000000000000092E-3</c:v>
                </c:pt>
                <c:pt idx="179">
                  <c:v>2.5999999999999999E-3</c:v>
                </c:pt>
                <c:pt idx="180">
                  <c:v>2.5000000000000092E-3</c:v>
                </c:pt>
                <c:pt idx="181">
                  <c:v>2.3000000000000052E-3</c:v>
                </c:pt>
                <c:pt idx="182">
                  <c:v>1.900000000000064E-3</c:v>
                </c:pt>
                <c:pt idx="183">
                  <c:v>1.5000000000000221E-3</c:v>
                </c:pt>
                <c:pt idx="184">
                  <c:v>1.0000000000000041E-3</c:v>
                </c:pt>
                <c:pt idx="185">
                  <c:v>5.0000000000000034E-4</c:v>
                </c:pt>
                <c:pt idx="186">
                  <c:v>-1.0000000000000221E-4</c:v>
                </c:pt>
                <c:pt idx="187">
                  <c:v>-5.0000000000000034E-4</c:v>
                </c:pt>
                <c:pt idx="188">
                  <c:v>-1.0000000000000041E-3</c:v>
                </c:pt>
                <c:pt idx="189">
                  <c:v>-1.2999999999999978E-3</c:v>
                </c:pt>
                <c:pt idx="190">
                  <c:v>-1.5000000000000221E-3</c:v>
                </c:pt>
                <c:pt idx="191">
                  <c:v>-1.7000000000000081E-3</c:v>
                </c:pt>
                <c:pt idx="192">
                  <c:v>-1.7000000000000081E-3</c:v>
                </c:pt>
                <c:pt idx="193">
                  <c:v>-1.6000000000000489E-3</c:v>
                </c:pt>
                <c:pt idx="194">
                  <c:v>-1.5000000000000221E-3</c:v>
                </c:pt>
                <c:pt idx="195">
                  <c:v>-1.1999999999999999E-3</c:v>
                </c:pt>
                <c:pt idx="196">
                  <c:v>-9.0000000000000247E-4</c:v>
                </c:pt>
                <c:pt idx="197">
                  <c:v>-6.0000000000002022E-4</c:v>
                </c:pt>
                <c:pt idx="198">
                  <c:v>-2.0000000000000052E-4</c:v>
                </c:pt>
                <c:pt idx="199">
                  <c:v>1.0000000000000221E-4</c:v>
                </c:pt>
                <c:pt idx="200">
                  <c:v>4.0000000000000034E-4</c:v>
                </c:pt>
              </c:numCache>
            </c:numRef>
          </c:yVal>
          <c:smooth val="1"/>
          <c:extLst>
            <c:ext xmlns:c16="http://schemas.microsoft.com/office/drawing/2014/chart" uri="{C3380CC4-5D6E-409C-BE32-E72D297353CC}">
              <c16:uniqueId val="{00000001-0581-40B5-B394-F56D7FE95F25}"/>
            </c:ext>
          </c:extLst>
        </c:ser>
        <c:dLbls>
          <c:showLegendKey val="0"/>
          <c:showVal val="0"/>
          <c:showCatName val="0"/>
          <c:showSerName val="0"/>
          <c:showPercent val="0"/>
          <c:showBubbleSize val="0"/>
        </c:dLbls>
        <c:axId val="117964800"/>
        <c:axId val="117966720"/>
      </c:scatterChart>
      <c:valAx>
        <c:axId val="117964800"/>
        <c:scaling>
          <c:orientation val="minMax"/>
          <c:max val="2.0000000000000011E-2"/>
          <c:min val="0"/>
        </c:scaling>
        <c:delete val="0"/>
        <c:axPos val="b"/>
        <c:majorGridlines>
          <c:spPr>
            <a:ln>
              <a:solidFill>
                <a:srgbClr val="00B050"/>
              </a:solidFill>
            </a:ln>
          </c:spPr>
        </c:majorGridlines>
        <c:title>
          <c:tx>
            <c:rich>
              <a:bodyPr/>
              <a:lstStyle/>
              <a:p>
                <a:pPr>
                  <a:defRPr/>
                </a:pPr>
                <a:r>
                  <a:rPr lang="el-GR" sz="1600" b="0" i="1" baseline="0">
                    <a:latin typeface="Times New Roman" pitchFamily="18" charset="0"/>
                    <a:cs typeface="Times New Roman" pitchFamily="18" charset="0"/>
                  </a:rPr>
                  <a:t>τ</a:t>
                </a:r>
                <a:r>
                  <a:rPr lang="en-US" sz="1600" b="0" i="1" baseline="0">
                    <a:latin typeface="Times New Roman" pitchFamily="18" charset="0"/>
                    <a:cs typeface="Times New Roman" pitchFamily="18" charset="0"/>
                  </a:rPr>
                  <a:t>,</a:t>
                </a:r>
                <a:r>
                  <a:rPr lang="ru-RU" sz="1600" b="0" i="1" baseline="0">
                    <a:latin typeface="Times New Roman" pitchFamily="18" charset="0"/>
                    <a:cs typeface="Times New Roman" pitchFamily="18" charset="0"/>
                  </a:rPr>
                  <a:t>с</a:t>
                </a:r>
                <a:endParaRPr lang="en-US" sz="1600">
                  <a:latin typeface="Times New Roman" pitchFamily="18" charset="0"/>
                  <a:cs typeface="Times New Roman" pitchFamily="18" charset="0"/>
                </a:endParaRPr>
              </a:p>
            </c:rich>
          </c:tx>
          <c:layout>
            <c:manualLayout>
              <c:xMode val="edge"/>
              <c:yMode val="edge"/>
              <c:x val="0.91150690744494856"/>
              <c:y val="0.86694619898925229"/>
            </c:manualLayout>
          </c:layout>
          <c:overlay val="0"/>
        </c:title>
        <c:numFmt formatCode="General" sourceLinked="1"/>
        <c:majorTickMark val="out"/>
        <c:minorTickMark val="none"/>
        <c:tickLblPos val="low"/>
        <c:spPr>
          <a:ln w="19050">
            <a:solidFill>
              <a:schemeClr val="tx1"/>
            </a:solidFill>
          </a:ln>
        </c:spPr>
        <c:txPr>
          <a:bodyPr/>
          <a:lstStyle/>
          <a:p>
            <a:pPr>
              <a:defRPr>
                <a:latin typeface="Times New Roman" pitchFamily="18" charset="0"/>
                <a:cs typeface="Times New Roman" pitchFamily="18" charset="0"/>
              </a:defRPr>
            </a:pPr>
            <a:endParaRPr lang="ru-RU"/>
          </a:p>
        </c:txPr>
        <c:crossAx val="117966720"/>
        <c:crosses val="autoZero"/>
        <c:crossBetween val="midCat"/>
        <c:majorUnit val="2.0000000000000052E-3"/>
      </c:valAx>
      <c:valAx>
        <c:axId val="117966720"/>
        <c:scaling>
          <c:orientation val="minMax"/>
          <c:max val="1"/>
        </c:scaling>
        <c:delete val="0"/>
        <c:axPos val="l"/>
        <c:majorGridlines>
          <c:spPr>
            <a:ln>
              <a:solidFill>
                <a:srgbClr val="00B050"/>
              </a:solidFill>
            </a:ln>
          </c:spPr>
        </c:majorGridlines>
        <c:title>
          <c:tx>
            <c:rich>
              <a:bodyPr rot="0" vert="horz"/>
              <a:lstStyle/>
              <a:p>
                <a:pPr>
                  <a:defRPr/>
                </a:pPr>
                <a:r>
                  <a:rPr lang="en-US" sz="1400" b="0" i="1">
                    <a:latin typeface="Times New Roman" pitchFamily="18" charset="0"/>
                    <a:cs typeface="Times New Roman" pitchFamily="18" charset="0"/>
                  </a:rPr>
                  <a:t>r</a:t>
                </a:r>
                <a:r>
                  <a:rPr lang="en-US" sz="1400" b="0" i="1" baseline="-25000">
                    <a:latin typeface="Times New Roman" pitchFamily="18" charset="0"/>
                    <a:cs typeface="Times New Roman" pitchFamily="18" charset="0"/>
                  </a:rPr>
                  <a:t>x</a:t>
                </a:r>
                <a:r>
                  <a:rPr lang="en-US" sz="1600" b="0" i="1">
                    <a:latin typeface="Times New Roman" pitchFamily="18" charset="0"/>
                    <a:cs typeface="Times New Roman" pitchFamily="18" charset="0"/>
                  </a:rPr>
                  <a:t>(</a:t>
                </a:r>
                <a:r>
                  <a:rPr lang="el-GR" sz="1600" b="0" i="1">
                    <a:latin typeface="Times New Roman" pitchFamily="18" charset="0"/>
                    <a:cs typeface="Times New Roman" pitchFamily="18" charset="0"/>
                  </a:rPr>
                  <a:t>τ</a:t>
                </a:r>
                <a:r>
                  <a:rPr lang="en-US" sz="1600" b="0" i="1">
                    <a:latin typeface="Times New Roman" pitchFamily="18" charset="0"/>
                    <a:cs typeface="Times New Roman" pitchFamily="18" charset="0"/>
                  </a:rPr>
                  <a:t>)</a:t>
                </a:r>
              </a:p>
            </c:rich>
          </c:tx>
          <c:layout>
            <c:manualLayout>
              <c:xMode val="edge"/>
              <c:yMode val="edge"/>
              <c:x val="5.2042999575548977E-4"/>
              <c:y val="2.1924284744029993E-2"/>
            </c:manualLayout>
          </c:layout>
          <c:overlay val="0"/>
        </c:title>
        <c:numFmt formatCode="General" sourceLinked="1"/>
        <c:majorTickMark val="out"/>
        <c:minorTickMark val="none"/>
        <c:tickLblPos val="nextTo"/>
        <c:spPr>
          <a:ln w="19050">
            <a:solidFill>
              <a:sysClr val="windowText" lastClr="000000"/>
            </a:solidFill>
          </a:ln>
        </c:spPr>
        <c:txPr>
          <a:bodyPr/>
          <a:lstStyle/>
          <a:p>
            <a:pPr>
              <a:defRPr>
                <a:latin typeface="Times New Roman" pitchFamily="18" charset="0"/>
                <a:cs typeface="Times New Roman" pitchFamily="18" charset="0"/>
              </a:defRPr>
            </a:pPr>
            <a:endParaRPr lang="ru-RU"/>
          </a:p>
        </c:txPr>
        <c:crossAx val="117964800"/>
        <c:crosses val="autoZero"/>
        <c:crossBetween val="midCat"/>
      </c:valAx>
      <c:spPr>
        <a:ln>
          <a:solidFill>
            <a:schemeClr val="tx1"/>
          </a:solidFill>
        </a:ln>
      </c:spPr>
    </c:plotArea>
    <c:plotVisOnly val="1"/>
    <c:dispBlanksAs val="gap"/>
    <c:showDLblsOverMax val="0"/>
  </c:chart>
  <c:spPr>
    <a:ln>
      <a:noFill/>
    </a:ln>
  </c:sp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434" name="Rectangle 2"/>
          <p:cNvSpPr>
            <a:spLocks noGrp="1" noChangeArrowheads="1"/>
          </p:cNvSpPr>
          <p:nvPr>
            <p:ph type="hdr" sz="quarter"/>
          </p:nvPr>
        </p:nvSpPr>
        <p:spPr bwMode="auto">
          <a:xfrm>
            <a:off x="0" y="0"/>
            <a:ext cx="2928938"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ru-RU"/>
          </a:p>
        </p:txBody>
      </p:sp>
      <p:sp>
        <p:nvSpPr>
          <p:cNvPr id="18435" name="Rectangle 3"/>
          <p:cNvSpPr>
            <a:spLocks noGrp="1" noChangeArrowheads="1"/>
          </p:cNvSpPr>
          <p:nvPr>
            <p:ph type="dt" sz="quarter" idx="1"/>
          </p:nvPr>
        </p:nvSpPr>
        <p:spPr bwMode="auto">
          <a:xfrm>
            <a:off x="3830638" y="0"/>
            <a:ext cx="2928937"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ru-RU"/>
          </a:p>
        </p:txBody>
      </p:sp>
      <p:sp>
        <p:nvSpPr>
          <p:cNvPr id="18436" name="Rectangle 4"/>
          <p:cNvSpPr>
            <a:spLocks noGrp="1" noChangeArrowheads="1"/>
          </p:cNvSpPr>
          <p:nvPr>
            <p:ph type="ftr" sz="quarter" idx="2"/>
          </p:nvPr>
        </p:nvSpPr>
        <p:spPr bwMode="auto">
          <a:xfrm>
            <a:off x="0" y="9374188"/>
            <a:ext cx="2928938"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ru-RU"/>
          </a:p>
        </p:txBody>
      </p:sp>
      <p:sp>
        <p:nvSpPr>
          <p:cNvPr id="18437" name="Rectangle 5"/>
          <p:cNvSpPr>
            <a:spLocks noGrp="1" noChangeArrowheads="1"/>
          </p:cNvSpPr>
          <p:nvPr>
            <p:ph type="sldNum" sz="quarter" idx="3"/>
          </p:nvPr>
        </p:nvSpPr>
        <p:spPr bwMode="auto">
          <a:xfrm>
            <a:off x="3830638" y="9374188"/>
            <a:ext cx="2928937"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933CF42D-FFEB-4043-B6A1-3D35D1759625}" type="slidenum">
              <a:rPr lang="ru-RU"/>
              <a:pPr>
                <a:defRPr/>
              </a:pPr>
              <a:t>‹#›</a:t>
            </a:fld>
            <a:endParaRPr lang="ru-RU"/>
          </a:p>
        </p:txBody>
      </p:sp>
    </p:spTree>
    <p:extLst>
      <p:ext uri="{BB962C8B-B14F-4D97-AF65-F5344CB8AC3E}">
        <p14:creationId xmlns:p14="http://schemas.microsoft.com/office/powerpoint/2010/main" val="14878476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28938"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ru-RU"/>
          </a:p>
        </p:txBody>
      </p:sp>
      <p:sp>
        <p:nvSpPr>
          <p:cNvPr id="6147" name="Rectangle 3"/>
          <p:cNvSpPr>
            <a:spLocks noGrp="1" noChangeArrowheads="1"/>
          </p:cNvSpPr>
          <p:nvPr>
            <p:ph type="dt" idx="1"/>
          </p:nvPr>
        </p:nvSpPr>
        <p:spPr bwMode="auto">
          <a:xfrm>
            <a:off x="3830638" y="0"/>
            <a:ext cx="2928937"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ru-RU"/>
          </a:p>
        </p:txBody>
      </p:sp>
      <p:sp>
        <p:nvSpPr>
          <p:cNvPr id="31748" name="Rectangle 4"/>
          <p:cNvSpPr>
            <a:spLocks noGrp="1" noRot="1" noChangeAspect="1" noChangeArrowheads="1" noTextEdit="1"/>
          </p:cNvSpPr>
          <p:nvPr>
            <p:ph type="sldImg" idx="2"/>
          </p:nvPr>
        </p:nvSpPr>
        <p:spPr bwMode="auto">
          <a:xfrm>
            <a:off x="912813" y="739775"/>
            <a:ext cx="4933950" cy="3700463"/>
          </a:xfrm>
          <a:prstGeom prst="rect">
            <a:avLst/>
          </a:prstGeom>
          <a:noFill/>
          <a:ln w="9525">
            <a:solidFill>
              <a:srgbClr val="000000"/>
            </a:solidFill>
            <a:miter lim="800000"/>
            <a:headEnd/>
            <a:tailEnd/>
          </a:ln>
        </p:spPr>
      </p:sp>
      <p:sp>
        <p:nvSpPr>
          <p:cNvPr id="6149" name="Rectangle 5"/>
          <p:cNvSpPr>
            <a:spLocks noGrp="1" noChangeArrowheads="1"/>
          </p:cNvSpPr>
          <p:nvPr>
            <p:ph type="body" sz="quarter" idx="3"/>
          </p:nvPr>
        </p:nvSpPr>
        <p:spPr bwMode="auto">
          <a:xfrm>
            <a:off x="901700" y="4687888"/>
            <a:ext cx="4956175" cy="444023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ru-RU" noProof="0"/>
              <a:t>Образец текста</a:t>
            </a:r>
          </a:p>
          <a:p>
            <a:pPr lvl="1"/>
            <a:r>
              <a:rPr lang="ru-RU" noProof="0"/>
              <a:t>Второй уровень</a:t>
            </a:r>
          </a:p>
          <a:p>
            <a:pPr lvl="2"/>
            <a:r>
              <a:rPr lang="ru-RU" noProof="0"/>
              <a:t>Третий уровень</a:t>
            </a:r>
          </a:p>
          <a:p>
            <a:pPr lvl="3"/>
            <a:r>
              <a:rPr lang="ru-RU" noProof="0"/>
              <a:t>Четвертый уровень</a:t>
            </a:r>
          </a:p>
          <a:p>
            <a:pPr lvl="4"/>
            <a:r>
              <a:rPr lang="ru-RU" noProof="0"/>
              <a:t>Пятый уровень</a:t>
            </a:r>
          </a:p>
        </p:txBody>
      </p:sp>
      <p:sp>
        <p:nvSpPr>
          <p:cNvPr id="6150" name="Rectangle 6"/>
          <p:cNvSpPr>
            <a:spLocks noGrp="1" noChangeArrowheads="1"/>
          </p:cNvSpPr>
          <p:nvPr>
            <p:ph type="ftr" sz="quarter" idx="4"/>
          </p:nvPr>
        </p:nvSpPr>
        <p:spPr bwMode="auto">
          <a:xfrm>
            <a:off x="0" y="9374188"/>
            <a:ext cx="2928938"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ru-RU"/>
          </a:p>
        </p:txBody>
      </p:sp>
      <p:sp>
        <p:nvSpPr>
          <p:cNvPr id="6151" name="Rectangle 7"/>
          <p:cNvSpPr>
            <a:spLocks noGrp="1" noChangeArrowheads="1"/>
          </p:cNvSpPr>
          <p:nvPr>
            <p:ph type="sldNum" sz="quarter" idx="5"/>
          </p:nvPr>
        </p:nvSpPr>
        <p:spPr bwMode="auto">
          <a:xfrm>
            <a:off x="3830638" y="9374188"/>
            <a:ext cx="2928937"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96E11642-C24B-482A-AAB4-26FFB61FAEA9}" type="slidenum">
              <a:rPr lang="ru-RU"/>
              <a:pPr>
                <a:defRPr/>
              </a:pPr>
              <a:t>‹#›</a:t>
            </a:fld>
            <a:endParaRPr lang="ru-RU"/>
          </a:p>
        </p:txBody>
      </p:sp>
    </p:spTree>
    <p:extLst>
      <p:ext uri="{BB962C8B-B14F-4D97-AF65-F5344CB8AC3E}">
        <p14:creationId xmlns:p14="http://schemas.microsoft.com/office/powerpoint/2010/main" val="303939288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pPr>
              <a:defRPr/>
            </a:pPr>
            <a:fld id="{96E11642-C24B-482A-AAB4-26FFB61FAEA9}" type="slidenum">
              <a:rPr lang="ru-RU" smtClean="0"/>
              <a:pPr>
                <a:defRPr/>
              </a:pPr>
              <a:t>18</a:t>
            </a:fld>
            <a:endParaRPr lang="ru-RU"/>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Содержимое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Rectangle 5"/>
          <p:cNvSpPr>
            <a:spLocks noGrp="1" noChangeArrowheads="1"/>
          </p:cNvSpPr>
          <p:nvPr>
            <p:ph type="ftr" sz="quarter" idx="10"/>
          </p:nvPr>
        </p:nvSpPr>
        <p:spPr>
          <a:ln/>
        </p:spPr>
        <p:txBody>
          <a:bodyPr/>
          <a:lstStyle>
            <a:lvl1pPr>
              <a:defRPr/>
            </a:lvl1pPr>
          </a:lstStyle>
          <a:p>
            <a:pPr>
              <a:defRPr/>
            </a:pPr>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a:t>Образец заголовка</a:t>
            </a:r>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ru-RU"/>
              <a:t>Образец текста</a:t>
            </a:r>
          </a:p>
        </p:txBody>
      </p:sp>
      <p:sp>
        <p:nvSpPr>
          <p:cNvPr id="4" name="Rectangle 5"/>
          <p:cNvSpPr>
            <a:spLocks noGrp="1" noChangeArrowheads="1"/>
          </p:cNvSpPr>
          <p:nvPr>
            <p:ph type="ftr" sz="quarter" idx="10"/>
          </p:nvPr>
        </p:nvSpPr>
        <p:spPr>
          <a:ln/>
        </p:spPr>
        <p:txBody>
          <a:bodyPr/>
          <a:lstStyle>
            <a:lvl1pPr>
              <a:defRPr/>
            </a:lvl1pPr>
          </a:lstStyle>
          <a:p>
            <a:pPr>
              <a:defRPr/>
            </a:pPr>
            <a:endParaRPr lang="ru-R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Содержимое 2"/>
          <p:cNvSpPr>
            <a:spLocks noGrp="1"/>
          </p:cNvSpPr>
          <p:nvPr>
            <p:ph sz="half" idx="1"/>
          </p:nvPr>
        </p:nvSpPr>
        <p:spPr>
          <a:xfrm>
            <a:off x="685800" y="1905000"/>
            <a:ext cx="3810000" cy="4191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Содержимое 3"/>
          <p:cNvSpPr>
            <a:spLocks noGrp="1"/>
          </p:cNvSpPr>
          <p:nvPr>
            <p:ph sz="half" idx="2"/>
          </p:nvPr>
        </p:nvSpPr>
        <p:spPr>
          <a:xfrm>
            <a:off x="4648200" y="1905000"/>
            <a:ext cx="3810000" cy="4191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Rectangle 5"/>
          <p:cNvSpPr>
            <a:spLocks noGrp="1" noChangeArrowheads="1"/>
          </p:cNvSpPr>
          <p:nvPr>
            <p:ph type="ftr" sz="quarter" idx="10"/>
          </p:nvPr>
        </p:nvSpPr>
        <p:spPr>
          <a:ln/>
        </p:spPr>
        <p:txBody>
          <a:bodyPr/>
          <a:lstStyle>
            <a:lvl1pPr>
              <a:defRPr/>
            </a:lvl1pPr>
          </a:lstStyle>
          <a:p>
            <a:pPr>
              <a:defRPr/>
            </a:pPr>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p:spPr>
        <p:txBody>
          <a:bodyPr/>
          <a:lstStyle>
            <a:lvl1pPr>
              <a:defRPr/>
            </a:lvl1pPr>
          </a:lstStyle>
          <a:p>
            <a:r>
              <a:rPr lang="ru-RU"/>
              <a:t>Образец заголовка</a:t>
            </a:r>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Содержимое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Содержимое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Rectangle 5"/>
          <p:cNvSpPr>
            <a:spLocks noGrp="1" noChangeArrowheads="1"/>
          </p:cNvSpPr>
          <p:nvPr>
            <p:ph type="ftr" sz="quarter" idx="10"/>
          </p:nvPr>
        </p:nvSpPr>
        <p:spPr>
          <a:ln/>
        </p:spPr>
        <p:txBody>
          <a:bodyPr/>
          <a:lstStyle>
            <a:lvl1pPr>
              <a:defRPr/>
            </a:lvl1pPr>
          </a:lstStyle>
          <a:p>
            <a:pPr>
              <a:defRPr/>
            </a:pPr>
            <a:endParaRPr lang="ru-R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Rectangle 5"/>
          <p:cNvSpPr>
            <a:spLocks noGrp="1" noChangeArrowheads="1"/>
          </p:cNvSpPr>
          <p:nvPr>
            <p:ph type="ftr" sz="quarter" idx="10"/>
          </p:nvPr>
        </p:nvSpPr>
        <p:spPr>
          <a:ln/>
        </p:spPr>
        <p:txBody>
          <a:bodyPr/>
          <a:lstStyle>
            <a:lvl1pPr>
              <a:defRPr/>
            </a:lvl1pPr>
          </a:lstStyle>
          <a:p>
            <a:pPr>
              <a:defRPr/>
            </a:pPr>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a:ln/>
        </p:spPr>
        <p:txBody>
          <a:bodyPr/>
          <a:lstStyle>
            <a:lvl1pPr>
              <a:defRPr/>
            </a:lvl1pPr>
          </a:lstStyle>
          <a:p>
            <a:pPr>
              <a:defRPr/>
            </a:pPr>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lstStyle>
            <a:lvl1pPr algn="l">
              <a:defRPr sz="2000" b="1"/>
            </a:lvl1pPr>
          </a:lstStyle>
          <a:p>
            <a:r>
              <a:rPr lang="ru-RU"/>
              <a:t>Образец заголовка</a:t>
            </a:r>
          </a:p>
        </p:txBody>
      </p:sp>
      <p:sp>
        <p:nvSpPr>
          <p:cNvPr id="3" name="Содержимое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Rectangle 5"/>
          <p:cNvSpPr>
            <a:spLocks noGrp="1" noChangeArrowheads="1"/>
          </p:cNvSpPr>
          <p:nvPr>
            <p:ph type="ftr" sz="quarter" idx="10"/>
          </p:nvPr>
        </p:nvSpPr>
        <p:spPr>
          <a:ln/>
        </p:spPr>
        <p:txBody>
          <a:bodyPr/>
          <a:lstStyle>
            <a:lvl1pPr>
              <a:defRPr/>
            </a:lvl1pPr>
          </a:lstStyle>
          <a:p>
            <a:pPr>
              <a:defRPr/>
            </a:pPr>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lstStyle>
            <a:lvl1pPr algn="l">
              <a:defRPr sz="2000" b="1"/>
            </a:lvl1pPr>
          </a:lstStyle>
          <a:p>
            <a:r>
              <a:rPr lang="ru-RU"/>
              <a:t>Образец заголовка</a:t>
            </a:r>
          </a:p>
        </p:txBody>
      </p:sp>
      <p:sp>
        <p:nvSpPr>
          <p:cNvPr id="3" name="Рисунок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ru-RU" noProof="0"/>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Rectangle 5"/>
          <p:cNvSpPr>
            <a:spLocks noGrp="1" noChangeArrowheads="1"/>
          </p:cNvSpPr>
          <p:nvPr>
            <p:ph type="ftr" sz="quarter" idx="10"/>
          </p:nvPr>
        </p:nvSpPr>
        <p:spPr>
          <a:ln/>
        </p:spPr>
        <p:txBody>
          <a:bodyPr/>
          <a:lstStyle>
            <a:lvl1pPr>
              <a:defRPr/>
            </a:lvl1pPr>
          </a:lstStyle>
          <a:p>
            <a:pPr>
              <a:defRPr/>
            </a:pPr>
            <a:endParaRPr lang="ru-R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Вертикальный текст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Rectangle 5"/>
          <p:cNvSpPr>
            <a:spLocks noGrp="1" noChangeArrowheads="1"/>
          </p:cNvSpPr>
          <p:nvPr>
            <p:ph type="ftr" sz="quarter" idx="10"/>
          </p:nvPr>
        </p:nvSpPr>
        <p:spPr>
          <a:ln/>
        </p:spPr>
        <p:txBody>
          <a:bodyPr/>
          <a:lstStyle>
            <a:lvl1pPr>
              <a:defRPr/>
            </a:lvl1pPr>
          </a:lstStyle>
          <a:p>
            <a:pPr>
              <a:defRPr/>
            </a:pPr>
            <a:endParaRPr lang="ru-R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515100" y="228600"/>
            <a:ext cx="1943100" cy="5867400"/>
          </a:xfrm>
        </p:spPr>
        <p:txBody>
          <a:bodyPr vert="eaVert"/>
          <a:lstStyle/>
          <a:p>
            <a:r>
              <a:rPr lang="ru-RU"/>
              <a:t>Образец заголовка</a:t>
            </a:r>
          </a:p>
        </p:txBody>
      </p:sp>
      <p:sp>
        <p:nvSpPr>
          <p:cNvPr id="3" name="Вертикальный текст 2"/>
          <p:cNvSpPr>
            <a:spLocks noGrp="1"/>
          </p:cNvSpPr>
          <p:nvPr>
            <p:ph type="body" orient="vert" idx="1"/>
          </p:nvPr>
        </p:nvSpPr>
        <p:spPr>
          <a:xfrm>
            <a:off x="685800" y="228600"/>
            <a:ext cx="5676900" cy="5867400"/>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Rectangle 5"/>
          <p:cNvSpPr>
            <a:spLocks noGrp="1" noChangeArrowheads="1"/>
          </p:cNvSpPr>
          <p:nvPr>
            <p:ph type="ftr" sz="quarter" idx="10"/>
          </p:nvPr>
        </p:nvSpPr>
        <p:spPr>
          <a:ln/>
        </p:spPr>
        <p:txBody>
          <a:bodyPr/>
          <a:lstStyle>
            <a:lvl1pPr>
              <a:defRPr/>
            </a:lvl1pPr>
          </a:lstStyle>
          <a:p>
            <a:pPr>
              <a:defRPr/>
            </a:pPr>
            <a:endParaRPr lang="ru-R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2" cstate="print"/>
          <a:srcRect/>
          <a:tile tx="0" ty="0" sx="100000" sy="100000" flip="none" algn="tl"/>
        </a:blipFill>
        <a:effectLst/>
      </p:bgPr>
    </p:bg>
    <p:spTree>
      <p:nvGrpSpPr>
        <p:cNvPr id="1" name=""/>
        <p:cNvGrpSpPr/>
        <p:nvPr/>
      </p:nvGrpSpPr>
      <p:grpSpPr>
        <a:xfrm>
          <a:off x="0" y="0"/>
          <a:ext cx="0" cy="0"/>
          <a:chOff x="0" y="0"/>
          <a:chExt cx="0" cy="0"/>
        </a:xfrm>
      </p:grpSpPr>
      <p:sp>
        <p:nvSpPr>
          <p:cNvPr id="8194" name="Rectangle 2" descr="Large confetti"/>
          <p:cNvSpPr>
            <a:spLocks noGrp="1" noChangeArrowheads="1"/>
          </p:cNvSpPr>
          <p:nvPr>
            <p:ph type="title"/>
          </p:nvPr>
        </p:nvSpPr>
        <p:spPr bwMode="auto">
          <a:xfrm>
            <a:off x="685800" y="228600"/>
            <a:ext cx="7772400" cy="630238"/>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ru-RU"/>
              <a:t>Теория информации</a:t>
            </a:r>
          </a:p>
        </p:txBody>
      </p:sp>
      <p:sp>
        <p:nvSpPr>
          <p:cNvPr id="8195" name="Rectangle 3"/>
          <p:cNvSpPr>
            <a:spLocks noGrp="1" noChangeArrowheads="1"/>
          </p:cNvSpPr>
          <p:nvPr>
            <p:ph type="body" idx="1"/>
          </p:nvPr>
        </p:nvSpPr>
        <p:spPr bwMode="auto">
          <a:xfrm>
            <a:off x="685800" y="1905000"/>
            <a:ext cx="7772400" cy="4191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3077"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400"/>
            </a:lvl1pPr>
          </a:lstStyle>
          <a:p>
            <a:pPr>
              <a:defRPr/>
            </a:pPr>
            <a:endParaRPr lang="ru-RU"/>
          </a:p>
        </p:txBody>
      </p:sp>
      <p:sp>
        <p:nvSpPr>
          <p:cNvPr id="3078" name="Rectangle 6"/>
          <p:cNvSpPr>
            <a:spLocks noChangeArrowheads="1"/>
          </p:cNvSpPr>
          <p:nvPr/>
        </p:nvSpPr>
        <p:spPr bwMode="auto">
          <a:xfrm>
            <a:off x="0" y="838200"/>
            <a:ext cx="8458200" cy="87313"/>
          </a:xfrm>
          <a:prstGeom prst="rect">
            <a:avLst/>
          </a:prstGeom>
          <a:solidFill>
            <a:schemeClr val="bg2"/>
          </a:solidFill>
          <a:ln w="9525">
            <a:noFill/>
            <a:miter lim="800000"/>
            <a:headEnd/>
            <a:tailEnd/>
          </a:ln>
          <a:effectLst/>
        </p:spPr>
        <p:txBody>
          <a:bodyPr wrap="none" anchor="ctr"/>
          <a:lstStyle/>
          <a:p>
            <a:pPr algn="ctr">
              <a:defRPr/>
            </a:pPr>
            <a:endParaRPr kumimoji="1" lang="ru-RU"/>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fontAlgn="base">
        <a:spcBef>
          <a:spcPct val="0"/>
        </a:spcBef>
        <a:spcAft>
          <a:spcPct val="0"/>
        </a:spcAft>
        <a:defRPr sz="4400">
          <a:solidFill>
            <a:schemeClr val="tx2"/>
          </a:solidFill>
          <a:latin typeface="Times New Roman" pitchFamily="18" charset="0"/>
        </a:defRPr>
      </a:lvl6pPr>
      <a:lvl7pPr marL="914400" algn="ctr" rtl="0" fontAlgn="base">
        <a:spcBef>
          <a:spcPct val="0"/>
        </a:spcBef>
        <a:spcAft>
          <a:spcPct val="0"/>
        </a:spcAft>
        <a:defRPr sz="4400">
          <a:solidFill>
            <a:schemeClr val="tx2"/>
          </a:solidFill>
          <a:latin typeface="Times New Roman" pitchFamily="18" charset="0"/>
        </a:defRPr>
      </a:lvl7pPr>
      <a:lvl8pPr marL="1371600" algn="ctr" rtl="0" fontAlgn="base">
        <a:spcBef>
          <a:spcPct val="0"/>
        </a:spcBef>
        <a:spcAft>
          <a:spcPct val="0"/>
        </a:spcAft>
        <a:defRPr sz="4400">
          <a:solidFill>
            <a:schemeClr val="tx2"/>
          </a:solidFill>
          <a:latin typeface="Times New Roman" pitchFamily="18" charset="0"/>
        </a:defRPr>
      </a:lvl8pPr>
      <a:lvl9pPr marL="1828800" algn="ctr" rtl="0" fontAlgn="base">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SzPct val="85000"/>
        <a:buBlip>
          <a:blip r:embed="rId13"/>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70000"/>
        <a:buFont typeface="Wingdings" pitchFamily="2" charset="2"/>
        <a:buChar char="n"/>
        <a:defRPr sz="2800">
          <a:solidFill>
            <a:schemeClr val="tx1"/>
          </a:solidFill>
          <a:latin typeface="+mn-lt"/>
        </a:defRPr>
      </a:lvl2pPr>
      <a:lvl3pPr marL="1143000" indent="-228600" algn="l" rtl="0" eaLnBrk="0" fontAlgn="base" hangingPunct="0">
        <a:spcBef>
          <a:spcPct val="20000"/>
        </a:spcBef>
        <a:spcAft>
          <a:spcPct val="0"/>
        </a:spcAft>
        <a:buSzPct val="70000"/>
        <a:buFont typeface="Wingdings" pitchFamily="2" charset="2"/>
        <a:buChar char="n"/>
        <a:defRPr sz="2400">
          <a:solidFill>
            <a:schemeClr val="tx1"/>
          </a:solidFill>
          <a:latin typeface="+mn-lt"/>
        </a:defRPr>
      </a:lvl3pPr>
      <a:lvl4pPr marL="1600200" indent="-228600" algn="l" rtl="0" eaLnBrk="0" fontAlgn="base" hangingPunct="0">
        <a:spcBef>
          <a:spcPct val="20000"/>
        </a:spcBef>
        <a:spcAft>
          <a:spcPct val="0"/>
        </a:spcAft>
        <a:buSzPct val="70000"/>
        <a:buFont typeface="Wingdings" pitchFamily="2" charset="2"/>
        <a:buChar char="n"/>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image" Target="../media/image8.wmf"/><Relationship Id="rId18" Type="http://schemas.openxmlformats.org/officeDocument/2006/relationships/oleObject" Target="../embeddings/oleObject9.bin"/><Relationship Id="rId3" Type="http://schemas.openxmlformats.org/officeDocument/2006/relationships/image" Target="../media/image3.wmf"/><Relationship Id="rId21" Type="http://schemas.openxmlformats.org/officeDocument/2006/relationships/oleObject" Target="../embeddings/oleObject12.bin"/><Relationship Id="rId7" Type="http://schemas.openxmlformats.org/officeDocument/2006/relationships/image" Target="../media/image5.wmf"/><Relationship Id="rId12" Type="http://schemas.openxmlformats.org/officeDocument/2006/relationships/oleObject" Target="../embeddings/oleObject6.bin"/><Relationship Id="rId17" Type="http://schemas.openxmlformats.org/officeDocument/2006/relationships/image" Target="../media/image10.wmf"/><Relationship Id="rId2" Type="http://schemas.openxmlformats.org/officeDocument/2006/relationships/oleObject" Target="../embeddings/oleObject1.bin"/><Relationship Id="rId16" Type="http://schemas.openxmlformats.org/officeDocument/2006/relationships/oleObject" Target="../embeddings/oleObject8.bin"/><Relationship Id="rId20" Type="http://schemas.openxmlformats.org/officeDocument/2006/relationships/oleObject" Target="../embeddings/oleObject11.bin"/><Relationship Id="rId1" Type="http://schemas.openxmlformats.org/officeDocument/2006/relationships/slideLayout" Target="../slideLayouts/slideLayout6.xml"/><Relationship Id="rId6" Type="http://schemas.openxmlformats.org/officeDocument/2006/relationships/oleObject" Target="../embeddings/oleObject3.bin"/><Relationship Id="rId11" Type="http://schemas.openxmlformats.org/officeDocument/2006/relationships/image" Target="../media/image7.wmf"/><Relationship Id="rId5" Type="http://schemas.openxmlformats.org/officeDocument/2006/relationships/image" Target="../media/image4.wmf"/><Relationship Id="rId15" Type="http://schemas.openxmlformats.org/officeDocument/2006/relationships/image" Target="../media/image9.wmf"/><Relationship Id="rId10" Type="http://schemas.openxmlformats.org/officeDocument/2006/relationships/oleObject" Target="../embeddings/oleObject5.bin"/><Relationship Id="rId19" Type="http://schemas.openxmlformats.org/officeDocument/2006/relationships/oleObject" Target="../embeddings/oleObject10.bin"/><Relationship Id="rId4" Type="http://schemas.openxmlformats.org/officeDocument/2006/relationships/oleObject" Target="../embeddings/oleObject2.bin"/><Relationship Id="rId9" Type="http://schemas.openxmlformats.org/officeDocument/2006/relationships/image" Target="../media/image6.wmf"/><Relationship Id="rId14" Type="http://schemas.openxmlformats.org/officeDocument/2006/relationships/oleObject" Target="../embeddings/oleObject7.bin"/><Relationship Id="rId22" Type="http://schemas.openxmlformats.org/officeDocument/2006/relationships/image" Target="../media/image11.wmf"/></Relationships>
</file>

<file path=ppt/slides/_rels/slide3.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oleObject" Target="../embeddings/oleObject13.bin"/><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oleObject" Target="../embeddings/oleObject14.bin"/><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oleObject" Target="../embeddings/oleObject15.bin"/><Relationship Id="rId1" Type="http://schemas.openxmlformats.org/officeDocument/2006/relationships/slideLayout" Target="../slideLayouts/slideLayout6.xml"/><Relationship Id="rId5" Type="http://schemas.openxmlformats.org/officeDocument/2006/relationships/image" Target="../media/image15.wmf"/><Relationship Id="rId4" Type="http://schemas.openxmlformats.org/officeDocument/2006/relationships/oleObject" Target="../embeddings/oleObject16.bin"/></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6.wmf"/><Relationship Id="rId7" Type="http://schemas.openxmlformats.org/officeDocument/2006/relationships/image" Target="../media/image18.wmf"/><Relationship Id="rId2" Type="http://schemas.openxmlformats.org/officeDocument/2006/relationships/oleObject" Target="../embeddings/oleObject17.bin"/><Relationship Id="rId1" Type="http://schemas.openxmlformats.org/officeDocument/2006/relationships/slideLayout" Target="../slideLayouts/slideLayout6.xml"/><Relationship Id="rId6" Type="http://schemas.openxmlformats.org/officeDocument/2006/relationships/oleObject" Target="../embeddings/oleObject19.bin"/><Relationship Id="rId5" Type="http://schemas.openxmlformats.org/officeDocument/2006/relationships/image" Target="../media/image17.wmf"/><Relationship Id="rId4" Type="http://schemas.openxmlformats.org/officeDocument/2006/relationships/oleObject" Target="../embeddings/oleObject18.bin"/></Relationships>
</file>

<file path=ppt/slides/_rels/slide10.xml.rels><?xml version="1.0" encoding="UTF-8" standalone="yes"?>
<Relationships xmlns="http://schemas.openxmlformats.org/package/2006/relationships"><Relationship Id="rId2" Type="http://schemas.openxmlformats.org/officeDocument/2006/relationships/image" Target="../media/image20.gif"/><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23.bin"/><Relationship Id="rId3" Type="http://schemas.openxmlformats.org/officeDocument/2006/relationships/image" Target="../media/image23.wmf"/><Relationship Id="rId7" Type="http://schemas.openxmlformats.org/officeDocument/2006/relationships/image" Target="../media/image25.wmf"/><Relationship Id="rId2" Type="http://schemas.openxmlformats.org/officeDocument/2006/relationships/oleObject" Target="../embeddings/oleObject20.bin"/><Relationship Id="rId1" Type="http://schemas.openxmlformats.org/officeDocument/2006/relationships/slideLayout" Target="../slideLayouts/slideLayout6.xml"/><Relationship Id="rId6" Type="http://schemas.openxmlformats.org/officeDocument/2006/relationships/oleObject" Target="../embeddings/oleObject22.bin"/><Relationship Id="rId5" Type="http://schemas.openxmlformats.org/officeDocument/2006/relationships/image" Target="../media/image24.wmf"/><Relationship Id="rId10" Type="http://schemas.openxmlformats.org/officeDocument/2006/relationships/image" Target="../media/image27.png"/><Relationship Id="rId4" Type="http://schemas.openxmlformats.org/officeDocument/2006/relationships/oleObject" Target="../embeddings/oleObject21.bin"/><Relationship Id="rId9" Type="http://schemas.openxmlformats.org/officeDocument/2006/relationships/image" Target="../media/image26.wmf"/></Relationships>
</file>

<file path=ppt/slides/_rels/slide14.xml.rels><?xml version="1.0" encoding="UTF-8" standalone="yes"?>
<Relationships xmlns="http://schemas.openxmlformats.org/package/2006/relationships"><Relationship Id="rId3" Type="http://schemas.openxmlformats.org/officeDocument/2006/relationships/hyperlink" Target="http://ru.wikipedia.org/wiki/%D0%AD%D0%BB%D0%B5%D0%BA%D1%82%D1%80%D0%BE%D1%8D%D0%BD%D1%86%D0%B5%D1%84%D0%B0%D0%BB%D0%BE%D0%B3%D1%80%D0%B0%D0%BC%D0%BC%D0%B0" TargetMode="External"/><Relationship Id="rId2" Type="http://schemas.openxmlformats.org/officeDocument/2006/relationships/hyperlink" Target="http://ru.wikipedia.org/wiki/%D0%92%D0%B5%D1%80%D1%82%D0%BE%D0%BB%D1%91%D1%82" TargetMode="External"/><Relationship Id="rId1" Type="http://schemas.openxmlformats.org/officeDocument/2006/relationships/slideLayout" Target="../slideLayouts/slideLayout6.xml"/><Relationship Id="rId6" Type="http://schemas.openxmlformats.org/officeDocument/2006/relationships/image" Target="../media/image29.png"/><Relationship Id="rId5" Type="http://schemas.openxmlformats.org/officeDocument/2006/relationships/image" Target="../media/image28.wmf"/><Relationship Id="rId4" Type="http://schemas.openxmlformats.org/officeDocument/2006/relationships/oleObject" Target="../embeddings/oleObject24.bin"/></Relationships>
</file>

<file path=ppt/slides/_rels/slide15.x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oleObject" Target="../embeddings/oleObject25.bin"/><Relationship Id="rId1" Type="http://schemas.openxmlformats.org/officeDocument/2006/relationships/slideLayout" Target="../slideLayouts/slideLayout6.xml"/><Relationship Id="rId4" Type="http://schemas.openxmlformats.org/officeDocument/2006/relationships/image" Target="../media/image3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image" Target="../media/image32.png"/><Relationship Id="rId1" Type="http://schemas.openxmlformats.org/officeDocument/2006/relationships/slideLayout" Target="../slideLayouts/slideLayout6.xml"/><Relationship Id="rId4" Type="http://schemas.openxmlformats.org/officeDocument/2006/relationships/image" Target="../media/image33.wmf"/></Relationships>
</file>

<file path=ppt/slides/_rels/slide1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xml"/><Relationship Id="rId1" Type="http://schemas.openxmlformats.org/officeDocument/2006/relationships/slideLayout" Target="../slideLayouts/slideLayout6.xml"/><Relationship Id="rId5" Type="http://schemas.openxmlformats.org/officeDocument/2006/relationships/image" Target="../media/image35.wmf"/><Relationship Id="rId4" Type="http://schemas.openxmlformats.org/officeDocument/2006/relationships/oleObject" Target="../embeddings/oleObject27.bin"/></Relationships>
</file>

<file path=ppt/slides/_rels/slide1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oleObject" Target="../embeddings/oleObject28.bin"/><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32.bin"/><Relationship Id="rId3" Type="http://schemas.openxmlformats.org/officeDocument/2006/relationships/image" Target="../media/image38.wmf"/><Relationship Id="rId7" Type="http://schemas.openxmlformats.org/officeDocument/2006/relationships/image" Target="../media/image40.wmf"/><Relationship Id="rId2" Type="http://schemas.openxmlformats.org/officeDocument/2006/relationships/oleObject" Target="../embeddings/oleObject29.bin"/><Relationship Id="rId1" Type="http://schemas.openxmlformats.org/officeDocument/2006/relationships/slideLayout" Target="../slideLayouts/slideLayout6.xml"/><Relationship Id="rId6" Type="http://schemas.openxmlformats.org/officeDocument/2006/relationships/oleObject" Target="../embeddings/oleObject31.bin"/><Relationship Id="rId5" Type="http://schemas.openxmlformats.org/officeDocument/2006/relationships/image" Target="../media/image39.wmf"/><Relationship Id="rId4" Type="http://schemas.openxmlformats.org/officeDocument/2006/relationships/oleObject" Target="../embeddings/oleObject30.bin"/><Relationship Id="rId9" Type="http://schemas.openxmlformats.org/officeDocument/2006/relationships/image" Target="../media/image41.wmf"/></Relationships>
</file>

<file path=ppt/slides/_rels/slide2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jpe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chart" Target="../charts/chart1.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46.wmf"/><Relationship Id="rId2" Type="http://schemas.openxmlformats.org/officeDocument/2006/relationships/oleObject" Target="../embeddings/oleObject33.bin"/><Relationship Id="rId1" Type="http://schemas.openxmlformats.org/officeDocument/2006/relationships/slideLayout" Target="../slideLayouts/slideLayout6.xml"/><Relationship Id="rId5" Type="http://schemas.openxmlformats.org/officeDocument/2006/relationships/image" Target="../media/image47.wmf"/><Relationship Id="rId4" Type="http://schemas.openxmlformats.org/officeDocument/2006/relationships/oleObject" Target="../embeddings/oleObject34.bin"/></Relationships>
</file>

<file path=ppt/slides/_rels/slide27.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38.bin"/><Relationship Id="rId3" Type="http://schemas.openxmlformats.org/officeDocument/2006/relationships/image" Target="../media/image48.wmf"/><Relationship Id="rId7" Type="http://schemas.openxmlformats.org/officeDocument/2006/relationships/image" Target="../media/image50.wmf"/><Relationship Id="rId2" Type="http://schemas.openxmlformats.org/officeDocument/2006/relationships/oleObject" Target="../embeddings/oleObject35.bin"/><Relationship Id="rId1" Type="http://schemas.openxmlformats.org/officeDocument/2006/relationships/slideLayout" Target="../slideLayouts/slideLayout6.xml"/><Relationship Id="rId6" Type="http://schemas.openxmlformats.org/officeDocument/2006/relationships/oleObject" Target="../embeddings/oleObject37.bin"/><Relationship Id="rId5" Type="http://schemas.openxmlformats.org/officeDocument/2006/relationships/image" Target="../media/image49.wmf"/><Relationship Id="rId4" Type="http://schemas.openxmlformats.org/officeDocument/2006/relationships/oleObject" Target="../embeddings/oleObject36.bin"/><Relationship Id="rId9" Type="http://schemas.openxmlformats.org/officeDocument/2006/relationships/image" Target="../media/image51.wmf"/></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42.bin"/><Relationship Id="rId13" Type="http://schemas.openxmlformats.org/officeDocument/2006/relationships/oleObject" Target="../embeddings/oleObject46.bin"/><Relationship Id="rId18" Type="http://schemas.openxmlformats.org/officeDocument/2006/relationships/image" Target="../media/image57.wmf"/><Relationship Id="rId3" Type="http://schemas.openxmlformats.org/officeDocument/2006/relationships/image" Target="../media/image52.wmf"/><Relationship Id="rId21" Type="http://schemas.openxmlformats.org/officeDocument/2006/relationships/oleObject" Target="../embeddings/oleObject51.bin"/><Relationship Id="rId7" Type="http://schemas.openxmlformats.org/officeDocument/2006/relationships/image" Target="../media/image54.wmf"/><Relationship Id="rId12" Type="http://schemas.openxmlformats.org/officeDocument/2006/relationships/oleObject" Target="../embeddings/oleObject45.bin"/><Relationship Id="rId17" Type="http://schemas.openxmlformats.org/officeDocument/2006/relationships/oleObject" Target="../embeddings/oleObject49.bin"/><Relationship Id="rId2" Type="http://schemas.openxmlformats.org/officeDocument/2006/relationships/oleObject" Target="../embeddings/oleObject39.bin"/><Relationship Id="rId16" Type="http://schemas.openxmlformats.org/officeDocument/2006/relationships/oleObject" Target="../embeddings/oleObject48.bin"/><Relationship Id="rId20" Type="http://schemas.openxmlformats.org/officeDocument/2006/relationships/image" Target="../media/image58.wmf"/><Relationship Id="rId1" Type="http://schemas.openxmlformats.org/officeDocument/2006/relationships/slideLayout" Target="../slideLayouts/slideLayout6.xml"/><Relationship Id="rId6" Type="http://schemas.openxmlformats.org/officeDocument/2006/relationships/oleObject" Target="../embeddings/oleObject41.bin"/><Relationship Id="rId11" Type="http://schemas.openxmlformats.org/officeDocument/2006/relationships/oleObject" Target="../embeddings/oleObject44.bin"/><Relationship Id="rId5" Type="http://schemas.openxmlformats.org/officeDocument/2006/relationships/image" Target="../media/image53.wmf"/><Relationship Id="rId15" Type="http://schemas.openxmlformats.org/officeDocument/2006/relationships/oleObject" Target="../embeddings/oleObject47.bin"/><Relationship Id="rId23" Type="http://schemas.openxmlformats.org/officeDocument/2006/relationships/image" Target="../media/image60.png"/><Relationship Id="rId10" Type="http://schemas.openxmlformats.org/officeDocument/2006/relationships/oleObject" Target="../embeddings/oleObject43.bin"/><Relationship Id="rId19" Type="http://schemas.openxmlformats.org/officeDocument/2006/relationships/oleObject" Target="../embeddings/oleObject50.bin"/><Relationship Id="rId4" Type="http://schemas.openxmlformats.org/officeDocument/2006/relationships/oleObject" Target="../embeddings/oleObject40.bin"/><Relationship Id="rId9" Type="http://schemas.openxmlformats.org/officeDocument/2006/relationships/image" Target="../media/image55.wmf"/><Relationship Id="rId14" Type="http://schemas.openxmlformats.org/officeDocument/2006/relationships/image" Target="../media/image56.wmf"/><Relationship Id="rId22" Type="http://schemas.openxmlformats.org/officeDocument/2006/relationships/image" Target="../media/image59.wmf"/></Relationships>
</file>

<file path=ppt/slides/_rels/slide30.xml.rels><?xml version="1.0" encoding="UTF-8" standalone="yes"?>
<Relationships xmlns="http://schemas.openxmlformats.org/package/2006/relationships"><Relationship Id="rId3" Type="http://schemas.openxmlformats.org/officeDocument/2006/relationships/image" Target="../media/image61.wmf"/><Relationship Id="rId2" Type="http://schemas.openxmlformats.org/officeDocument/2006/relationships/oleObject" Target="../embeddings/oleObject52.bin"/><Relationship Id="rId1" Type="http://schemas.openxmlformats.org/officeDocument/2006/relationships/slideLayout" Target="../slideLayouts/slideLayout6.xml"/><Relationship Id="rId5" Type="http://schemas.openxmlformats.org/officeDocument/2006/relationships/image" Target="../media/image62.wmf"/><Relationship Id="rId4" Type="http://schemas.openxmlformats.org/officeDocument/2006/relationships/oleObject" Target="../embeddings/oleObject53.bin"/></Relationships>
</file>

<file path=ppt/slides/_rels/slide31.xml.rels><?xml version="1.0" encoding="UTF-8" standalone="yes"?>
<Relationships xmlns="http://schemas.openxmlformats.org/package/2006/relationships"><Relationship Id="rId8" Type="http://schemas.openxmlformats.org/officeDocument/2006/relationships/oleObject" Target="../embeddings/oleObject57.bin"/><Relationship Id="rId3" Type="http://schemas.openxmlformats.org/officeDocument/2006/relationships/image" Target="../media/image63.wmf"/><Relationship Id="rId7" Type="http://schemas.openxmlformats.org/officeDocument/2006/relationships/image" Target="../media/image65.wmf"/><Relationship Id="rId2" Type="http://schemas.openxmlformats.org/officeDocument/2006/relationships/oleObject" Target="../embeddings/oleObject54.bin"/><Relationship Id="rId1" Type="http://schemas.openxmlformats.org/officeDocument/2006/relationships/slideLayout" Target="../slideLayouts/slideLayout6.xml"/><Relationship Id="rId6" Type="http://schemas.openxmlformats.org/officeDocument/2006/relationships/oleObject" Target="../embeddings/oleObject56.bin"/><Relationship Id="rId11" Type="http://schemas.openxmlformats.org/officeDocument/2006/relationships/image" Target="../media/image67.wmf"/><Relationship Id="rId5" Type="http://schemas.openxmlformats.org/officeDocument/2006/relationships/image" Target="../media/image64.wmf"/><Relationship Id="rId10" Type="http://schemas.openxmlformats.org/officeDocument/2006/relationships/oleObject" Target="../embeddings/oleObject58.bin"/><Relationship Id="rId4" Type="http://schemas.openxmlformats.org/officeDocument/2006/relationships/oleObject" Target="../embeddings/oleObject55.bin"/><Relationship Id="rId9" Type="http://schemas.openxmlformats.org/officeDocument/2006/relationships/image" Target="../media/image66.wmf"/></Relationships>
</file>

<file path=ppt/slides/_rels/slide32.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59.bin"/><Relationship Id="rId2" Type="http://schemas.openxmlformats.org/officeDocument/2006/relationships/image" Target="../media/image69.png"/><Relationship Id="rId1" Type="http://schemas.openxmlformats.org/officeDocument/2006/relationships/slideLayout" Target="../slideLayouts/slideLayout6.xml"/><Relationship Id="rId4" Type="http://schemas.openxmlformats.org/officeDocument/2006/relationships/image" Target="../media/image52.wmf"/></Relationships>
</file>

<file path=ppt/slides/_rels/slide38.xml.rels><?xml version="1.0" encoding="UTF-8" standalone="yes"?>
<Relationships xmlns="http://schemas.openxmlformats.org/package/2006/relationships"><Relationship Id="rId3" Type="http://schemas.openxmlformats.org/officeDocument/2006/relationships/image" Target="../media/image53.wmf"/><Relationship Id="rId7" Type="http://schemas.openxmlformats.org/officeDocument/2006/relationships/oleObject" Target="../embeddings/oleObject63.bin"/><Relationship Id="rId2" Type="http://schemas.openxmlformats.org/officeDocument/2006/relationships/oleObject" Target="../embeddings/oleObject60.bin"/><Relationship Id="rId1" Type="http://schemas.openxmlformats.org/officeDocument/2006/relationships/slideLayout" Target="../slideLayouts/slideLayout6.xml"/><Relationship Id="rId6" Type="http://schemas.openxmlformats.org/officeDocument/2006/relationships/image" Target="../media/image52.wmf"/><Relationship Id="rId5" Type="http://schemas.openxmlformats.org/officeDocument/2006/relationships/oleObject" Target="../embeddings/oleObject62.bin"/><Relationship Id="rId4" Type="http://schemas.openxmlformats.org/officeDocument/2006/relationships/oleObject" Target="../embeddings/oleObject61.bin"/></Relationships>
</file>

<file path=ppt/slides/_rels/slide39.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8" Type="http://schemas.openxmlformats.org/officeDocument/2006/relationships/oleObject" Target="../embeddings/oleObject67.bin"/><Relationship Id="rId3" Type="http://schemas.openxmlformats.org/officeDocument/2006/relationships/image" Target="../media/image71.wmf"/><Relationship Id="rId7" Type="http://schemas.openxmlformats.org/officeDocument/2006/relationships/image" Target="../media/image52.wmf"/><Relationship Id="rId2" Type="http://schemas.openxmlformats.org/officeDocument/2006/relationships/oleObject" Target="../embeddings/oleObject64.bin"/><Relationship Id="rId1" Type="http://schemas.openxmlformats.org/officeDocument/2006/relationships/slideLayout" Target="../slideLayouts/slideLayout6.xml"/><Relationship Id="rId6" Type="http://schemas.openxmlformats.org/officeDocument/2006/relationships/oleObject" Target="../embeddings/oleObject66.bin"/><Relationship Id="rId5" Type="http://schemas.openxmlformats.org/officeDocument/2006/relationships/image" Target="../media/image72.wmf"/><Relationship Id="rId4" Type="http://schemas.openxmlformats.org/officeDocument/2006/relationships/oleObject" Target="../embeddings/oleObject65.bin"/><Relationship Id="rId9" Type="http://schemas.openxmlformats.org/officeDocument/2006/relationships/image" Target="../media/image73.wmf"/></Relationships>
</file>

<file path=ppt/slides/_rels/slide42.xml.rels><?xml version="1.0" encoding="UTF-8" standalone="yes"?>
<Relationships xmlns="http://schemas.openxmlformats.org/package/2006/relationships"><Relationship Id="rId3" Type="http://schemas.openxmlformats.org/officeDocument/2006/relationships/image" Target="../media/image74.wmf"/><Relationship Id="rId2" Type="http://schemas.openxmlformats.org/officeDocument/2006/relationships/oleObject" Target="../embeddings/oleObject68.bin"/><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69.bin"/><Relationship Id="rId2" Type="http://schemas.openxmlformats.org/officeDocument/2006/relationships/image" Target="../media/image75.png"/><Relationship Id="rId1" Type="http://schemas.openxmlformats.org/officeDocument/2006/relationships/slideLayout" Target="../slideLayouts/slideLayout6.xml"/><Relationship Id="rId4" Type="http://schemas.openxmlformats.org/officeDocument/2006/relationships/image" Target="../media/image76.wmf"/></Relationships>
</file>

<file path=ppt/slides/_rels/slide44.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70.bin"/><Relationship Id="rId2" Type="http://schemas.openxmlformats.org/officeDocument/2006/relationships/image" Target="../media/image78.png"/><Relationship Id="rId1" Type="http://schemas.openxmlformats.org/officeDocument/2006/relationships/slideLayout" Target="../slideLayouts/slideLayout6.xml"/><Relationship Id="rId4" Type="http://schemas.openxmlformats.org/officeDocument/2006/relationships/image" Target="../media/image79.wmf"/></Relationships>
</file>

<file path=ppt/slides/_rels/slide46.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3" Type="http://schemas.openxmlformats.org/officeDocument/2006/relationships/image" Target="../media/image82.jp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85.jpg"/><Relationship Id="rId5" Type="http://schemas.openxmlformats.org/officeDocument/2006/relationships/image" Target="../media/image84.jpg"/><Relationship Id="rId4" Type="http://schemas.openxmlformats.org/officeDocument/2006/relationships/image" Target="../media/image83.png"/></Relationships>
</file>

<file path=ppt/slides/_rels/slide50.xml.rels><?xml version="1.0" encoding="UTF-8" standalone="yes"?>
<Relationships xmlns="http://schemas.openxmlformats.org/package/2006/relationships"><Relationship Id="rId3" Type="http://schemas.openxmlformats.org/officeDocument/2006/relationships/image" Target="../media/image86.jp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89.jpg"/><Relationship Id="rId5" Type="http://schemas.openxmlformats.org/officeDocument/2006/relationships/image" Target="../media/image88.jpg"/><Relationship Id="rId4" Type="http://schemas.openxmlformats.org/officeDocument/2006/relationships/image" Target="../media/image87.jpg"/></Relationships>
</file>

<file path=ppt/slides/_rels/slide51.xml.rels><?xml version="1.0" encoding="UTF-8" standalone="yes"?>
<Relationships xmlns="http://schemas.openxmlformats.org/package/2006/relationships"><Relationship Id="rId3" Type="http://schemas.openxmlformats.org/officeDocument/2006/relationships/image" Target="../media/image90.jp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93.jpg"/><Relationship Id="rId5" Type="http://schemas.openxmlformats.org/officeDocument/2006/relationships/image" Target="../media/image92.jpg"/><Relationship Id="rId4" Type="http://schemas.openxmlformats.org/officeDocument/2006/relationships/image" Target="../media/image91.jpg"/></Relationships>
</file>

<file path=ppt/slides/_rels/slide52.xml.rels><?xml version="1.0" encoding="UTF-8" standalone="yes"?>
<Relationships xmlns="http://schemas.openxmlformats.org/package/2006/relationships"><Relationship Id="rId8" Type="http://schemas.openxmlformats.org/officeDocument/2006/relationships/image" Target="../media/image97.png"/><Relationship Id="rId3" Type="http://schemas.openxmlformats.org/officeDocument/2006/relationships/image" Target="../media/image2.png"/><Relationship Id="rId7" Type="http://schemas.openxmlformats.org/officeDocument/2006/relationships/image" Target="../media/image96.png"/><Relationship Id="rId2" Type="http://schemas.openxmlformats.org/officeDocument/2006/relationships/image" Target="../media/image94.png"/><Relationship Id="rId1" Type="http://schemas.openxmlformats.org/officeDocument/2006/relationships/slideLayout" Target="../slideLayouts/slideLayout6.xml"/><Relationship Id="rId6" Type="http://schemas.openxmlformats.org/officeDocument/2006/relationships/image" Target="../media/image95.png"/><Relationship Id="rId5" Type="http://schemas.openxmlformats.org/officeDocument/2006/relationships/image" Target="../media/image93.jpg"/><Relationship Id="rId4" Type="http://schemas.openxmlformats.org/officeDocument/2006/relationships/image" Target="../media/image92.jpg"/></Relationships>
</file>

<file path=ppt/slides/_rels/slide53.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3" Type="http://schemas.openxmlformats.org/officeDocument/2006/relationships/image" Target="../media/image101.jpeg"/><Relationship Id="rId7" Type="http://schemas.openxmlformats.org/officeDocument/2006/relationships/image" Target="../media/image105.jpeg"/><Relationship Id="rId2" Type="http://schemas.openxmlformats.org/officeDocument/2006/relationships/image" Target="../media/image100.jpeg"/><Relationship Id="rId1" Type="http://schemas.openxmlformats.org/officeDocument/2006/relationships/slideLayout" Target="../slideLayouts/slideLayout6.xml"/><Relationship Id="rId6" Type="http://schemas.openxmlformats.org/officeDocument/2006/relationships/image" Target="../media/image104.png"/><Relationship Id="rId5" Type="http://schemas.openxmlformats.org/officeDocument/2006/relationships/image" Target="../media/image103.png"/><Relationship Id="rId4" Type="http://schemas.openxmlformats.org/officeDocument/2006/relationships/image" Target="../media/image10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descr="Large confetti"/>
          <p:cNvSpPr>
            <a:spLocks noChangeArrowheads="1"/>
          </p:cNvSpPr>
          <p:nvPr/>
        </p:nvSpPr>
        <p:spPr bwMode="auto">
          <a:xfrm>
            <a:off x="0" y="228600"/>
            <a:ext cx="9144000" cy="630238"/>
          </a:xfrm>
          <a:prstGeom prst="rect">
            <a:avLst/>
          </a:prstGeom>
          <a:noFill/>
          <a:ln w="9525">
            <a:noFill/>
            <a:miter lim="800000"/>
            <a:headEnd/>
            <a:tailEnd/>
          </a:ln>
        </p:spPr>
        <p:txBody>
          <a:bodyPr anchor="b"/>
          <a:lstStyle/>
          <a:p>
            <a:r>
              <a:rPr lang="ru-RU" sz="2800" b="1"/>
              <a:t>Методы и средства цифровой обработки информации</a:t>
            </a:r>
          </a:p>
        </p:txBody>
      </p:sp>
      <p:sp>
        <p:nvSpPr>
          <p:cNvPr id="9219" name="Rectangle 7"/>
          <p:cNvSpPr>
            <a:spLocks noChangeArrowheads="1"/>
          </p:cNvSpPr>
          <p:nvPr/>
        </p:nvSpPr>
        <p:spPr bwMode="auto">
          <a:xfrm>
            <a:off x="2971800" y="1657350"/>
            <a:ext cx="9144000" cy="0"/>
          </a:xfrm>
          <a:prstGeom prst="rect">
            <a:avLst/>
          </a:prstGeom>
          <a:noFill/>
          <a:ln w="9525">
            <a:noFill/>
            <a:miter lim="800000"/>
            <a:headEnd/>
            <a:tailEnd/>
          </a:ln>
        </p:spPr>
        <p:txBody>
          <a:bodyPr>
            <a:spAutoFit/>
          </a:bodyPr>
          <a:lstStyle/>
          <a:p>
            <a:endParaRPr lang="ru-RU"/>
          </a:p>
        </p:txBody>
      </p:sp>
      <p:sp>
        <p:nvSpPr>
          <p:cNvPr id="9220" name="Rectangle 9"/>
          <p:cNvSpPr>
            <a:spLocks noChangeArrowheads="1"/>
          </p:cNvSpPr>
          <p:nvPr/>
        </p:nvSpPr>
        <p:spPr bwMode="auto">
          <a:xfrm>
            <a:off x="2852738" y="3309938"/>
            <a:ext cx="9144000" cy="0"/>
          </a:xfrm>
          <a:prstGeom prst="rect">
            <a:avLst/>
          </a:prstGeom>
          <a:noFill/>
          <a:ln w="9525">
            <a:noFill/>
            <a:miter lim="800000"/>
            <a:headEnd/>
            <a:tailEnd/>
          </a:ln>
        </p:spPr>
        <p:txBody>
          <a:bodyPr>
            <a:spAutoFit/>
          </a:bodyPr>
          <a:lstStyle/>
          <a:p>
            <a:endParaRPr lang="ru-RU"/>
          </a:p>
        </p:txBody>
      </p:sp>
      <p:sp>
        <p:nvSpPr>
          <p:cNvPr id="9221" name="Rectangle 10"/>
          <p:cNvSpPr>
            <a:spLocks noChangeArrowheads="1"/>
          </p:cNvSpPr>
          <p:nvPr/>
        </p:nvSpPr>
        <p:spPr bwMode="auto">
          <a:xfrm>
            <a:off x="0" y="2571744"/>
            <a:ext cx="9144000" cy="1569660"/>
          </a:xfrm>
          <a:prstGeom prst="rect">
            <a:avLst/>
          </a:prstGeom>
          <a:noFill/>
          <a:ln w="9525">
            <a:noFill/>
            <a:miter lim="800000"/>
            <a:headEnd/>
            <a:tailEnd/>
          </a:ln>
        </p:spPr>
        <p:txBody>
          <a:bodyPr>
            <a:spAutoFit/>
          </a:bodyPr>
          <a:lstStyle/>
          <a:p>
            <a:pPr algn="ctr"/>
            <a:r>
              <a:rPr lang="ru-RU" sz="3200" b="1" cap="all" dirty="0" err="1"/>
              <a:t>ВычисленИЕ</a:t>
            </a:r>
            <a:r>
              <a:rPr lang="ru-RU" sz="3200" b="1" cap="all" dirty="0"/>
              <a:t> автокорреляционной (АКФ) и </a:t>
            </a:r>
            <a:r>
              <a:rPr lang="ru-RU" sz="3200" b="1" cap="all" dirty="0" err="1"/>
              <a:t>взаимнокорреляционной</a:t>
            </a:r>
            <a:r>
              <a:rPr lang="ru-RU" sz="3200" b="1" cap="all" dirty="0"/>
              <a:t> (ВКФ) функций и их применение</a:t>
            </a:r>
          </a:p>
        </p:txBody>
      </p:sp>
      <p:sp>
        <p:nvSpPr>
          <p:cNvPr id="9222" name="Text Box 15"/>
          <p:cNvSpPr txBox="1">
            <a:spLocks noChangeArrowheads="1"/>
          </p:cNvSpPr>
          <p:nvPr/>
        </p:nvSpPr>
        <p:spPr bwMode="auto">
          <a:xfrm>
            <a:off x="857250" y="6400801"/>
            <a:ext cx="8286750" cy="424732"/>
          </a:xfrm>
          <a:prstGeom prst="rect">
            <a:avLst/>
          </a:prstGeom>
          <a:noFill/>
          <a:ln w="9525">
            <a:noFill/>
            <a:miter lim="800000"/>
            <a:headEnd/>
            <a:tailEnd/>
          </a:ln>
        </p:spPr>
        <p:txBody>
          <a:bodyPr wrap="square">
            <a:spAutoFit/>
          </a:bodyPr>
          <a:lstStyle/>
          <a:p>
            <a:pPr algn="ctr">
              <a:lnSpc>
                <a:spcPct val="90000"/>
              </a:lnSpc>
            </a:pPr>
            <a:r>
              <a:rPr lang="ru-RU" dirty="0"/>
              <a:t>Лекция </a:t>
            </a:r>
            <a:r>
              <a:rPr lang="en-US" dirty="0"/>
              <a:t>1</a:t>
            </a:r>
            <a:r>
              <a:rPr lang="ru-RU" dirty="0"/>
              <a:t>1. Вычисление АКФ и ВКФ и их применение</a:t>
            </a:r>
            <a:endParaRPr lang="ru-RU" i="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4" descr="Large confetti"/>
          <p:cNvSpPr>
            <a:spLocks noChangeArrowheads="1"/>
          </p:cNvSpPr>
          <p:nvPr/>
        </p:nvSpPr>
        <p:spPr bwMode="auto">
          <a:xfrm>
            <a:off x="0" y="228600"/>
            <a:ext cx="9144000" cy="630238"/>
          </a:xfrm>
          <a:prstGeom prst="rect">
            <a:avLst/>
          </a:prstGeom>
          <a:noFill/>
          <a:ln w="9525">
            <a:noFill/>
            <a:miter lim="800000"/>
            <a:headEnd/>
            <a:tailEnd/>
          </a:ln>
        </p:spPr>
        <p:txBody>
          <a:bodyPr anchor="b"/>
          <a:lstStyle/>
          <a:p>
            <a:r>
              <a:rPr lang="ru-RU" sz="2800" b="1"/>
              <a:t>Методы и средства цифровой обработки информации</a:t>
            </a:r>
          </a:p>
        </p:txBody>
      </p:sp>
      <p:sp>
        <p:nvSpPr>
          <p:cNvPr id="10243" name="Rectangle 7"/>
          <p:cNvSpPr>
            <a:spLocks noChangeArrowheads="1"/>
          </p:cNvSpPr>
          <p:nvPr/>
        </p:nvSpPr>
        <p:spPr bwMode="auto">
          <a:xfrm>
            <a:off x="2971800" y="1657350"/>
            <a:ext cx="9144000" cy="0"/>
          </a:xfrm>
          <a:prstGeom prst="rect">
            <a:avLst/>
          </a:prstGeom>
          <a:noFill/>
          <a:ln w="9525">
            <a:noFill/>
            <a:miter lim="800000"/>
            <a:headEnd/>
            <a:tailEnd/>
          </a:ln>
        </p:spPr>
        <p:txBody>
          <a:bodyPr>
            <a:spAutoFit/>
          </a:bodyPr>
          <a:lstStyle/>
          <a:p>
            <a:endParaRPr lang="ru-RU"/>
          </a:p>
        </p:txBody>
      </p:sp>
      <p:sp>
        <p:nvSpPr>
          <p:cNvPr id="10244" name="Rectangle 9"/>
          <p:cNvSpPr>
            <a:spLocks noChangeArrowheads="1"/>
          </p:cNvSpPr>
          <p:nvPr/>
        </p:nvSpPr>
        <p:spPr bwMode="auto">
          <a:xfrm>
            <a:off x="2852738" y="3309938"/>
            <a:ext cx="9144000" cy="0"/>
          </a:xfrm>
          <a:prstGeom prst="rect">
            <a:avLst/>
          </a:prstGeom>
          <a:noFill/>
          <a:ln w="9525">
            <a:noFill/>
            <a:miter lim="800000"/>
            <a:headEnd/>
            <a:tailEnd/>
          </a:ln>
        </p:spPr>
        <p:txBody>
          <a:bodyPr>
            <a:spAutoFit/>
          </a:bodyPr>
          <a:lstStyle/>
          <a:p>
            <a:endParaRPr lang="ru-RU"/>
          </a:p>
        </p:txBody>
      </p:sp>
      <p:sp>
        <p:nvSpPr>
          <p:cNvPr id="19461" name="Rectangle 10"/>
          <p:cNvSpPr>
            <a:spLocks noChangeArrowheads="1"/>
          </p:cNvSpPr>
          <p:nvPr/>
        </p:nvSpPr>
        <p:spPr bwMode="auto">
          <a:xfrm>
            <a:off x="0" y="928688"/>
            <a:ext cx="9144000" cy="7478970"/>
          </a:xfrm>
          <a:prstGeom prst="rect">
            <a:avLst/>
          </a:prstGeom>
          <a:noFill/>
          <a:ln w="9525">
            <a:noFill/>
            <a:miter lim="800000"/>
            <a:headEnd/>
            <a:tailEnd/>
          </a:ln>
        </p:spPr>
        <p:txBody>
          <a:bodyPr>
            <a:spAutoFit/>
          </a:bodyPr>
          <a:lstStyle/>
          <a:p>
            <a:pPr algn="ctr">
              <a:defRPr/>
            </a:pPr>
            <a:r>
              <a:rPr lang="ru-RU" sz="3200" b="1" dirty="0"/>
              <a:t>Определение АКФ и ВКФ </a:t>
            </a:r>
          </a:p>
          <a:p>
            <a:pPr indent="457200" algn="just">
              <a:defRPr/>
            </a:pPr>
            <a:r>
              <a:rPr lang="ru-RU" sz="3200" b="1" dirty="0"/>
              <a:t>Взаимная ковариационная функция </a:t>
            </a:r>
            <a:r>
              <a:rPr lang="ru-RU" sz="3200" dirty="0"/>
              <a:t>(второй смешанный центральный момент) используется для определения статистической связи между двумя случайными функциями:</a:t>
            </a:r>
          </a:p>
          <a:p>
            <a:pPr indent="457200" algn="just">
              <a:defRPr/>
            </a:pPr>
            <a:endParaRPr lang="ru-RU" sz="3200" dirty="0"/>
          </a:p>
          <a:p>
            <a:pPr indent="457200" algn="just">
              <a:defRPr/>
            </a:pPr>
            <a:endParaRPr lang="ru-RU" sz="3200" dirty="0"/>
          </a:p>
          <a:p>
            <a:pPr algn="just">
              <a:defRPr/>
            </a:pPr>
            <a:r>
              <a:rPr lang="ru-RU" sz="3200" dirty="0"/>
              <a:t>где       ,       – математические ожидания случайных функций        и        соответственно при          и        ;  </a:t>
            </a:r>
          </a:p>
          <a:p>
            <a:pPr algn="just">
              <a:defRPr/>
            </a:pPr>
            <a:r>
              <a:rPr lang="ru-RU" sz="3200" dirty="0"/>
              <a:t>                – двумерная плотность вероятности </a:t>
            </a:r>
            <a:r>
              <a:rPr lang="ru-RU" sz="3200" dirty="0" err="1"/>
              <a:t>слу-чайных</a:t>
            </a:r>
            <a:r>
              <a:rPr lang="ru-RU" sz="3200" dirty="0"/>
              <a:t> величин     и    соответственно при      и      .</a:t>
            </a:r>
          </a:p>
          <a:p>
            <a:pPr indent="457200" algn="just">
              <a:defRPr/>
            </a:pPr>
            <a:endParaRPr lang="ru-RU" sz="3200" dirty="0"/>
          </a:p>
          <a:p>
            <a:pPr indent="457200" algn="just">
              <a:defRPr/>
            </a:pPr>
            <a:endParaRPr lang="ru-RU" sz="3200" dirty="0"/>
          </a:p>
          <a:p>
            <a:pPr indent="457200" algn="just">
              <a:defRPr/>
            </a:pPr>
            <a:endParaRPr lang="ru-RU" sz="3200" dirty="0"/>
          </a:p>
          <a:p>
            <a:pPr indent="457200" algn="just">
              <a:defRPr/>
            </a:pPr>
            <a:r>
              <a:rPr lang="ru-RU" sz="3200" dirty="0"/>
              <a:t> </a:t>
            </a:r>
          </a:p>
        </p:txBody>
      </p:sp>
      <p:sp>
        <p:nvSpPr>
          <p:cNvPr id="10248"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graphicFrame>
        <p:nvGraphicFramePr>
          <p:cNvPr id="10247" name="Object 7"/>
          <p:cNvGraphicFramePr>
            <a:graphicFrameLocks noChangeAspect="1"/>
          </p:cNvGraphicFramePr>
          <p:nvPr/>
        </p:nvGraphicFramePr>
        <p:xfrm>
          <a:off x="76200" y="3441700"/>
          <a:ext cx="8728075" cy="973138"/>
        </p:xfrm>
        <a:graphic>
          <a:graphicData uri="http://schemas.openxmlformats.org/presentationml/2006/ole">
            <mc:AlternateContent xmlns:mc="http://schemas.openxmlformats.org/markup-compatibility/2006">
              <mc:Choice xmlns:v="urn:schemas-microsoft-com:vml" Requires="v">
                <p:oleObj name="Equation" r:id="rId2" imgW="4076700" imgH="457200" progId="">
                  <p:embed/>
                </p:oleObj>
              </mc:Choice>
              <mc:Fallback>
                <p:oleObj name="Equation" r:id="rId2" imgW="4076700" imgH="457200" progId="">
                  <p:embed/>
                  <p:pic>
                    <p:nvPicPr>
                      <p:cNvPr id="0" name="Picture 10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 y="3441700"/>
                        <a:ext cx="8728075" cy="9731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50"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graphicFrame>
        <p:nvGraphicFramePr>
          <p:cNvPr id="10249" name="Object 9"/>
          <p:cNvGraphicFramePr>
            <a:graphicFrameLocks noChangeAspect="1"/>
          </p:cNvGraphicFramePr>
          <p:nvPr/>
        </p:nvGraphicFramePr>
        <p:xfrm>
          <a:off x="642910" y="4500570"/>
          <a:ext cx="785818" cy="428628"/>
        </p:xfrm>
        <a:graphic>
          <a:graphicData uri="http://schemas.openxmlformats.org/presentationml/2006/ole">
            <mc:AlternateContent xmlns:mc="http://schemas.openxmlformats.org/markup-compatibility/2006">
              <mc:Choice xmlns:v="urn:schemas-microsoft-com:vml" Requires="v">
                <p:oleObj name="Equation" r:id="rId4" imgW="419100" imgH="228600" progId="">
                  <p:embed/>
                </p:oleObj>
              </mc:Choice>
              <mc:Fallback>
                <p:oleObj name="Equation" r:id="rId4" imgW="419100" imgH="228600" progId="">
                  <p:embed/>
                  <p:pic>
                    <p:nvPicPr>
                      <p:cNvPr id="0" name="Picture 10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2910" y="4500570"/>
                        <a:ext cx="785818" cy="42862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52" name="Rectangle 1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graphicFrame>
        <p:nvGraphicFramePr>
          <p:cNvPr id="10251" name="Object 11"/>
          <p:cNvGraphicFramePr>
            <a:graphicFrameLocks noChangeAspect="1"/>
          </p:cNvGraphicFramePr>
          <p:nvPr/>
        </p:nvGraphicFramePr>
        <p:xfrm>
          <a:off x="1500166" y="4500570"/>
          <a:ext cx="698850" cy="357190"/>
        </p:xfrm>
        <a:graphic>
          <a:graphicData uri="http://schemas.openxmlformats.org/presentationml/2006/ole">
            <mc:AlternateContent xmlns:mc="http://schemas.openxmlformats.org/markup-compatibility/2006">
              <mc:Choice xmlns:v="urn:schemas-microsoft-com:vml" Requires="v">
                <p:oleObj name="Equation" r:id="rId6" imgW="431613" imgH="215806" progId="">
                  <p:embed/>
                </p:oleObj>
              </mc:Choice>
              <mc:Fallback>
                <p:oleObj name="Equation" r:id="rId6" imgW="431613" imgH="215806" progId="">
                  <p:embed/>
                  <p:pic>
                    <p:nvPicPr>
                      <p:cNvPr id="0" name="Picture 10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00166" y="4500570"/>
                        <a:ext cx="698850" cy="3571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54" name="Rectangle 1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graphicFrame>
        <p:nvGraphicFramePr>
          <p:cNvPr id="10253" name="Object 13"/>
          <p:cNvGraphicFramePr>
            <a:graphicFrameLocks noChangeAspect="1"/>
          </p:cNvGraphicFramePr>
          <p:nvPr/>
        </p:nvGraphicFramePr>
        <p:xfrm>
          <a:off x="1857356" y="5000636"/>
          <a:ext cx="434840" cy="357190"/>
        </p:xfrm>
        <a:graphic>
          <a:graphicData uri="http://schemas.openxmlformats.org/presentationml/2006/ole">
            <mc:AlternateContent xmlns:mc="http://schemas.openxmlformats.org/markup-compatibility/2006">
              <mc:Choice xmlns:v="urn:schemas-microsoft-com:vml" Requires="v">
                <p:oleObj name="Equation" r:id="rId8" imgW="266353" imgH="215619" progId="">
                  <p:embed/>
                </p:oleObj>
              </mc:Choice>
              <mc:Fallback>
                <p:oleObj name="Equation" r:id="rId8" imgW="266353" imgH="215619" progId="">
                  <p:embed/>
                  <p:pic>
                    <p:nvPicPr>
                      <p:cNvPr id="0" name="Picture 10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857356" y="5000636"/>
                        <a:ext cx="434840" cy="3571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56" name="Rectangle 1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graphicFrame>
        <p:nvGraphicFramePr>
          <p:cNvPr id="10255" name="Object 15"/>
          <p:cNvGraphicFramePr>
            <a:graphicFrameLocks noChangeAspect="1"/>
          </p:cNvGraphicFramePr>
          <p:nvPr/>
        </p:nvGraphicFramePr>
        <p:xfrm>
          <a:off x="2857488" y="5000636"/>
          <a:ext cx="500066" cy="410768"/>
        </p:xfrm>
        <a:graphic>
          <a:graphicData uri="http://schemas.openxmlformats.org/presentationml/2006/ole">
            <mc:AlternateContent xmlns:mc="http://schemas.openxmlformats.org/markup-compatibility/2006">
              <mc:Choice xmlns:v="urn:schemas-microsoft-com:vml" Requires="v">
                <p:oleObj name="Equation" r:id="rId10" imgW="266353" imgH="215619" progId="">
                  <p:embed/>
                </p:oleObj>
              </mc:Choice>
              <mc:Fallback>
                <p:oleObj name="Equation" r:id="rId10" imgW="266353" imgH="215619" progId="">
                  <p:embed/>
                  <p:pic>
                    <p:nvPicPr>
                      <p:cNvPr id="0" name="Picture 10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857488" y="5000636"/>
                        <a:ext cx="500066" cy="41076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58" name="Rectangle 1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graphicFrame>
        <p:nvGraphicFramePr>
          <p:cNvPr id="10257" name="Object 17"/>
          <p:cNvGraphicFramePr>
            <a:graphicFrameLocks noChangeAspect="1"/>
          </p:cNvGraphicFramePr>
          <p:nvPr/>
        </p:nvGraphicFramePr>
        <p:xfrm>
          <a:off x="7143768" y="5000636"/>
          <a:ext cx="571504" cy="375560"/>
        </p:xfrm>
        <a:graphic>
          <a:graphicData uri="http://schemas.openxmlformats.org/presentationml/2006/ole">
            <mc:AlternateContent xmlns:mc="http://schemas.openxmlformats.org/markup-compatibility/2006">
              <mc:Choice xmlns:v="urn:schemas-microsoft-com:vml" Requires="v">
                <p:oleObj name="Equation" r:id="rId12" imgW="330057" imgH="215806" progId="">
                  <p:embed/>
                </p:oleObj>
              </mc:Choice>
              <mc:Fallback>
                <p:oleObj name="Equation" r:id="rId12" imgW="330057" imgH="215806" progId="">
                  <p:embed/>
                  <p:pic>
                    <p:nvPicPr>
                      <p:cNvPr id="0" name="Picture 10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143768" y="5000636"/>
                        <a:ext cx="571504" cy="37556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60" name="Rectangle 2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graphicFrame>
        <p:nvGraphicFramePr>
          <p:cNvPr id="10259" name="Object 19"/>
          <p:cNvGraphicFramePr>
            <a:graphicFrameLocks noChangeAspect="1"/>
          </p:cNvGraphicFramePr>
          <p:nvPr/>
        </p:nvGraphicFramePr>
        <p:xfrm>
          <a:off x="8283670" y="5000636"/>
          <a:ext cx="574610" cy="357190"/>
        </p:xfrm>
        <a:graphic>
          <a:graphicData uri="http://schemas.openxmlformats.org/presentationml/2006/ole">
            <mc:AlternateContent xmlns:mc="http://schemas.openxmlformats.org/markup-compatibility/2006">
              <mc:Choice xmlns:v="urn:schemas-microsoft-com:vml" Requires="v">
                <p:oleObj name="Equation" r:id="rId14" imgW="355292" imgH="215713" progId="">
                  <p:embed/>
                </p:oleObj>
              </mc:Choice>
              <mc:Fallback>
                <p:oleObj name="Equation" r:id="rId14" imgW="355292" imgH="215713" progId="">
                  <p:embed/>
                  <p:pic>
                    <p:nvPicPr>
                      <p:cNvPr id="0" name="Picture 110"/>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8283670" y="5000636"/>
                        <a:ext cx="574610" cy="3571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64" name="Rectangle 2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graphicFrame>
        <p:nvGraphicFramePr>
          <p:cNvPr id="10263" name="Object 23"/>
          <p:cNvGraphicFramePr>
            <a:graphicFrameLocks noChangeAspect="1"/>
          </p:cNvGraphicFramePr>
          <p:nvPr/>
        </p:nvGraphicFramePr>
        <p:xfrm>
          <a:off x="214282" y="5500702"/>
          <a:ext cx="1242400" cy="357190"/>
        </p:xfrm>
        <a:graphic>
          <a:graphicData uri="http://schemas.openxmlformats.org/presentationml/2006/ole">
            <mc:AlternateContent xmlns:mc="http://schemas.openxmlformats.org/markup-compatibility/2006">
              <mc:Choice xmlns:v="urn:schemas-microsoft-com:vml" Requires="v">
                <p:oleObj name="Equation" r:id="rId16" imgW="761669" imgH="215806" progId="">
                  <p:embed/>
                </p:oleObj>
              </mc:Choice>
              <mc:Fallback>
                <p:oleObj name="Equation" r:id="rId16" imgW="761669" imgH="215806" progId="">
                  <p:embed/>
                  <p:pic>
                    <p:nvPicPr>
                      <p:cNvPr id="0" name="Picture 11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14282" y="5500702"/>
                        <a:ext cx="1242400" cy="3571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66" name="Rectangle 2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graphicFrame>
        <p:nvGraphicFramePr>
          <p:cNvPr id="10265" name="Object 25"/>
          <p:cNvGraphicFramePr>
            <a:graphicFrameLocks noChangeAspect="1"/>
          </p:cNvGraphicFramePr>
          <p:nvPr/>
        </p:nvGraphicFramePr>
        <p:xfrm>
          <a:off x="2928926" y="6000768"/>
          <a:ext cx="434840" cy="357190"/>
        </p:xfrm>
        <a:graphic>
          <a:graphicData uri="http://schemas.openxmlformats.org/presentationml/2006/ole">
            <mc:AlternateContent xmlns:mc="http://schemas.openxmlformats.org/markup-compatibility/2006">
              <mc:Choice xmlns:v="urn:schemas-microsoft-com:vml" Requires="v">
                <p:oleObj name="Equation" r:id="rId18" imgW="266353" imgH="215619" progId="">
                  <p:embed/>
                </p:oleObj>
              </mc:Choice>
              <mc:Fallback>
                <p:oleObj name="Equation" r:id="rId18" imgW="266353" imgH="215619" progId="">
                  <p:embed/>
                  <p:pic>
                    <p:nvPicPr>
                      <p:cNvPr id="0" name="Picture 11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28926" y="6000768"/>
                        <a:ext cx="434840" cy="3571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68" name="Rectangle 2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graphicFrame>
        <p:nvGraphicFramePr>
          <p:cNvPr id="10267" name="Object 27"/>
          <p:cNvGraphicFramePr>
            <a:graphicFrameLocks noChangeAspect="1"/>
          </p:cNvGraphicFramePr>
          <p:nvPr/>
        </p:nvGraphicFramePr>
        <p:xfrm>
          <a:off x="3714744" y="6000768"/>
          <a:ext cx="382453" cy="314158"/>
        </p:xfrm>
        <a:graphic>
          <a:graphicData uri="http://schemas.openxmlformats.org/presentationml/2006/ole">
            <mc:AlternateContent xmlns:mc="http://schemas.openxmlformats.org/markup-compatibility/2006">
              <mc:Choice xmlns:v="urn:schemas-microsoft-com:vml" Requires="v">
                <p:oleObj name="Equation" r:id="rId19" imgW="266353" imgH="215619" progId="">
                  <p:embed/>
                </p:oleObj>
              </mc:Choice>
              <mc:Fallback>
                <p:oleObj name="Equation" r:id="rId19" imgW="266353" imgH="215619" progId="">
                  <p:embed/>
                  <p:pic>
                    <p:nvPicPr>
                      <p:cNvPr id="0" name="Picture 11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714744" y="6000768"/>
                        <a:ext cx="382453" cy="31415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70" name="Rectangle 3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graphicFrame>
        <p:nvGraphicFramePr>
          <p:cNvPr id="10269" name="Object 29"/>
          <p:cNvGraphicFramePr>
            <a:graphicFrameLocks noChangeAspect="1"/>
          </p:cNvGraphicFramePr>
          <p:nvPr/>
        </p:nvGraphicFramePr>
        <p:xfrm>
          <a:off x="7572396" y="6000768"/>
          <a:ext cx="442085" cy="290513"/>
        </p:xfrm>
        <a:graphic>
          <a:graphicData uri="http://schemas.openxmlformats.org/presentationml/2006/ole">
            <mc:AlternateContent xmlns:mc="http://schemas.openxmlformats.org/markup-compatibility/2006">
              <mc:Choice xmlns:v="urn:schemas-microsoft-com:vml" Requires="v">
                <p:oleObj name="Equation" r:id="rId20" imgW="330057" imgH="215806" progId="">
                  <p:embed/>
                </p:oleObj>
              </mc:Choice>
              <mc:Fallback>
                <p:oleObj name="Equation" r:id="rId20" imgW="330057" imgH="215806" progId="">
                  <p:embed/>
                  <p:pic>
                    <p:nvPicPr>
                      <p:cNvPr id="0" name="Picture 11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572396" y="6000768"/>
                        <a:ext cx="442085" cy="2905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72" name="Rectangle 3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graphicFrame>
        <p:nvGraphicFramePr>
          <p:cNvPr id="10271" name="Object 31"/>
          <p:cNvGraphicFramePr>
            <a:graphicFrameLocks noChangeAspect="1"/>
          </p:cNvGraphicFramePr>
          <p:nvPr/>
        </p:nvGraphicFramePr>
        <p:xfrm>
          <a:off x="8429652" y="6000768"/>
          <a:ext cx="467347" cy="290513"/>
        </p:xfrm>
        <a:graphic>
          <a:graphicData uri="http://schemas.openxmlformats.org/presentationml/2006/ole">
            <mc:AlternateContent xmlns:mc="http://schemas.openxmlformats.org/markup-compatibility/2006">
              <mc:Choice xmlns:v="urn:schemas-microsoft-com:vml" Requires="v">
                <p:oleObj name="Equation" r:id="rId21" imgW="355292" imgH="215713" progId="">
                  <p:embed/>
                </p:oleObj>
              </mc:Choice>
              <mc:Fallback>
                <p:oleObj name="Equation" r:id="rId21" imgW="355292" imgH="215713" progId="">
                  <p:embed/>
                  <p:pic>
                    <p:nvPicPr>
                      <p:cNvPr id="0" name="Picture 115"/>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8429652" y="6000768"/>
                        <a:ext cx="467347" cy="2905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 name="Text Box 15"/>
          <p:cNvSpPr txBox="1">
            <a:spLocks noChangeArrowheads="1"/>
          </p:cNvSpPr>
          <p:nvPr/>
        </p:nvSpPr>
        <p:spPr bwMode="auto">
          <a:xfrm>
            <a:off x="857250" y="6400801"/>
            <a:ext cx="8286750" cy="424732"/>
          </a:xfrm>
          <a:prstGeom prst="rect">
            <a:avLst/>
          </a:prstGeom>
          <a:noFill/>
          <a:ln w="9525">
            <a:noFill/>
            <a:miter lim="800000"/>
            <a:headEnd/>
            <a:tailEnd/>
          </a:ln>
        </p:spPr>
        <p:txBody>
          <a:bodyPr wrap="square">
            <a:spAutoFit/>
          </a:bodyPr>
          <a:lstStyle/>
          <a:p>
            <a:pPr algn="ctr">
              <a:lnSpc>
                <a:spcPct val="90000"/>
              </a:lnSpc>
            </a:pPr>
            <a:r>
              <a:rPr lang="ru-RU" dirty="0"/>
              <a:t>Лекция </a:t>
            </a:r>
            <a:r>
              <a:rPr lang="en-US" dirty="0"/>
              <a:t>1</a:t>
            </a:r>
            <a:r>
              <a:rPr lang="ru-RU" dirty="0"/>
              <a:t>1. Вычисление АКФ и ВКФ и их применение</a:t>
            </a:r>
            <a:endParaRPr lang="ru-RU" i="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descr="Large confetti"/>
          <p:cNvSpPr>
            <a:spLocks noChangeArrowheads="1"/>
          </p:cNvSpPr>
          <p:nvPr/>
        </p:nvSpPr>
        <p:spPr bwMode="auto">
          <a:xfrm>
            <a:off x="0" y="228600"/>
            <a:ext cx="9144000" cy="630238"/>
          </a:xfrm>
          <a:prstGeom prst="rect">
            <a:avLst/>
          </a:prstGeom>
          <a:noFill/>
          <a:ln w="9525">
            <a:noFill/>
            <a:miter lim="800000"/>
            <a:headEnd/>
            <a:tailEnd/>
          </a:ln>
        </p:spPr>
        <p:txBody>
          <a:bodyPr anchor="b"/>
          <a:lstStyle/>
          <a:p>
            <a:r>
              <a:rPr lang="ru-RU" sz="2800" b="1"/>
              <a:t>Методы и средства цифровой обработки информации</a:t>
            </a:r>
          </a:p>
        </p:txBody>
      </p:sp>
      <p:sp>
        <p:nvSpPr>
          <p:cNvPr id="9219" name="Rectangle 7"/>
          <p:cNvSpPr>
            <a:spLocks noChangeArrowheads="1"/>
          </p:cNvSpPr>
          <p:nvPr/>
        </p:nvSpPr>
        <p:spPr bwMode="auto">
          <a:xfrm>
            <a:off x="2971800" y="1657350"/>
            <a:ext cx="9144000" cy="0"/>
          </a:xfrm>
          <a:prstGeom prst="rect">
            <a:avLst/>
          </a:prstGeom>
          <a:noFill/>
          <a:ln w="9525">
            <a:noFill/>
            <a:miter lim="800000"/>
            <a:headEnd/>
            <a:tailEnd/>
          </a:ln>
        </p:spPr>
        <p:txBody>
          <a:bodyPr>
            <a:spAutoFit/>
          </a:bodyPr>
          <a:lstStyle/>
          <a:p>
            <a:endParaRPr lang="ru-RU"/>
          </a:p>
        </p:txBody>
      </p:sp>
      <p:sp>
        <p:nvSpPr>
          <p:cNvPr id="9220" name="Rectangle 9"/>
          <p:cNvSpPr>
            <a:spLocks noChangeArrowheads="1"/>
          </p:cNvSpPr>
          <p:nvPr/>
        </p:nvSpPr>
        <p:spPr bwMode="auto">
          <a:xfrm>
            <a:off x="2852738" y="3309938"/>
            <a:ext cx="9144000" cy="0"/>
          </a:xfrm>
          <a:prstGeom prst="rect">
            <a:avLst/>
          </a:prstGeom>
          <a:noFill/>
          <a:ln w="9525">
            <a:noFill/>
            <a:miter lim="800000"/>
            <a:headEnd/>
            <a:tailEnd/>
          </a:ln>
        </p:spPr>
        <p:txBody>
          <a:bodyPr>
            <a:spAutoFit/>
          </a:bodyPr>
          <a:lstStyle/>
          <a:p>
            <a:endParaRPr lang="ru-RU"/>
          </a:p>
        </p:txBody>
      </p:sp>
      <p:sp>
        <p:nvSpPr>
          <p:cNvPr id="9221" name="Rectangle 10"/>
          <p:cNvSpPr>
            <a:spLocks noChangeArrowheads="1"/>
          </p:cNvSpPr>
          <p:nvPr/>
        </p:nvSpPr>
        <p:spPr bwMode="auto">
          <a:xfrm>
            <a:off x="0" y="928670"/>
            <a:ext cx="9144000" cy="5016758"/>
          </a:xfrm>
          <a:prstGeom prst="rect">
            <a:avLst/>
          </a:prstGeom>
          <a:noFill/>
          <a:ln w="9525">
            <a:noFill/>
            <a:miter lim="800000"/>
            <a:headEnd/>
            <a:tailEnd/>
          </a:ln>
        </p:spPr>
        <p:txBody>
          <a:bodyPr>
            <a:spAutoFit/>
          </a:bodyPr>
          <a:lstStyle/>
          <a:p>
            <a:pPr indent="457200" algn="just"/>
            <a:r>
              <a:rPr lang="ru-RU" sz="3200" dirty="0"/>
              <a:t>Для </a:t>
            </a:r>
            <a:r>
              <a:rPr lang="ru-RU" sz="3200" b="1" dirty="0"/>
              <a:t>стационарных</a:t>
            </a:r>
            <a:r>
              <a:rPr lang="ru-RU" sz="3200" dirty="0"/>
              <a:t> и </a:t>
            </a:r>
            <a:r>
              <a:rPr lang="ru-RU" sz="3200" b="1" dirty="0"/>
              <a:t>стационарно-связанных</a:t>
            </a:r>
            <a:r>
              <a:rPr lang="ru-RU" sz="3200" dirty="0"/>
              <a:t>  функций взаимная ковариационная функция зависит только от промежутка времени между сечениями:</a:t>
            </a:r>
          </a:p>
          <a:p>
            <a:pPr indent="457200" algn="just"/>
            <a:endParaRPr lang="ru-RU" sz="3200" b="1" i="1" dirty="0"/>
          </a:p>
          <a:p>
            <a:pPr indent="457200" algn="just"/>
            <a:endParaRPr lang="ru-RU" sz="3200" b="1" i="1" dirty="0"/>
          </a:p>
          <a:p>
            <a:pPr indent="457200" algn="just"/>
            <a:r>
              <a:rPr lang="ru-RU" sz="3200" dirty="0"/>
              <a:t>Стационарный процесс называют </a:t>
            </a:r>
            <a:r>
              <a:rPr lang="ru-RU" sz="3200" b="1" dirty="0"/>
              <a:t>эргодическим, </a:t>
            </a:r>
            <a:r>
              <a:rPr lang="ru-RU" sz="3200" dirty="0"/>
              <a:t>если средние по множеству реализаций равны средним по времени одной реализации.</a:t>
            </a:r>
            <a:endParaRPr lang="ru-RU" sz="3200" b="1" i="1" dirty="0"/>
          </a:p>
        </p:txBody>
      </p:sp>
      <p:sp>
        <p:nvSpPr>
          <p:cNvPr id="5427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graphicFrame>
        <p:nvGraphicFramePr>
          <p:cNvPr id="54273" name="Object 1"/>
          <p:cNvGraphicFramePr>
            <a:graphicFrameLocks noChangeAspect="1"/>
          </p:cNvGraphicFramePr>
          <p:nvPr/>
        </p:nvGraphicFramePr>
        <p:xfrm>
          <a:off x="1446213" y="2870200"/>
          <a:ext cx="6181725" cy="1011238"/>
        </p:xfrm>
        <a:graphic>
          <a:graphicData uri="http://schemas.openxmlformats.org/presentationml/2006/ole">
            <mc:AlternateContent xmlns:mc="http://schemas.openxmlformats.org/markup-compatibility/2006">
              <mc:Choice xmlns:v="urn:schemas-microsoft-com:vml" Requires="v">
                <p:oleObj name="Equation" r:id="rId2" imgW="2781300" imgH="457200" progId="">
                  <p:embed/>
                </p:oleObj>
              </mc:Choice>
              <mc:Fallback>
                <p:oleObj name="Equation" r:id="rId2" imgW="2781300" imgH="457200" progId="">
                  <p:embed/>
                  <p:pic>
                    <p:nvPicPr>
                      <p:cNvPr id="0"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6213" y="2870200"/>
                        <a:ext cx="6181725" cy="10112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427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10" name="Text Box 15"/>
          <p:cNvSpPr txBox="1">
            <a:spLocks noChangeArrowheads="1"/>
          </p:cNvSpPr>
          <p:nvPr/>
        </p:nvSpPr>
        <p:spPr bwMode="auto">
          <a:xfrm>
            <a:off x="857250" y="6400801"/>
            <a:ext cx="8286750" cy="424732"/>
          </a:xfrm>
          <a:prstGeom prst="rect">
            <a:avLst/>
          </a:prstGeom>
          <a:noFill/>
          <a:ln w="9525">
            <a:noFill/>
            <a:miter lim="800000"/>
            <a:headEnd/>
            <a:tailEnd/>
          </a:ln>
        </p:spPr>
        <p:txBody>
          <a:bodyPr wrap="square">
            <a:spAutoFit/>
          </a:bodyPr>
          <a:lstStyle/>
          <a:p>
            <a:pPr algn="ctr">
              <a:lnSpc>
                <a:spcPct val="90000"/>
              </a:lnSpc>
            </a:pPr>
            <a:r>
              <a:rPr lang="ru-RU" dirty="0"/>
              <a:t>Лекция </a:t>
            </a:r>
            <a:r>
              <a:rPr lang="en-US" dirty="0"/>
              <a:t>1</a:t>
            </a:r>
            <a:r>
              <a:rPr lang="ru-RU" dirty="0"/>
              <a:t>1. Вычисление АКФ и ВКФ и их применение</a:t>
            </a:r>
            <a:endParaRPr lang="ru-RU" i="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descr="Large confetti"/>
          <p:cNvSpPr>
            <a:spLocks noChangeArrowheads="1"/>
          </p:cNvSpPr>
          <p:nvPr/>
        </p:nvSpPr>
        <p:spPr bwMode="auto">
          <a:xfrm>
            <a:off x="0" y="228600"/>
            <a:ext cx="9144000" cy="630238"/>
          </a:xfrm>
          <a:prstGeom prst="rect">
            <a:avLst/>
          </a:prstGeom>
          <a:noFill/>
          <a:ln w="9525">
            <a:noFill/>
            <a:miter lim="800000"/>
            <a:headEnd/>
            <a:tailEnd/>
          </a:ln>
        </p:spPr>
        <p:txBody>
          <a:bodyPr anchor="b"/>
          <a:lstStyle/>
          <a:p>
            <a:r>
              <a:rPr lang="ru-RU" sz="2800" b="1"/>
              <a:t>Методы и средства цифровой обработки информации</a:t>
            </a:r>
          </a:p>
        </p:txBody>
      </p:sp>
      <p:sp>
        <p:nvSpPr>
          <p:cNvPr id="9219" name="Rectangle 7"/>
          <p:cNvSpPr>
            <a:spLocks noChangeArrowheads="1"/>
          </p:cNvSpPr>
          <p:nvPr/>
        </p:nvSpPr>
        <p:spPr bwMode="auto">
          <a:xfrm>
            <a:off x="2971800" y="1657350"/>
            <a:ext cx="9144000" cy="0"/>
          </a:xfrm>
          <a:prstGeom prst="rect">
            <a:avLst/>
          </a:prstGeom>
          <a:noFill/>
          <a:ln w="9525">
            <a:noFill/>
            <a:miter lim="800000"/>
            <a:headEnd/>
            <a:tailEnd/>
          </a:ln>
        </p:spPr>
        <p:txBody>
          <a:bodyPr>
            <a:spAutoFit/>
          </a:bodyPr>
          <a:lstStyle/>
          <a:p>
            <a:endParaRPr lang="ru-RU"/>
          </a:p>
        </p:txBody>
      </p:sp>
      <p:sp>
        <p:nvSpPr>
          <p:cNvPr id="9220" name="Rectangle 9"/>
          <p:cNvSpPr>
            <a:spLocks noChangeArrowheads="1"/>
          </p:cNvSpPr>
          <p:nvPr/>
        </p:nvSpPr>
        <p:spPr bwMode="auto">
          <a:xfrm>
            <a:off x="2852738" y="3309938"/>
            <a:ext cx="9144000" cy="0"/>
          </a:xfrm>
          <a:prstGeom prst="rect">
            <a:avLst/>
          </a:prstGeom>
          <a:noFill/>
          <a:ln w="9525">
            <a:noFill/>
            <a:miter lim="800000"/>
            <a:headEnd/>
            <a:tailEnd/>
          </a:ln>
        </p:spPr>
        <p:txBody>
          <a:bodyPr>
            <a:spAutoFit/>
          </a:bodyPr>
          <a:lstStyle/>
          <a:p>
            <a:endParaRPr lang="ru-RU"/>
          </a:p>
        </p:txBody>
      </p:sp>
      <p:sp>
        <p:nvSpPr>
          <p:cNvPr id="9221" name="Rectangle 10"/>
          <p:cNvSpPr>
            <a:spLocks noChangeArrowheads="1"/>
          </p:cNvSpPr>
          <p:nvPr/>
        </p:nvSpPr>
        <p:spPr bwMode="auto">
          <a:xfrm>
            <a:off x="0" y="928670"/>
            <a:ext cx="9144000" cy="4031873"/>
          </a:xfrm>
          <a:prstGeom prst="rect">
            <a:avLst/>
          </a:prstGeom>
          <a:noFill/>
          <a:ln w="9525">
            <a:noFill/>
            <a:miter lim="800000"/>
            <a:headEnd/>
            <a:tailEnd/>
          </a:ln>
        </p:spPr>
        <p:txBody>
          <a:bodyPr>
            <a:spAutoFit/>
          </a:bodyPr>
          <a:lstStyle/>
          <a:p>
            <a:pPr indent="457200" algn="just"/>
            <a:r>
              <a:rPr lang="ru-RU" sz="3200" dirty="0"/>
              <a:t>На практике пользуются </a:t>
            </a:r>
            <a:r>
              <a:rPr lang="ru-RU" sz="3200" b="1" dirty="0"/>
              <a:t>ВКФ </a:t>
            </a:r>
            <a:r>
              <a:rPr lang="ru-RU" sz="3200" dirty="0"/>
              <a:t>(справедливо для эргодических систем):</a:t>
            </a:r>
          </a:p>
          <a:p>
            <a:pPr indent="457200" algn="just"/>
            <a:endParaRPr lang="ru-RU" sz="3200" dirty="0"/>
          </a:p>
          <a:p>
            <a:pPr indent="457200" algn="just"/>
            <a:endParaRPr lang="ru-RU" sz="3200" dirty="0"/>
          </a:p>
          <a:p>
            <a:pPr indent="457200" algn="just"/>
            <a:endParaRPr lang="ru-RU" sz="3200" dirty="0"/>
          </a:p>
          <a:p>
            <a:pPr indent="457200" algn="just"/>
            <a:endParaRPr lang="ru-RU" sz="3200" dirty="0"/>
          </a:p>
          <a:p>
            <a:pPr indent="457200" algn="just"/>
            <a:r>
              <a:rPr lang="ru-RU" sz="3200" b="1" dirty="0"/>
              <a:t>Ковариация </a:t>
            </a:r>
            <a:r>
              <a:rPr lang="ru-RU" sz="3200" dirty="0"/>
              <a:t>– корреляция сигнала, из которого предварительно вычитается среднее значение.</a:t>
            </a:r>
          </a:p>
        </p:txBody>
      </p:sp>
      <p:sp>
        <p:nvSpPr>
          <p:cNvPr id="5427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427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graphicFrame>
        <p:nvGraphicFramePr>
          <p:cNvPr id="54275" name="Object 3"/>
          <p:cNvGraphicFramePr>
            <a:graphicFrameLocks noChangeAspect="1"/>
          </p:cNvGraphicFramePr>
          <p:nvPr>
            <p:extLst>
              <p:ext uri="{D42A27DB-BD31-4B8C-83A1-F6EECF244321}">
                <p14:modId xmlns:p14="http://schemas.microsoft.com/office/powerpoint/2010/main" val="3001044944"/>
              </p:ext>
            </p:extLst>
          </p:nvPr>
        </p:nvGraphicFramePr>
        <p:xfrm>
          <a:off x="1775296" y="1994024"/>
          <a:ext cx="5461000" cy="1651000"/>
        </p:xfrm>
        <a:graphic>
          <a:graphicData uri="http://schemas.openxmlformats.org/presentationml/2006/ole">
            <mc:AlternateContent xmlns:mc="http://schemas.openxmlformats.org/markup-compatibility/2006">
              <mc:Choice xmlns:v="urn:schemas-microsoft-com:vml" Requires="v">
                <p:oleObj name="Equation" r:id="rId2" imgW="2730500" imgH="825500" progId="">
                  <p:embed/>
                </p:oleObj>
              </mc:Choice>
              <mc:Fallback>
                <p:oleObj name="Equation" r:id="rId2" imgW="2730500" imgH="825500" progId="">
                  <p:embed/>
                  <p:pic>
                    <p:nvPicPr>
                      <p:cNvPr id="0" name="Picture 2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75296" y="1994024"/>
                        <a:ext cx="5461000" cy="165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5301"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5303" name="Rectangle 7"/>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5305" name="Rectangle 9"/>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15" name="Text Box 15"/>
          <p:cNvSpPr txBox="1">
            <a:spLocks noChangeArrowheads="1"/>
          </p:cNvSpPr>
          <p:nvPr/>
        </p:nvSpPr>
        <p:spPr bwMode="auto">
          <a:xfrm>
            <a:off x="857250" y="6400801"/>
            <a:ext cx="8286750" cy="424732"/>
          </a:xfrm>
          <a:prstGeom prst="rect">
            <a:avLst/>
          </a:prstGeom>
          <a:noFill/>
          <a:ln w="9525">
            <a:noFill/>
            <a:miter lim="800000"/>
            <a:headEnd/>
            <a:tailEnd/>
          </a:ln>
        </p:spPr>
        <p:txBody>
          <a:bodyPr wrap="square">
            <a:spAutoFit/>
          </a:bodyPr>
          <a:lstStyle/>
          <a:p>
            <a:pPr algn="ctr">
              <a:lnSpc>
                <a:spcPct val="90000"/>
              </a:lnSpc>
            </a:pPr>
            <a:r>
              <a:rPr lang="ru-RU" dirty="0"/>
              <a:t>Лекция </a:t>
            </a:r>
            <a:r>
              <a:rPr lang="en-US" dirty="0"/>
              <a:t>1</a:t>
            </a:r>
            <a:r>
              <a:rPr lang="ru-RU" dirty="0"/>
              <a:t>1. Вычисление АКФ и ВКФ и их применение</a:t>
            </a:r>
            <a:endParaRPr lang="ru-RU" i="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descr="Large confetti"/>
          <p:cNvSpPr>
            <a:spLocks noChangeArrowheads="1"/>
          </p:cNvSpPr>
          <p:nvPr/>
        </p:nvSpPr>
        <p:spPr bwMode="auto">
          <a:xfrm>
            <a:off x="0" y="228600"/>
            <a:ext cx="9144000" cy="630238"/>
          </a:xfrm>
          <a:prstGeom prst="rect">
            <a:avLst/>
          </a:prstGeom>
          <a:noFill/>
          <a:ln w="9525">
            <a:noFill/>
            <a:miter lim="800000"/>
            <a:headEnd/>
            <a:tailEnd/>
          </a:ln>
        </p:spPr>
        <p:txBody>
          <a:bodyPr anchor="b"/>
          <a:lstStyle/>
          <a:p>
            <a:r>
              <a:rPr lang="ru-RU" sz="2800" b="1"/>
              <a:t>Методы и средства цифровой обработки информации</a:t>
            </a:r>
          </a:p>
        </p:txBody>
      </p:sp>
      <p:sp>
        <p:nvSpPr>
          <p:cNvPr id="9219" name="Rectangle 7"/>
          <p:cNvSpPr>
            <a:spLocks noChangeArrowheads="1"/>
          </p:cNvSpPr>
          <p:nvPr/>
        </p:nvSpPr>
        <p:spPr bwMode="auto">
          <a:xfrm>
            <a:off x="2971800" y="1657350"/>
            <a:ext cx="9144000" cy="0"/>
          </a:xfrm>
          <a:prstGeom prst="rect">
            <a:avLst/>
          </a:prstGeom>
          <a:noFill/>
          <a:ln w="9525">
            <a:noFill/>
            <a:miter lim="800000"/>
            <a:headEnd/>
            <a:tailEnd/>
          </a:ln>
        </p:spPr>
        <p:txBody>
          <a:bodyPr>
            <a:spAutoFit/>
          </a:bodyPr>
          <a:lstStyle/>
          <a:p>
            <a:endParaRPr lang="ru-RU"/>
          </a:p>
        </p:txBody>
      </p:sp>
      <p:sp>
        <p:nvSpPr>
          <p:cNvPr id="9220" name="Rectangle 9"/>
          <p:cNvSpPr>
            <a:spLocks noChangeArrowheads="1"/>
          </p:cNvSpPr>
          <p:nvPr/>
        </p:nvSpPr>
        <p:spPr bwMode="auto">
          <a:xfrm>
            <a:off x="2852738" y="3309938"/>
            <a:ext cx="9144000" cy="0"/>
          </a:xfrm>
          <a:prstGeom prst="rect">
            <a:avLst/>
          </a:prstGeom>
          <a:noFill/>
          <a:ln w="9525">
            <a:noFill/>
            <a:miter lim="800000"/>
            <a:headEnd/>
            <a:tailEnd/>
          </a:ln>
        </p:spPr>
        <p:txBody>
          <a:bodyPr>
            <a:spAutoFit/>
          </a:bodyPr>
          <a:lstStyle/>
          <a:p>
            <a:endParaRPr lang="ru-RU"/>
          </a:p>
        </p:txBody>
      </p:sp>
      <p:sp>
        <p:nvSpPr>
          <p:cNvPr id="9221" name="Rectangle 10"/>
          <p:cNvSpPr>
            <a:spLocks noChangeArrowheads="1"/>
          </p:cNvSpPr>
          <p:nvPr/>
        </p:nvSpPr>
        <p:spPr bwMode="auto">
          <a:xfrm>
            <a:off x="0" y="928670"/>
            <a:ext cx="9144000" cy="5410712"/>
          </a:xfrm>
          <a:prstGeom prst="rect">
            <a:avLst/>
          </a:prstGeom>
          <a:noFill/>
          <a:ln w="9525">
            <a:noFill/>
            <a:miter lim="800000"/>
            <a:headEnd/>
            <a:tailEnd/>
          </a:ln>
        </p:spPr>
        <p:txBody>
          <a:bodyPr>
            <a:spAutoFit/>
          </a:bodyPr>
          <a:lstStyle/>
          <a:p>
            <a:pPr indent="457200" algn="just">
              <a:lnSpc>
                <a:spcPct val="90000"/>
              </a:lnSpc>
            </a:pPr>
            <a:r>
              <a:rPr lang="ru-RU" sz="3200" dirty="0"/>
              <a:t>Для систем дискретного времени:</a:t>
            </a:r>
          </a:p>
          <a:p>
            <a:pPr indent="457200" algn="just">
              <a:lnSpc>
                <a:spcPct val="90000"/>
              </a:lnSpc>
            </a:pPr>
            <a:endParaRPr lang="ru-RU" sz="3200" dirty="0"/>
          </a:p>
          <a:p>
            <a:pPr indent="457200" algn="just">
              <a:lnSpc>
                <a:spcPct val="90000"/>
              </a:lnSpc>
            </a:pPr>
            <a:endParaRPr lang="ru-RU" sz="3200" dirty="0"/>
          </a:p>
          <a:p>
            <a:pPr indent="457200" algn="just">
              <a:lnSpc>
                <a:spcPct val="90000"/>
              </a:lnSpc>
            </a:pPr>
            <a:r>
              <a:rPr lang="ru-RU" sz="3200" dirty="0"/>
              <a:t>АКФ - корреляция сигнала с самим собой:</a:t>
            </a:r>
          </a:p>
          <a:p>
            <a:pPr indent="457200" algn="just">
              <a:lnSpc>
                <a:spcPct val="90000"/>
              </a:lnSpc>
            </a:pPr>
            <a:endParaRPr lang="ru-RU" sz="3200" dirty="0"/>
          </a:p>
          <a:p>
            <a:pPr indent="457200" algn="just">
              <a:lnSpc>
                <a:spcPct val="90000"/>
              </a:lnSpc>
            </a:pPr>
            <a:endParaRPr lang="ru-RU" sz="3200" dirty="0"/>
          </a:p>
          <a:p>
            <a:pPr indent="457200" algn="just">
              <a:lnSpc>
                <a:spcPct val="90000"/>
              </a:lnSpc>
            </a:pPr>
            <a:r>
              <a:rPr lang="ru-RU" sz="3200" dirty="0"/>
              <a:t>Сложность при нахождении ВКФ последовательностей данных конечной длины связана с тем, что при смещении влево сигналы уже не перекрываются, и данные в конце последовательностей не формируют парные произведения – возникает краевой эффект.</a:t>
            </a:r>
          </a:p>
        </p:txBody>
      </p:sp>
      <p:sp>
        <p:nvSpPr>
          <p:cNvPr id="5427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427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5301"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graphicFrame>
        <p:nvGraphicFramePr>
          <p:cNvPr id="55300" name="Object 4"/>
          <p:cNvGraphicFramePr>
            <a:graphicFrameLocks noChangeAspect="1"/>
          </p:cNvGraphicFramePr>
          <p:nvPr>
            <p:extLst>
              <p:ext uri="{D42A27DB-BD31-4B8C-83A1-F6EECF244321}">
                <p14:modId xmlns:p14="http://schemas.microsoft.com/office/powerpoint/2010/main" val="1795422769"/>
              </p:ext>
            </p:extLst>
          </p:nvPr>
        </p:nvGraphicFramePr>
        <p:xfrm>
          <a:off x="1998568" y="1268760"/>
          <a:ext cx="4805680" cy="1173480"/>
        </p:xfrm>
        <a:graphic>
          <a:graphicData uri="http://schemas.openxmlformats.org/presentationml/2006/ole">
            <mc:AlternateContent xmlns:mc="http://schemas.openxmlformats.org/markup-compatibility/2006">
              <mc:Choice xmlns:v="urn:schemas-microsoft-com:vml" Requires="v">
                <p:oleObj name="Equation" r:id="rId2" imgW="2184400" imgH="533400" progId="">
                  <p:embed/>
                </p:oleObj>
              </mc:Choice>
              <mc:Fallback>
                <p:oleObj name="Equation" r:id="rId2" imgW="2184400" imgH="533400" progId="">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8568" y="1268760"/>
                        <a:ext cx="4805680" cy="11734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5303" name="Rectangle 7"/>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5305" name="Rectangle 9"/>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graphicFrame>
        <p:nvGraphicFramePr>
          <p:cNvPr id="55304" name="Object 8"/>
          <p:cNvGraphicFramePr>
            <a:graphicFrameLocks noChangeAspect="1"/>
          </p:cNvGraphicFramePr>
          <p:nvPr>
            <p:extLst>
              <p:ext uri="{D42A27DB-BD31-4B8C-83A1-F6EECF244321}">
                <p14:modId xmlns:p14="http://schemas.microsoft.com/office/powerpoint/2010/main" val="1063722484"/>
              </p:ext>
            </p:extLst>
          </p:nvPr>
        </p:nvGraphicFramePr>
        <p:xfrm>
          <a:off x="2050256" y="2564904"/>
          <a:ext cx="4826000" cy="1193800"/>
        </p:xfrm>
        <a:graphic>
          <a:graphicData uri="http://schemas.openxmlformats.org/presentationml/2006/ole">
            <mc:AlternateContent xmlns:mc="http://schemas.openxmlformats.org/markup-compatibility/2006">
              <mc:Choice xmlns:v="urn:schemas-microsoft-com:vml" Requires="v">
                <p:oleObj name="Equation" r:id="rId4" imgW="2413000" imgH="596900" progId="">
                  <p:embed/>
                </p:oleObj>
              </mc:Choice>
              <mc:Fallback>
                <p:oleObj name="Equation" r:id="rId4" imgW="2413000" imgH="596900" progId="">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50256" y="2564904"/>
                        <a:ext cx="4826000" cy="1193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Text Box 15"/>
          <p:cNvSpPr txBox="1">
            <a:spLocks noChangeArrowheads="1"/>
          </p:cNvSpPr>
          <p:nvPr/>
        </p:nvSpPr>
        <p:spPr bwMode="auto">
          <a:xfrm>
            <a:off x="857250" y="6400801"/>
            <a:ext cx="8286750" cy="424732"/>
          </a:xfrm>
          <a:prstGeom prst="rect">
            <a:avLst/>
          </a:prstGeom>
          <a:noFill/>
          <a:ln w="9525">
            <a:noFill/>
            <a:miter lim="800000"/>
            <a:headEnd/>
            <a:tailEnd/>
          </a:ln>
        </p:spPr>
        <p:txBody>
          <a:bodyPr wrap="square">
            <a:spAutoFit/>
          </a:bodyPr>
          <a:lstStyle/>
          <a:p>
            <a:pPr algn="ctr">
              <a:lnSpc>
                <a:spcPct val="90000"/>
              </a:lnSpc>
            </a:pPr>
            <a:r>
              <a:rPr lang="ru-RU" dirty="0"/>
              <a:t>Лекция </a:t>
            </a:r>
            <a:r>
              <a:rPr lang="en-US" dirty="0"/>
              <a:t>1</a:t>
            </a:r>
            <a:r>
              <a:rPr lang="ru-RU" dirty="0"/>
              <a:t>1. Вычисление АКФ и ВКФ и их применение</a:t>
            </a:r>
            <a:endParaRPr lang="ru-RU" i="1" dirty="0"/>
          </a:p>
        </p:txBody>
      </p:sp>
    </p:spTree>
    <p:extLst>
      <p:ext uri="{BB962C8B-B14F-4D97-AF65-F5344CB8AC3E}">
        <p14:creationId xmlns:p14="http://schemas.microsoft.com/office/powerpoint/2010/main" val="36787371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descr="Large confetti"/>
          <p:cNvSpPr>
            <a:spLocks noChangeArrowheads="1"/>
          </p:cNvSpPr>
          <p:nvPr/>
        </p:nvSpPr>
        <p:spPr bwMode="auto">
          <a:xfrm>
            <a:off x="0" y="228600"/>
            <a:ext cx="9144000" cy="630238"/>
          </a:xfrm>
          <a:prstGeom prst="rect">
            <a:avLst/>
          </a:prstGeom>
          <a:noFill/>
          <a:ln w="9525">
            <a:noFill/>
            <a:miter lim="800000"/>
            <a:headEnd/>
            <a:tailEnd/>
          </a:ln>
        </p:spPr>
        <p:txBody>
          <a:bodyPr anchor="b"/>
          <a:lstStyle/>
          <a:p>
            <a:r>
              <a:rPr lang="ru-RU" sz="2800" b="1"/>
              <a:t>Методы и средства цифровой обработки информации</a:t>
            </a:r>
          </a:p>
        </p:txBody>
      </p:sp>
      <p:sp>
        <p:nvSpPr>
          <p:cNvPr id="9219" name="Rectangle 7"/>
          <p:cNvSpPr>
            <a:spLocks noChangeArrowheads="1"/>
          </p:cNvSpPr>
          <p:nvPr/>
        </p:nvSpPr>
        <p:spPr bwMode="auto">
          <a:xfrm>
            <a:off x="2971800" y="1657350"/>
            <a:ext cx="9144000" cy="0"/>
          </a:xfrm>
          <a:prstGeom prst="rect">
            <a:avLst/>
          </a:prstGeom>
          <a:noFill/>
          <a:ln w="9525">
            <a:noFill/>
            <a:miter lim="800000"/>
            <a:headEnd/>
            <a:tailEnd/>
          </a:ln>
        </p:spPr>
        <p:txBody>
          <a:bodyPr>
            <a:spAutoFit/>
          </a:bodyPr>
          <a:lstStyle/>
          <a:p>
            <a:endParaRPr lang="ru-RU"/>
          </a:p>
        </p:txBody>
      </p:sp>
      <p:sp>
        <p:nvSpPr>
          <p:cNvPr id="9220" name="Rectangle 9"/>
          <p:cNvSpPr>
            <a:spLocks noChangeArrowheads="1"/>
          </p:cNvSpPr>
          <p:nvPr/>
        </p:nvSpPr>
        <p:spPr bwMode="auto">
          <a:xfrm>
            <a:off x="2852738" y="3309938"/>
            <a:ext cx="9144000" cy="0"/>
          </a:xfrm>
          <a:prstGeom prst="rect">
            <a:avLst/>
          </a:prstGeom>
          <a:noFill/>
          <a:ln w="9525">
            <a:noFill/>
            <a:miter lim="800000"/>
            <a:headEnd/>
            <a:tailEnd/>
          </a:ln>
        </p:spPr>
        <p:txBody>
          <a:bodyPr>
            <a:spAutoFit/>
          </a:bodyPr>
          <a:lstStyle/>
          <a:p>
            <a:endParaRPr lang="ru-RU"/>
          </a:p>
        </p:txBody>
      </p:sp>
      <p:sp>
        <p:nvSpPr>
          <p:cNvPr id="9221" name="Rectangle 10"/>
          <p:cNvSpPr>
            <a:spLocks noChangeArrowheads="1"/>
          </p:cNvSpPr>
          <p:nvPr/>
        </p:nvSpPr>
        <p:spPr bwMode="auto">
          <a:xfrm>
            <a:off x="0" y="928670"/>
            <a:ext cx="9144000" cy="4832092"/>
          </a:xfrm>
          <a:prstGeom prst="rect">
            <a:avLst/>
          </a:prstGeom>
          <a:noFill/>
          <a:ln w="9525">
            <a:noFill/>
            <a:miter lim="800000"/>
            <a:headEnd/>
            <a:tailEnd/>
          </a:ln>
        </p:spPr>
        <p:txBody>
          <a:bodyPr>
            <a:spAutoFit/>
          </a:bodyPr>
          <a:lstStyle/>
          <a:p>
            <a:r>
              <a:rPr lang="ru-RU" sz="2800" dirty="0"/>
              <a:t>Если абсолютная величина ковариации высока, то </a:t>
            </a:r>
            <a:r>
              <a:rPr lang="ru-RU" sz="2800" b="1" dirty="0"/>
              <a:t>значения различаются очень сильно</a:t>
            </a:r>
            <a:r>
              <a:rPr lang="en-US" sz="2800" b="1" dirty="0"/>
              <a:t> </a:t>
            </a:r>
            <a:r>
              <a:rPr lang="ru-RU" sz="2800" b="1" dirty="0"/>
              <a:t>и одновременно далеки от своих средних</a:t>
            </a:r>
            <a:r>
              <a:rPr lang="ru-RU" sz="2800" dirty="0"/>
              <a:t>. Если ковариация положительна, обе величины принимают большие значения одновременно, а если отрицательна, то в тот момент, когда одна величина принимает большие значения, другая принимает малые значения (и наоборот). Другие метрики, например корреляция, нормируют вклад каждой величины, чтобы измерить только связь между самими величинами, не включая в рассмотрение их масштабы.</a:t>
            </a:r>
          </a:p>
        </p:txBody>
      </p:sp>
      <p:sp>
        <p:nvSpPr>
          <p:cNvPr id="5427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427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5301"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5303" name="Rectangle 7"/>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5305" name="Rectangle 9"/>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15" name="Text Box 15"/>
          <p:cNvSpPr txBox="1">
            <a:spLocks noChangeArrowheads="1"/>
          </p:cNvSpPr>
          <p:nvPr/>
        </p:nvSpPr>
        <p:spPr bwMode="auto">
          <a:xfrm>
            <a:off x="857250" y="6400801"/>
            <a:ext cx="8286750" cy="424732"/>
          </a:xfrm>
          <a:prstGeom prst="rect">
            <a:avLst/>
          </a:prstGeom>
          <a:noFill/>
          <a:ln w="9525">
            <a:noFill/>
            <a:miter lim="800000"/>
            <a:headEnd/>
            <a:tailEnd/>
          </a:ln>
        </p:spPr>
        <p:txBody>
          <a:bodyPr wrap="square">
            <a:spAutoFit/>
          </a:bodyPr>
          <a:lstStyle/>
          <a:p>
            <a:pPr algn="ctr">
              <a:lnSpc>
                <a:spcPct val="90000"/>
              </a:lnSpc>
            </a:pPr>
            <a:r>
              <a:rPr lang="ru-RU" dirty="0"/>
              <a:t>Лекция </a:t>
            </a:r>
            <a:r>
              <a:rPr lang="en-US" dirty="0"/>
              <a:t>1</a:t>
            </a:r>
            <a:r>
              <a:rPr lang="ru-RU" dirty="0"/>
              <a:t>1. Вычисление АКФ и ВКФ и их применение</a:t>
            </a:r>
            <a:endParaRPr lang="ru-RU" i="1" dirty="0"/>
          </a:p>
        </p:txBody>
      </p:sp>
    </p:spTree>
    <p:extLst>
      <p:ext uri="{BB962C8B-B14F-4D97-AF65-F5344CB8AC3E}">
        <p14:creationId xmlns:p14="http://schemas.microsoft.com/office/powerpoint/2010/main" val="27417224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descr="Large confetti"/>
          <p:cNvSpPr>
            <a:spLocks noChangeArrowheads="1"/>
          </p:cNvSpPr>
          <p:nvPr/>
        </p:nvSpPr>
        <p:spPr bwMode="auto">
          <a:xfrm>
            <a:off x="0" y="228600"/>
            <a:ext cx="9144000" cy="630238"/>
          </a:xfrm>
          <a:prstGeom prst="rect">
            <a:avLst/>
          </a:prstGeom>
          <a:noFill/>
          <a:ln w="9525">
            <a:noFill/>
            <a:miter lim="800000"/>
            <a:headEnd/>
            <a:tailEnd/>
          </a:ln>
        </p:spPr>
        <p:txBody>
          <a:bodyPr anchor="b"/>
          <a:lstStyle/>
          <a:p>
            <a:r>
              <a:rPr lang="ru-RU" sz="2800" b="1"/>
              <a:t>Методы и средства цифровой обработки информации</a:t>
            </a:r>
          </a:p>
        </p:txBody>
      </p:sp>
      <p:sp>
        <p:nvSpPr>
          <p:cNvPr id="9219" name="Rectangle 7"/>
          <p:cNvSpPr>
            <a:spLocks noChangeArrowheads="1"/>
          </p:cNvSpPr>
          <p:nvPr/>
        </p:nvSpPr>
        <p:spPr bwMode="auto">
          <a:xfrm>
            <a:off x="2971800" y="1657350"/>
            <a:ext cx="9144000" cy="0"/>
          </a:xfrm>
          <a:prstGeom prst="rect">
            <a:avLst/>
          </a:prstGeom>
          <a:noFill/>
          <a:ln w="9525">
            <a:noFill/>
            <a:miter lim="800000"/>
            <a:headEnd/>
            <a:tailEnd/>
          </a:ln>
        </p:spPr>
        <p:txBody>
          <a:bodyPr>
            <a:spAutoFit/>
          </a:bodyPr>
          <a:lstStyle/>
          <a:p>
            <a:endParaRPr lang="ru-RU"/>
          </a:p>
        </p:txBody>
      </p:sp>
      <p:sp>
        <p:nvSpPr>
          <p:cNvPr id="9220" name="Rectangle 9"/>
          <p:cNvSpPr>
            <a:spLocks noChangeArrowheads="1"/>
          </p:cNvSpPr>
          <p:nvPr/>
        </p:nvSpPr>
        <p:spPr bwMode="auto">
          <a:xfrm>
            <a:off x="2852738" y="3309938"/>
            <a:ext cx="9144000" cy="0"/>
          </a:xfrm>
          <a:prstGeom prst="rect">
            <a:avLst/>
          </a:prstGeom>
          <a:noFill/>
          <a:ln w="9525">
            <a:noFill/>
            <a:miter lim="800000"/>
            <a:headEnd/>
            <a:tailEnd/>
          </a:ln>
        </p:spPr>
        <p:txBody>
          <a:bodyPr>
            <a:spAutoFit/>
          </a:bodyPr>
          <a:lstStyle/>
          <a:p>
            <a:endParaRPr lang="ru-RU"/>
          </a:p>
        </p:txBody>
      </p:sp>
      <p:sp>
        <p:nvSpPr>
          <p:cNvPr id="9221" name="Rectangle 10"/>
          <p:cNvSpPr>
            <a:spLocks noChangeArrowheads="1"/>
          </p:cNvSpPr>
          <p:nvPr/>
        </p:nvSpPr>
        <p:spPr bwMode="auto">
          <a:xfrm>
            <a:off x="0" y="928670"/>
            <a:ext cx="9144000" cy="5262979"/>
          </a:xfrm>
          <a:prstGeom prst="rect">
            <a:avLst/>
          </a:prstGeom>
          <a:noFill/>
          <a:ln w="9525">
            <a:noFill/>
            <a:miter lim="800000"/>
            <a:headEnd/>
            <a:tailEnd/>
          </a:ln>
        </p:spPr>
        <p:txBody>
          <a:bodyPr>
            <a:spAutoFit/>
          </a:bodyPr>
          <a:lstStyle/>
          <a:p>
            <a:r>
              <a:rPr lang="ru-RU" sz="2800" dirty="0"/>
              <a:t>Понятия </a:t>
            </a:r>
            <a:r>
              <a:rPr lang="ru-RU" sz="2800" b="1" dirty="0"/>
              <a:t>ковариации</a:t>
            </a:r>
            <a:r>
              <a:rPr lang="ru-RU" sz="2800" dirty="0"/>
              <a:t> и зависимости взаимосвязаны, но различны. Связаны они потому, что две независимые случайные величины имеют нулевую ковариацию, а две величины с ненулевой ковариацией зависимы. Однако независимость отличается от ковариации. Чтобы две величины имели нулевую ковариацию, между ними не должно быть </a:t>
            </a:r>
            <a:r>
              <a:rPr lang="ru-RU" sz="2800" b="1" dirty="0"/>
              <a:t>линейной зависимости</a:t>
            </a:r>
            <a:r>
              <a:rPr lang="ru-RU" sz="2800" dirty="0"/>
              <a:t>.</a:t>
            </a:r>
          </a:p>
          <a:p>
            <a:r>
              <a:rPr lang="ru-RU" sz="2800" dirty="0"/>
              <a:t>Независимость - более строгое требование, чем нулевая ковариация, поскольку она исключает также наличие нелинейных связей. Может случиться так, что две случайные величины зависимы, но их ковариация рав­на нулю.</a:t>
            </a:r>
          </a:p>
        </p:txBody>
      </p:sp>
      <p:sp>
        <p:nvSpPr>
          <p:cNvPr id="5427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427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5301"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5303" name="Rectangle 7"/>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5305" name="Rectangle 9"/>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15" name="Text Box 15"/>
          <p:cNvSpPr txBox="1">
            <a:spLocks noChangeArrowheads="1"/>
          </p:cNvSpPr>
          <p:nvPr/>
        </p:nvSpPr>
        <p:spPr bwMode="auto">
          <a:xfrm>
            <a:off x="857250" y="6400801"/>
            <a:ext cx="8286750" cy="424732"/>
          </a:xfrm>
          <a:prstGeom prst="rect">
            <a:avLst/>
          </a:prstGeom>
          <a:noFill/>
          <a:ln w="9525">
            <a:noFill/>
            <a:miter lim="800000"/>
            <a:headEnd/>
            <a:tailEnd/>
          </a:ln>
        </p:spPr>
        <p:txBody>
          <a:bodyPr wrap="square">
            <a:spAutoFit/>
          </a:bodyPr>
          <a:lstStyle/>
          <a:p>
            <a:pPr algn="ctr">
              <a:lnSpc>
                <a:spcPct val="90000"/>
              </a:lnSpc>
            </a:pPr>
            <a:r>
              <a:rPr lang="ru-RU" dirty="0"/>
              <a:t>Лекция </a:t>
            </a:r>
            <a:r>
              <a:rPr lang="en-US" dirty="0"/>
              <a:t>1</a:t>
            </a:r>
            <a:r>
              <a:rPr lang="ru-RU" dirty="0"/>
              <a:t>1. Вычисление АКФ и ВКФ и их применение</a:t>
            </a:r>
            <a:endParaRPr lang="ru-RU" i="1" dirty="0"/>
          </a:p>
        </p:txBody>
      </p:sp>
    </p:spTree>
    <p:extLst>
      <p:ext uri="{BB962C8B-B14F-4D97-AF65-F5344CB8AC3E}">
        <p14:creationId xmlns:p14="http://schemas.microsoft.com/office/powerpoint/2010/main" val="25693670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descr="Large confetti"/>
          <p:cNvSpPr>
            <a:spLocks noChangeArrowheads="1"/>
          </p:cNvSpPr>
          <p:nvPr/>
        </p:nvSpPr>
        <p:spPr bwMode="auto">
          <a:xfrm>
            <a:off x="0" y="228600"/>
            <a:ext cx="9144000" cy="630238"/>
          </a:xfrm>
          <a:prstGeom prst="rect">
            <a:avLst/>
          </a:prstGeom>
          <a:noFill/>
          <a:ln w="9525">
            <a:noFill/>
            <a:miter lim="800000"/>
            <a:headEnd/>
            <a:tailEnd/>
          </a:ln>
        </p:spPr>
        <p:txBody>
          <a:bodyPr anchor="b"/>
          <a:lstStyle/>
          <a:p>
            <a:r>
              <a:rPr lang="ru-RU" sz="2800" b="1"/>
              <a:t>Методы и средства цифровой обработки информации</a:t>
            </a:r>
          </a:p>
        </p:txBody>
      </p:sp>
      <p:sp>
        <p:nvSpPr>
          <p:cNvPr id="9219" name="Rectangle 7"/>
          <p:cNvSpPr>
            <a:spLocks noChangeArrowheads="1"/>
          </p:cNvSpPr>
          <p:nvPr/>
        </p:nvSpPr>
        <p:spPr bwMode="auto">
          <a:xfrm>
            <a:off x="2971800" y="1657350"/>
            <a:ext cx="9144000" cy="0"/>
          </a:xfrm>
          <a:prstGeom prst="rect">
            <a:avLst/>
          </a:prstGeom>
          <a:noFill/>
          <a:ln w="9525">
            <a:noFill/>
            <a:miter lim="800000"/>
            <a:headEnd/>
            <a:tailEnd/>
          </a:ln>
        </p:spPr>
        <p:txBody>
          <a:bodyPr>
            <a:spAutoFit/>
          </a:bodyPr>
          <a:lstStyle/>
          <a:p>
            <a:endParaRPr lang="ru-RU"/>
          </a:p>
        </p:txBody>
      </p:sp>
      <p:sp>
        <p:nvSpPr>
          <p:cNvPr id="9220" name="Rectangle 9"/>
          <p:cNvSpPr>
            <a:spLocks noChangeArrowheads="1"/>
          </p:cNvSpPr>
          <p:nvPr/>
        </p:nvSpPr>
        <p:spPr bwMode="auto">
          <a:xfrm>
            <a:off x="2852738" y="3309938"/>
            <a:ext cx="9144000" cy="0"/>
          </a:xfrm>
          <a:prstGeom prst="rect">
            <a:avLst/>
          </a:prstGeom>
          <a:noFill/>
          <a:ln w="9525">
            <a:noFill/>
            <a:miter lim="800000"/>
            <a:headEnd/>
            <a:tailEnd/>
          </a:ln>
        </p:spPr>
        <p:txBody>
          <a:bodyPr>
            <a:spAutoFit/>
          </a:bodyPr>
          <a:lstStyle/>
          <a:p>
            <a:endParaRPr lang="ru-RU"/>
          </a:p>
        </p:txBody>
      </p:sp>
      <p:sp>
        <p:nvSpPr>
          <p:cNvPr id="9221" name="Rectangle 10"/>
          <p:cNvSpPr>
            <a:spLocks noChangeArrowheads="1"/>
          </p:cNvSpPr>
          <p:nvPr/>
        </p:nvSpPr>
        <p:spPr bwMode="auto">
          <a:xfrm>
            <a:off x="0" y="928670"/>
            <a:ext cx="9144000" cy="4524315"/>
          </a:xfrm>
          <a:prstGeom prst="rect">
            <a:avLst/>
          </a:prstGeom>
          <a:noFill/>
          <a:ln w="9525">
            <a:noFill/>
            <a:miter lim="800000"/>
            <a:headEnd/>
            <a:tailEnd/>
          </a:ln>
        </p:spPr>
        <p:txBody>
          <a:bodyPr>
            <a:spAutoFit/>
          </a:bodyPr>
          <a:lstStyle/>
          <a:p>
            <a:r>
              <a:rPr lang="ru-RU" sz="3200" dirty="0"/>
              <a:t>Предположим, к примеру, что мы сначала выбрали вещественное число </a:t>
            </a:r>
            <a:r>
              <a:rPr lang="ru-RU" sz="3200" i="1" dirty="0"/>
              <a:t>х </a:t>
            </a:r>
            <a:r>
              <a:rPr lang="ru-RU" sz="3200" dirty="0"/>
              <a:t>из равномерного распределения на отрезке [-1,1]. Затем выбираем вторую случайную величину </a:t>
            </a:r>
            <a:r>
              <a:rPr lang="en-US" sz="3200" dirty="0"/>
              <a:t>s</a:t>
            </a:r>
            <a:r>
              <a:rPr lang="ru-RU" sz="3200" dirty="0"/>
              <a:t>. С вероятностью </a:t>
            </a:r>
            <a:r>
              <a:rPr lang="ru-RU" sz="3200" baseline="30000" dirty="0"/>
              <a:t>1</a:t>
            </a:r>
            <a:r>
              <a:rPr lang="ru-RU" sz="3200" dirty="0"/>
              <a:t>/</a:t>
            </a:r>
            <a:r>
              <a:rPr lang="ru-RU" sz="3200" baseline="-25000" dirty="0"/>
              <a:t>2</a:t>
            </a:r>
            <a:r>
              <a:rPr lang="ru-RU" sz="3200" dirty="0"/>
              <a:t> значение </a:t>
            </a:r>
            <a:r>
              <a:rPr lang="en-US" sz="3200" dirty="0"/>
              <a:t>s</a:t>
            </a:r>
            <a:r>
              <a:rPr lang="ru-RU" sz="3200" dirty="0"/>
              <a:t> равно 1, иначе -1. Далее порождаем слу­чайную величину </a:t>
            </a:r>
            <a:r>
              <a:rPr lang="ru-RU" sz="3200" i="1" dirty="0"/>
              <a:t>у=</a:t>
            </a:r>
            <a:r>
              <a:rPr lang="en-US" sz="3200" i="1" dirty="0" err="1"/>
              <a:t>sx</a:t>
            </a:r>
            <a:r>
              <a:rPr lang="ru-RU" sz="3200" i="1" dirty="0"/>
              <a:t>. </a:t>
            </a:r>
            <a:r>
              <a:rPr lang="ru-RU" sz="3200" dirty="0"/>
              <a:t>Очевидно, что </a:t>
            </a:r>
            <a:r>
              <a:rPr lang="ru-RU" sz="3200" i="1" dirty="0"/>
              <a:t>х</a:t>
            </a:r>
            <a:r>
              <a:rPr lang="ru-RU" sz="3200" dirty="0"/>
              <a:t> и </a:t>
            </a:r>
            <a:r>
              <a:rPr lang="ru-RU" sz="3200" i="1" dirty="0"/>
              <a:t>у </a:t>
            </a:r>
            <a:r>
              <a:rPr lang="ru-RU" sz="3200" dirty="0"/>
              <a:t>не являются независимыми, поскольку </a:t>
            </a:r>
            <a:r>
              <a:rPr lang="ru-RU" sz="3200" i="1" dirty="0"/>
              <a:t>х </a:t>
            </a:r>
            <a:r>
              <a:rPr lang="ru-RU" sz="3200" dirty="0"/>
              <a:t>однозначно определяет абсолютную величину у. Однако же </a:t>
            </a:r>
            <a:r>
              <a:rPr lang="en-US" sz="3200" i="1" dirty="0" err="1"/>
              <a:t>Cov</a:t>
            </a:r>
            <a:r>
              <a:rPr lang="ru-RU" sz="3200" i="1" dirty="0"/>
              <a:t>(</a:t>
            </a:r>
            <a:r>
              <a:rPr lang="en-US" sz="3200" i="1" dirty="0"/>
              <a:t>x</a:t>
            </a:r>
            <a:r>
              <a:rPr lang="ru-RU" sz="3200" i="1" dirty="0"/>
              <a:t>,</a:t>
            </a:r>
            <a:r>
              <a:rPr lang="en-US" sz="3200" i="1" dirty="0"/>
              <a:t>y</a:t>
            </a:r>
            <a:r>
              <a:rPr lang="ru-RU" sz="3200" i="1" dirty="0"/>
              <a:t>) </a:t>
            </a:r>
            <a:r>
              <a:rPr lang="ru-RU" sz="3200" dirty="0"/>
              <a:t>= 0.</a:t>
            </a:r>
          </a:p>
        </p:txBody>
      </p:sp>
      <p:sp>
        <p:nvSpPr>
          <p:cNvPr id="5427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427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5301"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5303" name="Rectangle 7"/>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5305" name="Rectangle 9"/>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15" name="Text Box 15"/>
          <p:cNvSpPr txBox="1">
            <a:spLocks noChangeArrowheads="1"/>
          </p:cNvSpPr>
          <p:nvPr/>
        </p:nvSpPr>
        <p:spPr bwMode="auto">
          <a:xfrm>
            <a:off x="857250" y="6400801"/>
            <a:ext cx="8286750" cy="424732"/>
          </a:xfrm>
          <a:prstGeom prst="rect">
            <a:avLst/>
          </a:prstGeom>
          <a:noFill/>
          <a:ln w="9525">
            <a:noFill/>
            <a:miter lim="800000"/>
            <a:headEnd/>
            <a:tailEnd/>
          </a:ln>
        </p:spPr>
        <p:txBody>
          <a:bodyPr wrap="square">
            <a:spAutoFit/>
          </a:bodyPr>
          <a:lstStyle/>
          <a:p>
            <a:pPr algn="ctr">
              <a:lnSpc>
                <a:spcPct val="90000"/>
              </a:lnSpc>
            </a:pPr>
            <a:r>
              <a:rPr lang="ru-RU" dirty="0"/>
              <a:t>Лекция </a:t>
            </a:r>
            <a:r>
              <a:rPr lang="en-US" dirty="0"/>
              <a:t>1</a:t>
            </a:r>
            <a:r>
              <a:rPr lang="ru-RU" dirty="0"/>
              <a:t>1. Вычисление АКФ и ВКФ и их применение</a:t>
            </a:r>
            <a:endParaRPr lang="ru-RU" i="1" dirty="0"/>
          </a:p>
        </p:txBody>
      </p:sp>
    </p:spTree>
    <p:extLst>
      <p:ext uri="{BB962C8B-B14F-4D97-AF65-F5344CB8AC3E}">
        <p14:creationId xmlns:p14="http://schemas.microsoft.com/office/powerpoint/2010/main" val="8832183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descr="Large confetti"/>
          <p:cNvSpPr>
            <a:spLocks noChangeArrowheads="1"/>
          </p:cNvSpPr>
          <p:nvPr/>
        </p:nvSpPr>
        <p:spPr bwMode="auto">
          <a:xfrm>
            <a:off x="0" y="228600"/>
            <a:ext cx="9144000" cy="630238"/>
          </a:xfrm>
          <a:prstGeom prst="rect">
            <a:avLst/>
          </a:prstGeom>
          <a:noFill/>
          <a:ln w="9525">
            <a:noFill/>
            <a:miter lim="800000"/>
            <a:headEnd/>
            <a:tailEnd/>
          </a:ln>
        </p:spPr>
        <p:txBody>
          <a:bodyPr anchor="b"/>
          <a:lstStyle/>
          <a:p>
            <a:r>
              <a:rPr lang="ru-RU" sz="2800" b="1"/>
              <a:t>Методы и средства цифровой обработки информации</a:t>
            </a:r>
          </a:p>
        </p:txBody>
      </p:sp>
      <p:sp>
        <p:nvSpPr>
          <p:cNvPr id="9219" name="Rectangle 7"/>
          <p:cNvSpPr>
            <a:spLocks noChangeArrowheads="1"/>
          </p:cNvSpPr>
          <p:nvPr/>
        </p:nvSpPr>
        <p:spPr bwMode="auto">
          <a:xfrm>
            <a:off x="2971800" y="1657350"/>
            <a:ext cx="9144000" cy="0"/>
          </a:xfrm>
          <a:prstGeom prst="rect">
            <a:avLst/>
          </a:prstGeom>
          <a:noFill/>
          <a:ln w="9525">
            <a:noFill/>
            <a:miter lim="800000"/>
            <a:headEnd/>
            <a:tailEnd/>
          </a:ln>
        </p:spPr>
        <p:txBody>
          <a:bodyPr>
            <a:spAutoFit/>
          </a:bodyPr>
          <a:lstStyle/>
          <a:p>
            <a:endParaRPr lang="ru-RU"/>
          </a:p>
        </p:txBody>
      </p:sp>
      <p:sp>
        <p:nvSpPr>
          <p:cNvPr id="9220" name="Rectangle 9"/>
          <p:cNvSpPr>
            <a:spLocks noChangeArrowheads="1"/>
          </p:cNvSpPr>
          <p:nvPr/>
        </p:nvSpPr>
        <p:spPr bwMode="auto">
          <a:xfrm>
            <a:off x="2852738" y="3309938"/>
            <a:ext cx="9144000" cy="0"/>
          </a:xfrm>
          <a:prstGeom prst="rect">
            <a:avLst/>
          </a:prstGeom>
          <a:noFill/>
          <a:ln w="9525">
            <a:noFill/>
            <a:miter lim="800000"/>
            <a:headEnd/>
            <a:tailEnd/>
          </a:ln>
        </p:spPr>
        <p:txBody>
          <a:bodyPr>
            <a:spAutoFit/>
          </a:bodyPr>
          <a:lstStyle/>
          <a:p>
            <a:endParaRPr lang="ru-RU"/>
          </a:p>
        </p:txBody>
      </p:sp>
      <p:sp>
        <p:nvSpPr>
          <p:cNvPr id="9221" name="Rectangle 10"/>
          <p:cNvSpPr>
            <a:spLocks noChangeArrowheads="1"/>
          </p:cNvSpPr>
          <p:nvPr/>
        </p:nvSpPr>
        <p:spPr bwMode="auto">
          <a:xfrm>
            <a:off x="0" y="928670"/>
            <a:ext cx="9144000" cy="6494085"/>
          </a:xfrm>
          <a:prstGeom prst="rect">
            <a:avLst/>
          </a:prstGeom>
          <a:noFill/>
          <a:ln w="9525">
            <a:noFill/>
            <a:miter lim="800000"/>
            <a:headEnd/>
            <a:tailEnd/>
          </a:ln>
        </p:spPr>
        <p:txBody>
          <a:bodyPr>
            <a:spAutoFit/>
          </a:bodyPr>
          <a:lstStyle/>
          <a:p>
            <a:pPr indent="457200" algn="just"/>
            <a:r>
              <a:rPr lang="ru-RU" sz="3200" dirty="0"/>
              <a:t>Свойства АКФ:</a:t>
            </a:r>
          </a:p>
          <a:p>
            <a:pPr indent="457200" algn="just">
              <a:buAutoNum type="arabicPeriod"/>
            </a:pPr>
            <a:r>
              <a:rPr lang="ru-RU" sz="3200" dirty="0"/>
              <a:t>четная, имеющая один максимум:</a:t>
            </a:r>
          </a:p>
          <a:p>
            <a:pPr indent="457200" algn="just">
              <a:buAutoNum type="arabicPeriod"/>
            </a:pPr>
            <a:endParaRPr lang="ru-RU" sz="3200" dirty="0"/>
          </a:p>
          <a:p>
            <a:pPr indent="457200" algn="just"/>
            <a:r>
              <a:rPr lang="ru-RU" sz="3200" dirty="0"/>
              <a:t>   </a:t>
            </a:r>
          </a:p>
          <a:p>
            <a:pPr indent="457200" algn="just">
              <a:buAutoNum type="arabicPeriod"/>
            </a:pPr>
            <a:endParaRPr lang="ru-RU" sz="3200" dirty="0"/>
          </a:p>
          <a:p>
            <a:pPr algn="just"/>
            <a:r>
              <a:rPr lang="ru-RU" sz="3200" dirty="0"/>
              <a:t>2.    </a:t>
            </a:r>
          </a:p>
          <a:p>
            <a:pPr indent="457200" algn="just"/>
            <a:endParaRPr lang="ru-RU" sz="3200" dirty="0"/>
          </a:p>
          <a:p>
            <a:pPr algn="just"/>
            <a:r>
              <a:rPr lang="ru-RU" sz="3200" dirty="0"/>
              <a:t>где </a:t>
            </a:r>
            <a:r>
              <a:rPr lang="en-US" sz="3200" dirty="0"/>
              <a:t>S </a:t>
            </a:r>
            <a:r>
              <a:rPr lang="ru-RU" sz="3200" dirty="0"/>
              <a:t>- средняя энергия случайного процесса</a:t>
            </a:r>
          </a:p>
          <a:p>
            <a:pPr algn="just"/>
            <a:endParaRPr lang="ru-RU" sz="3200" dirty="0"/>
          </a:p>
          <a:p>
            <a:pPr algn="just"/>
            <a:r>
              <a:rPr lang="ru-RU" sz="3200" dirty="0"/>
              <a:t> </a:t>
            </a:r>
          </a:p>
          <a:p>
            <a:pPr indent="457200" algn="just"/>
            <a:endParaRPr lang="ru-RU" sz="3200" dirty="0"/>
          </a:p>
          <a:p>
            <a:pPr indent="457200" algn="just"/>
            <a:endParaRPr lang="ru-RU" sz="3200" dirty="0"/>
          </a:p>
          <a:p>
            <a:pPr indent="457200" algn="just"/>
            <a:endParaRPr lang="ru-RU" sz="3200" dirty="0"/>
          </a:p>
        </p:txBody>
      </p:sp>
      <p:sp>
        <p:nvSpPr>
          <p:cNvPr id="5427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427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5301"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graphicFrame>
        <p:nvGraphicFramePr>
          <p:cNvPr id="56324" name="Object 4"/>
          <p:cNvGraphicFramePr>
            <a:graphicFrameLocks noChangeAspect="1"/>
          </p:cNvGraphicFramePr>
          <p:nvPr/>
        </p:nvGraphicFramePr>
        <p:xfrm>
          <a:off x="571472" y="5072074"/>
          <a:ext cx="2465388" cy="782637"/>
        </p:xfrm>
        <a:graphic>
          <a:graphicData uri="http://schemas.openxmlformats.org/presentationml/2006/ole">
            <mc:AlternateContent xmlns:mc="http://schemas.openxmlformats.org/markup-compatibility/2006">
              <mc:Choice xmlns:v="urn:schemas-microsoft-com:vml" Requires="v">
                <p:oleObj name="Equation" r:id="rId2" imgW="761669" imgH="241195" progId="">
                  <p:embed/>
                </p:oleObj>
              </mc:Choice>
              <mc:Fallback>
                <p:oleObj name="Equation" r:id="rId2" imgW="761669" imgH="241195" progId="">
                  <p:embed/>
                  <p:pic>
                    <p:nvPicPr>
                      <p:cNvPr id="0" name="Picture 2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472" y="5072074"/>
                        <a:ext cx="2465388" cy="7826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6327" name="Rectangle 7"/>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graphicFrame>
        <p:nvGraphicFramePr>
          <p:cNvPr id="56326" name="Object 6"/>
          <p:cNvGraphicFramePr>
            <a:graphicFrameLocks noChangeAspect="1"/>
          </p:cNvGraphicFramePr>
          <p:nvPr/>
        </p:nvGraphicFramePr>
        <p:xfrm>
          <a:off x="571472" y="3143248"/>
          <a:ext cx="4375861" cy="1214446"/>
        </p:xfrm>
        <a:graphic>
          <a:graphicData uri="http://schemas.openxmlformats.org/presentationml/2006/ole">
            <mc:AlternateContent xmlns:mc="http://schemas.openxmlformats.org/markup-compatibility/2006">
              <mc:Choice xmlns:v="urn:schemas-microsoft-com:vml" Requires="v">
                <p:oleObj name="Equation" r:id="rId4" imgW="2159000" imgH="596900" progId="">
                  <p:embed/>
                </p:oleObj>
              </mc:Choice>
              <mc:Fallback>
                <p:oleObj name="Equation" r:id="rId4" imgW="2159000" imgH="596900" progId="">
                  <p:embed/>
                  <p:pic>
                    <p:nvPicPr>
                      <p:cNvPr id="0" name="Picture 2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1472" y="3143248"/>
                        <a:ext cx="4375861" cy="121444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6329" name="Rectangle 9"/>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graphicFrame>
        <p:nvGraphicFramePr>
          <p:cNvPr id="56328" name="Object 8"/>
          <p:cNvGraphicFramePr>
            <a:graphicFrameLocks noChangeAspect="1"/>
          </p:cNvGraphicFramePr>
          <p:nvPr/>
        </p:nvGraphicFramePr>
        <p:xfrm>
          <a:off x="714349" y="2357430"/>
          <a:ext cx="3143272" cy="691074"/>
        </p:xfrm>
        <a:graphic>
          <a:graphicData uri="http://schemas.openxmlformats.org/presentationml/2006/ole">
            <mc:AlternateContent xmlns:mc="http://schemas.openxmlformats.org/markup-compatibility/2006">
              <mc:Choice xmlns:v="urn:schemas-microsoft-com:vml" Requires="v">
                <p:oleObj name="Equation" r:id="rId6" imgW="1346200" imgH="292100" progId="">
                  <p:embed/>
                </p:oleObj>
              </mc:Choice>
              <mc:Fallback>
                <p:oleObj name="Equation" r:id="rId6" imgW="1346200" imgH="292100" progId="">
                  <p:embed/>
                  <p:pic>
                    <p:nvPicPr>
                      <p:cNvPr id="0" name="Picture 2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14349" y="2357430"/>
                        <a:ext cx="3143272" cy="69107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56330" name="Picture 10"/>
          <p:cNvPicPr>
            <a:picLocks noChangeAspect="1" noChangeArrowheads="1"/>
          </p:cNvPicPr>
          <p:nvPr/>
        </p:nvPicPr>
        <p:blipFill>
          <a:blip r:embed="rId8" cstate="print"/>
          <a:srcRect/>
          <a:stretch>
            <a:fillRect/>
          </a:stretch>
        </p:blipFill>
        <p:spPr bwMode="auto">
          <a:xfrm>
            <a:off x="4931421" y="1928802"/>
            <a:ext cx="4212579" cy="2571768"/>
          </a:xfrm>
          <a:prstGeom prst="rect">
            <a:avLst/>
          </a:prstGeom>
          <a:noFill/>
          <a:ln w="9525">
            <a:noFill/>
            <a:miter lim="800000"/>
            <a:headEnd/>
            <a:tailEnd/>
          </a:ln>
          <a:effectLst/>
        </p:spPr>
      </p:pic>
      <p:sp>
        <p:nvSpPr>
          <p:cNvPr id="16" name="Text Box 15"/>
          <p:cNvSpPr txBox="1">
            <a:spLocks noChangeArrowheads="1"/>
          </p:cNvSpPr>
          <p:nvPr/>
        </p:nvSpPr>
        <p:spPr bwMode="auto">
          <a:xfrm>
            <a:off x="857250" y="6400801"/>
            <a:ext cx="8286750" cy="424732"/>
          </a:xfrm>
          <a:prstGeom prst="rect">
            <a:avLst/>
          </a:prstGeom>
          <a:noFill/>
          <a:ln w="9525">
            <a:noFill/>
            <a:miter lim="800000"/>
            <a:headEnd/>
            <a:tailEnd/>
          </a:ln>
        </p:spPr>
        <p:txBody>
          <a:bodyPr wrap="square">
            <a:spAutoFit/>
          </a:bodyPr>
          <a:lstStyle/>
          <a:p>
            <a:pPr algn="ctr">
              <a:lnSpc>
                <a:spcPct val="90000"/>
              </a:lnSpc>
            </a:pPr>
            <a:r>
              <a:rPr lang="ru-RU" dirty="0"/>
              <a:t>Лекция </a:t>
            </a:r>
            <a:r>
              <a:rPr lang="en-US" dirty="0"/>
              <a:t>1</a:t>
            </a:r>
            <a:r>
              <a:rPr lang="ru-RU" dirty="0"/>
              <a:t>1. Вычисление АКФ и ВКФ и их применение</a:t>
            </a:r>
            <a:endParaRPr lang="ru-RU" i="1"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descr="Large confetti"/>
          <p:cNvSpPr>
            <a:spLocks noChangeArrowheads="1"/>
          </p:cNvSpPr>
          <p:nvPr/>
        </p:nvSpPr>
        <p:spPr bwMode="auto">
          <a:xfrm>
            <a:off x="0" y="228600"/>
            <a:ext cx="9144000" cy="630238"/>
          </a:xfrm>
          <a:prstGeom prst="rect">
            <a:avLst/>
          </a:prstGeom>
          <a:noFill/>
          <a:ln w="9525">
            <a:noFill/>
            <a:miter lim="800000"/>
            <a:headEnd/>
            <a:tailEnd/>
          </a:ln>
        </p:spPr>
        <p:txBody>
          <a:bodyPr anchor="b"/>
          <a:lstStyle/>
          <a:p>
            <a:r>
              <a:rPr lang="ru-RU" sz="2800" b="1"/>
              <a:t>Методы и средства цифровой обработки информации</a:t>
            </a:r>
          </a:p>
        </p:txBody>
      </p:sp>
      <p:sp>
        <p:nvSpPr>
          <p:cNvPr id="9219" name="Rectangle 7"/>
          <p:cNvSpPr>
            <a:spLocks noChangeArrowheads="1"/>
          </p:cNvSpPr>
          <p:nvPr/>
        </p:nvSpPr>
        <p:spPr bwMode="auto">
          <a:xfrm>
            <a:off x="2971800" y="1657350"/>
            <a:ext cx="9144000" cy="0"/>
          </a:xfrm>
          <a:prstGeom prst="rect">
            <a:avLst/>
          </a:prstGeom>
          <a:noFill/>
          <a:ln w="9525">
            <a:noFill/>
            <a:miter lim="800000"/>
            <a:headEnd/>
            <a:tailEnd/>
          </a:ln>
        </p:spPr>
        <p:txBody>
          <a:bodyPr>
            <a:spAutoFit/>
          </a:bodyPr>
          <a:lstStyle/>
          <a:p>
            <a:endParaRPr lang="ru-RU"/>
          </a:p>
        </p:txBody>
      </p:sp>
      <p:sp>
        <p:nvSpPr>
          <p:cNvPr id="9220" name="Rectangle 9"/>
          <p:cNvSpPr>
            <a:spLocks noChangeArrowheads="1"/>
          </p:cNvSpPr>
          <p:nvPr/>
        </p:nvSpPr>
        <p:spPr bwMode="auto">
          <a:xfrm>
            <a:off x="2852738" y="3309938"/>
            <a:ext cx="9144000" cy="0"/>
          </a:xfrm>
          <a:prstGeom prst="rect">
            <a:avLst/>
          </a:prstGeom>
          <a:noFill/>
          <a:ln w="9525">
            <a:noFill/>
            <a:miter lim="800000"/>
            <a:headEnd/>
            <a:tailEnd/>
          </a:ln>
        </p:spPr>
        <p:txBody>
          <a:bodyPr>
            <a:spAutoFit/>
          </a:bodyPr>
          <a:lstStyle/>
          <a:p>
            <a:endParaRPr lang="ru-RU"/>
          </a:p>
        </p:txBody>
      </p:sp>
      <p:sp>
        <p:nvSpPr>
          <p:cNvPr id="9221" name="Rectangle 10"/>
          <p:cNvSpPr>
            <a:spLocks noChangeArrowheads="1"/>
          </p:cNvSpPr>
          <p:nvPr/>
        </p:nvSpPr>
        <p:spPr bwMode="auto">
          <a:xfrm>
            <a:off x="5000628" y="928670"/>
            <a:ext cx="4143372" cy="5607689"/>
          </a:xfrm>
          <a:prstGeom prst="rect">
            <a:avLst/>
          </a:prstGeom>
          <a:noFill/>
          <a:ln w="9525">
            <a:noFill/>
            <a:miter lim="800000"/>
            <a:headEnd/>
            <a:tailEnd/>
          </a:ln>
        </p:spPr>
        <p:txBody>
          <a:bodyPr wrap="square">
            <a:spAutoFit/>
          </a:bodyPr>
          <a:lstStyle/>
          <a:p>
            <a:pPr algn="ctr">
              <a:lnSpc>
                <a:spcPct val="80000"/>
              </a:lnSpc>
            </a:pPr>
            <a:r>
              <a:rPr lang="ru-RU" sz="2800" b="1" dirty="0"/>
              <a:t>Ковариационные функции</a:t>
            </a:r>
          </a:p>
          <a:p>
            <a:pPr algn="just">
              <a:lnSpc>
                <a:spcPct val="80000"/>
              </a:lnSpc>
            </a:pPr>
            <a:r>
              <a:rPr lang="ru-RU" sz="2800" i="1" dirty="0"/>
              <a:t>а)</a:t>
            </a:r>
            <a:r>
              <a:rPr lang="ru-RU" sz="2800" dirty="0"/>
              <a:t>гармонического сигнала со случайной начальной фазой,</a:t>
            </a:r>
          </a:p>
          <a:p>
            <a:pPr algn="just">
              <a:lnSpc>
                <a:spcPct val="80000"/>
              </a:lnSpc>
            </a:pPr>
            <a:r>
              <a:rPr lang="ru-RU" sz="2800" dirty="0"/>
              <a:t>б)белого шума,</a:t>
            </a:r>
          </a:p>
          <a:p>
            <a:pPr algn="just">
              <a:lnSpc>
                <a:spcPct val="80000"/>
              </a:lnSpc>
            </a:pPr>
            <a:r>
              <a:rPr lang="ru-RU" sz="2800" dirty="0"/>
              <a:t>в)цветного шума,</a:t>
            </a:r>
          </a:p>
          <a:p>
            <a:pPr algn="just">
              <a:lnSpc>
                <a:spcPct val="80000"/>
              </a:lnSpc>
            </a:pPr>
            <a:r>
              <a:rPr lang="ru-RU" sz="2800" dirty="0"/>
              <a:t>г)узкополосного шума, </a:t>
            </a:r>
          </a:p>
          <a:p>
            <a:pPr algn="just">
              <a:lnSpc>
                <a:spcPct val="80000"/>
              </a:lnSpc>
            </a:pPr>
            <a:r>
              <a:rPr lang="ru-RU" sz="2800" dirty="0" err="1"/>
              <a:t>д</a:t>
            </a:r>
            <a:r>
              <a:rPr lang="ru-RU" sz="2800" dirty="0"/>
              <a:t>)суммы гармонического сигнала со случайной начальной фазой и цветного шума, </a:t>
            </a:r>
          </a:p>
          <a:p>
            <a:pPr algn="just">
              <a:lnSpc>
                <a:spcPct val="80000"/>
              </a:lnSpc>
            </a:pPr>
            <a:r>
              <a:rPr lang="ru-RU" sz="2800" dirty="0"/>
              <a:t>е)суммы гармонического сигнала со случайной начальной фазой и узкополосного шума .</a:t>
            </a:r>
          </a:p>
        </p:txBody>
      </p:sp>
      <p:sp>
        <p:nvSpPr>
          <p:cNvPr id="5427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427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5301"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12" name="Text Box 15"/>
          <p:cNvSpPr txBox="1">
            <a:spLocks noChangeArrowheads="1"/>
          </p:cNvSpPr>
          <p:nvPr/>
        </p:nvSpPr>
        <p:spPr bwMode="auto">
          <a:xfrm>
            <a:off x="857250" y="6400801"/>
            <a:ext cx="8286750" cy="424732"/>
          </a:xfrm>
          <a:prstGeom prst="rect">
            <a:avLst/>
          </a:prstGeom>
          <a:noFill/>
          <a:ln w="9525">
            <a:noFill/>
            <a:miter lim="800000"/>
            <a:headEnd/>
            <a:tailEnd/>
          </a:ln>
        </p:spPr>
        <p:txBody>
          <a:bodyPr wrap="square">
            <a:spAutoFit/>
          </a:bodyPr>
          <a:lstStyle/>
          <a:p>
            <a:pPr algn="ctr">
              <a:lnSpc>
                <a:spcPct val="90000"/>
              </a:lnSpc>
            </a:pPr>
            <a:r>
              <a:rPr lang="ru-RU" dirty="0"/>
              <a:t>Лекция </a:t>
            </a:r>
            <a:r>
              <a:rPr lang="en-US" dirty="0"/>
              <a:t>1</a:t>
            </a:r>
            <a:r>
              <a:rPr lang="ru-RU" dirty="0"/>
              <a:t>1. Вычисление АКФ и ВКФ и их применение</a:t>
            </a:r>
            <a:endParaRPr lang="ru-RU" i="1" dirty="0"/>
          </a:p>
        </p:txBody>
      </p:sp>
      <p:pic>
        <p:nvPicPr>
          <p:cNvPr id="15" name="Рисунок 14" descr="\begin{figure}% figure 7\begin{center}&#10;{\leavevmode\epsfxsize =.45\textwidth\e...&#10;...eavevmode\epsfxsize =.45\textwidth\epsfbox {ris7e.eps}}&#10;\end{center}\end{figure}"/>
          <p:cNvPicPr/>
          <p:nvPr/>
        </p:nvPicPr>
        <p:blipFill>
          <a:blip r:embed="rId2" cstate="print"/>
          <a:srcRect/>
          <a:stretch>
            <a:fillRect/>
          </a:stretch>
        </p:blipFill>
        <p:spPr bwMode="auto">
          <a:xfrm>
            <a:off x="0" y="500042"/>
            <a:ext cx="4937760" cy="6035040"/>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descr="Large confetti"/>
          <p:cNvSpPr>
            <a:spLocks noChangeArrowheads="1"/>
          </p:cNvSpPr>
          <p:nvPr/>
        </p:nvSpPr>
        <p:spPr bwMode="auto">
          <a:xfrm>
            <a:off x="0" y="228600"/>
            <a:ext cx="9144000" cy="630238"/>
          </a:xfrm>
          <a:prstGeom prst="rect">
            <a:avLst/>
          </a:prstGeom>
          <a:noFill/>
          <a:ln w="9525">
            <a:noFill/>
            <a:miter lim="800000"/>
            <a:headEnd/>
            <a:tailEnd/>
          </a:ln>
        </p:spPr>
        <p:txBody>
          <a:bodyPr anchor="b"/>
          <a:lstStyle/>
          <a:p>
            <a:r>
              <a:rPr lang="ru-RU" sz="2800" b="1"/>
              <a:t>Методы и средства цифровой обработки информации</a:t>
            </a:r>
          </a:p>
        </p:txBody>
      </p:sp>
      <p:sp>
        <p:nvSpPr>
          <p:cNvPr id="9219" name="Rectangle 7"/>
          <p:cNvSpPr>
            <a:spLocks noChangeArrowheads="1"/>
          </p:cNvSpPr>
          <p:nvPr/>
        </p:nvSpPr>
        <p:spPr bwMode="auto">
          <a:xfrm>
            <a:off x="2971800" y="1657350"/>
            <a:ext cx="9144000" cy="0"/>
          </a:xfrm>
          <a:prstGeom prst="rect">
            <a:avLst/>
          </a:prstGeom>
          <a:noFill/>
          <a:ln w="9525">
            <a:noFill/>
            <a:miter lim="800000"/>
            <a:headEnd/>
            <a:tailEnd/>
          </a:ln>
        </p:spPr>
        <p:txBody>
          <a:bodyPr>
            <a:spAutoFit/>
          </a:bodyPr>
          <a:lstStyle/>
          <a:p>
            <a:endParaRPr lang="ru-RU"/>
          </a:p>
        </p:txBody>
      </p:sp>
      <p:sp>
        <p:nvSpPr>
          <p:cNvPr id="9220" name="Rectangle 9"/>
          <p:cNvSpPr>
            <a:spLocks noChangeArrowheads="1"/>
          </p:cNvSpPr>
          <p:nvPr/>
        </p:nvSpPr>
        <p:spPr bwMode="auto">
          <a:xfrm>
            <a:off x="2852738" y="3309938"/>
            <a:ext cx="9144000" cy="0"/>
          </a:xfrm>
          <a:prstGeom prst="rect">
            <a:avLst/>
          </a:prstGeom>
          <a:noFill/>
          <a:ln w="9525">
            <a:noFill/>
            <a:miter lim="800000"/>
            <a:headEnd/>
            <a:tailEnd/>
          </a:ln>
        </p:spPr>
        <p:txBody>
          <a:bodyPr>
            <a:spAutoFit/>
          </a:bodyPr>
          <a:lstStyle/>
          <a:p>
            <a:endParaRPr lang="ru-RU"/>
          </a:p>
        </p:txBody>
      </p:sp>
      <p:sp>
        <p:nvSpPr>
          <p:cNvPr id="5427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427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5301"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12" name="Text Box 15"/>
          <p:cNvSpPr txBox="1">
            <a:spLocks noChangeArrowheads="1"/>
          </p:cNvSpPr>
          <p:nvPr/>
        </p:nvSpPr>
        <p:spPr bwMode="auto">
          <a:xfrm>
            <a:off x="857250" y="6400801"/>
            <a:ext cx="8286750" cy="424732"/>
          </a:xfrm>
          <a:prstGeom prst="rect">
            <a:avLst/>
          </a:prstGeom>
          <a:noFill/>
          <a:ln w="9525">
            <a:noFill/>
            <a:miter lim="800000"/>
            <a:headEnd/>
            <a:tailEnd/>
          </a:ln>
        </p:spPr>
        <p:txBody>
          <a:bodyPr wrap="square">
            <a:spAutoFit/>
          </a:bodyPr>
          <a:lstStyle/>
          <a:p>
            <a:pPr algn="ctr">
              <a:lnSpc>
                <a:spcPct val="90000"/>
              </a:lnSpc>
            </a:pPr>
            <a:r>
              <a:rPr lang="ru-RU" dirty="0"/>
              <a:t>Лекция </a:t>
            </a:r>
            <a:r>
              <a:rPr lang="en-US" dirty="0"/>
              <a:t>1</a:t>
            </a:r>
            <a:r>
              <a:rPr lang="ru-RU" dirty="0"/>
              <a:t>1. Вычисление АКФ и ВКФ и их применение</a:t>
            </a:r>
            <a:endParaRPr lang="ru-RU" i="1" dirty="0"/>
          </a:p>
        </p:txBody>
      </p:sp>
      <p:sp>
        <p:nvSpPr>
          <p:cNvPr id="3" name="Rectangle 10">
            <a:extLst>
              <a:ext uri="{FF2B5EF4-FFF2-40B4-BE49-F238E27FC236}">
                <a16:creationId xmlns:a16="http://schemas.microsoft.com/office/drawing/2014/main" id="{DFBFCEEA-9C2D-7057-E895-E2FCF6618220}"/>
              </a:ext>
            </a:extLst>
          </p:cNvPr>
          <p:cNvSpPr>
            <a:spLocks noChangeArrowheads="1"/>
          </p:cNvSpPr>
          <p:nvPr/>
        </p:nvSpPr>
        <p:spPr bwMode="auto">
          <a:xfrm>
            <a:off x="69780" y="928670"/>
            <a:ext cx="9074220" cy="437043"/>
          </a:xfrm>
          <a:prstGeom prst="rect">
            <a:avLst/>
          </a:prstGeom>
          <a:noFill/>
          <a:ln w="9525">
            <a:noFill/>
            <a:miter lim="800000"/>
            <a:headEnd/>
            <a:tailEnd/>
          </a:ln>
        </p:spPr>
        <p:txBody>
          <a:bodyPr wrap="square" lIns="91440" tIns="45720" rIns="91440" bIns="45720" anchor="t">
            <a:spAutoFit/>
          </a:bodyPr>
          <a:lstStyle/>
          <a:p>
            <a:pPr algn="ctr">
              <a:lnSpc>
                <a:spcPct val="80000"/>
              </a:lnSpc>
            </a:pPr>
            <a:r>
              <a:rPr lang="ru-RU" sz="2800" b="1" dirty="0">
                <a:latin typeface="Times New Roman"/>
                <a:cs typeface="Times New Roman"/>
              </a:rPr>
              <a:t>Автокорреляционные функции сигналов</a:t>
            </a:r>
            <a:endParaRPr lang="ru-RU" sz="2800" dirty="0"/>
          </a:p>
        </p:txBody>
      </p:sp>
      <p:pic>
        <p:nvPicPr>
          <p:cNvPr id="4" name="Рисунок 4">
            <a:extLst>
              <a:ext uri="{FF2B5EF4-FFF2-40B4-BE49-F238E27FC236}">
                <a16:creationId xmlns:a16="http://schemas.microsoft.com/office/drawing/2014/main" id="{6D20080D-3FA4-6DAC-C3BA-C4D741AA301C}"/>
              </a:ext>
            </a:extLst>
          </p:cNvPr>
          <p:cNvPicPr>
            <a:picLocks noChangeAspect="1"/>
          </p:cNvPicPr>
          <p:nvPr/>
        </p:nvPicPr>
        <p:blipFill>
          <a:blip r:embed="rId2"/>
          <a:stretch>
            <a:fillRect/>
          </a:stretch>
        </p:blipFill>
        <p:spPr>
          <a:xfrm>
            <a:off x="93588" y="1417103"/>
            <a:ext cx="8857098" cy="5003769"/>
          </a:xfrm>
          <a:prstGeom prst="rect">
            <a:avLst/>
          </a:prstGeom>
        </p:spPr>
      </p:pic>
    </p:spTree>
    <p:extLst>
      <p:ext uri="{BB962C8B-B14F-4D97-AF65-F5344CB8AC3E}">
        <p14:creationId xmlns:p14="http://schemas.microsoft.com/office/powerpoint/2010/main" val="11377368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descr="Large confetti"/>
          <p:cNvSpPr>
            <a:spLocks noChangeArrowheads="1"/>
          </p:cNvSpPr>
          <p:nvPr/>
        </p:nvSpPr>
        <p:spPr bwMode="auto">
          <a:xfrm>
            <a:off x="0" y="228600"/>
            <a:ext cx="9144000" cy="630238"/>
          </a:xfrm>
          <a:prstGeom prst="rect">
            <a:avLst/>
          </a:prstGeom>
          <a:noFill/>
          <a:ln w="9525">
            <a:noFill/>
            <a:miter lim="800000"/>
            <a:headEnd/>
            <a:tailEnd/>
          </a:ln>
        </p:spPr>
        <p:txBody>
          <a:bodyPr anchor="b"/>
          <a:lstStyle/>
          <a:p>
            <a:r>
              <a:rPr lang="ru-RU" sz="2800" b="1"/>
              <a:t>Методы и средства цифровой обработки информации</a:t>
            </a:r>
          </a:p>
        </p:txBody>
      </p:sp>
      <p:sp>
        <p:nvSpPr>
          <p:cNvPr id="9219" name="Rectangle 7"/>
          <p:cNvSpPr>
            <a:spLocks noChangeArrowheads="1"/>
          </p:cNvSpPr>
          <p:nvPr/>
        </p:nvSpPr>
        <p:spPr bwMode="auto">
          <a:xfrm>
            <a:off x="2971800" y="1657350"/>
            <a:ext cx="9144000" cy="0"/>
          </a:xfrm>
          <a:prstGeom prst="rect">
            <a:avLst/>
          </a:prstGeom>
          <a:noFill/>
          <a:ln w="9525">
            <a:noFill/>
            <a:miter lim="800000"/>
            <a:headEnd/>
            <a:tailEnd/>
          </a:ln>
        </p:spPr>
        <p:txBody>
          <a:bodyPr>
            <a:spAutoFit/>
          </a:bodyPr>
          <a:lstStyle/>
          <a:p>
            <a:endParaRPr lang="ru-RU"/>
          </a:p>
        </p:txBody>
      </p:sp>
      <p:sp>
        <p:nvSpPr>
          <p:cNvPr id="9220" name="Rectangle 9"/>
          <p:cNvSpPr>
            <a:spLocks noChangeArrowheads="1"/>
          </p:cNvSpPr>
          <p:nvPr/>
        </p:nvSpPr>
        <p:spPr bwMode="auto">
          <a:xfrm>
            <a:off x="2852738" y="3309938"/>
            <a:ext cx="9144000" cy="0"/>
          </a:xfrm>
          <a:prstGeom prst="rect">
            <a:avLst/>
          </a:prstGeom>
          <a:noFill/>
          <a:ln w="9525">
            <a:noFill/>
            <a:miter lim="800000"/>
            <a:headEnd/>
            <a:tailEnd/>
          </a:ln>
        </p:spPr>
        <p:txBody>
          <a:bodyPr>
            <a:spAutoFit/>
          </a:bodyPr>
          <a:lstStyle/>
          <a:p>
            <a:endParaRPr lang="ru-RU"/>
          </a:p>
        </p:txBody>
      </p:sp>
      <p:sp>
        <p:nvSpPr>
          <p:cNvPr id="9221" name="Rectangle 10"/>
          <p:cNvSpPr>
            <a:spLocks noChangeArrowheads="1"/>
          </p:cNvSpPr>
          <p:nvPr/>
        </p:nvSpPr>
        <p:spPr bwMode="auto">
          <a:xfrm>
            <a:off x="69780" y="928670"/>
            <a:ext cx="9074220" cy="437043"/>
          </a:xfrm>
          <a:prstGeom prst="rect">
            <a:avLst/>
          </a:prstGeom>
          <a:noFill/>
          <a:ln w="9525">
            <a:noFill/>
            <a:miter lim="800000"/>
            <a:headEnd/>
            <a:tailEnd/>
          </a:ln>
        </p:spPr>
        <p:txBody>
          <a:bodyPr wrap="square" lIns="91440" tIns="45720" rIns="91440" bIns="45720" anchor="t">
            <a:spAutoFit/>
          </a:bodyPr>
          <a:lstStyle/>
          <a:p>
            <a:pPr algn="ctr">
              <a:lnSpc>
                <a:spcPct val="80000"/>
              </a:lnSpc>
            </a:pPr>
            <a:r>
              <a:rPr lang="ru-RU" sz="2800" b="1" dirty="0">
                <a:latin typeface="Times New Roman"/>
                <a:cs typeface="Times New Roman"/>
              </a:rPr>
              <a:t>Автокорреляционные функции сигналов</a:t>
            </a:r>
            <a:endParaRPr lang="ru-RU" sz="2800" dirty="0"/>
          </a:p>
        </p:txBody>
      </p:sp>
      <p:sp>
        <p:nvSpPr>
          <p:cNvPr id="5427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427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5301"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12" name="Text Box 15"/>
          <p:cNvSpPr txBox="1">
            <a:spLocks noChangeArrowheads="1"/>
          </p:cNvSpPr>
          <p:nvPr/>
        </p:nvSpPr>
        <p:spPr bwMode="auto">
          <a:xfrm>
            <a:off x="857250" y="6400801"/>
            <a:ext cx="8286750" cy="424732"/>
          </a:xfrm>
          <a:prstGeom prst="rect">
            <a:avLst/>
          </a:prstGeom>
          <a:noFill/>
          <a:ln w="9525">
            <a:noFill/>
            <a:miter lim="800000"/>
            <a:headEnd/>
            <a:tailEnd/>
          </a:ln>
        </p:spPr>
        <p:txBody>
          <a:bodyPr wrap="square">
            <a:spAutoFit/>
          </a:bodyPr>
          <a:lstStyle/>
          <a:p>
            <a:pPr algn="ctr">
              <a:lnSpc>
                <a:spcPct val="90000"/>
              </a:lnSpc>
            </a:pPr>
            <a:r>
              <a:rPr lang="ru-RU" dirty="0"/>
              <a:t>Лекция </a:t>
            </a:r>
            <a:r>
              <a:rPr lang="en-US" dirty="0"/>
              <a:t>1</a:t>
            </a:r>
            <a:r>
              <a:rPr lang="ru-RU" dirty="0"/>
              <a:t>1. Вычисление АКФ и ВКФ и их применение</a:t>
            </a:r>
            <a:endParaRPr lang="ru-RU" i="1" dirty="0"/>
          </a:p>
        </p:txBody>
      </p:sp>
      <p:pic>
        <p:nvPicPr>
          <p:cNvPr id="2" name="Рисунок 2">
            <a:extLst>
              <a:ext uri="{FF2B5EF4-FFF2-40B4-BE49-F238E27FC236}">
                <a16:creationId xmlns:a16="http://schemas.microsoft.com/office/drawing/2014/main" id="{85AE242E-ADFC-363A-C73C-24F0290EFBEE}"/>
              </a:ext>
            </a:extLst>
          </p:cNvPr>
          <p:cNvPicPr>
            <a:picLocks noChangeAspect="1"/>
          </p:cNvPicPr>
          <p:nvPr/>
        </p:nvPicPr>
        <p:blipFill>
          <a:blip r:embed="rId2"/>
          <a:stretch>
            <a:fillRect/>
          </a:stretch>
        </p:blipFill>
        <p:spPr>
          <a:xfrm>
            <a:off x="162629" y="1387495"/>
            <a:ext cx="8726689" cy="4857795"/>
          </a:xfrm>
          <a:prstGeom prst="rect">
            <a:avLst/>
          </a:prstGeom>
        </p:spPr>
      </p:pic>
    </p:spTree>
    <p:extLst>
      <p:ext uri="{BB962C8B-B14F-4D97-AF65-F5344CB8AC3E}">
        <p14:creationId xmlns:p14="http://schemas.microsoft.com/office/powerpoint/2010/main" val="14916220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descr="Large confetti"/>
          <p:cNvSpPr>
            <a:spLocks noChangeArrowheads="1"/>
          </p:cNvSpPr>
          <p:nvPr/>
        </p:nvSpPr>
        <p:spPr bwMode="auto">
          <a:xfrm>
            <a:off x="0" y="228600"/>
            <a:ext cx="9144000" cy="630238"/>
          </a:xfrm>
          <a:prstGeom prst="rect">
            <a:avLst/>
          </a:prstGeom>
          <a:noFill/>
          <a:ln w="9525">
            <a:noFill/>
            <a:miter lim="800000"/>
            <a:headEnd/>
            <a:tailEnd/>
          </a:ln>
        </p:spPr>
        <p:txBody>
          <a:bodyPr anchor="b"/>
          <a:lstStyle/>
          <a:p>
            <a:r>
              <a:rPr lang="ru-RU" sz="2800" b="1"/>
              <a:t>Методы и средства цифровой обработки информации</a:t>
            </a:r>
          </a:p>
        </p:txBody>
      </p:sp>
      <p:sp>
        <p:nvSpPr>
          <p:cNvPr id="9219" name="Rectangle 7"/>
          <p:cNvSpPr>
            <a:spLocks noChangeArrowheads="1"/>
          </p:cNvSpPr>
          <p:nvPr/>
        </p:nvSpPr>
        <p:spPr bwMode="auto">
          <a:xfrm>
            <a:off x="2971800" y="1657350"/>
            <a:ext cx="9144000" cy="0"/>
          </a:xfrm>
          <a:prstGeom prst="rect">
            <a:avLst/>
          </a:prstGeom>
          <a:noFill/>
          <a:ln w="9525">
            <a:noFill/>
            <a:miter lim="800000"/>
            <a:headEnd/>
            <a:tailEnd/>
          </a:ln>
        </p:spPr>
        <p:txBody>
          <a:bodyPr>
            <a:spAutoFit/>
          </a:bodyPr>
          <a:lstStyle/>
          <a:p>
            <a:endParaRPr lang="ru-RU"/>
          </a:p>
        </p:txBody>
      </p:sp>
      <p:sp>
        <p:nvSpPr>
          <p:cNvPr id="9220" name="Rectangle 9"/>
          <p:cNvSpPr>
            <a:spLocks noChangeArrowheads="1"/>
          </p:cNvSpPr>
          <p:nvPr/>
        </p:nvSpPr>
        <p:spPr bwMode="auto">
          <a:xfrm>
            <a:off x="2852738" y="3309938"/>
            <a:ext cx="9144000" cy="0"/>
          </a:xfrm>
          <a:prstGeom prst="rect">
            <a:avLst/>
          </a:prstGeom>
          <a:noFill/>
          <a:ln w="9525">
            <a:noFill/>
            <a:miter lim="800000"/>
            <a:headEnd/>
            <a:tailEnd/>
          </a:ln>
        </p:spPr>
        <p:txBody>
          <a:bodyPr>
            <a:spAutoFit/>
          </a:bodyPr>
          <a:lstStyle/>
          <a:p>
            <a:endParaRPr lang="ru-RU"/>
          </a:p>
        </p:txBody>
      </p:sp>
      <p:sp>
        <p:nvSpPr>
          <p:cNvPr id="9221" name="Rectangle 10"/>
          <p:cNvSpPr>
            <a:spLocks noChangeArrowheads="1"/>
          </p:cNvSpPr>
          <p:nvPr/>
        </p:nvSpPr>
        <p:spPr bwMode="auto">
          <a:xfrm>
            <a:off x="0" y="928670"/>
            <a:ext cx="9144000" cy="5016758"/>
          </a:xfrm>
          <a:prstGeom prst="rect">
            <a:avLst/>
          </a:prstGeom>
          <a:noFill/>
          <a:ln w="9525">
            <a:noFill/>
            <a:miter lim="800000"/>
            <a:headEnd/>
            <a:tailEnd/>
          </a:ln>
        </p:spPr>
        <p:txBody>
          <a:bodyPr>
            <a:spAutoFit/>
          </a:bodyPr>
          <a:lstStyle/>
          <a:p>
            <a:pPr indent="457200" algn="just"/>
            <a:r>
              <a:rPr lang="ru-RU" sz="3200" b="1" dirty="0"/>
              <a:t>«Белый шум»</a:t>
            </a:r>
            <a:r>
              <a:rPr lang="ru-RU" sz="3200" dirty="0"/>
              <a:t> - случайный процесс с постоянной спектральной плотностью мощности в полосе частот от          до        :                 . </a:t>
            </a:r>
          </a:p>
          <a:p>
            <a:pPr indent="457200" algn="just"/>
            <a:r>
              <a:rPr lang="ru-RU" sz="3200" dirty="0"/>
              <a:t>Корреляционная функция этого процесса</a:t>
            </a:r>
          </a:p>
          <a:p>
            <a:pPr indent="457200" algn="just"/>
            <a:endParaRPr lang="ru-RU" sz="3200" dirty="0"/>
          </a:p>
          <a:p>
            <a:pPr algn="just"/>
            <a:r>
              <a:rPr lang="ru-RU" sz="3200" dirty="0"/>
              <a:t>свидетельствует от </a:t>
            </a:r>
          </a:p>
          <a:p>
            <a:pPr algn="just"/>
            <a:r>
              <a:rPr lang="ru-RU" sz="3200" dirty="0"/>
              <a:t>отсутствии </a:t>
            </a:r>
          </a:p>
          <a:p>
            <a:pPr algn="just"/>
            <a:r>
              <a:rPr lang="ru-RU" sz="3200" dirty="0"/>
              <a:t>статистической связи </a:t>
            </a:r>
          </a:p>
          <a:p>
            <a:pPr algn="just"/>
            <a:r>
              <a:rPr lang="ru-RU" sz="3200" dirty="0"/>
              <a:t>между сечениями </a:t>
            </a:r>
          </a:p>
          <a:p>
            <a:pPr algn="just"/>
            <a:r>
              <a:rPr lang="ru-RU" sz="3200" dirty="0"/>
              <a:t>случайного процесса. </a:t>
            </a:r>
          </a:p>
        </p:txBody>
      </p:sp>
      <p:sp>
        <p:nvSpPr>
          <p:cNvPr id="5427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427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5301"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9397"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graphicFrame>
        <p:nvGraphicFramePr>
          <p:cNvPr id="59396" name="Object 4"/>
          <p:cNvGraphicFramePr>
            <a:graphicFrameLocks noChangeAspect="1"/>
          </p:cNvGraphicFramePr>
          <p:nvPr/>
        </p:nvGraphicFramePr>
        <p:xfrm>
          <a:off x="3143240" y="2071678"/>
          <a:ext cx="642942" cy="367388"/>
        </p:xfrm>
        <a:graphic>
          <a:graphicData uri="http://schemas.openxmlformats.org/presentationml/2006/ole">
            <mc:AlternateContent xmlns:mc="http://schemas.openxmlformats.org/markup-compatibility/2006">
              <mc:Choice xmlns:v="urn:schemas-microsoft-com:vml" Requires="v">
                <p:oleObj name="Equation" r:id="rId2" imgW="266353" imgH="126835" progId="">
                  <p:embed/>
                </p:oleObj>
              </mc:Choice>
              <mc:Fallback>
                <p:oleObj name="Equation" r:id="rId2" imgW="266353" imgH="126835" progId="">
                  <p:embed/>
                  <p:pic>
                    <p:nvPicPr>
                      <p:cNvPr id="0" name="Picture 3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43240" y="2071678"/>
                        <a:ext cx="642942" cy="3673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9399"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graphicFrame>
        <p:nvGraphicFramePr>
          <p:cNvPr id="59398" name="Object 6"/>
          <p:cNvGraphicFramePr>
            <a:graphicFrameLocks noChangeAspect="1"/>
          </p:cNvGraphicFramePr>
          <p:nvPr/>
        </p:nvGraphicFramePr>
        <p:xfrm>
          <a:off x="4500562" y="2000240"/>
          <a:ext cx="642942" cy="428628"/>
        </p:xfrm>
        <a:graphic>
          <a:graphicData uri="http://schemas.openxmlformats.org/presentationml/2006/ole">
            <mc:AlternateContent xmlns:mc="http://schemas.openxmlformats.org/markup-compatibility/2006">
              <mc:Choice xmlns:v="urn:schemas-microsoft-com:vml" Requires="v">
                <p:oleObj name="Equation" r:id="rId4" imgW="279400" imgH="139700" progId="">
                  <p:embed/>
                </p:oleObj>
              </mc:Choice>
              <mc:Fallback>
                <p:oleObj name="Equation" r:id="rId4" imgW="279400" imgH="139700" progId="">
                  <p:embed/>
                  <p:pic>
                    <p:nvPicPr>
                      <p:cNvPr id="0" name="Picture 3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00562" y="2000240"/>
                        <a:ext cx="642942" cy="42862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9401" name="Rectangle 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graphicFrame>
        <p:nvGraphicFramePr>
          <p:cNvPr id="59400" name="Object 8"/>
          <p:cNvGraphicFramePr>
            <a:graphicFrameLocks noChangeAspect="1"/>
          </p:cNvGraphicFramePr>
          <p:nvPr/>
        </p:nvGraphicFramePr>
        <p:xfrm>
          <a:off x="5357818" y="1785926"/>
          <a:ext cx="1756328" cy="857256"/>
        </p:xfrm>
        <a:graphic>
          <a:graphicData uri="http://schemas.openxmlformats.org/presentationml/2006/ole">
            <mc:AlternateContent xmlns:mc="http://schemas.openxmlformats.org/markup-compatibility/2006">
              <mc:Choice xmlns:v="urn:schemas-microsoft-com:vml" Requires="v">
                <p:oleObj name="Equation" r:id="rId6" imgW="799753" imgH="393529" progId="">
                  <p:embed/>
                </p:oleObj>
              </mc:Choice>
              <mc:Fallback>
                <p:oleObj name="Equation" r:id="rId6" imgW="799753" imgH="393529" progId="">
                  <p:embed/>
                  <p:pic>
                    <p:nvPicPr>
                      <p:cNvPr id="0" name="Picture 3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57818" y="1785926"/>
                        <a:ext cx="1756328" cy="8572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9403" name="Rectangle 1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graphicFrame>
        <p:nvGraphicFramePr>
          <p:cNvPr id="59402" name="Object 10"/>
          <p:cNvGraphicFramePr>
            <a:graphicFrameLocks noChangeAspect="1"/>
          </p:cNvGraphicFramePr>
          <p:nvPr/>
        </p:nvGraphicFramePr>
        <p:xfrm>
          <a:off x="1357290" y="2928934"/>
          <a:ext cx="2571768" cy="642942"/>
        </p:xfrm>
        <a:graphic>
          <a:graphicData uri="http://schemas.openxmlformats.org/presentationml/2006/ole">
            <mc:AlternateContent xmlns:mc="http://schemas.openxmlformats.org/markup-compatibility/2006">
              <mc:Choice xmlns:v="urn:schemas-microsoft-com:vml" Requires="v">
                <p:oleObj name="Equation" r:id="rId8" imgW="914400" imgH="228600" progId="">
                  <p:embed/>
                </p:oleObj>
              </mc:Choice>
              <mc:Fallback>
                <p:oleObj name="Equation" r:id="rId8" imgW="914400" imgH="228600" progId="">
                  <p:embed/>
                  <p:pic>
                    <p:nvPicPr>
                      <p:cNvPr id="0" name="Picture 3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357290" y="2928934"/>
                        <a:ext cx="2571768" cy="64294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Text Box 15"/>
          <p:cNvSpPr txBox="1">
            <a:spLocks noChangeArrowheads="1"/>
          </p:cNvSpPr>
          <p:nvPr/>
        </p:nvSpPr>
        <p:spPr bwMode="auto">
          <a:xfrm>
            <a:off x="857250" y="6400801"/>
            <a:ext cx="8286750" cy="424732"/>
          </a:xfrm>
          <a:prstGeom prst="rect">
            <a:avLst/>
          </a:prstGeom>
          <a:noFill/>
          <a:ln w="9525">
            <a:noFill/>
            <a:miter lim="800000"/>
            <a:headEnd/>
            <a:tailEnd/>
          </a:ln>
        </p:spPr>
        <p:txBody>
          <a:bodyPr wrap="square">
            <a:spAutoFit/>
          </a:bodyPr>
          <a:lstStyle/>
          <a:p>
            <a:pPr algn="ctr">
              <a:lnSpc>
                <a:spcPct val="90000"/>
              </a:lnSpc>
            </a:pPr>
            <a:r>
              <a:rPr lang="ru-RU" dirty="0"/>
              <a:t>Лекция </a:t>
            </a:r>
            <a:r>
              <a:rPr lang="en-US" dirty="0"/>
              <a:t>1</a:t>
            </a:r>
            <a:r>
              <a:rPr lang="ru-RU" dirty="0"/>
              <a:t>1. Вычисление АКФ и ВКФ и их применение</a:t>
            </a:r>
            <a:endParaRPr lang="ru-RU" i="1" dirty="0"/>
          </a:p>
        </p:txBody>
      </p:sp>
      <p:pic>
        <p:nvPicPr>
          <p:cNvPr id="59404" name="Picture 12" descr="http://upload.wikimedia.org/wikipedia/commons/0/02/White_noise_spectrum.png?uselang=ru"/>
          <p:cNvPicPr>
            <a:picLocks noChangeAspect="1" noChangeArrowheads="1"/>
          </p:cNvPicPr>
          <p:nvPr/>
        </p:nvPicPr>
        <p:blipFill>
          <a:blip r:embed="rId10" cstate="print"/>
          <a:srcRect/>
          <a:stretch>
            <a:fillRect/>
          </a:stretch>
        </p:blipFill>
        <p:spPr bwMode="auto">
          <a:xfrm>
            <a:off x="3635896" y="2708920"/>
            <a:ext cx="5760640" cy="4320480"/>
          </a:xfrm>
          <a:prstGeom prst="rect">
            <a:avLst/>
          </a:prstGeom>
          <a:noFill/>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descr="Large confetti"/>
          <p:cNvSpPr>
            <a:spLocks noChangeArrowheads="1"/>
          </p:cNvSpPr>
          <p:nvPr/>
        </p:nvSpPr>
        <p:spPr bwMode="auto">
          <a:xfrm>
            <a:off x="0" y="228600"/>
            <a:ext cx="9144000" cy="630238"/>
          </a:xfrm>
          <a:prstGeom prst="rect">
            <a:avLst/>
          </a:prstGeom>
          <a:noFill/>
          <a:ln w="9525">
            <a:noFill/>
            <a:miter lim="800000"/>
            <a:headEnd/>
            <a:tailEnd/>
          </a:ln>
        </p:spPr>
        <p:txBody>
          <a:bodyPr anchor="b"/>
          <a:lstStyle/>
          <a:p>
            <a:r>
              <a:rPr lang="ru-RU" sz="2800" b="1"/>
              <a:t>Методы и средства цифровой обработки информации</a:t>
            </a:r>
          </a:p>
        </p:txBody>
      </p:sp>
      <p:sp>
        <p:nvSpPr>
          <p:cNvPr id="9219" name="Rectangle 7"/>
          <p:cNvSpPr>
            <a:spLocks noChangeArrowheads="1"/>
          </p:cNvSpPr>
          <p:nvPr/>
        </p:nvSpPr>
        <p:spPr bwMode="auto">
          <a:xfrm>
            <a:off x="2971800" y="1657350"/>
            <a:ext cx="9144000" cy="0"/>
          </a:xfrm>
          <a:prstGeom prst="rect">
            <a:avLst/>
          </a:prstGeom>
          <a:noFill/>
          <a:ln w="9525">
            <a:noFill/>
            <a:miter lim="800000"/>
            <a:headEnd/>
            <a:tailEnd/>
          </a:ln>
        </p:spPr>
        <p:txBody>
          <a:bodyPr>
            <a:spAutoFit/>
          </a:bodyPr>
          <a:lstStyle/>
          <a:p>
            <a:endParaRPr lang="ru-RU"/>
          </a:p>
        </p:txBody>
      </p:sp>
      <p:sp>
        <p:nvSpPr>
          <p:cNvPr id="9220" name="Rectangle 9"/>
          <p:cNvSpPr>
            <a:spLocks noChangeArrowheads="1"/>
          </p:cNvSpPr>
          <p:nvPr/>
        </p:nvSpPr>
        <p:spPr bwMode="auto">
          <a:xfrm>
            <a:off x="2852738" y="3309938"/>
            <a:ext cx="9144000" cy="0"/>
          </a:xfrm>
          <a:prstGeom prst="rect">
            <a:avLst/>
          </a:prstGeom>
          <a:noFill/>
          <a:ln w="9525">
            <a:noFill/>
            <a:miter lim="800000"/>
            <a:headEnd/>
            <a:tailEnd/>
          </a:ln>
        </p:spPr>
        <p:txBody>
          <a:bodyPr>
            <a:spAutoFit/>
          </a:bodyPr>
          <a:lstStyle/>
          <a:p>
            <a:endParaRPr lang="ru-RU"/>
          </a:p>
        </p:txBody>
      </p:sp>
      <p:sp>
        <p:nvSpPr>
          <p:cNvPr id="9221" name="Rectangle 10"/>
          <p:cNvSpPr>
            <a:spLocks noChangeArrowheads="1"/>
          </p:cNvSpPr>
          <p:nvPr/>
        </p:nvSpPr>
        <p:spPr bwMode="auto">
          <a:xfrm>
            <a:off x="0" y="928670"/>
            <a:ext cx="9144000" cy="5324535"/>
          </a:xfrm>
          <a:prstGeom prst="rect">
            <a:avLst/>
          </a:prstGeom>
          <a:noFill/>
          <a:ln w="9525">
            <a:noFill/>
            <a:miter lim="800000"/>
            <a:headEnd/>
            <a:tailEnd/>
          </a:ln>
        </p:spPr>
        <p:txBody>
          <a:bodyPr>
            <a:spAutoFit/>
          </a:bodyPr>
          <a:lstStyle/>
          <a:p>
            <a:pPr indent="457200" algn="ctr"/>
            <a:r>
              <a:rPr lang="ru-RU" sz="2800" b="1" dirty="0"/>
              <a:t>«Цветные» шумы. Розовый шум.</a:t>
            </a:r>
          </a:p>
          <a:p>
            <a:pPr algn="just"/>
            <a:r>
              <a:rPr lang="ru-RU" sz="2600" dirty="0"/>
              <a:t>Спектральная плотность пропорциональна  . Спектральная плотность такого сигнала по сравнению с белым шумом затухает на 3 дБ на каждую октаву. Также называют токовым шумом – вызван флуктуациями сопротивления. Имеет </a:t>
            </a:r>
          </a:p>
          <a:p>
            <a:pPr algn="just"/>
            <a:r>
              <a:rPr lang="ru-RU" sz="2600" dirty="0"/>
              <a:t>наибольшее сходство со </a:t>
            </a:r>
          </a:p>
          <a:p>
            <a:pPr algn="just"/>
            <a:r>
              <a:rPr lang="ru-RU" sz="2600" dirty="0"/>
              <a:t>спектром речевого сигнала. </a:t>
            </a:r>
          </a:p>
          <a:p>
            <a:pPr algn="just"/>
            <a:r>
              <a:rPr lang="ru-RU" sz="2600" dirty="0"/>
              <a:t>Примеры: звук пролетающего</a:t>
            </a:r>
          </a:p>
          <a:p>
            <a:pPr algn="just"/>
            <a:r>
              <a:rPr lang="ru-RU" sz="2600" dirty="0">
                <a:hlinkClick r:id="rId2" tooltip="Вертолёт"/>
              </a:rPr>
              <a:t>вертолёта</a:t>
            </a:r>
            <a:r>
              <a:rPr lang="ru-RU" sz="2600" dirty="0"/>
              <a:t>, в сердечных </a:t>
            </a:r>
          </a:p>
          <a:p>
            <a:pPr algn="just"/>
            <a:r>
              <a:rPr lang="ru-RU" sz="2600" dirty="0"/>
              <a:t>ритмах, в графиках </a:t>
            </a:r>
          </a:p>
          <a:p>
            <a:pPr algn="just"/>
            <a:r>
              <a:rPr lang="ru-RU" sz="2600" dirty="0">
                <a:hlinkClick r:id="rId3" tooltip="Электроэнцефалограмма"/>
              </a:rPr>
              <a:t>электрической активности</a:t>
            </a:r>
          </a:p>
          <a:p>
            <a:pPr algn="just"/>
            <a:r>
              <a:rPr lang="ru-RU" sz="2600" dirty="0">
                <a:hlinkClick r:id="rId3" tooltip="Электроэнцефалограмма"/>
              </a:rPr>
              <a:t> мозга</a:t>
            </a:r>
            <a:r>
              <a:rPr lang="ru-RU" sz="2600" dirty="0"/>
              <a:t>, в электромагнитном </a:t>
            </a:r>
          </a:p>
          <a:p>
            <a:pPr algn="just"/>
            <a:r>
              <a:rPr lang="ru-RU" sz="2600" dirty="0"/>
              <a:t>излучении космических тел.</a:t>
            </a:r>
          </a:p>
        </p:txBody>
      </p:sp>
      <p:sp>
        <p:nvSpPr>
          <p:cNvPr id="5427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427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5301"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9397"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9399"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9401" name="Rectangle 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9403" name="Rectangle 1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18" name="Text Box 15"/>
          <p:cNvSpPr txBox="1">
            <a:spLocks noChangeArrowheads="1"/>
          </p:cNvSpPr>
          <p:nvPr/>
        </p:nvSpPr>
        <p:spPr bwMode="auto">
          <a:xfrm>
            <a:off x="857250" y="6400801"/>
            <a:ext cx="8286750" cy="424732"/>
          </a:xfrm>
          <a:prstGeom prst="rect">
            <a:avLst/>
          </a:prstGeom>
          <a:noFill/>
          <a:ln w="9525">
            <a:noFill/>
            <a:miter lim="800000"/>
            <a:headEnd/>
            <a:tailEnd/>
          </a:ln>
        </p:spPr>
        <p:txBody>
          <a:bodyPr wrap="square">
            <a:spAutoFit/>
          </a:bodyPr>
          <a:lstStyle/>
          <a:p>
            <a:pPr algn="ctr">
              <a:lnSpc>
                <a:spcPct val="90000"/>
              </a:lnSpc>
            </a:pPr>
            <a:r>
              <a:rPr lang="ru-RU" dirty="0"/>
              <a:t>Лекция </a:t>
            </a:r>
            <a:r>
              <a:rPr lang="en-US" dirty="0"/>
              <a:t>1</a:t>
            </a:r>
            <a:r>
              <a:rPr lang="ru-RU" dirty="0"/>
              <a:t>1. Вычисление АКФ и ВКФ и их применение</a:t>
            </a:r>
            <a:endParaRPr lang="ru-RU" i="1" dirty="0"/>
          </a:p>
        </p:txBody>
      </p:sp>
      <p:sp>
        <p:nvSpPr>
          <p:cNvPr id="71688"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graphicFrame>
        <p:nvGraphicFramePr>
          <p:cNvPr id="71687" name="Object 7"/>
          <p:cNvGraphicFramePr>
            <a:graphicFrameLocks noChangeAspect="1"/>
          </p:cNvGraphicFramePr>
          <p:nvPr/>
        </p:nvGraphicFramePr>
        <p:xfrm>
          <a:off x="6516216" y="1124744"/>
          <a:ext cx="417513" cy="965200"/>
        </p:xfrm>
        <a:graphic>
          <a:graphicData uri="http://schemas.openxmlformats.org/presentationml/2006/ole">
            <mc:AlternateContent xmlns:mc="http://schemas.openxmlformats.org/markup-compatibility/2006">
              <mc:Choice xmlns:v="urn:schemas-microsoft-com:vml" Requires="v">
                <p:oleObj name="Equation" r:id="rId4" imgW="177723" imgH="418918" progId="">
                  <p:embed/>
                </p:oleObj>
              </mc:Choice>
              <mc:Fallback>
                <p:oleObj name="Equation" r:id="rId4" imgW="177723" imgH="418918" progId="">
                  <p:embed/>
                  <p:pic>
                    <p:nvPicPr>
                      <p:cNvPr id="0" name="Picture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16216" y="1124744"/>
                        <a:ext cx="417513" cy="965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71689" name="Picture 9" descr="http://upload.wikimedia.org/wikipedia/commons/7/7a/Pink_noise_spectrum.png?uselang=ru"/>
          <p:cNvPicPr>
            <a:picLocks noChangeAspect="1" noChangeArrowheads="1"/>
          </p:cNvPicPr>
          <p:nvPr/>
        </p:nvPicPr>
        <p:blipFill>
          <a:blip r:embed="rId6" cstate="print"/>
          <a:srcRect/>
          <a:stretch>
            <a:fillRect/>
          </a:stretch>
        </p:blipFill>
        <p:spPr bwMode="auto">
          <a:xfrm>
            <a:off x="3864768" y="2852936"/>
            <a:ext cx="5459760" cy="4094820"/>
          </a:xfrm>
          <a:prstGeom prst="rect">
            <a:avLst/>
          </a:prstGeom>
          <a:no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descr="Large confetti"/>
          <p:cNvSpPr>
            <a:spLocks noChangeArrowheads="1"/>
          </p:cNvSpPr>
          <p:nvPr/>
        </p:nvSpPr>
        <p:spPr bwMode="auto">
          <a:xfrm>
            <a:off x="0" y="228600"/>
            <a:ext cx="9144000" cy="630238"/>
          </a:xfrm>
          <a:prstGeom prst="rect">
            <a:avLst/>
          </a:prstGeom>
          <a:noFill/>
          <a:ln w="9525">
            <a:noFill/>
            <a:miter lim="800000"/>
            <a:headEnd/>
            <a:tailEnd/>
          </a:ln>
        </p:spPr>
        <p:txBody>
          <a:bodyPr anchor="b"/>
          <a:lstStyle/>
          <a:p>
            <a:r>
              <a:rPr lang="ru-RU" sz="2800" b="1"/>
              <a:t>Методы и средства цифровой обработки информации</a:t>
            </a:r>
          </a:p>
        </p:txBody>
      </p:sp>
      <p:sp>
        <p:nvSpPr>
          <p:cNvPr id="9219" name="Rectangle 7"/>
          <p:cNvSpPr>
            <a:spLocks noChangeArrowheads="1"/>
          </p:cNvSpPr>
          <p:nvPr/>
        </p:nvSpPr>
        <p:spPr bwMode="auto">
          <a:xfrm>
            <a:off x="2971800" y="1657350"/>
            <a:ext cx="9144000" cy="0"/>
          </a:xfrm>
          <a:prstGeom prst="rect">
            <a:avLst/>
          </a:prstGeom>
          <a:noFill/>
          <a:ln w="9525">
            <a:noFill/>
            <a:miter lim="800000"/>
            <a:headEnd/>
            <a:tailEnd/>
          </a:ln>
        </p:spPr>
        <p:txBody>
          <a:bodyPr>
            <a:spAutoFit/>
          </a:bodyPr>
          <a:lstStyle/>
          <a:p>
            <a:endParaRPr lang="ru-RU"/>
          </a:p>
        </p:txBody>
      </p:sp>
      <p:sp>
        <p:nvSpPr>
          <p:cNvPr id="9220" name="Rectangle 9"/>
          <p:cNvSpPr>
            <a:spLocks noChangeArrowheads="1"/>
          </p:cNvSpPr>
          <p:nvPr/>
        </p:nvSpPr>
        <p:spPr bwMode="auto">
          <a:xfrm>
            <a:off x="2852738" y="3309938"/>
            <a:ext cx="9144000" cy="0"/>
          </a:xfrm>
          <a:prstGeom prst="rect">
            <a:avLst/>
          </a:prstGeom>
          <a:noFill/>
          <a:ln w="9525">
            <a:noFill/>
            <a:miter lim="800000"/>
            <a:headEnd/>
            <a:tailEnd/>
          </a:ln>
        </p:spPr>
        <p:txBody>
          <a:bodyPr>
            <a:spAutoFit/>
          </a:bodyPr>
          <a:lstStyle/>
          <a:p>
            <a:endParaRPr lang="ru-RU"/>
          </a:p>
        </p:txBody>
      </p:sp>
      <p:sp>
        <p:nvSpPr>
          <p:cNvPr id="9221" name="Rectangle 10"/>
          <p:cNvSpPr>
            <a:spLocks noChangeArrowheads="1"/>
          </p:cNvSpPr>
          <p:nvPr/>
        </p:nvSpPr>
        <p:spPr bwMode="auto">
          <a:xfrm>
            <a:off x="0" y="928670"/>
            <a:ext cx="9144000" cy="4031873"/>
          </a:xfrm>
          <a:prstGeom prst="rect">
            <a:avLst/>
          </a:prstGeom>
          <a:noFill/>
          <a:ln w="9525">
            <a:noFill/>
            <a:miter lim="800000"/>
            <a:headEnd/>
            <a:tailEnd/>
          </a:ln>
        </p:spPr>
        <p:txBody>
          <a:bodyPr>
            <a:spAutoFit/>
          </a:bodyPr>
          <a:lstStyle/>
          <a:p>
            <a:pPr algn="ctr"/>
            <a:r>
              <a:rPr lang="ru-RU" sz="3200" b="1" dirty="0"/>
              <a:t>«Цветные» шумы. </a:t>
            </a:r>
          </a:p>
          <a:p>
            <a:pPr algn="ctr"/>
            <a:r>
              <a:rPr lang="ru-RU" sz="3200" b="1" dirty="0"/>
              <a:t>Броуновский (коричневый, красный) шум.</a:t>
            </a:r>
          </a:p>
          <a:p>
            <a:pPr algn="just"/>
            <a:r>
              <a:rPr lang="ru-RU" dirty="0"/>
              <a:t>Спектральная плотность пропорциональна        . Спектральная плотность такого сигнала по сравнению с </a:t>
            </a:r>
          </a:p>
          <a:p>
            <a:pPr algn="just"/>
            <a:r>
              <a:rPr lang="ru-RU" dirty="0"/>
              <a:t>белым шумом затухает </a:t>
            </a:r>
          </a:p>
          <a:p>
            <a:pPr algn="just"/>
            <a:r>
              <a:rPr lang="ru-RU" dirty="0"/>
              <a:t>на 6 дБ на каждую октаву. </a:t>
            </a:r>
          </a:p>
          <a:p>
            <a:r>
              <a:rPr lang="ru-RU" dirty="0"/>
              <a:t>Акустический красный шум </a:t>
            </a:r>
          </a:p>
          <a:p>
            <a:r>
              <a:rPr lang="ru-RU" dirty="0"/>
              <a:t>слышится как приглушённый, </a:t>
            </a:r>
          </a:p>
          <a:p>
            <a:r>
              <a:rPr lang="ru-RU" dirty="0"/>
              <a:t>в сравнении с белым или </a:t>
            </a:r>
          </a:p>
          <a:p>
            <a:r>
              <a:rPr lang="ru-RU" dirty="0"/>
              <a:t>розовым шумом. </a:t>
            </a:r>
          </a:p>
        </p:txBody>
      </p:sp>
      <p:sp>
        <p:nvSpPr>
          <p:cNvPr id="5427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427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5301"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9397"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9399"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9401" name="Rectangle 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9403" name="Rectangle 1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18" name="Text Box 15"/>
          <p:cNvSpPr txBox="1">
            <a:spLocks noChangeArrowheads="1"/>
          </p:cNvSpPr>
          <p:nvPr/>
        </p:nvSpPr>
        <p:spPr bwMode="auto">
          <a:xfrm>
            <a:off x="857250" y="6400801"/>
            <a:ext cx="8286750" cy="424732"/>
          </a:xfrm>
          <a:prstGeom prst="rect">
            <a:avLst/>
          </a:prstGeom>
          <a:noFill/>
          <a:ln w="9525">
            <a:noFill/>
            <a:miter lim="800000"/>
            <a:headEnd/>
            <a:tailEnd/>
          </a:ln>
        </p:spPr>
        <p:txBody>
          <a:bodyPr wrap="square">
            <a:spAutoFit/>
          </a:bodyPr>
          <a:lstStyle/>
          <a:p>
            <a:pPr algn="ctr">
              <a:lnSpc>
                <a:spcPct val="90000"/>
              </a:lnSpc>
            </a:pPr>
            <a:r>
              <a:rPr lang="ru-RU" dirty="0"/>
              <a:t>Лекция </a:t>
            </a:r>
            <a:r>
              <a:rPr lang="en-US" dirty="0"/>
              <a:t>1</a:t>
            </a:r>
            <a:r>
              <a:rPr lang="ru-RU" dirty="0"/>
              <a:t>1. Вычисление АКФ и ВКФ и их применение</a:t>
            </a:r>
            <a:endParaRPr lang="ru-RU" i="1" dirty="0"/>
          </a:p>
        </p:txBody>
      </p:sp>
      <p:sp>
        <p:nvSpPr>
          <p:cNvPr id="71688"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graphicFrame>
        <p:nvGraphicFramePr>
          <p:cNvPr id="71687" name="Object 7"/>
          <p:cNvGraphicFramePr>
            <a:graphicFrameLocks noChangeAspect="1"/>
          </p:cNvGraphicFramePr>
          <p:nvPr/>
        </p:nvGraphicFramePr>
        <p:xfrm>
          <a:off x="6156176" y="1772816"/>
          <a:ext cx="566737" cy="965200"/>
        </p:xfrm>
        <a:graphic>
          <a:graphicData uri="http://schemas.openxmlformats.org/presentationml/2006/ole">
            <mc:AlternateContent xmlns:mc="http://schemas.openxmlformats.org/markup-compatibility/2006">
              <mc:Choice xmlns:v="urn:schemas-microsoft-com:vml" Requires="v">
                <p:oleObj name="Equation" r:id="rId2" imgW="241195" imgH="418918" progId="">
                  <p:embed/>
                </p:oleObj>
              </mc:Choice>
              <mc:Fallback>
                <p:oleObj name="Equation" r:id="rId2" imgW="241195" imgH="418918" progId="">
                  <p:embed/>
                  <p:pic>
                    <p:nvPicPr>
                      <p:cNvPr id="0"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56176" y="1772816"/>
                        <a:ext cx="566737" cy="965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78852" name="Picture 4" descr="http://upload.wikimedia.org/wikipedia/commons/1/1e/Brown_noise_spectrum.png?uselang=ru"/>
          <p:cNvPicPr>
            <a:picLocks noChangeAspect="1" noChangeArrowheads="1"/>
          </p:cNvPicPr>
          <p:nvPr/>
        </p:nvPicPr>
        <p:blipFill>
          <a:blip r:embed="rId4" cstate="print"/>
          <a:srcRect/>
          <a:stretch>
            <a:fillRect/>
          </a:stretch>
        </p:blipFill>
        <p:spPr bwMode="auto">
          <a:xfrm>
            <a:off x="3648744" y="2708920"/>
            <a:ext cx="5747792" cy="4310844"/>
          </a:xfrm>
          <a:prstGeom prst="rect">
            <a:avLst/>
          </a:prstGeom>
          <a:noFill/>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descr="Large confetti"/>
          <p:cNvSpPr>
            <a:spLocks noChangeArrowheads="1"/>
          </p:cNvSpPr>
          <p:nvPr/>
        </p:nvSpPr>
        <p:spPr bwMode="auto">
          <a:xfrm>
            <a:off x="0" y="228600"/>
            <a:ext cx="9144000" cy="630238"/>
          </a:xfrm>
          <a:prstGeom prst="rect">
            <a:avLst/>
          </a:prstGeom>
          <a:noFill/>
          <a:ln w="9525">
            <a:noFill/>
            <a:miter lim="800000"/>
            <a:headEnd/>
            <a:tailEnd/>
          </a:ln>
        </p:spPr>
        <p:txBody>
          <a:bodyPr anchor="b"/>
          <a:lstStyle/>
          <a:p>
            <a:r>
              <a:rPr lang="ru-RU" sz="2800" b="1"/>
              <a:t>Методы и средства цифровой обработки информации</a:t>
            </a:r>
          </a:p>
        </p:txBody>
      </p:sp>
      <p:sp>
        <p:nvSpPr>
          <p:cNvPr id="9219" name="Rectangle 7"/>
          <p:cNvSpPr>
            <a:spLocks noChangeArrowheads="1"/>
          </p:cNvSpPr>
          <p:nvPr/>
        </p:nvSpPr>
        <p:spPr bwMode="auto">
          <a:xfrm>
            <a:off x="2971800" y="1657350"/>
            <a:ext cx="9144000" cy="0"/>
          </a:xfrm>
          <a:prstGeom prst="rect">
            <a:avLst/>
          </a:prstGeom>
          <a:noFill/>
          <a:ln w="9525">
            <a:noFill/>
            <a:miter lim="800000"/>
            <a:headEnd/>
            <a:tailEnd/>
          </a:ln>
        </p:spPr>
        <p:txBody>
          <a:bodyPr>
            <a:spAutoFit/>
          </a:bodyPr>
          <a:lstStyle/>
          <a:p>
            <a:endParaRPr lang="ru-RU"/>
          </a:p>
        </p:txBody>
      </p:sp>
      <p:sp>
        <p:nvSpPr>
          <p:cNvPr id="9220" name="Rectangle 9"/>
          <p:cNvSpPr>
            <a:spLocks noChangeArrowheads="1"/>
          </p:cNvSpPr>
          <p:nvPr/>
        </p:nvSpPr>
        <p:spPr bwMode="auto">
          <a:xfrm>
            <a:off x="2852738" y="3309938"/>
            <a:ext cx="9144000" cy="0"/>
          </a:xfrm>
          <a:prstGeom prst="rect">
            <a:avLst/>
          </a:prstGeom>
          <a:noFill/>
          <a:ln w="9525">
            <a:noFill/>
            <a:miter lim="800000"/>
            <a:headEnd/>
            <a:tailEnd/>
          </a:ln>
        </p:spPr>
        <p:txBody>
          <a:bodyPr>
            <a:spAutoFit/>
          </a:bodyPr>
          <a:lstStyle/>
          <a:p>
            <a:endParaRPr lang="ru-RU"/>
          </a:p>
        </p:txBody>
      </p:sp>
      <p:sp>
        <p:nvSpPr>
          <p:cNvPr id="9221" name="Rectangle 10"/>
          <p:cNvSpPr>
            <a:spLocks noChangeArrowheads="1"/>
          </p:cNvSpPr>
          <p:nvPr/>
        </p:nvSpPr>
        <p:spPr bwMode="auto">
          <a:xfrm>
            <a:off x="0" y="928670"/>
            <a:ext cx="9144000" cy="5878532"/>
          </a:xfrm>
          <a:prstGeom prst="rect">
            <a:avLst/>
          </a:prstGeom>
          <a:noFill/>
          <a:ln w="9525">
            <a:noFill/>
            <a:miter lim="800000"/>
            <a:headEnd/>
            <a:tailEnd/>
          </a:ln>
        </p:spPr>
        <p:txBody>
          <a:bodyPr>
            <a:spAutoFit/>
          </a:bodyPr>
          <a:lstStyle/>
          <a:p>
            <a:pPr algn="ctr"/>
            <a:r>
              <a:rPr lang="ru-RU" sz="3200" b="1" dirty="0"/>
              <a:t>«Цветные» шумы. </a:t>
            </a:r>
          </a:p>
          <a:p>
            <a:pPr algn="ctr"/>
            <a:r>
              <a:rPr lang="ru-RU" sz="3200" b="1" dirty="0"/>
              <a:t>Броуновский (коричневый, красный) шум.</a:t>
            </a:r>
          </a:p>
          <a:p>
            <a:r>
              <a:rPr lang="ru-RU" dirty="0"/>
              <a:t>Может быть получен путем интегрирования белого шума, с помощью алгоритма, симулирующего броуновское движение. </a:t>
            </a:r>
          </a:p>
          <a:p>
            <a:r>
              <a:rPr lang="ru-RU" dirty="0"/>
              <a:t>Спектр красного шума зеркально противоположен спектру фиолетового. Коричневый и красный цвета спектрально весьма близки. Коричневый шум не назван в честь спектра мощности, что предполагает коричневый цвет, а, скорее в честь броуновского движения. </a:t>
            </a:r>
          </a:p>
          <a:p>
            <a:r>
              <a:rPr lang="ru-RU" dirty="0"/>
              <a:t>На слух броуновский шум воспринимается более «тёплым», чем белый. Также известен как шум случайных блужданий или шум пьяной ходьбы; естественный шум, характерный для больших водоёмов — морей и океанов, поглощающих высокие частоты. Красный шум слышен с берега от отдалённых объектов, находящихся в океане.</a:t>
            </a:r>
          </a:p>
        </p:txBody>
      </p:sp>
      <p:sp>
        <p:nvSpPr>
          <p:cNvPr id="5427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427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5301"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9397"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9399"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9401" name="Rectangle 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9403" name="Rectangle 1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18" name="Text Box 15"/>
          <p:cNvSpPr txBox="1">
            <a:spLocks noChangeArrowheads="1"/>
          </p:cNvSpPr>
          <p:nvPr/>
        </p:nvSpPr>
        <p:spPr bwMode="auto">
          <a:xfrm>
            <a:off x="857250" y="6400801"/>
            <a:ext cx="8286750" cy="424732"/>
          </a:xfrm>
          <a:prstGeom prst="rect">
            <a:avLst/>
          </a:prstGeom>
          <a:noFill/>
          <a:ln w="9525">
            <a:noFill/>
            <a:miter lim="800000"/>
            <a:headEnd/>
            <a:tailEnd/>
          </a:ln>
        </p:spPr>
        <p:txBody>
          <a:bodyPr wrap="square">
            <a:spAutoFit/>
          </a:bodyPr>
          <a:lstStyle/>
          <a:p>
            <a:pPr algn="ctr">
              <a:lnSpc>
                <a:spcPct val="90000"/>
              </a:lnSpc>
            </a:pPr>
            <a:r>
              <a:rPr lang="ru-RU" dirty="0"/>
              <a:t>Лекция </a:t>
            </a:r>
            <a:r>
              <a:rPr lang="en-US" dirty="0"/>
              <a:t>1</a:t>
            </a:r>
            <a:r>
              <a:rPr lang="ru-RU" dirty="0"/>
              <a:t>1. Вычисление АКФ и ВКФ и их применение</a:t>
            </a:r>
            <a:endParaRPr lang="ru-RU" i="1" dirty="0"/>
          </a:p>
        </p:txBody>
      </p:sp>
      <p:sp>
        <p:nvSpPr>
          <p:cNvPr id="71688"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descr="Large confetti"/>
          <p:cNvSpPr>
            <a:spLocks noChangeArrowheads="1"/>
          </p:cNvSpPr>
          <p:nvPr/>
        </p:nvSpPr>
        <p:spPr bwMode="auto">
          <a:xfrm>
            <a:off x="0" y="228600"/>
            <a:ext cx="9144000" cy="630238"/>
          </a:xfrm>
          <a:prstGeom prst="rect">
            <a:avLst/>
          </a:prstGeom>
          <a:noFill/>
          <a:ln w="9525">
            <a:noFill/>
            <a:miter lim="800000"/>
            <a:headEnd/>
            <a:tailEnd/>
          </a:ln>
        </p:spPr>
        <p:txBody>
          <a:bodyPr anchor="b"/>
          <a:lstStyle/>
          <a:p>
            <a:r>
              <a:rPr lang="ru-RU" sz="2800" b="1"/>
              <a:t>Методы и средства цифровой обработки информации</a:t>
            </a:r>
          </a:p>
        </p:txBody>
      </p:sp>
      <p:sp>
        <p:nvSpPr>
          <p:cNvPr id="9219" name="Rectangle 7"/>
          <p:cNvSpPr>
            <a:spLocks noChangeArrowheads="1"/>
          </p:cNvSpPr>
          <p:nvPr/>
        </p:nvSpPr>
        <p:spPr bwMode="auto">
          <a:xfrm>
            <a:off x="2971800" y="1657350"/>
            <a:ext cx="9144000" cy="0"/>
          </a:xfrm>
          <a:prstGeom prst="rect">
            <a:avLst/>
          </a:prstGeom>
          <a:noFill/>
          <a:ln w="9525">
            <a:noFill/>
            <a:miter lim="800000"/>
            <a:headEnd/>
            <a:tailEnd/>
          </a:ln>
        </p:spPr>
        <p:txBody>
          <a:bodyPr>
            <a:spAutoFit/>
          </a:bodyPr>
          <a:lstStyle/>
          <a:p>
            <a:endParaRPr lang="ru-RU"/>
          </a:p>
        </p:txBody>
      </p:sp>
      <p:sp>
        <p:nvSpPr>
          <p:cNvPr id="9220" name="Rectangle 9"/>
          <p:cNvSpPr>
            <a:spLocks noChangeArrowheads="1"/>
          </p:cNvSpPr>
          <p:nvPr/>
        </p:nvSpPr>
        <p:spPr bwMode="auto">
          <a:xfrm>
            <a:off x="2852738" y="3309938"/>
            <a:ext cx="9144000" cy="0"/>
          </a:xfrm>
          <a:prstGeom prst="rect">
            <a:avLst/>
          </a:prstGeom>
          <a:noFill/>
          <a:ln w="9525">
            <a:noFill/>
            <a:miter lim="800000"/>
            <a:headEnd/>
            <a:tailEnd/>
          </a:ln>
        </p:spPr>
        <p:txBody>
          <a:bodyPr>
            <a:spAutoFit/>
          </a:bodyPr>
          <a:lstStyle/>
          <a:p>
            <a:endParaRPr lang="ru-RU"/>
          </a:p>
        </p:txBody>
      </p:sp>
      <p:sp>
        <p:nvSpPr>
          <p:cNvPr id="9221" name="Rectangle 10"/>
          <p:cNvSpPr>
            <a:spLocks noChangeArrowheads="1"/>
          </p:cNvSpPr>
          <p:nvPr/>
        </p:nvSpPr>
        <p:spPr bwMode="auto">
          <a:xfrm>
            <a:off x="0" y="928670"/>
            <a:ext cx="9144000" cy="4462760"/>
          </a:xfrm>
          <a:prstGeom prst="rect">
            <a:avLst/>
          </a:prstGeom>
          <a:noFill/>
          <a:ln w="9525">
            <a:noFill/>
            <a:miter lim="800000"/>
            <a:headEnd/>
            <a:tailEnd/>
          </a:ln>
        </p:spPr>
        <p:txBody>
          <a:bodyPr>
            <a:spAutoFit/>
          </a:bodyPr>
          <a:lstStyle/>
          <a:p>
            <a:pPr algn="ctr"/>
            <a:r>
              <a:rPr lang="ru-RU" sz="3200" b="1" dirty="0"/>
              <a:t>«Цветные» шумы. </a:t>
            </a:r>
            <a:r>
              <a:rPr lang="ru-RU" sz="3200" b="1" dirty="0">
                <a:latin typeface="Times New Roman"/>
                <a:ea typeface="Times New Roman"/>
              </a:rPr>
              <a:t>Синий</a:t>
            </a:r>
            <a:r>
              <a:rPr lang="ru-RU" sz="3200" b="1" dirty="0"/>
              <a:t> шум.</a:t>
            </a:r>
          </a:p>
          <a:p>
            <a:pPr>
              <a:spcAft>
                <a:spcPts val="0"/>
              </a:spcAft>
            </a:pPr>
            <a:r>
              <a:rPr lang="ru-RU" sz="2800" dirty="0">
                <a:latin typeface="Times New Roman"/>
                <a:ea typeface="Times New Roman"/>
              </a:rPr>
              <a:t>Спектральная плотность пропорциональна       . Спектральная плотность по сравнению с белым шумом увеличивается на 3 дБ на </a:t>
            </a:r>
          </a:p>
          <a:p>
            <a:pPr>
              <a:spcAft>
                <a:spcPts val="0"/>
              </a:spcAft>
            </a:pPr>
            <a:r>
              <a:rPr lang="ru-RU" sz="2800" dirty="0">
                <a:latin typeface="Times New Roman"/>
                <a:ea typeface="Times New Roman"/>
              </a:rPr>
              <a:t>каждую октаву. Спектр </a:t>
            </a:r>
          </a:p>
          <a:p>
            <a:pPr>
              <a:spcAft>
                <a:spcPts val="0"/>
              </a:spcAft>
            </a:pPr>
            <a:r>
              <a:rPr lang="ru-RU" sz="2800" dirty="0">
                <a:latin typeface="Times New Roman"/>
                <a:ea typeface="Times New Roman"/>
              </a:rPr>
              <a:t>Зеркален со спектром </a:t>
            </a:r>
          </a:p>
          <a:p>
            <a:pPr>
              <a:spcAft>
                <a:spcPts val="0"/>
              </a:spcAft>
            </a:pPr>
            <a:r>
              <a:rPr lang="ru-RU" sz="2800" dirty="0">
                <a:latin typeface="Times New Roman"/>
                <a:ea typeface="Times New Roman"/>
              </a:rPr>
              <a:t>розового шума.</a:t>
            </a:r>
            <a:r>
              <a:rPr lang="ru-RU" sz="2800" dirty="0"/>
              <a:t> На слух </a:t>
            </a:r>
          </a:p>
          <a:p>
            <a:pPr>
              <a:spcAft>
                <a:spcPts val="0"/>
              </a:spcAft>
            </a:pPr>
            <a:r>
              <a:rPr lang="ru-RU" sz="2800" dirty="0"/>
              <a:t>синий шум </a:t>
            </a:r>
          </a:p>
          <a:p>
            <a:pPr>
              <a:spcAft>
                <a:spcPts val="0"/>
              </a:spcAft>
            </a:pPr>
            <a:r>
              <a:rPr lang="ru-RU" sz="2800" dirty="0"/>
              <a:t>воспринимается более </a:t>
            </a:r>
          </a:p>
          <a:p>
            <a:pPr>
              <a:spcAft>
                <a:spcPts val="0"/>
              </a:spcAft>
            </a:pPr>
            <a:r>
              <a:rPr lang="ru-RU" sz="2800" dirty="0"/>
              <a:t>резким, нежели белый. .</a:t>
            </a:r>
            <a:endParaRPr lang="ru-RU" sz="2800" dirty="0">
              <a:latin typeface="Times New Roman"/>
              <a:ea typeface="Times New Roman"/>
            </a:endParaRPr>
          </a:p>
        </p:txBody>
      </p:sp>
      <p:sp>
        <p:nvSpPr>
          <p:cNvPr id="5427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427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5301"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9397"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9399"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9401" name="Rectangle 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9403" name="Rectangle 1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18" name="Text Box 15"/>
          <p:cNvSpPr txBox="1">
            <a:spLocks noChangeArrowheads="1"/>
          </p:cNvSpPr>
          <p:nvPr/>
        </p:nvSpPr>
        <p:spPr bwMode="auto">
          <a:xfrm>
            <a:off x="857250" y="6400801"/>
            <a:ext cx="8286750" cy="424732"/>
          </a:xfrm>
          <a:prstGeom prst="rect">
            <a:avLst/>
          </a:prstGeom>
          <a:noFill/>
          <a:ln w="9525">
            <a:noFill/>
            <a:miter lim="800000"/>
            <a:headEnd/>
            <a:tailEnd/>
          </a:ln>
        </p:spPr>
        <p:txBody>
          <a:bodyPr wrap="square">
            <a:spAutoFit/>
          </a:bodyPr>
          <a:lstStyle/>
          <a:p>
            <a:pPr algn="ctr">
              <a:lnSpc>
                <a:spcPct val="90000"/>
              </a:lnSpc>
            </a:pPr>
            <a:r>
              <a:rPr lang="ru-RU" dirty="0"/>
              <a:t>Лекция </a:t>
            </a:r>
            <a:r>
              <a:rPr lang="en-US" dirty="0"/>
              <a:t>1</a:t>
            </a:r>
            <a:r>
              <a:rPr lang="ru-RU" dirty="0"/>
              <a:t>1. Вычисление АКФ и ВКФ и их применение</a:t>
            </a:r>
            <a:endParaRPr lang="ru-RU" i="1" dirty="0"/>
          </a:p>
        </p:txBody>
      </p:sp>
      <p:sp>
        <p:nvSpPr>
          <p:cNvPr id="71688"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pic>
        <p:nvPicPr>
          <p:cNvPr id="94212" name="Picture 4" descr="http://upload.wikimedia.org/wikipedia/commons/5/55/Blue_noise_spectrum.png?uselang=ru"/>
          <p:cNvPicPr>
            <a:picLocks noChangeAspect="1" noChangeArrowheads="1"/>
          </p:cNvPicPr>
          <p:nvPr/>
        </p:nvPicPr>
        <p:blipFill>
          <a:blip r:embed="rId2" cstate="print"/>
          <a:srcRect/>
          <a:stretch>
            <a:fillRect/>
          </a:stretch>
        </p:blipFill>
        <p:spPr bwMode="auto">
          <a:xfrm>
            <a:off x="3563888" y="2276872"/>
            <a:ext cx="5819800" cy="4364850"/>
          </a:xfrm>
          <a:prstGeom prst="rect">
            <a:avLst/>
          </a:prstGeom>
          <a:noFill/>
        </p:spPr>
      </p:pic>
      <p:graphicFrame>
        <p:nvGraphicFramePr>
          <p:cNvPr id="94213" name="Object 5"/>
          <p:cNvGraphicFramePr>
            <a:graphicFrameLocks noChangeAspect="1"/>
          </p:cNvGraphicFramePr>
          <p:nvPr/>
        </p:nvGraphicFramePr>
        <p:xfrm>
          <a:off x="6805513" y="1460500"/>
          <a:ext cx="358775" cy="468313"/>
        </p:xfrm>
        <a:graphic>
          <a:graphicData uri="http://schemas.openxmlformats.org/presentationml/2006/ole">
            <mc:AlternateContent xmlns:mc="http://schemas.openxmlformats.org/markup-compatibility/2006">
              <mc:Choice xmlns:v="urn:schemas-microsoft-com:vml" Requires="v">
                <p:oleObj name="Equation" r:id="rId3" imgW="152268" imgH="203024" progId="">
                  <p:embed/>
                </p:oleObj>
              </mc:Choice>
              <mc:Fallback>
                <p:oleObj name="Equation" r:id="rId3" imgW="152268" imgH="203024" progId="">
                  <p:embed/>
                  <p:pic>
                    <p:nvPicPr>
                      <p:cNvPr id="0" name="Picture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05513" y="1460500"/>
                        <a:ext cx="358775" cy="468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descr="Large confetti"/>
          <p:cNvSpPr>
            <a:spLocks noChangeArrowheads="1"/>
          </p:cNvSpPr>
          <p:nvPr/>
        </p:nvSpPr>
        <p:spPr bwMode="auto">
          <a:xfrm>
            <a:off x="0" y="228600"/>
            <a:ext cx="9144000" cy="630238"/>
          </a:xfrm>
          <a:prstGeom prst="rect">
            <a:avLst/>
          </a:prstGeom>
          <a:noFill/>
          <a:ln w="9525">
            <a:noFill/>
            <a:miter lim="800000"/>
            <a:headEnd/>
            <a:tailEnd/>
          </a:ln>
        </p:spPr>
        <p:txBody>
          <a:bodyPr anchor="b"/>
          <a:lstStyle/>
          <a:p>
            <a:r>
              <a:rPr lang="ru-RU" sz="2800" b="1" dirty="0"/>
              <a:t>Методы и средства цифровой обработки информации</a:t>
            </a:r>
          </a:p>
        </p:txBody>
      </p:sp>
      <p:sp>
        <p:nvSpPr>
          <p:cNvPr id="9219" name="Rectangle 7"/>
          <p:cNvSpPr>
            <a:spLocks noChangeArrowheads="1"/>
          </p:cNvSpPr>
          <p:nvPr/>
        </p:nvSpPr>
        <p:spPr bwMode="auto">
          <a:xfrm>
            <a:off x="2971800" y="1657350"/>
            <a:ext cx="9144000" cy="0"/>
          </a:xfrm>
          <a:prstGeom prst="rect">
            <a:avLst/>
          </a:prstGeom>
          <a:noFill/>
          <a:ln w="9525">
            <a:noFill/>
            <a:miter lim="800000"/>
            <a:headEnd/>
            <a:tailEnd/>
          </a:ln>
        </p:spPr>
        <p:txBody>
          <a:bodyPr>
            <a:spAutoFit/>
          </a:bodyPr>
          <a:lstStyle/>
          <a:p>
            <a:endParaRPr lang="ru-RU"/>
          </a:p>
        </p:txBody>
      </p:sp>
      <p:sp>
        <p:nvSpPr>
          <p:cNvPr id="9220" name="Rectangle 9"/>
          <p:cNvSpPr>
            <a:spLocks noChangeArrowheads="1"/>
          </p:cNvSpPr>
          <p:nvPr/>
        </p:nvSpPr>
        <p:spPr bwMode="auto">
          <a:xfrm>
            <a:off x="2852738" y="3309938"/>
            <a:ext cx="9144000" cy="0"/>
          </a:xfrm>
          <a:prstGeom prst="rect">
            <a:avLst/>
          </a:prstGeom>
          <a:noFill/>
          <a:ln w="9525">
            <a:noFill/>
            <a:miter lim="800000"/>
            <a:headEnd/>
            <a:tailEnd/>
          </a:ln>
        </p:spPr>
        <p:txBody>
          <a:bodyPr>
            <a:spAutoFit/>
          </a:bodyPr>
          <a:lstStyle/>
          <a:p>
            <a:endParaRPr lang="ru-RU"/>
          </a:p>
        </p:txBody>
      </p:sp>
      <p:sp>
        <p:nvSpPr>
          <p:cNvPr id="9221" name="Rectangle 10"/>
          <p:cNvSpPr>
            <a:spLocks noChangeArrowheads="1"/>
          </p:cNvSpPr>
          <p:nvPr/>
        </p:nvSpPr>
        <p:spPr bwMode="auto">
          <a:xfrm>
            <a:off x="0" y="928670"/>
            <a:ext cx="9144000" cy="3170099"/>
          </a:xfrm>
          <a:prstGeom prst="rect">
            <a:avLst/>
          </a:prstGeom>
          <a:noFill/>
          <a:ln w="9525">
            <a:noFill/>
            <a:miter lim="800000"/>
            <a:headEnd/>
            <a:tailEnd/>
          </a:ln>
        </p:spPr>
        <p:txBody>
          <a:bodyPr>
            <a:spAutoFit/>
          </a:bodyPr>
          <a:lstStyle/>
          <a:p>
            <a:pPr algn="ctr"/>
            <a:r>
              <a:rPr lang="ru-RU" sz="3200" b="1" dirty="0"/>
              <a:t>«Цветные» шумы. </a:t>
            </a:r>
            <a:r>
              <a:rPr lang="ru-RU" sz="3200" b="1" dirty="0">
                <a:latin typeface="Times New Roman"/>
                <a:ea typeface="Times New Roman"/>
              </a:rPr>
              <a:t>Фиолетовый </a:t>
            </a:r>
            <a:r>
              <a:rPr lang="ru-RU" sz="3200" b="1" dirty="0"/>
              <a:t>шум.</a:t>
            </a:r>
          </a:p>
          <a:p>
            <a:pPr>
              <a:spcAft>
                <a:spcPts val="0"/>
              </a:spcAft>
            </a:pPr>
            <a:r>
              <a:rPr lang="ru-RU" sz="2800" dirty="0">
                <a:latin typeface="Times New Roman"/>
                <a:ea typeface="Times New Roman"/>
              </a:rPr>
              <a:t>Спектральная плотность пропорциональна     . Спектральная плотность увеличивается на 6 дБ на октаву. Спектр фиолетового шума  </a:t>
            </a:r>
          </a:p>
          <a:p>
            <a:pPr>
              <a:spcAft>
                <a:spcPts val="0"/>
              </a:spcAft>
            </a:pPr>
            <a:r>
              <a:rPr lang="ru-RU" sz="2800" dirty="0">
                <a:latin typeface="Times New Roman"/>
                <a:ea typeface="Times New Roman"/>
              </a:rPr>
              <a:t>зеркально </a:t>
            </a:r>
          </a:p>
          <a:p>
            <a:pPr>
              <a:spcAft>
                <a:spcPts val="0"/>
              </a:spcAft>
            </a:pPr>
            <a:r>
              <a:rPr lang="ru-RU" sz="2800" dirty="0">
                <a:latin typeface="Times New Roman"/>
                <a:ea typeface="Times New Roman"/>
              </a:rPr>
              <a:t>противоположен спектру </a:t>
            </a:r>
          </a:p>
          <a:p>
            <a:pPr>
              <a:spcAft>
                <a:spcPts val="0"/>
              </a:spcAft>
            </a:pPr>
            <a:r>
              <a:rPr lang="ru-RU" sz="2800" dirty="0">
                <a:latin typeface="Times New Roman"/>
                <a:ea typeface="Times New Roman"/>
              </a:rPr>
              <a:t>броуновского шума.</a:t>
            </a:r>
          </a:p>
        </p:txBody>
      </p:sp>
      <p:sp>
        <p:nvSpPr>
          <p:cNvPr id="5427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427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5301"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9397"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9399"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9401" name="Rectangle 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9403" name="Rectangle 1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18" name="Text Box 15"/>
          <p:cNvSpPr txBox="1">
            <a:spLocks noChangeArrowheads="1"/>
          </p:cNvSpPr>
          <p:nvPr/>
        </p:nvSpPr>
        <p:spPr bwMode="auto">
          <a:xfrm>
            <a:off x="857250" y="6400801"/>
            <a:ext cx="8286750" cy="424732"/>
          </a:xfrm>
          <a:prstGeom prst="rect">
            <a:avLst/>
          </a:prstGeom>
          <a:noFill/>
          <a:ln w="9525">
            <a:noFill/>
            <a:miter lim="800000"/>
            <a:headEnd/>
            <a:tailEnd/>
          </a:ln>
        </p:spPr>
        <p:txBody>
          <a:bodyPr wrap="square">
            <a:spAutoFit/>
          </a:bodyPr>
          <a:lstStyle/>
          <a:p>
            <a:pPr algn="ctr">
              <a:lnSpc>
                <a:spcPct val="90000"/>
              </a:lnSpc>
            </a:pPr>
            <a:r>
              <a:rPr lang="ru-RU" dirty="0"/>
              <a:t>Лекция </a:t>
            </a:r>
            <a:r>
              <a:rPr lang="en-US" dirty="0"/>
              <a:t>1</a:t>
            </a:r>
            <a:r>
              <a:rPr lang="ru-RU" dirty="0"/>
              <a:t>1. Вычисление АКФ и ВКФ и их применение</a:t>
            </a:r>
            <a:endParaRPr lang="ru-RU" i="1" dirty="0"/>
          </a:p>
        </p:txBody>
      </p:sp>
      <p:sp>
        <p:nvSpPr>
          <p:cNvPr id="71688"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pic>
        <p:nvPicPr>
          <p:cNvPr id="95236" name="Picture 4" descr="http://upload.wikimedia.org/wikipedia/commons/8/87/Purple_noise_spectrum.png?uselang=ru"/>
          <p:cNvPicPr>
            <a:picLocks noChangeAspect="1" noChangeArrowheads="1"/>
          </p:cNvPicPr>
          <p:nvPr/>
        </p:nvPicPr>
        <p:blipFill>
          <a:blip r:embed="rId3" cstate="print"/>
          <a:srcRect/>
          <a:stretch>
            <a:fillRect/>
          </a:stretch>
        </p:blipFill>
        <p:spPr bwMode="auto">
          <a:xfrm>
            <a:off x="3563888" y="2492896"/>
            <a:ext cx="5820139" cy="4365104"/>
          </a:xfrm>
          <a:prstGeom prst="rect">
            <a:avLst/>
          </a:prstGeom>
          <a:noFill/>
        </p:spPr>
      </p:pic>
      <p:graphicFrame>
        <p:nvGraphicFramePr>
          <p:cNvPr id="95237" name="Object 5"/>
          <p:cNvGraphicFramePr>
            <a:graphicFrameLocks noChangeAspect="1"/>
          </p:cNvGraphicFramePr>
          <p:nvPr/>
        </p:nvGraphicFramePr>
        <p:xfrm>
          <a:off x="6758458" y="1463378"/>
          <a:ext cx="477838" cy="525462"/>
        </p:xfrm>
        <a:graphic>
          <a:graphicData uri="http://schemas.openxmlformats.org/presentationml/2006/ole">
            <mc:AlternateContent xmlns:mc="http://schemas.openxmlformats.org/markup-compatibility/2006">
              <mc:Choice xmlns:v="urn:schemas-microsoft-com:vml" Requires="v">
                <p:oleObj name="Equation" r:id="rId4" imgW="203112" imgH="228501" progId="">
                  <p:embed/>
                </p:oleObj>
              </mc:Choice>
              <mc:Fallback>
                <p:oleObj name="Equation" r:id="rId4" imgW="203112" imgH="228501" progId="">
                  <p:embed/>
                  <p:pic>
                    <p:nvPicPr>
                      <p:cNvPr id="0" name="Picture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58458" y="1463378"/>
                        <a:ext cx="477838" cy="5254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descr="Large confetti"/>
          <p:cNvSpPr>
            <a:spLocks noChangeArrowheads="1"/>
          </p:cNvSpPr>
          <p:nvPr/>
        </p:nvSpPr>
        <p:spPr bwMode="auto">
          <a:xfrm>
            <a:off x="0" y="228600"/>
            <a:ext cx="9144000" cy="630238"/>
          </a:xfrm>
          <a:prstGeom prst="rect">
            <a:avLst/>
          </a:prstGeom>
          <a:noFill/>
          <a:ln w="9525">
            <a:noFill/>
            <a:miter lim="800000"/>
            <a:headEnd/>
            <a:tailEnd/>
          </a:ln>
        </p:spPr>
        <p:txBody>
          <a:bodyPr anchor="b"/>
          <a:lstStyle/>
          <a:p>
            <a:r>
              <a:rPr lang="ru-RU" sz="2800" b="1" dirty="0"/>
              <a:t>Методы и средства цифровой обработки информации</a:t>
            </a:r>
          </a:p>
        </p:txBody>
      </p:sp>
      <p:sp>
        <p:nvSpPr>
          <p:cNvPr id="9219" name="Rectangle 7"/>
          <p:cNvSpPr>
            <a:spLocks noChangeArrowheads="1"/>
          </p:cNvSpPr>
          <p:nvPr/>
        </p:nvSpPr>
        <p:spPr bwMode="auto">
          <a:xfrm>
            <a:off x="2971800" y="1657350"/>
            <a:ext cx="9144000" cy="0"/>
          </a:xfrm>
          <a:prstGeom prst="rect">
            <a:avLst/>
          </a:prstGeom>
          <a:noFill/>
          <a:ln w="9525">
            <a:noFill/>
            <a:miter lim="800000"/>
            <a:headEnd/>
            <a:tailEnd/>
          </a:ln>
        </p:spPr>
        <p:txBody>
          <a:bodyPr>
            <a:spAutoFit/>
          </a:bodyPr>
          <a:lstStyle/>
          <a:p>
            <a:endParaRPr lang="ru-RU"/>
          </a:p>
        </p:txBody>
      </p:sp>
      <p:sp>
        <p:nvSpPr>
          <p:cNvPr id="9220" name="Rectangle 9"/>
          <p:cNvSpPr>
            <a:spLocks noChangeArrowheads="1"/>
          </p:cNvSpPr>
          <p:nvPr/>
        </p:nvSpPr>
        <p:spPr bwMode="auto">
          <a:xfrm>
            <a:off x="2852738" y="3309938"/>
            <a:ext cx="9144000" cy="0"/>
          </a:xfrm>
          <a:prstGeom prst="rect">
            <a:avLst/>
          </a:prstGeom>
          <a:noFill/>
          <a:ln w="9525">
            <a:noFill/>
            <a:miter lim="800000"/>
            <a:headEnd/>
            <a:tailEnd/>
          </a:ln>
        </p:spPr>
        <p:txBody>
          <a:bodyPr>
            <a:spAutoFit/>
          </a:bodyPr>
          <a:lstStyle/>
          <a:p>
            <a:endParaRPr lang="ru-RU"/>
          </a:p>
        </p:txBody>
      </p:sp>
      <p:sp>
        <p:nvSpPr>
          <p:cNvPr id="9221" name="Rectangle 10"/>
          <p:cNvSpPr>
            <a:spLocks noChangeArrowheads="1"/>
          </p:cNvSpPr>
          <p:nvPr/>
        </p:nvSpPr>
        <p:spPr bwMode="auto">
          <a:xfrm>
            <a:off x="0" y="928670"/>
            <a:ext cx="9144000" cy="4893647"/>
          </a:xfrm>
          <a:prstGeom prst="rect">
            <a:avLst/>
          </a:prstGeom>
          <a:noFill/>
          <a:ln w="9525">
            <a:noFill/>
            <a:miter lim="800000"/>
            <a:headEnd/>
            <a:tailEnd/>
          </a:ln>
        </p:spPr>
        <p:txBody>
          <a:bodyPr>
            <a:spAutoFit/>
          </a:bodyPr>
          <a:lstStyle/>
          <a:p>
            <a:pPr algn="ctr"/>
            <a:r>
              <a:rPr lang="ru-RU" sz="3200" b="1" dirty="0"/>
              <a:t>«Цветные» шумы. </a:t>
            </a:r>
            <a:r>
              <a:rPr lang="ru-RU" sz="3200" b="1" dirty="0">
                <a:latin typeface="Times New Roman"/>
                <a:ea typeface="Times New Roman"/>
              </a:rPr>
              <a:t>Серый </a:t>
            </a:r>
            <a:r>
              <a:rPr lang="ru-RU" sz="3200" b="1" dirty="0"/>
              <a:t>шум.</a:t>
            </a:r>
          </a:p>
          <a:p>
            <a:pPr>
              <a:spcAft>
                <a:spcPts val="0"/>
              </a:spcAft>
            </a:pPr>
            <a:r>
              <a:rPr lang="ru-RU" sz="2800" dirty="0">
                <a:latin typeface="Times New Roman"/>
                <a:ea typeface="Times New Roman"/>
              </a:rPr>
              <a:t>Серый шум относится к шумовому сигналу, который имеет одинаковую громкость для человеческого уха на всём диапазоне частот, </a:t>
            </a:r>
          </a:p>
          <a:p>
            <a:pPr>
              <a:spcAft>
                <a:spcPts val="0"/>
              </a:spcAft>
            </a:pPr>
            <a:r>
              <a:rPr lang="ru-RU" sz="2800" dirty="0">
                <a:latin typeface="Times New Roman"/>
                <a:ea typeface="Times New Roman"/>
              </a:rPr>
              <a:t>несмотря на </a:t>
            </a:r>
            <a:r>
              <a:rPr lang="ru-RU" sz="2800" dirty="0"/>
              <a:t>«провал» </a:t>
            </a:r>
          </a:p>
          <a:p>
            <a:pPr>
              <a:spcAft>
                <a:spcPts val="0"/>
              </a:spcAft>
            </a:pPr>
            <a:r>
              <a:rPr lang="ru-RU" sz="2800" dirty="0"/>
              <a:t>на средних частотах.</a:t>
            </a:r>
          </a:p>
          <a:p>
            <a:pPr>
              <a:spcAft>
                <a:spcPts val="0"/>
              </a:spcAft>
            </a:pPr>
            <a:r>
              <a:rPr lang="ru-RU" sz="2800" dirty="0">
                <a:latin typeface="Times New Roman"/>
                <a:ea typeface="Times New Roman"/>
              </a:rPr>
              <a:t>Спектр серого шума </a:t>
            </a:r>
          </a:p>
          <a:p>
            <a:pPr>
              <a:spcAft>
                <a:spcPts val="0"/>
              </a:spcAft>
            </a:pPr>
            <a:r>
              <a:rPr lang="ru-RU" sz="2800" dirty="0">
                <a:latin typeface="Times New Roman"/>
                <a:ea typeface="Times New Roman"/>
              </a:rPr>
              <a:t>получается, если </a:t>
            </a:r>
          </a:p>
          <a:p>
            <a:pPr>
              <a:spcAft>
                <a:spcPts val="0"/>
              </a:spcAft>
            </a:pPr>
            <a:r>
              <a:rPr lang="ru-RU" sz="2800" dirty="0">
                <a:latin typeface="Times New Roman"/>
                <a:ea typeface="Times New Roman"/>
              </a:rPr>
              <a:t>сложить спектры </a:t>
            </a:r>
          </a:p>
          <a:p>
            <a:pPr>
              <a:spcAft>
                <a:spcPts val="0"/>
              </a:spcAft>
            </a:pPr>
            <a:r>
              <a:rPr lang="ru-RU" sz="2800" dirty="0">
                <a:latin typeface="Times New Roman"/>
                <a:ea typeface="Times New Roman"/>
              </a:rPr>
              <a:t>броуновского и </a:t>
            </a:r>
          </a:p>
          <a:p>
            <a:pPr>
              <a:spcAft>
                <a:spcPts val="0"/>
              </a:spcAft>
            </a:pPr>
            <a:r>
              <a:rPr lang="ru-RU" sz="2800" dirty="0">
                <a:latin typeface="Times New Roman"/>
                <a:ea typeface="Times New Roman"/>
              </a:rPr>
              <a:t>фиолетового шумов.</a:t>
            </a:r>
          </a:p>
        </p:txBody>
      </p:sp>
      <p:sp>
        <p:nvSpPr>
          <p:cNvPr id="5427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427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5301"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9397"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9399"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9401" name="Rectangle 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9403" name="Rectangle 1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18" name="Text Box 15"/>
          <p:cNvSpPr txBox="1">
            <a:spLocks noChangeArrowheads="1"/>
          </p:cNvSpPr>
          <p:nvPr/>
        </p:nvSpPr>
        <p:spPr bwMode="auto">
          <a:xfrm>
            <a:off x="857250" y="6400801"/>
            <a:ext cx="8286750" cy="424732"/>
          </a:xfrm>
          <a:prstGeom prst="rect">
            <a:avLst/>
          </a:prstGeom>
          <a:noFill/>
          <a:ln w="9525">
            <a:noFill/>
            <a:miter lim="800000"/>
            <a:headEnd/>
            <a:tailEnd/>
          </a:ln>
        </p:spPr>
        <p:txBody>
          <a:bodyPr wrap="square">
            <a:spAutoFit/>
          </a:bodyPr>
          <a:lstStyle/>
          <a:p>
            <a:pPr algn="ctr">
              <a:lnSpc>
                <a:spcPct val="90000"/>
              </a:lnSpc>
            </a:pPr>
            <a:r>
              <a:rPr lang="ru-RU" dirty="0"/>
              <a:t>Лекция </a:t>
            </a:r>
            <a:r>
              <a:rPr lang="en-US" dirty="0"/>
              <a:t>1</a:t>
            </a:r>
            <a:r>
              <a:rPr lang="ru-RU" dirty="0"/>
              <a:t>1. Вычисление АКФ и ВКФ и их применение</a:t>
            </a:r>
            <a:endParaRPr lang="ru-RU" i="1" dirty="0"/>
          </a:p>
        </p:txBody>
      </p:sp>
      <p:sp>
        <p:nvSpPr>
          <p:cNvPr id="71688"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pic>
        <p:nvPicPr>
          <p:cNvPr id="96262" name="Picture 6" descr="http://upload.wikimedia.org/wikipedia/commons/7/75/Gray_noise_spectrum.png?uselang=ru"/>
          <p:cNvPicPr>
            <a:picLocks noChangeAspect="1" noChangeArrowheads="1"/>
          </p:cNvPicPr>
          <p:nvPr/>
        </p:nvPicPr>
        <p:blipFill>
          <a:blip r:embed="rId2" cstate="print"/>
          <a:srcRect/>
          <a:stretch>
            <a:fillRect/>
          </a:stretch>
        </p:blipFill>
        <p:spPr bwMode="auto">
          <a:xfrm>
            <a:off x="3120685" y="2348880"/>
            <a:ext cx="6275851" cy="4706888"/>
          </a:xfrm>
          <a:prstGeom prst="rect">
            <a:avLst/>
          </a:prstGeom>
          <a:noFill/>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Таблица 16"/>
          <p:cNvGraphicFramePr>
            <a:graphicFrameLocks noGrp="1"/>
          </p:cNvGraphicFramePr>
          <p:nvPr/>
        </p:nvGraphicFramePr>
        <p:xfrm>
          <a:off x="0" y="1500174"/>
          <a:ext cx="9144000" cy="5221058"/>
        </p:xfrm>
        <a:graphic>
          <a:graphicData uri="http://schemas.openxmlformats.org/drawingml/2006/table">
            <a:tbl>
              <a:tblPr/>
              <a:tblGrid>
                <a:gridCol w="1043608">
                  <a:extLst>
                    <a:ext uri="{9D8B030D-6E8A-4147-A177-3AD203B41FA5}">
                      <a16:colId xmlns:a16="http://schemas.microsoft.com/office/drawing/2014/main" val="20000"/>
                    </a:ext>
                  </a:extLst>
                </a:gridCol>
                <a:gridCol w="8100392">
                  <a:extLst>
                    <a:ext uri="{9D8B030D-6E8A-4147-A177-3AD203B41FA5}">
                      <a16:colId xmlns:a16="http://schemas.microsoft.com/office/drawing/2014/main" val="20001"/>
                    </a:ext>
                  </a:extLst>
                </a:gridCol>
              </a:tblGrid>
              <a:tr h="1136738">
                <a:tc>
                  <a:txBody>
                    <a:bodyPr/>
                    <a:lstStyle/>
                    <a:p>
                      <a:r>
                        <a:rPr lang="ru-RU" sz="2400" b="1" i="0" kern="1200" dirty="0" err="1">
                          <a:solidFill>
                            <a:schemeClr val="tx1"/>
                          </a:solidFill>
                          <a:latin typeface="+mn-lt"/>
                          <a:ea typeface="+mn-ea"/>
                          <a:cs typeface="+mn-cs"/>
                        </a:rPr>
                        <a:t>Оран-же</a:t>
                      </a:r>
                      <a:r>
                        <a:rPr lang="ru-RU" sz="2400" b="1" i="0" kern="1200" dirty="0">
                          <a:solidFill>
                            <a:schemeClr val="tx1"/>
                          </a:solidFill>
                          <a:latin typeface="+mn-lt"/>
                          <a:ea typeface="+mn-ea"/>
                          <a:cs typeface="+mn-cs"/>
                        </a:rPr>
                        <a:t>-</a:t>
                      </a:r>
                    </a:p>
                    <a:p>
                      <a:r>
                        <a:rPr lang="ru-RU" sz="2400" b="1" i="0" kern="1200" dirty="0">
                          <a:solidFill>
                            <a:schemeClr val="tx1"/>
                          </a:solidFill>
                          <a:latin typeface="+mn-lt"/>
                          <a:ea typeface="+mn-ea"/>
                          <a:cs typeface="+mn-cs"/>
                        </a:rPr>
                        <a:t>вый</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ru-RU" sz="2000" b="0" i="0" kern="1200" dirty="0" err="1">
                          <a:solidFill>
                            <a:schemeClr val="tx1"/>
                          </a:solidFill>
                          <a:latin typeface="+mn-lt"/>
                          <a:ea typeface="+mn-ea"/>
                          <a:cs typeface="+mn-cs"/>
                        </a:rPr>
                        <a:t>Квазистационарный</a:t>
                      </a:r>
                      <a:r>
                        <a:rPr lang="ru-RU" sz="2000" b="0" i="0" kern="1200" dirty="0">
                          <a:solidFill>
                            <a:schemeClr val="tx1"/>
                          </a:solidFill>
                          <a:latin typeface="+mn-lt"/>
                          <a:ea typeface="+mn-ea"/>
                          <a:cs typeface="+mn-cs"/>
                        </a:rPr>
                        <a:t> шум с конечной спектральной плотностью. Спектр такого шума имеет полоски нулевой энергии, рассеянные по всему спектру. Эти полоски располагаются на частотах музыкальных нот.</a:t>
                      </a:r>
                      <a:endParaRPr lang="ru-RU" sz="2000" dirty="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7200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2400" b="1" i="0" kern="1200" dirty="0" err="1">
                          <a:solidFill>
                            <a:schemeClr val="tx1"/>
                          </a:solidFill>
                          <a:latin typeface="+mn-lt"/>
                          <a:ea typeface="+mn-ea"/>
                          <a:cs typeface="+mn-cs"/>
                        </a:rPr>
                        <a:t>Зелё-ный</a:t>
                      </a:r>
                      <a:endParaRPr lang="ru-RU" sz="2400" b="1" i="0" kern="1200" dirty="0">
                        <a:solidFill>
                          <a:schemeClr val="tx1"/>
                        </a:solidFill>
                        <a:latin typeface="+mn-lt"/>
                        <a:ea typeface="+mn-ea"/>
                        <a:cs typeface="+mn-cs"/>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ru-RU" sz="2000" b="0" i="0" kern="1200" dirty="0">
                          <a:solidFill>
                            <a:schemeClr val="tx1"/>
                          </a:solidFill>
                          <a:latin typeface="+mn-lt"/>
                          <a:ea typeface="+mn-ea"/>
                          <a:cs typeface="+mn-cs"/>
                        </a:rPr>
                        <a:t>Шум естественной среды. Подобен розовому шуму с усиленной областью частот в районе 500 Гц.</a:t>
                      </a:r>
                      <a:endParaRPr lang="ru-RU" sz="2000" dirty="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61926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2400" b="1" i="0" kern="1200" dirty="0" err="1">
                          <a:solidFill>
                            <a:schemeClr val="tx1"/>
                          </a:solidFill>
                          <a:latin typeface="+mn-lt"/>
                          <a:ea typeface="+mn-ea"/>
                          <a:cs typeface="+mn-cs"/>
                        </a:rPr>
                        <a:t>Чёр</a:t>
                      </a:r>
                      <a:r>
                        <a:rPr lang="ru-RU" sz="2400" b="1" i="0" kern="1200" dirty="0">
                          <a:solidFill>
                            <a:schemeClr val="tx1"/>
                          </a:solidFill>
                          <a:latin typeface="+mn-lt"/>
                          <a:ea typeface="+mn-ea"/>
                          <a:cs typeface="+mn-cs"/>
                        </a:rPr>
                        <a:t>-</a:t>
                      </a:r>
                    </a:p>
                    <a:p>
                      <a:pPr marL="0" marR="0" indent="0" algn="l" defTabSz="914400" rtl="0" eaLnBrk="1" fontAlgn="auto" latinLnBrk="0" hangingPunct="1">
                        <a:lnSpc>
                          <a:spcPct val="100000"/>
                        </a:lnSpc>
                        <a:spcBef>
                          <a:spcPts val="0"/>
                        </a:spcBef>
                        <a:spcAft>
                          <a:spcPts val="0"/>
                        </a:spcAft>
                        <a:buClrTx/>
                        <a:buSzTx/>
                        <a:buFontTx/>
                        <a:buNone/>
                        <a:tabLst/>
                        <a:defRPr/>
                      </a:pPr>
                      <a:r>
                        <a:rPr lang="ru-RU" sz="2400" b="1" i="0" kern="1200" dirty="0" err="1">
                          <a:solidFill>
                            <a:schemeClr val="tx1"/>
                          </a:solidFill>
                          <a:latin typeface="+mn-lt"/>
                          <a:ea typeface="+mn-ea"/>
                          <a:cs typeface="+mn-cs"/>
                        </a:rPr>
                        <a:t>ный</a:t>
                      </a:r>
                      <a:endParaRPr lang="ru-RU" sz="2400" b="1" i="0" kern="1200" dirty="0">
                        <a:solidFill>
                          <a:schemeClr val="tx1"/>
                        </a:solidFill>
                        <a:latin typeface="+mn-lt"/>
                        <a:ea typeface="+mn-ea"/>
                        <a:cs typeface="+mn-cs"/>
                      </a:endParaRPr>
                    </a:p>
                    <a:p>
                      <a:pPr>
                        <a:spcAft>
                          <a:spcPts val="0"/>
                        </a:spcAft>
                      </a:pPr>
                      <a:endParaRPr lang="ru-RU" sz="2400" b="1" dirty="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buFont typeface="Arial" pitchFamily="34" charset="0"/>
                        <a:buChar char="•"/>
                      </a:pPr>
                      <a:r>
                        <a:rPr lang="ru-RU" sz="2000" b="0" i="0" kern="1200" dirty="0">
                          <a:solidFill>
                            <a:schemeClr val="tx1"/>
                          </a:solidFill>
                          <a:latin typeface="+mn-lt"/>
                          <a:ea typeface="+mn-ea"/>
                          <a:cs typeface="+mn-cs"/>
                        </a:rPr>
                        <a:t>Тишина</a:t>
                      </a:r>
                    </a:p>
                    <a:p>
                      <a:pPr>
                        <a:buFont typeface="Arial" pitchFamily="34" charset="0"/>
                        <a:buChar char="•"/>
                      </a:pPr>
                      <a:r>
                        <a:rPr lang="ru-RU" sz="2000" b="0" i="0" kern="1200" dirty="0">
                          <a:solidFill>
                            <a:schemeClr val="tx1"/>
                          </a:solidFill>
                          <a:latin typeface="+mn-lt"/>
                          <a:ea typeface="+mn-ea"/>
                          <a:cs typeface="+mn-cs"/>
                        </a:rPr>
                        <a:t>Шум со спектром 1/</a:t>
                      </a:r>
                      <a:r>
                        <a:rPr lang="ru-RU" sz="2000" b="0" i="0" kern="1200" dirty="0" err="1">
                          <a:solidFill>
                            <a:schemeClr val="tx1"/>
                          </a:solidFill>
                          <a:latin typeface="+mn-lt"/>
                          <a:ea typeface="+mn-ea"/>
                          <a:cs typeface="+mn-cs"/>
                        </a:rPr>
                        <a:t>f</a:t>
                      </a:r>
                      <a:r>
                        <a:rPr lang="ru-RU" sz="2000" b="0" i="0" kern="1200" baseline="30000" dirty="0" err="1">
                          <a:solidFill>
                            <a:schemeClr val="tx1"/>
                          </a:solidFill>
                          <a:latin typeface="+mn-lt"/>
                          <a:ea typeface="+mn-ea"/>
                          <a:cs typeface="+mn-cs"/>
                        </a:rPr>
                        <a:t>β</a:t>
                      </a:r>
                      <a:r>
                        <a:rPr lang="ru-RU" sz="2000" b="0" i="0" kern="1200" dirty="0">
                          <a:solidFill>
                            <a:schemeClr val="tx1"/>
                          </a:solidFill>
                          <a:latin typeface="+mn-lt"/>
                          <a:ea typeface="+mn-ea"/>
                          <a:cs typeface="+mn-cs"/>
                        </a:rPr>
                        <a:t>, где </a:t>
                      </a:r>
                      <a:r>
                        <a:rPr lang="ru-RU" sz="2000" b="0" i="0" kern="1200" dirty="0" err="1">
                          <a:solidFill>
                            <a:schemeClr val="tx1"/>
                          </a:solidFill>
                          <a:latin typeface="+mn-lt"/>
                          <a:ea typeface="+mn-ea"/>
                          <a:cs typeface="+mn-cs"/>
                        </a:rPr>
                        <a:t>β </a:t>
                      </a:r>
                      <a:r>
                        <a:rPr lang="ru-RU" sz="2000" b="0" i="0" kern="1200" dirty="0">
                          <a:solidFill>
                            <a:schemeClr val="tx1"/>
                          </a:solidFill>
                          <a:latin typeface="+mn-lt"/>
                          <a:ea typeface="+mn-ea"/>
                          <a:cs typeface="+mn-cs"/>
                        </a:rPr>
                        <a:t>&gt; 2 (</a:t>
                      </a:r>
                      <a:r>
                        <a:rPr lang="ru-RU" sz="2000" b="0" i="0" kern="1200" dirty="0" err="1">
                          <a:solidFill>
                            <a:schemeClr val="tx1"/>
                          </a:solidFill>
                          <a:latin typeface="+mn-lt"/>
                          <a:ea typeface="+mn-ea"/>
                          <a:cs typeface="+mn-cs"/>
                        </a:rPr>
                        <a:t>Manfred</a:t>
                      </a:r>
                      <a:r>
                        <a:rPr lang="ru-RU" sz="2000" b="0" i="0" kern="1200" dirty="0">
                          <a:solidFill>
                            <a:schemeClr val="tx1"/>
                          </a:solidFill>
                          <a:latin typeface="+mn-lt"/>
                          <a:ea typeface="+mn-ea"/>
                          <a:cs typeface="+mn-cs"/>
                        </a:rPr>
                        <a:t> </a:t>
                      </a:r>
                      <a:r>
                        <a:rPr lang="ru-RU" sz="2000" b="0" i="0" kern="1200" dirty="0" err="1">
                          <a:solidFill>
                            <a:schemeClr val="tx1"/>
                          </a:solidFill>
                          <a:latin typeface="+mn-lt"/>
                          <a:ea typeface="+mn-ea"/>
                          <a:cs typeface="+mn-cs"/>
                        </a:rPr>
                        <a:t>Schroeder</a:t>
                      </a:r>
                      <a:r>
                        <a:rPr lang="ru-RU" sz="2000" b="0" i="0" kern="1200" dirty="0">
                          <a:solidFill>
                            <a:schemeClr val="tx1"/>
                          </a:solidFill>
                          <a:latin typeface="+mn-lt"/>
                          <a:ea typeface="+mn-ea"/>
                          <a:cs typeface="+mn-cs"/>
                        </a:rPr>
                        <a:t>, «</a:t>
                      </a:r>
                      <a:r>
                        <a:rPr lang="ru-RU" sz="2000" b="0" i="1" kern="1200" dirty="0" err="1">
                          <a:solidFill>
                            <a:schemeClr val="tx1"/>
                          </a:solidFill>
                          <a:latin typeface="+mn-lt"/>
                          <a:ea typeface="+mn-ea"/>
                          <a:cs typeface="+mn-cs"/>
                        </a:rPr>
                        <a:t>Fractals</a:t>
                      </a:r>
                      <a:r>
                        <a:rPr lang="ru-RU" sz="2000" b="0" i="1" kern="1200" dirty="0">
                          <a:solidFill>
                            <a:schemeClr val="tx1"/>
                          </a:solidFill>
                          <a:latin typeface="+mn-lt"/>
                          <a:ea typeface="+mn-ea"/>
                          <a:cs typeface="+mn-cs"/>
                        </a:rPr>
                        <a:t>, </a:t>
                      </a:r>
                      <a:r>
                        <a:rPr lang="ru-RU" sz="2000" b="0" i="1" kern="1200" dirty="0" err="1">
                          <a:solidFill>
                            <a:schemeClr val="tx1"/>
                          </a:solidFill>
                          <a:latin typeface="+mn-lt"/>
                          <a:ea typeface="+mn-ea"/>
                          <a:cs typeface="+mn-cs"/>
                        </a:rPr>
                        <a:t>chaos</a:t>
                      </a:r>
                      <a:r>
                        <a:rPr lang="ru-RU" sz="2000" b="0" i="1" kern="1200" dirty="0">
                          <a:solidFill>
                            <a:schemeClr val="tx1"/>
                          </a:solidFill>
                          <a:latin typeface="+mn-lt"/>
                          <a:ea typeface="+mn-ea"/>
                          <a:cs typeface="+mn-cs"/>
                        </a:rPr>
                        <a:t>, </a:t>
                      </a:r>
                      <a:r>
                        <a:rPr lang="ru-RU" sz="2000" b="0" i="1" kern="1200" dirty="0" err="1">
                          <a:solidFill>
                            <a:schemeClr val="tx1"/>
                          </a:solidFill>
                          <a:latin typeface="+mn-lt"/>
                          <a:ea typeface="+mn-ea"/>
                          <a:cs typeface="+mn-cs"/>
                        </a:rPr>
                        <a:t>power</a:t>
                      </a:r>
                      <a:r>
                        <a:rPr lang="ru-RU" sz="2000" b="0" i="1" kern="1200" dirty="0">
                          <a:solidFill>
                            <a:schemeClr val="tx1"/>
                          </a:solidFill>
                          <a:latin typeface="+mn-lt"/>
                          <a:ea typeface="+mn-ea"/>
                          <a:cs typeface="+mn-cs"/>
                        </a:rPr>
                        <a:t> </a:t>
                      </a:r>
                      <a:r>
                        <a:rPr lang="ru-RU" sz="2000" b="0" i="1" kern="1200" dirty="0" err="1">
                          <a:solidFill>
                            <a:schemeClr val="tx1"/>
                          </a:solidFill>
                          <a:latin typeface="+mn-lt"/>
                          <a:ea typeface="+mn-ea"/>
                          <a:cs typeface="+mn-cs"/>
                        </a:rPr>
                        <a:t>laws</a:t>
                      </a:r>
                      <a:r>
                        <a:rPr lang="ru-RU" sz="2000" b="0" i="0" kern="1200" dirty="0">
                          <a:solidFill>
                            <a:schemeClr val="tx1"/>
                          </a:solidFill>
                          <a:latin typeface="+mn-lt"/>
                          <a:ea typeface="+mn-ea"/>
                          <a:cs typeface="+mn-cs"/>
                        </a:rPr>
                        <a:t>»). Используется для моделирования различных природных процессов. Считается характеристикой "природных и искусственных катастроф, таких как наводнения, обвалы рынка и т. п. "</a:t>
                      </a:r>
                    </a:p>
                    <a:p>
                      <a:pPr>
                        <a:buFont typeface="Arial" pitchFamily="34" charset="0"/>
                        <a:buChar char="•"/>
                      </a:pPr>
                      <a:r>
                        <a:rPr lang="ru-RU" sz="2000" b="0" i="0" kern="1200" dirty="0">
                          <a:solidFill>
                            <a:schemeClr val="tx1"/>
                          </a:solidFill>
                          <a:latin typeface="+mn-lt"/>
                          <a:ea typeface="+mn-ea"/>
                          <a:cs typeface="+mn-cs"/>
                        </a:rPr>
                        <a:t>Ультразвуковой белый шум (с частотой более 20 кГц), аналогичный т. н. «черному свету» (с частотами слишком высокими, чтобы его можно было воспринимать, но способному воздействовать на наблюдателя или приборы).</a:t>
                      </a:r>
                    </a:p>
                    <a:p>
                      <a:pPr>
                        <a:buFont typeface="Arial" pitchFamily="34" charset="0"/>
                        <a:buChar char="•"/>
                      </a:pPr>
                      <a:r>
                        <a:rPr lang="ru-RU" sz="2000" b="0" i="0" kern="1200" dirty="0">
                          <a:solidFill>
                            <a:schemeClr val="tx1"/>
                          </a:solidFill>
                          <a:latin typeface="+mn-lt"/>
                          <a:ea typeface="+mn-ea"/>
                          <a:cs typeface="+mn-cs"/>
                        </a:rPr>
                        <a:t>Шум, спектр которого имеет преимущественно нулевую энергию за исключением нескольких пиков.</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9218" name="Rectangle 4" descr="Large confetti"/>
          <p:cNvSpPr>
            <a:spLocks noChangeArrowheads="1"/>
          </p:cNvSpPr>
          <p:nvPr/>
        </p:nvSpPr>
        <p:spPr bwMode="auto">
          <a:xfrm>
            <a:off x="0" y="228600"/>
            <a:ext cx="9144000" cy="630238"/>
          </a:xfrm>
          <a:prstGeom prst="rect">
            <a:avLst/>
          </a:prstGeom>
          <a:noFill/>
          <a:ln w="9525">
            <a:noFill/>
            <a:miter lim="800000"/>
            <a:headEnd/>
            <a:tailEnd/>
          </a:ln>
        </p:spPr>
        <p:txBody>
          <a:bodyPr anchor="b"/>
          <a:lstStyle/>
          <a:p>
            <a:r>
              <a:rPr lang="ru-RU" sz="2800" b="1" dirty="0"/>
              <a:t>Методы и средства цифровой обработки информации</a:t>
            </a:r>
          </a:p>
        </p:txBody>
      </p:sp>
      <p:sp>
        <p:nvSpPr>
          <p:cNvPr id="9219" name="Rectangle 7"/>
          <p:cNvSpPr>
            <a:spLocks noChangeArrowheads="1"/>
          </p:cNvSpPr>
          <p:nvPr/>
        </p:nvSpPr>
        <p:spPr bwMode="auto">
          <a:xfrm>
            <a:off x="2971800" y="1657350"/>
            <a:ext cx="9144000" cy="0"/>
          </a:xfrm>
          <a:prstGeom prst="rect">
            <a:avLst/>
          </a:prstGeom>
          <a:noFill/>
          <a:ln w="9525">
            <a:noFill/>
            <a:miter lim="800000"/>
            <a:headEnd/>
            <a:tailEnd/>
          </a:ln>
        </p:spPr>
        <p:txBody>
          <a:bodyPr>
            <a:spAutoFit/>
          </a:bodyPr>
          <a:lstStyle/>
          <a:p>
            <a:endParaRPr lang="ru-RU"/>
          </a:p>
        </p:txBody>
      </p:sp>
      <p:sp>
        <p:nvSpPr>
          <p:cNvPr id="9220" name="Rectangle 9"/>
          <p:cNvSpPr>
            <a:spLocks noChangeArrowheads="1"/>
          </p:cNvSpPr>
          <p:nvPr/>
        </p:nvSpPr>
        <p:spPr bwMode="auto">
          <a:xfrm>
            <a:off x="2852738" y="3309938"/>
            <a:ext cx="9144000" cy="0"/>
          </a:xfrm>
          <a:prstGeom prst="rect">
            <a:avLst/>
          </a:prstGeom>
          <a:noFill/>
          <a:ln w="9525">
            <a:noFill/>
            <a:miter lim="800000"/>
            <a:headEnd/>
            <a:tailEnd/>
          </a:ln>
        </p:spPr>
        <p:txBody>
          <a:bodyPr>
            <a:spAutoFit/>
          </a:bodyPr>
          <a:lstStyle/>
          <a:p>
            <a:endParaRPr lang="ru-RU"/>
          </a:p>
        </p:txBody>
      </p:sp>
      <p:sp>
        <p:nvSpPr>
          <p:cNvPr id="9221" name="Rectangle 10"/>
          <p:cNvSpPr>
            <a:spLocks noChangeArrowheads="1"/>
          </p:cNvSpPr>
          <p:nvPr/>
        </p:nvSpPr>
        <p:spPr bwMode="auto">
          <a:xfrm>
            <a:off x="0" y="928670"/>
            <a:ext cx="9144000" cy="584775"/>
          </a:xfrm>
          <a:prstGeom prst="rect">
            <a:avLst/>
          </a:prstGeom>
          <a:noFill/>
          <a:ln w="9525">
            <a:noFill/>
            <a:miter lim="800000"/>
            <a:headEnd/>
            <a:tailEnd/>
          </a:ln>
        </p:spPr>
        <p:txBody>
          <a:bodyPr>
            <a:spAutoFit/>
          </a:bodyPr>
          <a:lstStyle/>
          <a:p>
            <a:pPr algn="ctr"/>
            <a:r>
              <a:rPr lang="ru-RU" sz="3200" b="1" dirty="0"/>
              <a:t>«Цветные» шумы. </a:t>
            </a:r>
          </a:p>
        </p:txBody>
      </p:sp>
      <p:sp>
        <p:nvSpPr>
          <p:cNvPr id="5427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427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5301"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9397"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9399"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9401" name="Rectangle 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9403" name="Rectangle 1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18" name="Text Box 15"/>
          <p:cNvSpPr txBox="1">
            <a:spLocks noChangeArrowheads="1"/>
          </p:cNvSpPr>
          <p:nvPr/>
        </p:nvSpPr>
        <p:spPr bwMode="auto">
          <a:xfrm>
            <a:off x="1547664" y="6453336"/>
            <a:ext cx="7560840" cy="424732"/>
          </a:xfrm>
          <a:prstGeom prst="rect">
            <a:avLst/>
          </a:prstGeom>
          <a:noFill/>
          <a:ln w="9525">
            <a:noFill/>
            <a:miter lim="800000"/>
            <a:headEnd/>
            <a:tailEnd/>
          </a:ln>
        </p:spPr>
        <p:txBody>
          <a:bodyPr wrap="square">
            <a:spAutoFit/>
          </a:bodyPr>
          <a:lstStyle/>
          <a:p>
            <a:pPr algn="ctr">
              <a:lnSpc>
                <a:spcPct val="90000"/>
              </a:lnSpc>
            </a:pPr>
            <a:r>
              <a:rPr lang="ru-RU" dirty="0"/>
              <a:t>Лекция </a:t>
            </a:r>
            <a:r>
              <a:rPr lang="en-US" dirty="0"/>
              <a:t>1</a:t>
            </a:r>
            <a:r>
              <a:rPr lang="ru-RU" dirty="0"/>
              <a:t>1. Вычисление АКФ и ВКФ и их применение</a:t>
            </a:r>
            <a:endParaRPr lang="ru-RU" b="1" i="1" dirty="0"/>
          </a:p>
        </p:txBody>
      </p:sp>
      <p:sp>
        <p:nvSpPr>
          <p:cNvPr id="71688"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graphicFrame>
        <p:nvGraphicFramePr>
          <p:cNvPr id="79876" name="Object 4"/>
          <p:cNvGraphicFramePr>
            <a:graphicFrameLocks noChangeAspect="1"/>
          </p:cNvGraphicFramePr>
          <p:nvPr/>
        </p:nvGraphicFramePr>
        <p:xfrm>
          <a:off x="0" y="0"/>
          <a:ext cx="152400" cy="200025"/>
        </p:xfrm>
        <a:graphic>
          <a:graphicData uri="http://schemas.openxmlformats.org/presentationml/2006/ole">
            <mc:AlternateContent xmlns:mc="http://schemas.openxmlformats.org/markup-compatibility/2006">
              <mc:Choice xmlns:v="urn:schemas-microsoft-com:vml" Requires="v">
                <p:oleObj name="Equation" r:id="rId2" imgW="152268" imgH="203024" progId="">
                  <p:embed/>
                </p:oleObj>
              </mc:Choice>
              <mc:Fallback>
                <p:oleObj name="Equation" r:id="rId2" imgW="152268" imgH="203024" progId="">
                  <p:embed/>
                  <p:pic>
                    <p:nvPicPr>
                      <p:cNvPr id="0" name="Picture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52400" cy="200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descr="Large confetti"/>
          <p:cNvSpPr>
            <a:spLocks noChangeArrowheads="1"/>
          </p:cNvSpPr>
          <p:nvPr/>
        </p:nvSpPr>
        <p:spPr bwMode="auto">
          <a:xfrm>
            <a:off x="0" y="228600"/>
            <a:ext cx="9144000" cy="630238"/>
          </a:xfrm>
          <a:prstGeom prst="rect">
            <a:avLst/>
          </a:prstGeom>
          <a:noFill/>
          <a:ln w="9525">
            <a:noFill/>
            <a:miter lim="800000"/>
            <a:headEnd/>
            <a:tailEnd/>
          </a:ln>
        </p:spPr>
        <p:txBody>
          <a:bodyPr anchor="b"/>
          <a:lstStyle/>
          <a:p>
            <a:r>
              <a:rPr lang="ru-RU" sz="2800" b="1"/>
              <a:t>Методы и средства цифровой обработки информации</a:t>
            </a:r>
          </a:p>
        </p:txBody>
      </p:sp>
      <p:sp>
        <p:nvSpPr>
          <p:cNvPr id="9219" name="Rectangle 7"/>
          <p:cNvSpPr>
            <a:spLocks noChangeArrowheads="1"/>
          </p:cNvSpPr>
          <p:nvPr/>
        </p:nvSpPr>
        <p:spPr bwMode="auto">
          <a:xfrm>
            <a:off x="2971800" y="1657350"/>
            <a:ext cx="9144000" cy="0"/>
          </a:xfrm>
          <a:prstGeom prst="rect">
            <a:avLst/>
          </a:prstGeom>
          <a:noFill/>
          <a:ln w="9525">
            <a:noFill/>
            <a:miter lim="800000"/>
            <a:headEnd/>
            <a:tailEnd/>
          </a:ln>
        </p:spPr>
        <p:txBody>
          <a:bodyPr>
            <a:spAutoFit/>
          </a:bodyPr>
          <a:lstStyle/>
          <a:p>
            <a:endParaRPr lang="ru-RU"/>
          </a:p>
        </p:txBody>
      </p:sp>
      <p:sp>
        <p:nvSpPr>
          <p:cNvPr id="9220" name="Rectangle 9"/>
          <p:cNvSpPr>
            <a:spLocks noChangeArrowheads="1"/>
          </p:cNvSpPr>
          <p:nvPr/>
        </p:nvSpPr>
        <p:spPr bwMode="auto">
          <a:xfrm>
            <a:off x="2852738" y="3309938"/>
            <a:ext cx="9144000" cy="0"/>
          </a:xfrm>
          <a:prstGeom prst="rect">
            <a:avLst/>
          </a:prstGeom>
          <a:noFill/>
          <a:ln w="9525">
            <a:noFill/>
            <a:miter lim="800000"/>
            <a:headEnd/>
            <a:tailEnd/>
          </a:ln>
        </p:spPr>
        <p:txBody>
          <a:bodyPr>
            <a:spAutoFit/>
          </a:bodyPr>
          <a:lstStyle/>
          <a:p>
            <a:endParaRPr lang="ru-RU"/>
          </a:p>
        </p:txBody>
      </p:sp>
      <p:sp>
        <p:nvSpPr>
          <p:cNvPr id="5427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427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5301"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12" name="Text Box 15"/>
          <p:cNvSpPr txBox="1">
            <a:spLocks noChangeArrowheads="1"/>
          </p:cNvSpPr>
          <p:nvPr/>
        </p:nvSpPr>
        <p:spPr bwMode="auto">
          <a:xfrm>
            <a:off x="857250" y="6400801"/>
            <a:ext cx="8286750" cy="424732"/>
          </a:xfrm>
          <a:prstGeom prst="rect">
            <a:avLst/>
          </a:prstGeom>
          <a:noFill/>
          <a:ln w="9525">
            <a:noFill/>
            <a:miter lim="800000"/>
            <a:headEnd/>
            <a:tailEnd/>
          </a:ln>
        </p:spPr>
        <p:txBody>
          <a:bodyPr wrap="square">
            <a:spAutoFit/>
          </a:bodyPr>
          <a:lstStyle/>
          <a:p>
            <a:pPr algn="ctr">
              <a:lnSpc>
                <a:spcPct val="90000"/>
              </a:lnSpc>
            </a:pPr>
            <a:r>
              <a:rPr lang="ru-RU" dirty="0"/>
              <a:t>Лекция </a:t>
            </a:r>
            <a:r>
              <a:rPr lang="en-US" dirty="0"/>
              <a:t>1</a:t>
            </a:r>
            <a:r>
              <a:rPr lang="ru-RU" dirty="0"/>
              <a:t>1. Вычисление АКФ и ВКФ и их применение</a:t>
            </a:r>
            <a:endParaRPr lang="ru-RU" i="1" dirty="0"/>
          </a:p>
        </p:txBody>
      </p:sp>
      <p:sp>
        <p:nvSpPr>
          <p:cNvPr id="2" name="Прямоугольник 1"/>
          <p:cNvSpPr/>
          <p:nvPr/>
        </p:nvSpPr>
        <p:spPr>
          <a:xfrm>
            <a:off x="0" y="936009"/>
            <a:ext cx="9144000" cy="535531"/>
          </a:xfrm>
          <a:prstGeom prst="rect">
            <a:avLst/>
          </a:prstGeom>
        </p:spPr>
        <p:txBody>
          <a:bodyPr wrap="square">
            <a:spAutoFit/>
          </a:bodyPr>
          <a:lstStyle/>
          <a:p>
            <a:pPr algn="ctr">
              <a:lnSpc>
                <a:spcPct val="90000"/>
              </a:lnSpc>
            </a:pPr>
            <a:r>
              <a:rPr lang="ru-RU" sz="3200" b="1" dirty="0"/>
              <a:t>Мел (высота звука, от «мелодия») </a:t>
            </a:r>
          </a:p>
        </p:txBody>
      </p:sp>
      <p:graphicFrame>
        <p:nvGraphicFramePr>
          <p:cNvPr id="3" name="Объект 2">
            <a:extLst>
              <a:ext uri="{FF2B5EF4-FFF2-40B4-BE49-F238E27FC236}">
                <a16:creationId xmlns:a16="http://schemas.microsoft.com/office/drawing/2014/main" id="{A320E052-61C5-46BA-887E-CE65A5E5E860}"/>
              </a:ext>
            </a:extLst>
          </p:cNvPr>
          <p:cNvGraphicFramePr>
            <a:graphicFrameLocks noChangeAspect="1"/>
          </p:cNvGraphicFramePr>
          <p:nvPr>
            <p:extLst>
              <p:ext uri="{D42A27DB-BD31-4B8C-83A1-F6EECF244321}">
                <p14:modId xmlns:p14="http://schemas.microsoft.com/office/powerpoint/2010/main" val="1443473019"/>
              </p:ext>
            </p:extLst>
          </p:nvPr>
        </p:nvGraphicFramePr>
        <p:xfrm>
          <a:off x="1439912" y="1555951"/>
          <a:ext cx="6095520" cy="1035936"/>
        </p:xfrm>
        <a:graphic>
          <a:graphicData uri="http://schemas.openxmlformats.org/presentationml/2006/ole">
            <mc:AlternateContent xmlns:mc="http://schemas.openxmlformats.org/markup-compatibility/2006">
              <mc:Choice xmlns:v="urn:schemas-microsoft-com:vml" Requires="v">
                <p:oleObj name="Equation" r:id="rId2" imgW="2539800" imgH="431640" progId="Equation.DSMT4">
                  <p:embed/>
                </p:oleObj>
              </mc:Choice>
              <mc:Fallback>
                <p:oleObj name="Equation" r:id="rId2" imgW="2539800" imgH="431640" progId="Equation.DSMT4">
                  <p:embed/>
                  <p:pic>
                    <p:nvPicPr>
                      <p:cNvPr id="0" name=""/>
                      <p:cNvPicPr/>
                      <p:nvPr/>
                    </p:nvPicPr>
                    <p:blipFill>
                      <a:blip r:embed="rId3"/>
                      <a:stretch>
                        <a:fillRect/>
                      </a:stretch>
                    </p:blipFill>
                    <p:spPr>
                      <a:xfrm>
                        <a:off x="1439912" y="1555951"/>
                        <a:ext cx="6095520" cy="1035936"/>
                      </a:xfrm>
                      <a:prstGeom prst="rect">
                        <a:avLst/>
                      </a:prstGeom>
                    </p:spPr>
                  </p:pic>
                </p:oleObj>
              </mc:Fallback>
            </mc:AlternateContent>
          </a:graphicData>
        </a:graphic>
      </p:graphicFrame>
      <p:graphicFrame>
        <p:nvGraphicFramePr>
          <p:cNvPr id="4" name="Объект 3">
            <a:extLst>
              <a:ext uri="{FF2B5EF4-FFF2-40B4-BE49-F238E27FC236}">
                <a16:creationId xmlns:a16="http://schemas.microsoft.com/office/drawing/2014/main" id="{18BB31CB-7D6E-478C-AA09-E443E359F5B7}"/>
              </a:ext>
            </a:extLst>
          </p:cNvPr>
          <p:cNvGraphicFramePr>
            <a:graphicFrameLocks noChangeAspect="1"/>
          </p:cNvGraphicFramePr>
          <p:nvPr>
            <p:extLst>
              <p:ext uri="{D42A27DB-BD31-4B8C-83A1-F6EECF244321}">
                <p14:modId xmlns:p14="http://schemas.microsoft.com/office/powerpoint/2010/main" val="2982797733"/>
              </p:ext>
            </p:extLst>
          </p:nvPr>
        </p:nvGraphicFramePr>
        <p:xfrm>
          <a:off x="1607528" y="2564904"/>
          <a:ext cx="5760288" cy="1035936"/>
        </p:xfrm>
        <a:graphic>
          <a:graphicData uri="http://schemas.openxmlformats.org/presentationml/2006/ole">
            <mc:AlternateContent xmlns:mc="http://schemas.openxmlformats.org/markup-compatibility/2006">
              <mc:Choice xmlns:v="urn:schemas-microsoft-com:vml" Requires="v">
                <p:oleObj name="Equation" r:id="rId4" imgW="2400120" imgH="431640" progId="Equation.DSMT4">
                  <p:embed/>
                </p:oleObj>
              </mc:Choice>
              <mc:Fallback>
                <p:oleObj name="Equation" r:id="rId4" imgW="2400120" imgH="431640" progId="Equation.DSMT4">
                  <p:embed/>
                  <p:pic>
                    <p:nvPicPr>
                      <p:cNvPr id="0" name=""/>
                      <p:cNvPicPr/>
                      <p:nvPr/>
                    </p:nvPicPr>
                    <p:blipFill>
                      <a:blip r:embed="rId5"/>
                      <a:stretch>
                        <a:fillRect/>
                      </a:stretch>
                    </p:blipFill>
                    <p:spPr>
                      <a:xfrm>
                        <a:off x="1607528" y="2564904"/>
                        <a:ext cx="5760288" cy="1035936"/>
                      </a:xfrm>
                      <a:prstGeom prst="rect">
                        <a:avLst/>
                      </a:prstGeom>
                    </p:spPr>
                  </p:pic>
                </p:oleObj>
              </mc:Fallback>
            </mc:AlternateContent>
          </a:graphicData>
        </a:graphic>
      </p:graphicFrame>
      <p:sp>
        <p:nvSpPr>
          <p:cNvPr id="14" name="Прямоугольник 13">
            <a:extLst>
              <a:ext uri="{FF2B5EF4-FFF2-40B4-BE49-F238E27FC236}">
                <a16:creationId xmlns:a16="http://schemas.microsoft.com/office/drawing/2014/main" id="{4AA0D5B1-FE2F-4EA8-AC7A-9F5EEE4AF990}"/>
              </a:ext>
            </a:extLst>
          </p:cNvPr>
          <p:cNvSpPr/>
          <p:nvPr/>
        </p:nvSpPr>
        <p:spPr>
          <a:xfrm>
            <a:off x="0" y="3568027"/>
            <a:ext cx="9144000" cy="757130"/>
          </a:xfrm>
          <a:prstGeom prst="rect">
            <a:avLst/>
          </a:prstGeom>
        </p:spPr>
        <p:txBody>
          <a:bodyPr wrap="square">
            <a:spAutoFit/>
          </a:bodyPr>
          <a:lstStyle/>
          <a:p>
            <a:pPr>
              <a:lnSpc>
                <a:spcPct val="90000"/>
              </a:lnSpc>
            </a:pPr>
            <a:r>
              <a:rPr lang="ru-RU" b="1" dirty="0"/>
              <a:t>Воспринимаемая громкость логарифмически зависит от энергии сигнала:</a:t>
            </a:r>
          </a:p>
        </p:txBody>
      </p:sp>
      <p:graphicFrame>
        <p:nvGraphicFramePr>
          <p:cNvPr id="5" name="Объект 4">
            <a:extLst>
              <a:ext uri="{FF2B5EF4-FFF2-40B4-BE49-F238E27FC236}">
                <a16:creationId xmlns:a16="http://schemas.microsoft.com/office/drawing/2014/main" id="{D4880CAD-F828-48B6-91A6-8BD52D0F6866}"/>
              </a:ext>
            </a:extLst>
          </p:cNvPr>
          <p:cNvGraphicFramePr>
            <a:graphicFrameLocks noChangeAspect="1"/>
          </p:cNvGraphicFramePr>
          <p:nvPr>
            <p:extLst>
              <p:ext uri="{D42A27DB-BD31-4B8C-83A1-F6EECF244321}">
                <p14:modId xmlns:p14="http://schemas.microsoft.com/office/powerpoint/2010/main" val="557914632"/>
              </p:ext>
            </p:extLst>
          </p:nvPr>
        </p:nvGraphicFramePr>
        <p:xfrm>
          <a:off x="2852738" y="4149563"/>
          <a:ext cx="2529792" cy="1035936"/>
        </p:xfrm>
        <a:graphic>
          <a:graphicData uri="http://schemas.openxmlformats.org/presentationml/2006/ole">
            <mc:AlternateContent xmlns:mc="http://schemas.openxmlformats.org/markup-compatibility/2006">
              <mc:Choice xmlns:v="urn:schemas-microsoft-com:vml" Requires="v">
                <p:oleObj name="Equation" r:id="rId6" imgW="1054080" imgH="431640" progId="Equation.DSMT4">
                  <p:embed/>
                </p:oleObj>
              </mc:Choice>
              <mc:Fallback>
                <p:oleObj name="Equation" r:id="rId6" imgW="1054080" imgH="431640" progId="Equation.DSMT4">
                  <p:embed/>
                  <p:pic>
                    <p:nvPicPr>
                      <p:cNvPr id="0" name=""/>
                      <p:cNvPicPr/>
                      <p:nvPr/>
                    </p:nvPicPr>
                    <p:blipFill>
                      <a:blip r:embed="rId7"/>
                      <a:stretch>
                        <a:fillRect/>
                      </a:stretch>
                    </p:blipFill>
                    <p:spPr>
                      <a:xfrm>
                        <a:off x="2852738" y="4149563"/>
                        <a:ext cx="2529792" cy="1035936"/>
                      </a:xfrm>
                      <a:prstGeom prst="rect">
                        <a:avLst/>
                      </a:prstGeom>
                    </p:spPr>
                  </p:pic>
                </p:oleObj>
              </mc:Fallback>
            </mc:AlternateContent>
          </a:graphicData>
        </a:graphic>
      </p:graphicFrame>
      <p:sp>
        <p:nvSpPr>
          <p:cNvPr id="17" name="Прямоугольник 16">
            <a:extLst>
              <a:ext uri="{FF2B5EF4-FFF2-40B4-BE49-F238E27FC236}">
                <a16:creationId xmlns:a16="http://schemas.microsoft.com/office/drawing/2014/main" id="{F926FA7A-2B98-4843-BCEA-1150FACE3F47}"/>
              </a:ext>
            </a:extLst>
          </p:cNvPr>
          <p:cNvSpPr/>
          <p:nvPr/>
        </p:nvSpPr>
        <p:spPr>
          <a:xfrm>
            <a:off x="0" y="5385583"/>
            <a:ext cx="9144000" cy="424732"/>
          </a:xfrm>
          <a:prstGeom prst="rect">
            <a:avLst/>
          </a:prstGeom>
        </p:spPr>
        <p:txBody>
          <a:bodyPr wrap="square">
            <a:spAutoFit/>
          </a:bodyPr>
          <a:lstStyle/>
          <a:p>
            <a:pPr>
              <a:lnSpc>
                <a:spcPct val="90000"/>
              </a:lnSpc>
            </a:pPr>
            <a:r>
              <a:rPr lang="ru-RU" b="1" dirty="0" err="1"/>
              <a:t>Кепстр</a:t>
            </a:r>
            <a:r>
              <a:rPr lang="ru-RU" b="1" dirty="0"/>
              <a:t>:</a:t>
            </a:r>
          </a:p>
        </p:txBody>
      </p:sp>
      <p:graphicFrame>
        <p:nvGraphicFramePr>
          <p:cNvPr id="6" name="Объект 5">
            <a:extLst>
              <a:ext uri="{FF2B5EF4-FFF2-40B4-BE49-F238E27FC236}">
                <a16:creationId xmlns:a16="http://schemas.microsoft.com/office/drawing/2014/main" id="{805FB467-78A5-4836-BE21-7FAD8C412C95}"/>
              </a:ext>
            </a:extLst>
          </p:cNvPr>
          <p:cNvGraphicFramePr>
            <a:graphicFrameLocks noChangeAspect="1"/>
          </p:cNvGraphicFramePr>
          <p:nvPr>
            <p:extLst>
              <p:ext uri="{D42A27DB-BD31-4B8C-83A1-F6EECF244321}">
                <p14:modId xmlns:p14="http://schemas.microsoft.com/office/powerpoint/2010/main" val="2786548617"/>
              </p:ext>
            </p:extLst>
          </p:nvPr>
        </p:nvGraphicFramePr>
        <p:xfrm>
          <a:off x="1979712" y="5049309"/>
          <a:ext cx="4693248" cy="1097280"/>
        </p:xfrm>
        <a:graphic>
          <a:graphicData uri="http://schemas.openxmlformats.org/presentationml/2006/ole">
            <mc:AlternateContent xmlns:mc="http://schemas.openxmlformats.org/markup-compatibility/2006">
              <mc:Choice xmlns:v="urn:schemas-microsoft-com:vml" Requires="v">
                <p:oleObj name="Equation" r:id="rId8" imgW="1955520" imgH="457200" progId="Equation.DSMT4">
                  <p:embed/>
                </p:oleObj>
              </mc:Choice>
              <mc:Fallback>
                <p:oleObj name="Equation" r:id="rId8" imgW="1955520" imgH="457200" progId="Equation.DSMT4">
                  <p:embed/>
                  <p:pic>
                    <p:nvPicPr>
                      <p:cNvPr id="0" name=""/>
                      <p:cNvPicPr/>
                      <p:nvPr/>
                    </p:nvPicPr>
                    <p:blipFill>
                      <a:blip r:embed="rId9"/>
                      <a:stretch>
                        <a:fillRect/>
                      </a:stretch>
                    </p:blipFill>
                    <p:spPr>
                      <a:xfrm>
                        <a:off x="1979712" y="5049309"/>
                        <a:ext cx="4693248" cy="1097280"/>
                      </a:xfrm>
                      <a:prstGeom prst="rect">
                        <a:avLst/>
                      </a:prstGeom>
                    </p:spPr>
                  </p:pic>
                </p:oleObj>
              </mc:Fallback>
            </mc:AlternateContent>
          </a:graphicData>
        </a:graphic>
      </p:graphicFrame>
    </p:spTree>
    <p:extLst>
      <p:ext uri="{BB962C8B-B14F-4D97-AF65-F5344CB8AC3E}">
        <p14:creationId xmlns:p14="http://schemas.microsoft.com/office/powerpoint/2010/main" val="16387822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descr="Large confetti"/>
          <p:cNvSpPr>
            <a:spLocks noChangeArrowheads="1"/>
          </p:cNvSpPr>
          <p:nvPr/>
        </p:nvSpPr>
        <p:spPr bwMode="auto">
          <a:xfrm>
            <a:off x="0" y="228600"/>
            <a:ext cx="9144000" cy="630238"/>
          </a:xfrm>
          <a:prstGeom prst="rect">
            <a:avLst/>
          </a:prstGeom>
          <a:noFill/>
          <a:ln w="9525">
            <a:noFill/>
            <a:miter lim="800000"/>
            <a:headEnd/>
            <a:tailEnd/>
          </a:ln>
        </p:spPr>
        <p:txBody>
          <a:bodyPr anchor="b"/>
          <a:lstStyle/>
          <a:p>
            <a:r>
              <a:rPr lang="ru-RU" sz="2800" b="1"/>
              <a:t>Методы и средства цифровой обработки информации</a:t>
            </a:r>
          </a:p>
        </p:txBody>
      </p:sp>
      <p:sp>
        <p:nvSpPr>
          <p:cNvPr id="9219" name="Rectangle 7"/>
          <p:cNvSpPr>
            <a:spLocks noChangeArrowheads="1"/>
          </p:cNvSpPr>
          <p:nvPr/>
        </p:nvSpPr>
        <p:spPr bwMode="auto">
          <a:xfrm>
            <a:off x="2971800" y="1657350"/>
            <a:ext cx="9144000" cy="0"/>
          </a:xfrm>
          <a:prstGeom prst="rect">
            <a:avLst/>
          </a:prstGeom>
          <a:noFill/>
          <a:ln w="9525">
            <a:noFill/>
            <a:miter lim="800000"/>
            <a:headEnd/>
            <a:tailEnd/>
          </a:ln>
        </p:spPr>
        <p:txBody>
          <a:bodyPr>
            <a:spAutoFit/>
          </a:bodyPr>
          <a:lstStyle/>
          <a:p>
            <a:endParaRPr lang="ru-RU"/>
          </a:p>
        </p:txBody>
      </p:sp>
      <p:sp>
        <p:nvSpPr>
          <p:cNvPr id="9220" name="Rectangle 9"/>
          <p:cNvSpPr>
            <a:spLocks noChangeArrowheads="1"/>
          </p:cNvSpPr>
          <p:nvPr/>
        </p:nvSpPr>
        <p:spPr bwMode="auto">
          <a:xfrm>
            <a:off x="2852738" y="3309938"/>
            <a:ext cx="9144000" cy="0"/>
          </a:xfrm>
          <a:prstGeom prst="rect">
            <a:avLst/>
          </a:prstGeom>
          <a:noFill/>
          <a:ln w="9525">
            <a:noFill/>
            <a:miter lim="800000"/>
            <a:headEnd/>
            <a:tailEnd/>
          </a:ln>
        </p:spPr>
        <p:txBody>
          <a:bodyPr>
            <a:spAutoFit/>
          </a:bodyPr>
          <a:lstStyle/>
          <a:p>
            <a:endParaRPr lang="ru-RU"/>
          </a:p>
        </p:txBody>
      </p:sp>
      <p:sp>
        <p:nvSpPr>
          <p:cNvPr id="5427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427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5301"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12" name="Text Box 15"/>
          <p:cNvSpPr txBox="1">
            <a:spLocks noChangeArrowheads="1"/>
          </p:cNvSpPr>
          <p:nvPr/>
        </p:nvSpPr>
        <p:spPr bwMode="auto">
          <a:xfrm>
            <a:off x="857250" y="6400801"/>
            <a:ext cx="8286750" cy="424732"/>
          </a:xfrm>
          <a:prstGeom prst="rect">
            <a:avLst/>
          </a:prstGeom>
          <a:noFill/>
          <a:ln w="9525">
            <a:noFill/>
            <a:miter lim="800000"/>
            <a:headEnd/>
            <a:tailEnd/>
          </a:ln>
        </p:spPr>
        <p:txBody>
          <a:bodyPr wrap="square">
            <a:spAutoFit/>
          </a:bodyPr>
          <a:lstStyle/>
          <a:p>
            <a:pPr algn="ctr">
              <a:lnSpc>
                <a:spcPct val="90000"/>
              </a:lnSpc>
            </a:pPr>
            <a:r>
              <a:rPr lang="ru-RU" dirty="0"/>
              <a:t>Лекция </a:t>
            </a:r>
            <a:r>
              <a:rPr lang="en-US" dirty="0"/>
              <a:t>1</a:t>
            </a:r>
            <a:r>
              <a:rPr lang="ru-RU" dirty="0"/>
              <a:t>1. Вычисление АКФ и ВКФ и их применение</a:t>
            </a:r>
            <a:endParaRPr lang="ru-RU" i="1" dirty="0"/>
          </a:p>
        </p:txBody>
      </p:sp>
      <p:sp>
        <p:nvSpPr>
          <p:cNvPr id="2" name="Прямоугольник 1"/>
          <p:cNvSpPr/>
          <p:nvPr/>
        </p:nvSpPr>
        <p:spPr>
          <a:xfrm>
            <a:off x="136072" y="936009"/>
            <a:ext cx="4291911" cy="535531"/>
          </a:xfrm>
          <a:prstGeom prst="rect">
            <a:avLst/>
          </a:prstGeom>
        </p:spPr>
        <p:txBody>
          <a:bodyPr wrap="square">
            <a:spAutoFit/>
          </a:bodyPr>
          <a:lstStyle/>
          <a:p>
            <a:pPr algn="ctr">
              <a:lnSpc>
                <a:spcPct val="90000"/>
              </a:lnSpc>
            </a:pPr>
            <a:r>
              <a:rPr lang="ru-RU" sz="3200" b="1" dirty="0" err="1"/>
              <a:t>Мелшкала</a:t>
            </a:r>
            <a:endParaRPr lang="ru-RU" sz="3200" b="1" dirty="0"/>
          </a:p>
        </p:txBody>
      </p:sp>
      <p:pic>
        <p:nvPicPr>
          <p:cNvPr id="111622" name="Picture 6">
            <a:extLst>
              <a:ext uri="{FF2B5EF4-FFF2-40B4-BE49-F238E27FC236}">
                <a16:creationId xmlns:a16="http://schemas.microsoft.com/office/drawing/2014/main" id="{A15338D8-5D77-465C-8129-32B8770577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648" y="3881586"/>
            <a:ext cx="7620000" cy="2571750"/>
          </a:xfrm>
          <a:prstGeom prst="rect">
            <a:avLst/>
          </a:prstGeom>
          <a:noFill/>
          <a:extLst>
            <a:ext uri="{909E8E84-426E-40DD-AFC4-6F175D3DCCD1}">
              <a14:hiddenFill xmlns:a14="http://schemas.microsoft.com/office/drawing/2010/main">
                <a:solidFill>
                  <a:srgbClr val="FFFFFF"/>
                </a:solidFill>
              </a14:hiddenFill>
            </a:ext>
          </a:extLst>
        </p:spPr>
      </p:pic>
      <p:sp>
        <p:nvSpPr>
          <p:cNvPr id="16" name="Прямоугольник 15">
            <a:extLst>
              <a:ext uri="{FF2B5EF4-FFF2-40B4-BE49-F238E27FC236}">
                <a16:creationId xmlns:a16="http://schemas.microsoft.com/office/drawing/2014/main" id="{591B8E9D-5AA0-4722-9480-C15765142D1B}"/>
              </a:ext>
            </a:extLst>
          </p:cNvPr>
          <p:cNvSpPr/>
          <p:nvPr/>
        </p:nvSpPr>
        <p:spPr>
          <a:xfrm>
            <a:off x="4427983" y="3325517"/>
            <a:ext cx="4579943" cy="535531"/>
          </a:xfrm>
          <a:prstGeom prst="rect">
            <a:avLst/>
          </a:prstGeom>
        </p:spPr>
        <p:txBody>
          <a:bodyPr wrap="square">
            <a:spAutoFit/>
          </a:bodyPr>
          <a:lstStyle/>
          <a:p>
            <a:pPr algn="ctr">
              <a:lnSpc>
                <a:spcPct val="90000"/>
              </a:lnSpc>
            </a:pPr>
            <a:r>
              <a:rPr lang="ru-RU" sz="3200" b="1" dirty="0"/>
              <a:t>Мел</a:t>
            </a:r>
            <a:r>
              <a:rPr lang="en-US" sz="3200" b="1" dirty="0"/>
              <a:t>-</a:t>
            </a:r>
            <a:r>
              <a:rPr lang="ru-RU" sz="3200" b="1" dirty="0"/>
              <a:t>фильтры</a:t>
            </a:r>
          </a:p>
        </p:txBody>
      </p:sp>
      <p:pic>
        <p:nvPicPr>
          <p:cNvPr id="110598" name="Picture 6">
            <a:extLst>
              <a:ext uri="{FF2B5EF4-FFF2-40B4-BE49-F238E27FC236}">
                <a16:creationId xmlns:a16="http://schemas.microsoft.com/office/drawing/2014/main" id="{019FCBA7-3C32-401E-9EF0-099F08AB68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6073" y="1452255"/>
            <a:ext cx="4291911" cy="26448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03831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descr="Large confetti"/>
          <p:cNvSpPr>
            <a:spLocks noChangeArrowheads="1"/>
          </p:cNvSpPr>
          <p:nvPr/>
        </p:nvSpPr>
        <p:spPr bwMode="auto">
          <a:xfrm>
            <a:off x="0" y="228600"/>
            <a:ext cx="9144000" cy="630238"/>
          </a:xfrm>
          <a:prstGeom prst="rect">
            <a:avLst/>
          </a:prstGeom>
          <a:noFill/>
          <a:ln w="9525">
            <a:noFill/>
            <a:miter lim="800000"/>
            <a:headEnd/>
            <a:tailEnd/>
          </a:ln>
        </p:spPr>
        <p:txBody>
          <a:bodyPr anchor="b"/>
          <a:lstStyle/>
          <a:p>
            <a:r>
              <a:rPr lang="ru-RU" sz="2800" b="1"/>
              <a:t>Методы и средства цифровой обработки информации</a:t>
            </a:r>
          </a:p>
        </p:txBody>
      </p:sp>
      <p:sp>
        <p:nvSpPr>
          <p:cNvPr id="9219" name="Rectangle 7"/>
          <p:cNvSpPr>
            <a:spLocks noChangeArrowheads="1"/>
          </p:cNvSpPr>
          <p:nvPr/>
        </p:nvSpPr>
        <p:spPr bwMode="auto">
          <a:xfrm>
            <a:off x="2971800" y="1657350"/>
            <a:ext cx="9144000" cy="0"/>
          </a:xfrm>
          <a:prstGeom prst="rect">
            <a:avLst/>
          </a:prstGeom>
          <a:noFill/>
          <a:ln w="9525">
            <a:noFill/>
            <a:miter lim="800000"/>
            <a:headEnd/>
            <a:tailEnd/>
          </a:ln>
        </p:spPr>
        <p:txBody>
          <a:bodyPr>
            <a:spAutoFit/>
          </a:bodyPr>
          <a:lstStyle/>
          <a:p>
            <a:endParaRPr lang="ru-RU"/>
          </a:p>
        </p:txBody>
      </p:sp>
      <p:sp>
        <p:nvSpPr>
          <p:cNvPr id="5427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427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5301"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12" name="Text Box 15"/>
          <p:cNvSpPr txBox="1">
            <a:spLocks noChangeArrowheads="1"/>
          </p:cNvSpPr>
          <p:nvPr/>
        </p:nvSpPr>
        <p:spPr bwMode="auto">
          <a:xfrm>
            <a:off x="857250" y="6400801"/>
            <a:ext cx="8286750" cy="424732"/>
          </a:xfrm>
          <a:prstGeom prst="rect">
            <a:avLst/>
          </a:prstGeom>
          <a:noFill/>
          <a:ln w="9525">
            <a:noFill/>
            <a:miter lim="800000"/>
            <a:headEnd/>
            <a:tailEnd/>
          </a:ln>
        </p:spPr>
        <p:txBody>
          <a:bodyPr wrap="square">
            <a:spAutoFit/>
          </a:bodyPr>
          <a:lstStyle/>
          <a:p>
            <a:pPr algn="ctr">
              <a:lnSpc>
                <a:spcPct val="90000"/>
              </a:lnSpc>
            </a:pPr>
            <a:r>
              <a:rPr lang="ru-RU" dirty="0"/>
              <a:t>Лекция </a:t>
            </a:r>
            <a:r>
              <a:rPr lang="en-US" dirty="0"/>
              <a:t>1</a:t>
            </a:r>
            <a:r>
              <a:rPr lang="ru-RU" dirty="0"/>
              <a:t>1. Вычисление АКФ и ВКФ и их применение</a:t>
            </a:r>
            <a:endParaRPr lang="ru-RU" i="1" dirty="0"/>
          </a:p>
        </p:txBody>
      </p:sp>
      <p:graphicFrame>
        <p:nvGraphicFramePr>
          <p:cNvPr id="3" name="Таблица 3">
            <a:extLst>
              <a:ext uri="{FF2B5EF4-FFF2-40B4-BE49-F238E27FC236}">
                <a16:creationId xmlns:a16="http://schemas.microsoft.com/office/drawing/2014/main" id="{04433F72-EC44-F2C4-E6B8-AAF6C94FE834}"/>
              </a:ext>
            </a:extLst>
          </p:cNvPr>
          <p:cNvGraphicFramePr>
            <a:graphicFrameLocks noGrp="1"/>
          </p:cNvGraphicFramePr>
          <p:nvPr>
            <p:extLst>
              <p:ext uri="{D42A27DB-BD31-4B8C-83A1-F6EECF244321}">
                <p14:modId xmlns:p14="http://schemas.microsoft.com/office/powerpoint/2010/main" val="4069866269"/>
              </p:ext>
            </p:extLst>
          </p:nvPr>
        </p:nvGraphicFramePr>
        <p:xfrm>
          <a:off x="45845" y="773140"/>
          <a:ext cx="9064597" cy="6238236"/>
        </p:xfrm>
        <a:graphic>
          <a:graphicData uri="http://schemas.openxmlformats.org/drawingml/2006/table">
            <a:tbl>
              <a:tblPr firstRow="1" bandRow="1">
                <a:tableStyleId>{5C22544A-7EE6-4342-B048-85BDC9FD1C3A}</a:tableStyleId>
              </a:tblPr>
              <a:tblGrid>
                <a:gridCol w="3476624">
                  <a:extLst>
                    <a:ext uri="{9D8B030D-6E8A-4147-A177-3AD203B41FA5}">
                      <a16:colId xmlns:a16="http://schemas.microsoft.com/office/drawing/2014/main" val="439947908"/>
                    </a:ext>
                  </a:extLst>
                </a:gridCol>
                <a:gridCol w="742949">
                  <a:extLst>
                    <a:ext uri="{9D8B030D-6E8A-4147-A177-3AD203B41FA5}">
                      <a16:colId xmlns:a16="http://schemas.microsoft.com/office/drawing/2014/main" val="3733604486"/>
                    </a:ext>
                  </a:extLst>
                </a:gridCol>
                <a:gridCol w="1085844">
                  <a:extLst>
                    <a:ext uri="{9D8B030D-6E8A-4147-A177-3AD203B41FA5}">
                      <a16:colId xmlns:a16="http://schemas.microsoft.com/office/drawing/2014/main" val="1466102325"/>
                    </a:ext>
                  </a:extLst>
                </a:gridCol>
                <a:gridCol w="769929">
                  <a:extLst>
                    <a:ext uri="{9D8B030D-6E8A-4147-A177-3AD203B41FA5}">
                      <a16:colId xmlns:a16="http://schemas.microsoft.com/office/drawing/2014/main" val="1300437543"/>
                    </a:ext>
                  </a:extLst>
                </a:gridCol>
                <a:gridCol w="2253714">
                  <a:extLst>
                    <a:ext uri="{9D8B030D-6E8A-4147-A177-3AD203B41FA5}">
                      <a16:colId xmlns:a16="http://schemas.microsoft.com/office/drawing/2014/main" val="3152424185"/>
                    </a:ext>
                  </a:extLst>
                </a:gridCol>
                <a:gridCol w="735537">
                  <a:extLst>
                    <a:ext uri="{9D8B030D-6E8A-4147-A177-3AD203B41FA5}">
                      <a16:colId xmlns:a16="http://schemas.microsoft.com/office/drawing/2014/main" val="2635032759"/>
                    </a:ext>
                  </a:extLst>
                </a:gridCol>
              </a:tblGrid>
              <a:tr h="370840">
                <a:tc gridSpan="2">
                  <a:txBody>
                    <a:bodyPr/>
                    <a:lstStyle/>
                    <a:p>
                      <a:pPr lvl="0" algn="l">
                        <a:lnSpc>
                          <a:spcPct val="100000"/>
                        </a:lnSpc>
                        <a:spcBef>
                          <a:spcPts val="0"/>
                        </a:spcBef>
                        <a:spcAft>
                          <a:spcPts val="0"/>
                        </a:spcAft>
                        <a:buNone/>
                      </a:pPr>
                      <a:r>
                        <a:rPr lang="ru-RU" sz="1200" b="1" i="0" u="none" strike="noStrike" noProof="0" dirty="0">
                          <a:latin typeface="Times New Roman"/>
                        </a:rPr>
                        <a:t>Громкость различных звуков</a:t>
                      </a:r>
                    </a:p>
                  </a:txBody>
                  <a:tcPr/>
                </a:tc>
                <a:tc hMerge="1">
                  <a:txBody>
                    <a:bodyPr/>
                    <a:lstStyle/>
                    <a:p>
                      <a:endParaRPr lang="ru-RU"/>
                    </a:p>
                  </a:txBody>
                  <a:tcPr/>
                </a:tc>
                <a:tc gridSpan="2">
                  <a:txBody>
                    <a:bodyPr/>
                    <a:lstStyle/>
                    <a:p>
                      <a:pPr lvl="0">
                        <a:buNone/>
                      </a:pPr>
                      <a:r>
                        <a:rPr lang="ru-RU" sz="1200" b="1" i="0" u="none" strike="noStrike" kern="1200" noProof="0" dirty="0">
                          <a:solidFill>
                            <a:schemeClr val="lt1"/>
                          </a:solidFill>
                          <a:latin typeface="Times New Roman"/>
                          <a:ea typeface="+mn-ea"/>
                          <a:cs typeface="+mn-cs"/>
                        </a:rPr>
                        <a:t>Безопасная длительность прослушивания</a:t>
                      </a:r>
                      <a:r>
                        <a:rPr lang="ru-RU" sz="1200" b="0" i="0" u="none" strike="noStrike" noProof="0" dirty="0">
                          <a:latin typeface="Times New Roman"/>
                        </a:rPr>
                        <a:t> </a:t>
                      </a:r>
                      <a:endParaRPr lang="ru-RU" sz="1200" dirty="0"/>
                    </a:p>
                  </a:txBody>
                  <a:tcPr/>
                </a:tc>
                <a:tc hMerge="1">
                  <a:txBody>
                    <a:bodyPr/>
                    <a:lstStyle/>
                    <a:p>
                      <a:endParaRPr lang="ru-RU"/>
                    </a:p>
                  </a:txBody>
                  <a:tcPr/>
                </a:tc>
                <a:tc gridSpan="2">
                  <a:txBody>
                    <a:bodyPr/>
                    <a:lstStyle/>
                    <a:p>
                      <a:pPr lvl="0">
                        <a:buNone/>
                      </a:pPr>
                      <a:r>
                        <a:rPr lang="ru-RU" sz="1200" dirty="0"/>
                        <a:t>Громкость музыкальных инструментов</a:t>
                      </a:r>
                    </a:p>
                  </a:txBody>
                  <a:tcPr/>
                </a:tc>
                <a:tc hMerge="1">
                  <a:txBody>
                    <a:bodyPr/>
                    <a:lstStyle/>
                    <a:p>
                      <a:endParaRPr lang="ru-RU"/>
                    </a:p>
                  </a:txBody>
                  <a:tcPr/>
                </a:tc>
                <a:extLst>
                  <a:ext uri="{0D108BD9-81ED-4DB2-BD59-A6C34878D82A}">
                    <a16:rowId xmlns:a16="http://schemas.microsoft.com/office/drawing/2014/main" val="1893102515"/>
                  </a:ext>
                </a:extLst>
              </a:tr>
              <a:tr h="370838">
                <a:tc>
                  <a:txBody>
                    <a:bodyPr/>
                    <a:lstStyle/>
                    <a:p>
                      <a:pPr lvl="0">
                        <a:buNone/>
                      </a:pPr>
                      <a:r>
                        <a:rPr lang="ru-RU" sz="1200" b="0" i="0" u="none" strike="noStrike" noProof="0" dirty="0">
                          <a:latin typeface="Times New Roman"/>
                        </a:rPr>
                        <a:t>Очень тихая комната на окраине города, шум леса</a:t>
                      </a:r>
                      <a:endParaRPr lang="ru-RU" sz="1200" dirty="0"/>
                    </a:p>
                  </a:txBody>
                  <a:tcPr/>
                </a:tc>
                <a:tc>
                  <a:txBody>
                    <a:bodyPr/>
                    <a:lstStyle/>
                    <a:p>
                      <a:pPr lvl="0" algn="l">
                        <a:lnSpc>
                          <a:spcPct val="100000"/>
                        </a:lnSpc>
                        <a:spcBef>
                          <a:spcPts val="0"/>
                        </a:spcBef>
                        <a:spcAft>
                          <a:spcPts val="0"/>
                        </a:spcAft>
                        <a:buNone/>
                      </a:pPr>
                      <a:r>
                        <a:rPr lang="ru-RU" sz="1200" b="0" i="0" u="none" strike="noStrike" noProof="0" dirty="0">
                          <a:latin typeface="Times New Roman"/>
                        </a:rPr>
                        <a:t>20 дБ</a:t>
                      </a:r>
                      <a:endParaRPr lang="ru-RU" sz="1200" b="0" i="0" u="none" strike="noStrike" noProof="0" dirty="0"/>
                    </a:p>
                  </a:txBody>
                  <a:tcPr/>
                </a:tc>
                <a:tc>
                  <a:txBody>
                    <a:bodyPr/>
                    <a:lstStyle/>
                    <a:p>
                      <a:pPr lvl="0">
                        <a:buNone/>
                      </a:pPr>
                      <a:endParaRPr lang="ru-RU" sz="1200" dirty="0"/>
                    </a:p>
                  </a:txBody>
                  <a:tcPr/>
                </a:tc>
                <a:tc>
                  <a:txBody>
                    <a:bodyPr/>
                    <a:lstStyle/>
                    <a:p>
                      <a:pPr lvl="0">
                        <a:buNone/>
                      </a:pPr>
                      <a:endParaRPr lang="ru-RU" sz="1200" b="0" i="0" u="none" strike="noStrike" noProof="0" dirty="0">
                        <a:latin typeface="Times New Roman"/>
                      </a:endParaRPr>
                    </a:p>
                  </a:txBody>
                  <a:tcPr/>
                </a:tc>
                <a:tc>
                  <a:txBody>
                    <a:bodyPr/>
                    <a:lstStyle/>
                    <a:p>
                      <a:pPr lvl="0">
                        <a:buNone/>
                      </a:pPr>
                      <a:r>
                        <a:rPr lang="ru-RU" sz="1200" dirty="0"/>
                        <a:t>Гитара с перебором пальцами</a:t>
                      </a:r>
                    </a:p>
                  </a:txBody>
                  <a:tcPr/>
                </a:tc>
                <a:tc>
                  <a:txBody>
                    <a:bodyPr/>
                    <a:lstStyle/>
                    <a:p>
                      <a:pPr lvl="0" algn="l">
                        <a:lnSpc>
                          <a:spcPct val="100000"/>
                        </a:lnSpc>
                        <a:spcBef>
                          <a:spcPts val="0"/>
                        </a:spcBef>
                        <a:spcAft>
                          <a:spcPts val="0"/>
                        </a:spcAft>
                        <a:buNone/>
                      </a:pPr>
                      <a:r>
                        <a:rPr lang="ru-RU" sz="1200" b="0" i="0" u="none" strike="noStrike" noProof="0" dirty="0">
                          <a:latin typeface="Times New Roman"/>
                        </a:rPr>
                        <a:t>55 дБ</a:t>
                      </a:r>
                    </a:p>
                    <a:p>
                      <a:pPr lvl="0">
                        <a:buNone/>
                      </a:pPr>
                      <a:endParaRPr lang="ru-RU" sz="1200" dirty="0"/>
                    </a:p>
                  </a:txBody>
                  <a:tcPr/>
                </a:tc>
                <a:extLst>
                  <a:ext uri="{0D108BD9-81ED-4DB2-BD59-A6C34878D82A}">
                    <a16:rowId xmlns:a16="http://schemas.microsoft.com/office/drawing/2014/main" val="3670883409"/>
                  </a:ext>
                </a:extLst>
              </a:tr>
              <a:tr h="370838">
                <a:tc>
                  <a:txBody>
                    <a:bodyPr/>
                    <a:lstStyle/>
                    <a:p>
                      <a:pPr lvl="0">
                        <a:buNone/>
                      </a:pPr>
                      <a:r>
                        <a:rPr lang="ru-RU" sz="1200" b="0" i="0" u="none" strike="noStrike" noProof="0" dirty="0">
                          <a:latin typeface="Times New Roman"/>
                        </a:rPr>
                        <a:t>Негромкий разговор, комната в центре города, приготовление пищи</a:t>
                      </a:r>
                      <a:endParaRPr lang="ru-RU" sz="1200" dirty="0"/>
                    </a:p>
                  </a:txBody>
                  <a:tcPr/>
                </a:tc>
                <a:tc>
                  <a:txBody>
                    <a:bodyPr/>
                    <a:lstStyle/>
                    <a:p>
                      <a:pPr lvl="0" algn="l">
                        <a:lnSpc>
                          <a:spcPct val="100000"/>
                        </a:lnSpc>
                        <a:spcBef>
                          <a:spcPts val="0"/>
                        </a:spcBef>
                        <a:spcAft>
                          <a:spcPts val="0"/>
                        </a:spcAft>
                        <a:buNone/>
                      </a:pPr>
                      <a:r>
                        <a:rPr lang="ru-RU" sz="1200" b="0" i="0" u="none" strike="noStrike" noProof="0" dirty="0">
                          <a:latin typeface="Times New Roman"/>
                        </a:rPr>
                        <a:t>40 дБ</a:t>
                      </a:r>
                      <a:endParaRPr lang="ru-RU" sz="1200" b="0" i="0" u="none" strike="noStrike" noProof="0" dirty="0"/>
                    </a:p>
                    <a:p>
                      <a:pPr lvl="0">
                        <a:buNone/>
                      </a:pPr>
                      <a:endParaRPr lang="ru-RU" sz="1200" b="0" i="0" u="none" strike="noStrike" noProof="0" dirty="0">
                        <a:latin typeface="Times New Roman"/>
                      </a:endParaRPr>
                    </a:p>
                  </a:txBody>
                  <a:tcPr/>
                </a:tc>
                <a:tc>
                  <a:txBody>
                    <a:bodyPr/>
                    <a:lstStyle/>
                    <a:p>
                      <a:pPr lvl="0">
                        <a:buNone/>
                      </a:pPr>
                      <a:endParaRPr lang="ru-RU" sz="1200" dirty="0"/>
                    </a:p>
                  </a:txBody>
                  <a:tcPr/>
                </a:tc>
                <a:tc>
                  <a:txBody>
                    <a:bodyPr/>
                    <a:lstStyle/>
                    <a:p>
                      <a:pPr lvl="0">
                        <a:buNone/>
                      </a:pPr>
                      <a:endParaRPr lang="ru-RU" sz="1200" b="0" i="0" u="none" strike="noStrike" noProof="0" dirty="0">
                        <a:latin typeface="Times New Roman"/>
                      </a:endParaRPr>
                    </a:p>
                  </a:txBody>
                  <a:tcPr/>
                </a:tc>
                <a:tc>
                  <a:txBody>
                    <a:bodyPr/>
                    <a:lstStyle/>
                    <a:p>
                      <a:pPr lvl="0">
                        <a:buNone/>
                      </a:pPr>
                      <a:r>
                        <a:rPr lang="ru-RU" sz="1200" b="0" i="0" u="none" strike="noStrike" noProof="0" dirty="0"/>
                        <a:t>Гитара с </a:t>
                      </a:r>
                      <a:r>
                        <a:rPr lang="ru-RU" sz="1200" b="0" i="0" u="none" strike="noStrike" noProof="0" dirty="0" err="1">
                          <a:latin typeface="Times New Roman"/>
                        </a:rPr>
                        <a:t>медиатром</a:t>
                      </a:r>
                      <a:endParaRPr lang="ru-RU" sz="1200" dirty="0" err="1"/>
                    </a:p>
                  </a:txBody>
                  <a:tcPr/>
                </a:tc>
                <a:tc>
                  <a:txBody>
                    <a:bodyPr/>
                    <a:lstStyle/>
                    <a:p>
                      <a:pPr lvl="0" algn="l">
                        <a:lnSpc>
                          <a:spcPct val="100000"/>
                        </a:lnSpc>
                        <a:spcBef>
                          <a:spcPts val="0"/>
                        </a:spcBef>
                        <a:spcAft>
                          <a:spcPts val="0"/>
                        </a:spcAft>
                        <a:buNone/>
                      </a:pPr>
                      <a:r>
                        <a:rPr lang="ru-RU" sz="1200" b="0" i="0" u="none" strike="noStrike" noProof="0" dirty="0">
                          <a:latin typeface="Times New Roman"/>
                        </a:rPr>
                        <a:t>75 дБ</a:t>
                      </a:r>
                    </a:p>
                    <a:p>
                      <a:pPr lvl="0">
                        <a:buNone/>
                      </a:pPr>
                      <a:endParaRPr lang="ru-RU" sz="1200" dirty="0"/>
                    </a:p>
                  </a:txBody>
                  <a:tcPr/>
                </a:tc>
                <a:extLst>
                  <a:ext uri="{0D108BD9-81ED-4DB2-BD59-A6C34878D82A}">
                    <a16:rowId xmlns:a16="http://schemas.microsoft.com/office/drawing/2014/main" val="3523968313"/>
                  </a:ext>
                </a:extLst>
              </a:tr>
              <a:tr h="370838">
                <a:tc>
                  <a:txBody>
                    <a:bodyPr/>
                    <a:lstStyle/>
                    <a:p>
                      <a:pPr lvl="0">
                        <a:buNone/>
                      </a:pPr>
                      <a:r>
                        <a:rPr lang="ru-RU" sz="1200" b="0" i="0" u="none" strike="noStrike" noProof="0" dirty="0">
                          <a:latin typeface="Times New Roman"/>
                        </a:rPr>
                        <a:t>Обычный разговор</a:t>
                      </a:r>
                      <a:endParaRPr lang="ru-RU" sz="1200" dirty="0"/>
                    </a:p>
                  </a:txBody>
                  <a:tcPr/>
                </a:tc>
                <a:tc>
                  <a:txBody>
                    <a:bodyPr/>
                    <a:lstStyle/>
                    <a:p>
                      <a:pPr lvl="0" algn="l">
                        <a:lnSpc>
                          <a:spcPct val="100000"/>
                        </a:lnSpc>
                        <a:spcBef>
                          <a:spcPts val="0"/>
                        </a:spcBef>
                        <a:spcAft>
                          <a:spcPts val="0"/>
                        </a:spcAft>
                        <a:buNone/>
                      </a:pPr>
                      <a:r>
                        <a:rPr lang="ru-RU" sz="1200" b="0" i="0" u="none" strike="noStrike" noProof="0" dirty="0">
                          <a:latin typeface="Times New Roman"/>
                        </a:rPr>
                        <a:t>60 дБ</a:t>
                      </a:r>
                      <a:endParaRPr lang="ru-RU" sz="1200" b="0" i="0" u="none" strike="noStrike" noProof="0" dirty="0"/>
                    </a:p>
                    <a:p>
                      <a:pPr lvl="0">
                        <a:buNone/>
                      </a:pPr>
                      <a:endParaRPr lang="ru-RU" sz="1200" b="0" i="0" u="none" strike="noStrike" noProof="0" dirty="0">
                        <a:latin typeface="Times New Roman"/>
                      </a:endParaRPr>
                    </a:p>
                  </a:txBody>
                  <a:tcPr/>
                </a:tc>
                <a:tc>
                  <a:txBody>
                    <a:bodyPr/>
                    <a:lstStyle/>
                    <a:p>
                      <a:pPr lvl="0">
                        <a:buNone/>
                      </a:pPr>
                      <a:endParaRPr lang="ru-RU" sz="1200" b="0" i="0" u="none" strike="noStrike" noProof="0" dirty="0">
                        <a:latin typeface="Times New Roman"/>
                      </a:endParaRPr>
                    </a:p>
                  </a:txBody>
                  <a:tcPr/>
                </a:tc>
                <a:tc>
                  <a:txBody>
                    <a:bodyPr/>
                    <a:lstStyle/>
                    <a:p>
                      <a:pPr lvl="0" algn="l">
                        <a:lnSpc>
                          <a:spcPct val="100000"/>
                        </a:lnSpc>
                        <a:spcBef>
                          <a:spcPts val="0"/>
                        </a:spcBef>
                        <a:spcAft>
                          <a:spcPts val="0"/>
                        </a:spcAft>
                        <a:buNone/>
                      </a:pPr>
                      <a:endParaRPr lang="ru-RU" sz="1200" b="0" i="0" u="none" strike="noStrike" noProof="0" dirty="0">
                        <a:latin typeface="Times New Roman"/>
                      </a:endParaRPr>
                    </a:p>
                  </a:txBody>
                  <a:tcPr/>
                </a:tc>
                <a:tc>
                  <a:txBody>
                    <a:bodyPr/>
                    <a:lstStyle/>
                    <a:p>
                      <a:pPr lvl="0">
                        <a:buNone/>
                      </a:pPr>
                      <a:r>
                        <a:rPr lang="ru-RU" sz="1200" b="0" i="0" u="none" strike="noStrike" noProof="0" dirty="0">
                          <a:latin typeface="Times New Roman"/>
                        </a:rPr>
                        <a:t>Скрипка</a:t>
                      </a:r>
                      <a:endParaRPr lang="ru-RU" sz="1200" dirty="0"/>
                    </a:p>
                  </a:txBody>
                  <a:tcPr/>
                </a:tc>
                <a:tc>
                  <a:txBody>
                    <a:bodyPr/>
                    <a:lstStyle/>
                    <a:p>
                      <a:pPr lvl="0">
                        <a:buNone/>
                      </a:pPr>
                      <a:r>
                        <a:rPr lang="ru-RU" sz="1200" b="0" i="0" u="none" strike="noStrike" noProof="0" dirty="0">
                          <a:latin typeface="Times New Roman"/>
                        </a:rPr>
                        <a:t>95 дБ</a:t>
                      </a:r>
                      <a:endParaRPr lang="ru-RU" sz="1200" dirty="0"/>
                    </a:p>
                  </a:txBody>
                  <a:tcPr/>
                </a:tc>
                <a:extLst>
                  <a:ext uri="{0D108BD9-81ED-4DB2-BD59-A6C34878D82A}">
                    <a16:rowId xmlns:a16="http://schemas.microsoft.com/office/drawing/2014/main" val="2504305932"/>
                  </a:ext>
                </a:extLst>
              </a:tr>
              <a:tr h="370839">
                <a:tc>
                  <a:txBody>
                    <a:bodyPr/>
                    <a:lstStyle/>
                    <a:p>
                      <a:pPr lvl="0">
                        <a:buNone/>
                      </a:pPr>
                      <a:r>
                        <a:rPr lang="ru-RU" sz="1200" b="0" i="0" u="none" strike="noStrike" noProof="0" dirty="0">
                          <a:latin typeface="Times New Roman"/>
                        </a:rPr>
                        <a:t>Звонок мобильного телефона, шумная улица, ш</a:t>
                      </a:r>
                      <a:r>
                        <a:rPr lang="ru-RU" sz="1200" b="0" i="0" u="none" strike="noStrike" noProof="0" dirty="0"/>
                        <a:t>ум работы разнообразного офисного оборудования, пылесоса, детский плач</a:t>
                      </a:r>
                      <a:endParaRPr lang="ru-RU" sz="1200" dirty="0"/>
                    </a:p>
                  </a:txBody>
                  <a:tcPr/>
                </a:tc>
                <a:tc>
                  <a:txBody>
                    <a:bodyPr/>
                    <a:lstStyle/>
                    <a:p>
                      <a:pPr lvl="0" algn="l">
                        <a:lnSpc>
                          <a:spcPct val="100000"/>
                        </a:lnSpc>
                        <a:spcBef>
                          <a:spcPts val="0"/>
                        </a:spcBef>
                        <a:spcAft>
                          <a:spcPts val="0"/>
                        </a:spcAft>
                        <a:buNone/>
                      </a:pPr>
                      <a:r>
                        <a:rPr lang="ru-RU" sz="1200" b="0" i="0" u="none" strike="noStrike" noProof="0" dirty="0">
                          <a:latin typeface="Times New Roman"/>
                        </a:rPr>
                        <a:t>80 дБ</a:t>
                      </a:r>
                      <a:endParaRPr lang="ru-RU" sz="1200" b="0" i="0" u="none" strike="noStrike" noProof="0" dirty="0"/>
                    </a:p>
                    <a:p>
                      <a:pPr lvl="0">
                        <a:buNone/>
                      </a:pPr>
                      <a:endParaRPr lang="ru-RU" sz="1200" b="0" i="0" u="none" strike="noStrike" noProof="0" dirty="0">
                        <a:latin typeface="Times New Roman"/>
                      </a:endParaRPr>
                    </a:p>
                  </a:txBody>
                  <a:tcPr/>
                </a:tc>
                <a:tc>
                  <a:txBody>
                    <a:bodyPr/>
                    <a:lstStyle/>
                    <a:p>
                      <a:pPr lvl="0">
                        <a:buNone/>
                      </a:pPr>
                      <a:r>
                        <a:rPr lang="ru-RU" sz="1200" b="0" i="0" u="none" strike="noStrike" noProof="0" dirty="0">
                          <a:latin typeface="Times New Roman"/>
                        </a:rPr>
                        <a:t>85 дБ</a:t>
                      </a:r>
                      <a:endParaRPr lang="ru-RU" sz="1200" dirty="0"/>
                    </a:p>
                  </a:txBody>
                  <a:tcPr/>
                </a:tc>
                <a:tc>
                  <a:txBody>
                    <a:bodyPr/>
                    <a:lstStyle/>
                    <a:p>
                      <a:pPr lvl="0" algn="l">
                        <a:lnSpc>
                          <a:spcPct val="100000"/>
                        </a:lnSpc>
                        <a:spcBef>
                          <a:spcPts val="0"/>
                        </a:spcBef>
                        <a:spcAft>
                          <a:spcPts val="0"/>
                        </a:spcAft>
                        <a:buNone/>
                      </a:pPr>
                      <a:r>
                        <a:rPr lang="ru-RU" sz="1200" b="0" i="0" u="none" strike="noStrike" noProof="0" dirty="0">
                          <a:latin typeface="Times New Roman"/>
                        </a:rPr>
                        <a:t>8 ч</a:t>
                      </a:r>
                      <a:endParaRPr lang="ru-RU" sz="1200" b="0" i="0" u="none" strike="noStrike" noProof="0" dirty="0"/>
                    </a:p>
                    <a:p>
                      <a:pPr lvl="0">
                        <a:buNone/>
                      </a:pPr>
                      <a:endParaRPr lang="ru-RU" sz="1200" b="0" i="0" u="none" strike="noStrike" noProof="0" dirty="0">
                        <a:latin typeface="Times New Roman"/>
                      </a:endParaRPr>
                    </a:p>
                  </a:txBody>
                  <a:tcPr/>
                </a:tc>
                <a:tc>
                  <a:txBody>
                    <a:bodyPr/>
                    <a:lstStyle/>
                    <a:p>
                      <a:pPr lvl="0">
                        <a:buNone/>
                      </a:pPr>
                      <a:r>
                        <a:rPr lang="ru-RU" sz="1200" b="0" i="0" u="none" strike="noStrike" noProof="0" dirty="0">
                          <a:latin typeface="Times New Roman"/>
                        </a:rPr>
                        <a:t>Гобой</a:t>
                      </a:r>
                      <a:endParaRPr lang="ru-RU" sz="1200" dirty="0"/>
                    </a:p>
                  </a:txBody>
                  <a:tcPr/>
                </a:tc>
                <a:tc>
                  <a:txBody>
                    <a:bodyPr/>
                    <a:lstStyle/>
                    <a:p>
                      <a:pPr lvl="0">
                        <a:buNone/>
                      </a:pPr>
                      <a:r>
                        <a:rPr lang="ru-RU" sz="1200" b="0" i="0" u="none" strike="noStrike" noProof="0" dirty="0">
                          <a:latin typeface="Times New Roman"/>
                        </a:rPr>
                        <a:t>95 дБ</a:t>
                      </a:r>
                      <a:endParaRPr lang="ru-RU" sz="1200" dirty="0"/>
                    </a:p>
                  </a:txBody>
                  <a:tcPr/>
                </a:tc>
                <a:extLst>
                  <a:ext uri="{0D108BD9-81ED-4DB2-BD59-A6C34878D82A}">
                    <a16:rowId xmlns:a16="http://schemas.microsoft.com/office/drawing/2014/main" val="2768663282"/>
                  </a:ext>
                </a:extLst>
              </a:tr>
              <a:tr h="370840">
                <a:tc>
                  <a:txBody>
                    <a:bodyPr/>
                    <a:lstStyle/>
                    <a:p>
                      <a:pPr lvl="0">
                        <a:buNone/>
                      </a:pPr>
                      <a:r>
                        <a:rPr lang="ru-RU" sz="1200" b="0" i="0" u="none" strike="noStrike" noProof="0" dirty="0">
                          <a:latin typeface="Times New Roman"/>
                        </a:rPr>
                        <a:t>Трактор или бульдозер (вблизи), мотоцикл, поезд, ремонтные работы</a:t>
                      </a:r>
                    </a:p>
                  </a:txBody>
                  <a:tcPr/>
                </a:tc>
                <a:tc>
                  <a:txBody>
                    <a:bodyPr/>
                    <a:lstStyle/>
                    <a:p>
                      <a:pPr lvl="0">
                        <a:buNone/>
                      </a:pPr>
                      <a:r>
                        <a:rPr lang="ru-RU" sz="1200" b="0" i="0" u="none" strike="noStrike" noProof="0" dirty="0">
                          <a:latin typeface="Times New Roman"/>
                        </a:rPr>
                        <a:t>100 дБ</a:t>
                      </a:r>
                      <a:endParaRPr lang="ru-RU" sz="1200" dirty="0"/>
                    </a:p>
                  </a:txBody>
                  <a:tcPr/>
                </a:tc>
                <a:tc>
                  <a:txBody>
                    <a:bodyPr/>
                    <a:lstStyle/>
                    <a:p>
                      <a:pPr lvl="0" algn="l">
                        <a:lnSpc>
                          <a:spcPct val="100000"/>
                        </a:lnSpc>
                        <a:spcBef>
                          <a:spcPts val="0"/>
                        </a:spcBef>
                        <a:spcAft>
                          <a:spcPts val="0"/>
                        </a:spcAft>
                        <a:buNone/>
                      </a:pPr>
                      <a:r>
                        <a:rPr lang="ru-RU" sz="1200" b="0" i="0" u="none" strike="noStrike" noProof="0" dirty="0">
                          <a:latin typeface="Times New Roman"/>
                        </a:rPr>
                        <a:t>95 дБ</a:t>
                      </a:r>
                      <a:endParaRPr lang="ru-RU" sz="1200" dirty="0"/>
                    </a:p>
                  </a:txBody>
                  <a:tcPr/>
                </a:tc>
                <a:tc>
                  <a:txBody>
                    <a:bodyPr/>
                    <a:lstStyle/>
                    <a:p>
                      <a:pPr lvl="0">
                        <a:buNone/>
                      </a:pPr>
                      <a:r>
                        <a:rPr lang="ru-RU" sz="1200" b="0" i="0" u="none" strike="noStrike" noProof="0" dirty="0">
                          <a:latin typeface="Times New Roman"/>
                        </a:rPr>
                        <a:t>1 ч</a:t>
                      </a:r>
                    </a:p>
                  </a:txBody>
                  <a:tcPr/>
                </a:tc>
                <a:tc>
                  <a:txBody>
                    <a:bodyPr/>
                    <a:lstStyle/>
                    <a:p>
                      <a:pPr lvl="0">
                        <a:buNone/>
                      </a:pPr>
                      <a:r>
                        <a:rPr lang="ru-RU" sz="1200" b="0" i="0" u="none" strike="noStrike" noProof="0" dirty="0">
                          <a:latin typeface="Times New Roman"/>
                        </a:rPr>
                        <a:t>Фортепиано</a:t>
                      </a:r>
                      <a:endParaRPr lang="ru-RU" sz="1200" dirty="0"/>
                    </a:p>
                  </a:txBody>
                  <a:tcPr/>
                </a:tc>
                <a:tc>
                  <a:txBody>
                    <a:bodyPr/>
                    <a:lstStyle/>
                    <a:p>
                      <a:pPr lvl="0" algn="l">
                        <a:lnSpc>
                          <a:spcPct val="100000"/>
                        </a:lnSpc>
                        <a:spcBef>
                          <a:spcPts val="0"/>
                        </a:spcBef>
                        <a:spcAft>
                          <a:spcPts val="0"/>
                        </a:spcAft>
                        <a:buNone/>
                      </a:pPr>
                      <a:r>
                        <a:rPr lang="ru-RU" sz="1200" b="0" i="0" u="none" strike="noStrike" noProof="0" dirty="0">
                          <a:latin typeface="Times New Roman"/>
                        </a:rPr>
                        <a:t>105 дБ</a:t>
                      </a:r>
                    </a:p>
                    <a:p>
                      <a:pPr lvl="0">
                        <a:buNone/>
                      </a:pPr>
                      <a:endParaRPr lang="ru-RU" sz="1200" dirty="0"/>
                    </a:p>
                  </a:txBody>
                  <a:tcPr/>
                </a:tc>
                <a:extLst>
                  <a:ext uri="{0D108BD9-81ED-4DB2-BD59-A6C34878D82A}">
                    <a16:rowId xmlns:a16="http://schemas.microsoft.com/office/drawing/2014/main" val="3181727884"/>
                  </a:ext>
                </a:extLst>
              </a:tr>
              <a:tr h="370840">
                <a:tc>
                  <a:txBody>
                    <a:bodyPr/>
                    <a:lstStyle/>
                    <a:p>
                      <a:pPr lvl="0" algn="l">
                        <a:lnSpc>
                          <a:spcPct val="100000"/>
                        </a:lnSpc>
                        <a:spcBef>
                          <a:spcPts val="0"/>
                        </a:spcBef>
                        <a:spcAft>
                          <a:spcPts val="0"/>
                        </a:spcAft>
                        <a:buNone/>
                      </a:pPr>
                      <a:r>
                        <a:rPr lang="ru-RU" sz="1200" b="0" i="0" u="none" strike="noStrike" noProof="0" dirty="0">
                          <a:latin typeface="Times New Roman"/>
                        </a:rPr>
                        <a:t>Танцевальная музыка в ночном клубе</a:t>
                      </a:r>
                      <a:endParaRPr lang="ru-RU" sz="1200" dirty="0"/>
                    </a:p>
                  </a:txBody>
                  <a:tcPr/>
                </a:tc>
                <a:tc>
                  <a:txBody>
                    <a:bodyPr/>
                    <a:lstStyle/>
                    <a:p>
                      <a:pPr lvl="0" algn="l">
                        <a:lnSpc>
                          <a:spcPct val="100000"/>
                        </a:lnSpc>
                        <a:spcBef>
                          <a:spcPts val="0"/>
                        </a:spcBef>
                        <a:spcAft>
                          <a:spcPts val="0"/>
                        </a:spcAft>
                        <a:buNone/>
                      </a:pPr>
                      <a:r>
                        <a:rPr lang="ru-RU" sz="1200" b="0" i="0" u="none" strike="noStrike" noProof="0" dirty="0">
                          <a:latin typeface="Times New Roman"/>
                        </a:rPr>
                        <a:t>110 дБ</a:t>
                      </a:r>
                      <a:endParaRPr lang="ru-RU" sz="1200" dirty="0"/>
                    </a:p>
                  </a:txBody>
                  <a:tcPr/>
                </a:tc>
                <a:tc>
                  <a:txBody>
                    <a:bodyPr/>
                    <a:lstStyle/>
                    <a:p>
                      <a:pPr lvl="0" algn="l">
                        <a:lnSpc>
                          <a:spcPct val="100000"/>
                        </a:lnSpc>
                        <a:spcBef>
                          <a:spcPts val="0"/>
                        </a:spcBef>
                        <a:spcAft>
                          <a:spcPts val="0"/>
                        </a:spcAft>
                        <a:buNone/>
                      </a:pPr>
                      <a:r>
                        <a:rPr lang="ru-RU" sz="1200" b="0" i="0" u="none" strike="noStrike" noProof="0" dirty="0">
                          <a:latin typeface="Times New Roman"/>
                        </a:rPr>
                        <a:t>105 дБ</a:t>
                      </a:r>
                      <a:endParaRPr lang="ru-RU" sz="1200" dirty="0"/>
                    </a:p>
                  </a:txBody>
                  <a:tcPr/>
                </a:tc>
                <a:tc>
                  <a:txBody>
                    <a:bodyPr/>
                    <a:lstStyle/>
                    <a:p>
                      <a:pPr lvl="0">
                        <a:buNone/>
                      </a:pPr>
                      <a:r>
                        <a:rPr lang="ru-RU" sz="1200" b="0" i="0" u="none" strike="noStrike" noProof="0" dirty="0">
                          <a:latin typeface="Times New Roman"/>
                        </a:rPr>
                        <a:t>4 мин</a:t>
                      </a:r>
                      <a:endParaRPr lang="ru-RU" sz="1200" dirty="0"/>
                    </a:p>
                  </a:txBody>
                  <a:tcPr/>
                </a:tc>
                <a:tc>
                  <a:txBody>
                    <a:bodyPr/>
                    <a:lstStyle/>
                    <a:p>
                      <a:pPr lvl="0">
                        <a:buNone/>
                      </a:pPr>
                      <a:r>
                        <a:rPr lang="ru-RU" sz="1200" b="0" i="0" u="none" strike="noStrike" noProof="0" dirty="0">
                          <a:latin typeface="Times New Roman"/>
                        </a:rPr>
                        <a:t>Кларнет</a:t>
                      </a:r>
                      <a:endParaRPr lang="ru-RU" sz="1200" dirty="0"/>
                    </a:p>
                  </a:txBody>
                  <a:tcPr/>
                </a:tc>
                <a:tc>
                  <a:txBody>
                    <a:bodyPr/>
                    <a:lstStyle/>
                    <a:p>
                      <a:pPr lvl="0" algn="l">
                        <a:lnSpc>
                          <a:spcPct val="100000"/>
                        </a:lnSpc>
                        <a:spcBef>
                          <a:spcPts val="0"/>
                        </a:spcBef>
                        <a:spcAft>
                          <a:spcPts val="0"/>
                        </a:spcAft>
                        <a:buNone/>
                      </a:pPr>
                      <a:r>
                        <a:rPr lang="ru-RU" sz="1200" b="0" i="0" u="none" strike="noStrike" noProof="0" dirty="0">
                          <a:latin typeface="Times New Roman"/>
                        </a:rPr>
                        <a:t>105 дБ</a:t>
                      </a:r>
                    </a:p>
                  </a:txBody>
                  <a:tcPr/>
                </a:tc>
                <a:extLst>
                  <a:ext uri="{0D108BD9-81ED-4DB2-BD59-A6C34878D82A}">
                    <a16:rowId xmlns:a16="http://schemas.microsoft.com/office/drawing/2014/main" val="1057520381"/>
                  </a:ext>
                </a:extLst>
              </a:tr>
              <a:tr h="370840">
                <a:tc>
                  <a:txBody>
                    <a:bodyPr/>
                    <a:lstStyle/>
                    <a:p>
                      <a:pPr lvl="0" algn="l">
                        <a:lnSpc>
                          <a:spcPct val="100000"/>
                        </a:lnSpc>
                        <a:spcBef>
                          <a:spcPts val="0"/>
                        </a:spcBef>
                        <a:spcAft>
                          <a:spcPts val="0"/>
                        </a:spcAft>
                        <a:buNone/>
                      </a:pPr>
                      <a:r>
                        <a:rPr lang="ru-RU" sz="1200" b="0" i="0" u="none" strike="noStrike" noProof="0" dirty="0">
                          <a:latin typeface="Times New Roman"/>
                        </a:rPr>
                        <a:t>Удар грома (вблизи)</a:t>
                      </a:r>
                      <a:endParaRPr lang="ru-RU" sz="1200" dirty="0"/>
                    </a:p>
                  </a:txBody>
                  <a:tcPr/>
                </a:tc>
                <a:tc>
                  <a:txBody>
                    <a:bodyPr/>
                    <a:lstStyle/>
                    <a:p>
                      <a:pPr lvl="0" algn="l">
                        <a:lnSpc>
                          <a:spcPct val="100000"/>
                        </a:lnSpc>
                        <a:spcBef>
                          <a:spcPts val="0"/>
                        </a:spcBef>
                        <a:spcAft>
                          <a:spcPts val="0"/>
                        </a:spcAft>
                        <a:buNone/>
                      </a:pPr>
                      <a:r>
                        <a:rPr lang="ru-RU" sz="1200" b="0" i="0" u="none" strike="noStrike" noProof="0" dirty="0">
                          <a:latin typeface="Times New Roman"/>
                        </a:rPr>
                        <a:t>120 дБ</a:t>
                      </a:r>
                      <a:endParaRPr lang="ru-RU" sz="1200" dirty="0"/>
                    </a:p>
                  </a:txBody>
                  <a:tcPr/>
                </a:tc>
                <a:tc>
                  <a:txBody>
                    <a:bodyPr/>
                    <a:lstStyle/>
                    <a:p>
                      <a:pPr lvl="0" algn="l">
                        <a:lnSpc>
                          <a:spcPct val="100000"/>
                        </a:lnSpc>
                        <a:spcBef>
                          <a:spcPts val="0"/>
                        </a:spcBef>
                        <a:spcAft>
                          <a:spcPts val="0"/>
                        </a:spcAft>
                        <a:buNone/>
                      </a:pPr>
                      <a:r>
                        <a:rPr lang="ru-RU" sz="1200" b="0" i="0" u="none" strike="noStrike" noProof="0" dirty="0">
                          <a:latin typeface="Times New Roman"/>
                        </a:rPr>
                        <a:t>115 дБ</a:t>
                      </a:r>
                      <a:endParaRPr lang="ru-RU" sz="1200" dirty="0"/>
                    </a:p>
                  </a:txBody>
                  <a:tcPr/>
                </a:tc>
                <a:tc>
                  <a:txBody>
                    <a:bodyPr/>
                    <a:lstStyle/>
                    <a:p>
                      <a:pPr lvl="0">
                        <a:buNone/>
                      </a:pPr>
                      <a:r>
                        <a:rPr lang="ru-RU" sz="1200" b="0" i="0" u="none" strike="noStrike" noProof="0" dirty="0">
                          <a:latin typeface="Times New Roman"/>
                        </a:rPr>
                        <a:t>30 с</a:t>
                      </a:r>
                      <a:endParaRPr lang="ru-RU" sz="1200" dirty="0"/>
                    </a:p>
                  </a:txBody>
                  <a:tcPr/>
                </a:tc>
                <a:tc>
                  <a:txBody>
                    <a:bodyPr/>
                    <a:lstStyle/>
                    <a:p>
                      <a:pPr lvl="0">
                        <a:buNone/>
                      </a:pPr>
                      <a:r>
                        <a:rPr lang="ru-RU" sz="1200" b="0" i="0" u="none" strike="noStrike" noProof="0" dirty="0">
                          <a:latin typeface="Times New Roman"/>
                        </a:rPr>
                        <a:t>Саксофон</a:t>
                      </a:r>
                      <a:endParaRPr lang="ru-RU" sz="1200" dirty="0"/>
                    </a:p>
                  </a:txBody>
                  <a:tcPr/>
                </a:tc>
                <a:tc>
                  <a:txBody>
                    <a:bodyPr/>
                    <a:lstStyle/>
                    <a:p>
                      <a:pPr lvl="0">
                        <a:buNone/>
                      </a:pPr>
                      <a:r>
                        <a:rPr lang="ru-RU" sz="1200" b="0" i="0" u="none" strike="noStrike" noProof="0" dirty="0">
                          <a:latin typeface="Times New Roman"/>
                        </a:rPr>
                        <a:t>110 дБ</a:t>
                      </a:r>
                      <a:endParaRPr lang="ru-RU" sz="1200" dirty="0"/>
                    </a:p>
                  </a:txBody>
                  <a:tcPr/>
                </a:tc>
                <a:extLst>
                  <a:ext uri="{0D108BD9-81ED-4DB2-BD59-A6C34878D82A}">
                    <a16:rowId xmlns:a16="http://schemas.microsoft.com/office/drawing/2014/main" val="3354026678"/>
                  </a:ext>
                </a:extLst>
              </a:tr>
              <a:tr h="370840">
                <a:tc>
                  <a:txBody>
                    <a:bodyPr/>
                    <a:lstStyle/>
                    <a:p>
                      <a:pPr lvl="0">
                        <a:buNone/>
                      </a:pPr>
                      <a:r>
                        <a:rPr lang="ru-RU" sz="1200" b="0" i="0" u="none" strike="noStrike" noProof="0" dirty="0">
                          <a:latin typeface="Times New Roman"/>
                        </a:rPr>
                        <a:t>Взлёт реактивного самолёта (вблизи)</a:t>
                      </a:r>
                      <a:endParaRPr lang="ru-RU" sz="1200" dirty="0"/>
                    </a:p>
                  </a:txBody>
                  <a:tcPr/>
                </a:tc>
                <a:tc>
                  <a:txBody>
                    <a:bodyPr/>
                    <a:lstStyle/>
                    <a:p>
                      <a:pPr lvl="0">
                        <a:buNone/>
                      </a:pPr>
                      <a:r>
                        <a:rPr lang="ru-RU" sz="1200" b="0" i="0" u="none" strike="noStrike" noProof="0" dirty="0">
                          <a:latin typeface="Times New Roman"/>
                        </a:rPr>
                        <a:t>140 дБ</a:t>
                      </a:r>
                      <a:endParaRPr lang="ru-RU" sz="1200" dirty="0"/>
                    </a:p>
                  </a:txBody>
                  <a:tcPr/>
                </a:tc>
                <a:tc>
                  <a:txBody>
                    <a:bodyPr/>
                    <a:lstStyle/>
                    <a:p>
                      <a:pPr lvl="0" algn="l">
                        <a:lnSpc>
                          <a:spcPct val="100000"/>
                        </a:lnSpc>
                        <a:spcBef>
                          <a:spcPts val="0"/>
                        </a:spcBef>
                        <a:spcAft>
                          <a:spcPts val="0"/>
                        </a:spcAft>
                        <a:buNone/>
                      </a:pPr>
                      <a:r>
                        <a:rPr lang="ru-RU" sz="1200" b="0" i="0" u="none" strike="noStrike" noProof="0" dirty="0">
                          <a:latin typeface="Times New Roman"/>
                        </a:rPr>
                        <a:t>125 дБ</a:t>
                      </a:r>
                      <a:endParaRPr lang="ru-RU" sz="1200" dirty="0"/>
                    </a:p>
                    <a:p>
                      <a:pPr lvl="0">
                        <a:buNone/>
                      </a:pPr>
                      <a:endParaRPr lang="ru-RU" sz="1200" dirty="0"/>
                    </a:p>
                  </a:txBody>
                  <a:tcPr/>
                </a:tc>
                <a:tc>
                  <a:txBody>
                    <a:bodyPr/>
                    <a:lstStyle/>
                    <a:p>
                      <a:pPr lvl="0">
                        <a:buNone/>
                      </a:pPr>
                      <a:r>
                        <a:rPr lang="ru-RU" sz="1200" b="0" i="0" u="none" strike="noStrike" noProof="0" dirty="0">
                          <a:latin typeface="Times New Roman"/>
                        </a:rPr>
                        <a:t>1 с</a:t>
                      </a:r>
                      <a:endParaRPr lang="ru-RU" sz="1200" dirty="0"/>
                    </a:p>
                  </a:txBody>
                  <a:tcPr/>
                </a:tc>
                <a:tc>
                  <a:txBody>
                    <a:bodyPr/>
                    <a:lstStyle/>
                    <a:p>
                      <a:pPr lvl="0">
                        <a:buNone/>
                      </a:pPr>
                      <a:r>
                        <a:rPr lang="ru-RU" sz="1200" b="0" i="0" u="none" strike="noStrike" noProof="0" dirty="0">
                          <a:latin typeface="Times New Roman"/>
                        </a:rPr>
                        <a:t>Флейта</a:t>
                      </a:r>
                      <a:endParaRPr lang="ru-RU" sz="1200" dirty="0"/>
                    </a:p>
                  </a:txBody>
                  <a:tcPr/>
                </a:tc>
                <a:tc>
                  <a:txBody>
                    <a:bodyPr/>
                    <a:lstStyle/>
                    <a:p>
                      <a:pPr lvl="0">
                        <a:buNone/>
                      </a:pPr>
                      <a:r>
                        <a:rPr lang="ru-RU" sz="1200" b="0" i="0" u="none" strike="noStrike" noProof="0" dirty="0">
                          <a:latin typeface="Times New Roman"/>
                        </a:rPr>
                        <a:t>110 дБ</a:t>
                      </a:r>
                      <a:endParaRPr lang="ru-RU" sz="1200" dirty="0"/>
                    </a:p>
                  </a:txBody>
                  <a:tcPr/>
                </a:tc>
                <a:extLst>
                  <a:ext uri="{0D108BD9-81ED-4DB2-BD59-A6C34878D82A}">
                    <a16:rowId xmlns:a16="http://schemas.microsoft.com/office/drawing/2014/main" val="1715276679"/>
                  </a:ext>
                </a:extLst>
              </a:tr>
              <a:tr h="370840">
                <a:tc>
                  <a:txBody>
                    <a:bodyPr/>
                    <a:lstStyle/>
                    <a:p>
                      <a:pPr lvl="0" algn="l">
                        <a:lnSpc>
                          <a:spcPct val="100000"/>
                        </a:lnSpc>
                        <a:spcBef>
                          <a:spcPts val="0"/>
                        </a:spcBef>
                        <a:spcAft>
                          <a:spcPts val="0"/>
                        </a:spcAft>
                        <a:buNone/>
                      </a:pPr>
                      <a:r>
                        <a:rPr lang="ru-RU" sz="1200" b="0" i="0" u="none" strike="noStrike" noProof="0" dirty="0">
                          <a:latin typeface="Times New Roman"/>
                        </a:rPr>
                        <a:t>Выстрел из крупнокалиберной винтовки (вблизи)</a:t>
                      </a:r>
                    </a:p>
                  </a:txBody>
                  <a:tcPr/>
                </a:tc>
                <a:tc>
                  <a:txBody>
                    <a:bodyPr/>
                    <a:lstStyle/>
                    <a:p>
                      <a:pPr lvl="0" algn="l">
                        <a:lnSpc>
                          <a:spcPct val="100000"/>
                        </a:lnSpc>
                        <a:spcBef>
                          <a:spcPts val="0"/>
                        </a:spcBef>
                        <a:spcAft>
                          <a:spcPts val="0"/>
                        </a:spcAft>
                        <a:buNone/>
                      </a:pPr>
                      <a:r>
                        <a:rPr lang="ru-RU" sz="1200" b="0" i="0" u="none" strike="noStrike" noProof="0" dirty="0">
                          <a:latin typeface="Times New Roman"/>
                        </a:rPr>
                        <a:t>170 дБ</a:t>
                      </a:r>
                      <a:endParaRPr lang="ru-RU" sz="1200" dirty="0"/>
                    </a:p>
                    <a:p>
                      <a:pPr lvl="0">
                        <a:buNone/>
                      </a:pPr>
                      <a:endParaRPr lang="ru-RU" sz="1200" dirty="0"/>
                    </a:p>
                  </a:txBody>
                  <a:tcPr/>
                </a:tc>
                <a:tc>
                  <a:txBody>
                    <a:bodyPr/>
                    <a:lstStyle/>
                    <a:p>
                      <a:pPr lvl="0">
                        <a:buNone/>
                      </a:pPr>
                      <a:endParaRPr lang="ru-RU" sz="1200" dirty="0"/>
                    </a:p>
                  </a:txBody>
                  <a:tcPr/>
                </a:tc>
                <a:tc>
                  <a:txBody>
                    <a:bodyPr/>
                    <a:lstStyle/>
                    <a:p>
                      <a:pPr lvl="0">
                        <a:buNone/>
                      </a:pPr>
                      <a:endParaRPr lang="ru-RU" sz="1200" dirty="0"/>
                    </a:p>
                  </a:txBody>
                  <a:tcPr/>
                </a:tc>
                <a:tc>
                  <a:txBody>
                    <a:bodyPr/>
                    <a:lstStyle/>
                    <a:p>
                      <a:pPr lvl="0">
                        <a:buNone/>
                      </a:pPr>
                      <a:r>
                        <a:rPr lang="ru-RU" sz="1200" b="0" i="0" u="none" strike="noStrike" noProof="0" dirty="0">
                          <a:latin typeface="Times New Roman"/>
                        </a:rPr>
                        <a:t>Труба</a:t>
                      </a:r>
                      <a:endParaRPr lang="ru-RU" sz="1200" dirty="0"/>
                    </a:p>
                  </a:txBody>
                  <a:tcPr/>
                </a:tc>
                <a:tc>
                  <a:txBody>
                    <a:bodyPr/>
                    <a:lstStyle/>
                    <a:p>
                      <a:pPr lvl="0" algn="l">
                        <a:lnSpc>
                          <a:spcPct val="100000"/>
                        </a:lnSpc>
                        <a:spcBef>
                          <a:spcPts val="0"/>
                        </a:spcBef>
                        <a:spcAft>
                          <a:spcPts val="0"/>
                        </a:spcAft>
                        <a:buNone/>
                      </a:pPr>
                      <a:r>
                        <a:rPr lang="ru-RU" sz="1200" b="0" i="0" u="none" strike="noStrike" noProof="0" dirty="0">
                          <a:latin typeface="Times New Roman"/>
                        </a:rPr>
                        <a:t>110 дБ</a:t>
                      </a:r>
                    </a:p>
                    <a:p>
                      <a:pPr lvl="0">
                        <a:buNone/>
                      </a:pPr>
                      <a:endParaRPr lang="ru-RU" sz="1200" dirty="0"/>
                    </a:p>
                  </a:txBody>
                  <a:tcPr/>
                </a:tc>
                <a:extLst>
                  <a:ext uri="{0D108BD9-81ED-4DB2-BD59-A6C34878D82A}">
                    <a16:rowId xmlns:a16="http://schemas.microsoft.com/office/drawing/2014/main" val="1726587054"/>
                  </a:ext>
                </a:extLst>
              </a:tr>
              <a:tr h="370839">
                <a:tc>
                  <a:txBody>
                    <a:bodyPr/>
                    <a:lstStyle/>
                    <a:p>
                      <a:pPr lvl="0">
                        <a:buNone/>
                      </a:pPr>
                      <a:r>
                        <a:rPr lang="ru-RU" sz="1200" b="0" i="0" u="none" strike="noStrike" noProof="0" dirty="0">
                          <a:latin typeface="Times New Roman"/>
                        </a:rPr>
                        <a:t>Взлёт космической ракеты </a:t>
                      </a:r>
                      <a:endParaRPr lang="ru-RU" dirty="0">
                        <a:latin typeface="Times New Roman"/>
                      </a:endParaRPr>
                    </a:p>
                  </a:txBody>
                  <a:tcPr/>
                </a:tc>
                <a:tc>
                  <a:txBody>
                    <a:bodyPr/>
                    <a:lstStyle/>
                    <a:p>
                      <a:pPr lvl="0" algn="l">
                        <a:lnSpc>
                          <a:spcPct val="100000"/>
                        </a:lnSpc>
                        <a:spcBef>
                          <a:spcPts val="0"/>
                        </a:spcBef>
                        <a:spcAft>
                          <a:spcPts val="0"/>
                        </a:spcAft>
                        <a:buNone/>
                      </a:pPr>
                      <a:r>
                        <a:rPr lang="ru-RU" sz="1200" b="0" i="0" u="none" strike="noStrike" noProof="0" dirty="0">
                          <a:latin typeface="Times New Roman"/>
                        </a:rPr>
                        <a:t>180 дБ</a:t>
                      </a:r>
                      <a:endParaRPr lang="ru-RU" sz="1200" dirty="0"/>
                    </a:p>
                    <a:p>
                      <a:pPr lvl="0">
                        <a:buNone/>
                      </a:pPr>
                      <a:endParaRPr lang="ru-RU" sz="1200" dirty="0"/>
                    </a:p>
                  </a:txBody>
                  <a:tcPr/>
                </a:tc>
                <a:tc>
                  <a:txBody>
                    <a:bodyPr/>
                    <a:lstStyle/>
                    <a:p>
                      <a:pPr lvl="0">
                        <a:buNone/>
                      </a:pPr>
                      <a:endParaRPr lang="ru-RU" sz="1200" dirty="0"/>
                    </a:p>
                  </a:txBody>
                  <a:tcPr/>
                </a:tc>
                <a:tc>
                  <a:txBody>
                    <a:bodyPr/>
                    <a:lstStyle/>
                    <a:p>
                      <a:pPr lvl="0">
                        <a:buNone/>
                      </a:pPr>
                      <a:endParaRPr lang="ru-RU" sz="1200" dirty="0"/>
                    </a:p>
                  </a:txBody>
                  <a:tcPr/>
                </a:tc>
                <a:tc>
                  <a:txBody>
                    <a:bodyPr/>
                    <a:lstStyle/>
                    <a:p>
                      <a:pPr lvl="0">
                        <a:buNone/>
                      </a:pPr>
                      <a:r>
                        <a:rPr lang="ru-RU" sz="1200" b="0" i="0" u="none" strike="noStrike" noProof="0" dirty="0">
                          <a:latin typeface="Times New Roman"/>
                        </a:rPr>
                        <a:t>Человеческий голос</a:t>
                      </a:r>
                      <a:endParaRPr lang="ru-RU" sz="1200" dirty="0"/>
                    </a:p>
                  </a:txBody>
                  <a:tcPr/>
                </a:tc>
                <a:tc>
                  <a:txBody>
                    <a:bodyPr/>
                    <a:lstStyle/>
                    <a:p>
                      <a:pPr lvl="0" algn="l">
                        <a:lnSpc>
                          <a:spcPct val="100000"/>
                        </a:lnSpc>
                        <a:spcBef>
                          <a:spcPts val="0"/>
                        </a:spcBef>
                        <a:spcAft>
                          <a:spcPts val="0"/>
                        </a:spcAft>
                        <a:buNone/>
                      </a:pPr>
                      <a:r>
                        <a:rPr lang="ru-RU" sz="1200" b="0" i="0" u="none" strike="noStrike" noProof="0" dirty="0">
                          <a:latin typeface="Times New Roman"/>
                        </a:rPr>
                        <a:t>110 дБ</a:t>
                      </a:r>
                    </a:p>
                    <a:p>
                      <a:pPr lvl="0">
                        <a:buNone/>
                      </a:pPr>
                      <a:endParaRPr lang="ru-RU" sz="1200" dirty="0"/>
                    </a:p>
                  </a:txBody>
                  <a:tcPr/>
                </a:tc>
                <a:extLst>
                  <a:ext uri="{0D108BD9-81ED-4DB2-BD59-A6C34878D82A}">
                    <a16:rowId xmlns:a16="http://schemas.microsoft.com/office/drawing/2014/main" val="2838807641"/>
                  </a:ext>
                </a:extLst>
              </a:tr>
              <a:tr h="370838">
                <a:tc>
                  <a:txBody>
                    <a:bodyPr/>
                    <a:lstStyle/>
                    <a:p>
                      <a:pPr lvl="0">
                        <a:buNone/>
                      </a:pPr>
                      <a:r>
                        <a:rPr lang="ru-RU" sz="1200" b="0" i="0" u="none" strike="noStrike" noProof="0" dirty="0"/>
                        <a:t>Смертельный для человека уровень шума, звук взрыва </a:t>
                      </a:r>
                      <a:endParaRPr lang="ru-RU" dirty="0"/>
                    </a:p>
                  </a:txBody>
                  <a:tcPr/>
                </a:tc>
                <a:tc>
                  <a:txBody>
                    <a:bodyPr/>
                    <a:lstStyle/>
                    <a:p>
                      <a:pPr lvl="0">
                        <a:buNone/>
                      </a:pPr>
                      <a:r>
                        <a:rPr lang="ru-RU" sz="1200" b="0" i="0" u="none" strike="noStrike" noProof="0" dirty="0">
                          <a:latin typeface="Times New Roman"/>
                        </a:rPr>
                        <a:t>200 дБ</a:t>
                      </a:r>
                      <a:endParaRPr lang="ru-RU" dirty="0"/>
                    </a:p>
                  </a:txBody>
                  <a:tcPr/>
                </a:tc>
                <a:tc>
                  <a:txBody>
                    <a:bodyPr/>
                    <a:lstStyle/>
                    <a:p>
                      <a:pPr lvl="0">
                        <a:buNone/>
                      </a:pPr>
                      <a:endParaRPr lang="ru-RU" sz="1200" dirty="0"/>
                    </a:p>
                  </a:txBody>
                  <a:tcPr/>
                </a:tc>
                <a:tc>
                  <a:txBody>
                    <a:bodyPr/>
                    <a:lstStyle/>
                    <a:p>
                      <a:pPr lvl="0">
                        <a:buNone/>
                      </a:pPr>
                      <a:endParaRPr lang="ru-RU" sz="1200" dirty="0"/>
                    </a:p>
                  </a:txBody>
                  <a:tcPr/>
                </a:tc>
                <a:tc>
                  <a:txBody>
                    <a:bodyPr/>
                    <a:lstStyle/>
                    <a:p>
                      <a:pPr lvl="0" algn="l">
                        <a:lnSpc>
                          <a:spcPct val="100000"/>
                        </a:lnSpc>
                        <a:spcBef>
                          <a:spcPts val="0"/>
                        </a:spcBef>
                        <a:spcAft>
                          <a:spcPts val="0"/>
                        </a:spcAft>
                        <a:buNone/>
                      </a:pPr>
                      <a:r>
                        <a:rPr lang="ru-RU" sz="1200" b="0" i="0" u="none" strike="noStrike" noProof="0" dirty="0">
                          <a:latin typeface="Times New Roman"/>
                        </a:rPr>
                        <a:t>Тромбон</a:t>
                      </a:r>
                      <a:endParaRPr lang="ru-RU" sz="1200" b="1" i="0" u="none" strike="noStrike" noProof="0"/>
                    </a:p>
                    <a:p>
                      <a:pPr lvl="0">
                        <a:buNone/>
                      </a:pPr>
                      <a:endParaRPr lang="ru-RU" sz="1200" b="0" i="0" u="none" strike="noStrike" noProof="0" dirty="0">
                        <a:latin typeface="Times New Roman"/>
                      </a:endParaRPr>
                    </a:p>
                  </a:txBody>
                  <a:tcPr/>
                </a:tc>
                <a:tc>
                  <a:txBody>
                    <a:bodyPr/>
                    <a:lstStyle/>
                    <a:p>
                      <a:pPr lvl="0" algn="l">
                        <a:lnSpc>
                          <a:spcPct val="100000"/>
                        </a:lnSpc>
                        <a:spcBef>
                          <a:spcPts val="0"/>
                        </a:spcBef>
                        <a:spcAft>
                          <a:spcPts val="0"/>
                        </a:spcAft>
                        <a:buNone/>
                      </a:pPr>
                      <a:r>
                        <a:rPr lang="ru-RU" sz="1200" b="0" i="0" u="none" strike="noStrike" noProof="0" dirty="0">
                          <a:latin typeface="Times New Roman"/>
                        </a:rPr>
                        <a:t>115 дБ</a:t>
                      </a:r>
                    </a:p>
                    <a:p>
                      <a:pPr lvl="0">
                        <a:buNone/>
                      </a:pPr>
                      <a:endParaRPr lang="ru-RU" sz="1200" dirty="0"/>
                    </a:p>
                  </a:txBody>
                  <a:tcPr/>
                </a:tc>
                <a:extLst>
                  <a:ext uri="{0D108BD9-81ED-4DB2-BD59-A6C34878D82A}">
                    <a16:rowId xmlns:a16="http://schemas.microsoft.com/office/drawing/2014/main" val="3617496177"/>
                  </a:ext>
                </a:extLst>
              </a:tr>
              <a:tr h="370838">
                <a:tc>
                  <a:txBody>
                    <a:bodyPr/>
                    <a:lstStyle/>
                    <a:p>
                      <a:pPr lvl="0">
                        <a:buNone/>
                      </a:pPr>
                      <a:endParaRPr lang="ru-RU" sz="1200" b="0" i="0" u="none" strike="noStrike" noProof="0" dirty="0">
                        <a:latin typeface="Times New Roman"/>
                      </a:endParaRPr>
                    </a:p>
                  </a:txBody>
                  <a:tcPr/>
                </a:tc>
                <a:tc>
                  <a:txBody>
                    <a:bodyPr/>
                    <a:lstStyle/>
                    <a:p>
                      <a:pPr lvl="0">
                        <a:buNone/>
                      </a:pPr>
                      <a:endParaRPr lang="ru-RU" sz="1200" dirty="0"/>
                    </a:p>
                  </a:txBody>
                  <a:tcPr/>
                </a:tc>
                <a:tc>
                  <a:txBody>
                    <a:bodyPr/>
                    <a:lstStyle/>
                    <a:p>
                      <a:pPr lvl="0">
                        <a:buNone/>
                      </a:pPr>
                      <a:endParaRPr lang="ru-RU" sz="1200" dirty="0"/>
                    </a:p>
                  </a:txBody>
                  <a:tcPr/>
                </a:tc>
                <a:tc>
                  <a:txBody>
                    <a:bodyPr/>
                    <a:lstStyle/>
                    <a:p>
                      <a:pPr lvl="0">
                        <a:buNone/>
                      </a:pPr>
                      <a:endParaRPr lang="ru-RU" sz="1200" dirty="0"/>
                    </a:p>
                  </a:txBody>
                  <a:tcPr/>
                </a:tc>
                <a:tc>
                  <a:txBody>
                    <a:bodyPr/>
                    <a:lstStyle/>
                    <a:p>
                      <a:pPr lvl="0">
                        <a:buNone/>
                      </a:pPr>
                      <a:r>
                        <a:rPr lang="ru-RU" sz="1200" b="0" i="0" u="none" strike="noStrike" noProof="0" dirty="0">
                          <a:latin typeface="Times New Roman"/>
                        </a:rPr>
                        <a:t>Орган</a:t>
                      </a:r>
                      <a:endParaRPr lang="ru-RU" sz="1200" dirty="0"/>
                    </a:p>
                  </a:txBody>
                  <a:tcPr/>
                </a:tc>
                <a:tc>
                  <a:txBody>
                    <a:bodyPr/>
                    <a:lstStyle/>
                    <a:p>
                      <a:pPr lvl="0" algn="l">
                        <a:lnSpc>
                          <a:spcPct val="100000"/>
                        </a:lnSpc>
                        <a:spcBef>
                          <a:spcPts val="0"/>
                        </a:spcBef>
                        <a:spcAft>
                          <a:spcPts val="0"/>
                        </a:spcAft>
                        <a:buNone/>
                      </a:pPr>
                      <a:r>
                        <a:rPr lang="ru-RU" sz="1200" b="0" i="0" u="none" strike="noStrike" noProof="0" dirty="0">
                          <a:latin typeface="Times New Roman"/>
                        </a:rPr>
                        <a:t>125 дБ</a:t>
                      </a:r>
                    </a:p>
                  </a:txBody>
                  <a:tcPr/>
                </a:tc>
                <a:extLst>
                  <a:ext uri="{0D108BD9-81ED-4DB2-BD59-A6C34878D82A}">
                    <a16:rowId xmlns:a16="http://schemas.microsoft.com/office/drawing/2014/main" val="4161055592"/>
                  </a:ext>
                </a:extLst>
              </a:tr>
              <a:tr h="370838">
                <a:tc>
                  <a:txBody>
                    <a:bodyPr/>
                    <a:lstStyle/>
                    <a:p>
                      <a:pPr lvl="0">
                        <a:buNone/>
                      </a:pPr>
                      <a:endParaRPr lang="ru-RU" sz="1200" b="0" i="0" u="none" strike="noStrike" noProof="0" dirty="0">
                        <a:latin typeface="Times New Roman"/>
                      </a:endParaRPr>
                    </a:p>
                  </a:txBody>
                  <a:tcPr/>
                </a:tc>
                <a:tc>
                  <a:txBody>
                    <a:bodyPr/>
                    <a:lstStyle/>
                    <a:p>
                      <a:pPr lvl="0">
                        <a:buNone/>
                      </a:pPr>
                      <a:endParaRPr lang="ru-RU" sz="1200" dirty="0"/>
                    </a:p>
                  </a:txBody>
                  <a:tcPr/>
                </a:tc>
                <a:tc>
                  <a:txBody>
                    <a:bodyPr/>
                    <a:lstStyle/>
                    <a:p>
                      <a:pPr lvl="0">
                        <a:buNone/>
                      </a:pPr>
                      <a:endParaRPr lang="ru-RU" sz="1200" dirty="0"/>
                    </a:p>
                  </a:txBody>
                  <a:tcPr/>
                </a:tc>
                <a:tc>
                  <a:txBody>
                    <a:bodyPr/>
                    <a:lstStyle/>
                    <a:p>
                      <a:pPr lvl="0">
                        <a:buNone/>
                      </a:pPr>
                      <a:endParaRPr lang="ru-RU" sz="1200" dirty="0"/>
                    </a:p>
                  </a:txBody>
                  <a:tcPr/>
                </a:tc>
                <a:tc>
                  <a:txBody>
                    <a:bodyPr/>
                    <a:lstStyle/>
                    <a:p>
                      <a:pPr lvl="0">
                        <a:buNone/>
                      </a:pPr>
                      <a:r>
                        <a:rPr lang="ru-RU" sz="1200" b="0" i="0" u="none" strike="noStrike" noProof="0" dirty="0">
                          <a:latin typeface="Times New Roman"/>
                        </a:rPr>
                        <a:t>Ударная установка</a:t>
                      </a:r>
                      <a:endParaRPr lang="ru-RU" sz="1200" dirty="0"/>
                    </a:p>
                  </a:txBody>
                  <a:tcPr/>
                </a:tc>
                <a:tc>
                  <a:txBody>
                    <a:bodyPr/>
                    <a:lstStyle/>
                    <a:p>
                      <a:pPr lvl="0" algn="l">
                        <a:lnSpc>
                          <a:spcPct val="100000"/>
                        </a:lnSpc>
                        <a:spcBef>
                          <a:spcPts val="0"/>
                        </a:spcBef>
                        <a:spcAft>
                          <a:spcPts val="0"/>
                        </a:spcAft>
                        <a:buNone/>
                      </a:pPr>
                      <a:r>
                        <a:rPr lang="ru-RU" sz="1200" b="0" i="0" u="none" strike="noStrike" noProof="0" dirty="0">
                          <a:latin typeface="Times New Roman"/>
                        </a:rPr>
                        <a:t>130 дБ</a:t>
                      </a:r>
                    </a:p>
                  </a:txBody>
                  <a:tcPr/>
                </a:tc>
                <a:extLst>
                  <a:ext uri="{0D108BD9-81ED-4DB2-BD59-A6C34878D82A}">
                    <a16:rowId xmlns:a16="http://schemas.microsoft.com/office/drawing/2014/main" val="3416383065"/>
                  </a:ext>
                </a:extLst>
              </a:tr>
            </a:tbl>
          </a:graphicData>
        </a:graphic>
      </p:graphicFrame>
    </p:spTree>
    <p:extLst>
      <p:ext uri="{BB962C8B-B14F-4D97-AF65-F5344CB8AC3E}">
        <p14:creationId xmlns:p14="http://schemas.microsoft.com/office/powerpoint/2010/main" val="7166285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descr="Large confetti"/>
          <p:cNvSpPr>
            <a:spLocks noChangeArrowheads="1"/>
          </p:cNvSpPr>
          <p:nvPr/>
        </p:nvSpPr>
        <p:spPr bwMode="auto">
          <a:xfrm>
            <a:off x="0" y="228600"/>
            <a:ext cx="9144000" cy="630238"/>
          </a:xfrm>
          <a:prstGeom prst="rect">
            <a:avLst/>
          </a:prstGeom>
          <a:noFill/>
          <a:ln w="9525">
            <a:noFill/>
            <a:miter lim="800000"/>
            <a:headEnd/>
            <a:tailEnd/>
          </a:ln>
        </p:spPr>
        <p:txBody>
          <a:bodyPr anchor="b"/>
          <a:lstStyle/>
          <a:p>
            <a:r>
              <a:rPr lang="ru-RU" sz="2800" b="1"/>
              <a:t>Методы и средства цифровой обработки информации</a:t>
            </a:r>
          </a:p>
        </p:txBody>
      </p:sp>
      <p:sp>
        <p:nvSpPr>
          <p:cNvPr id="9219" name="Rectangle 7"/>
          <p:cNvSpPr>
            <a:spLocks noChangeArrowheads="1"/>
          </p:cNvSpPr>
          <p:nvPr/>
        </p:nvSpPr>
        <p:spPr bwMode="auto">
          <a:xfrm>
            <a:off x="2971800" y="1657350"/>
            <a:ext cx="9144000" cy="0"/>
          </a:xfrm>
          <a:prstGeom prst="rect">
            <a:avLst/>
          </a:prstGeom>
          <a:noFill/>
          <a:ln w="9525">
            <a:noFill/>
            <a:miter lim="800000"/>
            <a:headEnd/>
            <a:tailEnd/>
          </a:ln>
        </p:spPr>
        <p:txBody>
          <a:bodyPr>
            <a:spAutoFit/>
          </a:bodyPr>
          <a:lstStyle/>
          <a:p>
            <a:endParaRPr lang="ru-RU"/>
          </a:p>
        </p:txBody>
      </p:sp>
      <p:sp>
        <p:nvSpPr>
          <p:cNvPr id="9220" name="Rectangle 9"/>
          <p:cNvSpPr>
            <a:spLocks noChangeArrowheads="1"/>
          </p:cNvSpPr>
          <p:nvPr/>
        </p:nvSpPr>
        <p:spPr bwMode="auto">
          <a:xfrm>
            <a:off x="2852738" y="3309938"/>
            <a:ext cx="9144000" cy="0"/>
          </a:xfrm>
          <a:prstGeom prst="rect">
            <a:avLst/>
          </a:prstGeom>
          <a:noFill/>
          <a:ln w="9525">
            <a:noFill/>
            <a:miter lim="800000"/>
            <a:headEnd/>
            <a:tailEnd/>
          </a:ln>
        </p:spPr>
        <p:txBody>
          <a:bodyPr>
            <a:spAutoFit/>
          </a:bodyPr>
          <a:lstStyle/>
          <a:p>
            <a:endParaRPr lang="ru-RU"/>
          </a:p>
        </p:txBody>
      </p:sp>
      <p:sp>
        <p:nvSpPr>
          <p:cNvPr id="5427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427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5301"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12" name="Text Box 15"/>
          <p:cNvSpPr txBox="1">
            <a:spLocks noChangeArrowheads="1"/>
          </p:cNvSpPr>
          <p:nvPr/>
        </p:nvSpPr>
        <p:spPr bwMode="auto">
          <a:xfrm>
            <a:off x="857250" y="6400801"/>
            <a:ext cx="8286750" cy="424732"/>
          </a:xfrm>
          <a:prstGeom prst="rect">
            <a:avLst/>
          </a:prstGeom>
          <a:noFill/>
          <a:ln w="9525">
            <a:noFill/>
            <a:miter lim="800000"/>
            <a:headEnd/>
            <a:tailEnd/>
          </a:ln>
        </p:spPr>
        <p:txBody>
          <a:bodyPr wrap="square">
            <a:spAutoFit/>
          </a:bodyPr>
          <a:lstStyle/>
          <a:p>
            <a:pPr algn="ctr">
              <a:lnSpc>
                <a:spcPct val="90000"/>
              </a:lnSpc>
            </a:pPr>
            <a:r>
              <a:rPr lang="ru-RU" dirty="0"/>
              <a:t>Лекция </a:t>
            </a:r>
            <a:r>
              <a:rPr lang="en-US" dirty="0"/>
              <a:t>1</a:t>
            </a:r>
            <a:r>
              <a:rPr lang="ru-RU" dirty="0"/>
              <a:t>1. Вычисление АКФ и ВКФ и их применение</a:t>
            </a:r>
            <a:endParaRPr lang="ru-RU" i="1" dirty="0"/>
          </a:p>
        </p:txBody>
      </p:sp>
      <p:sp>
        <p:nvSpPr>
          <p:cNvPr id="2" name="Прямоугольник 1"/>
          <p:cNvSpPr/>
          <p:nvPr/>
        </p:nvSpPr>
        <p:spPr>
          <a:xfrm>
            <a:off x="0" y="936009"/>
            <a:ext cx="9144000" cy="1421928"/>
          </a:xfrm>
          <a:prstGeom prst="rect">
            <a:avLst/>
          </a:prstGeom>
        </p:spPr>
        <p:txBody>
          <a:bodyPr wrap="square">
            <a:spAutoFit/>
          </a:bodyPr>
          <a:lstStyle/>
          <a:p>
            <a:pPr algn="ctr">
              <a:lnSpc>
                <a:spcPct val="90000"/>
              </a:lnSpc>
            </a:pPr>
            <a:r>
              <a:rPr lang="ru-RU" b="1" dirty="0"/>
              <a:t>Нормированная спектральная плотность мощности </a:t>
            </a:r>
            <a:r>
              <a:rPr lang="en-US" b="1" i="1" dirty="0" err="1"/>
              <a:t>S</a:t>
            </a:r>
            <a:r>
              <a:rPr lang="en-US" b="1" i="1" baseline="-25000" dirty="0" err="1"/>
              <a:t>x</a:t>
            </a:r>
            <a:r>
              <a:rPr lang="ru-RU" b="1" i="1" dirty="0"/>
              <a:t>(</a:t>
            </a:r>
            <a:r>
              <a:rPr lang="en-US" b="1" i="1" dirty="0"/>
              <a:t>f</a:t>
            </a:r>
            <a:r>
              <a:rPr lang="ru-RU" b="1" i="1" dirty="0"/>
              <a:t>)</a:t>
            </a:r>
            <a:r>
              <a:rPr lang="ru-RU" b="1" dirty="0"/>
              <a:t> речевого сообщения устной </a:t>
            </a:r>
            <a:r>
              <a:rPr lang="ru-RU" b="1" dirty="0" err="1"/>
              <a:t>мьянманской</a:t>
            </a:r>
            <a:r>
              <a:rPr lang="ru-RU" b="1" dirty="0"/>
              <a:t>, русской (кривая 1) и казахской (кривая 2) речи для полосы телефонного канала 300 – 3400 Гц </a:t>
            </a:r>
          </a:p>
        </p:txBody>
      </p:sp>
      <p:graphicFrame>
        <p:nvGraphicFramePr>
          <p:cNvPr id="13" name="Chart 3"/>
          <p:cNvGraphicFramePr>
            <a:graphicFrameLocks/>
          </p:cNvGraphicFramePr>
          <p:nvPr/>
        </p:nvGraphicFramePr>
        <p:xfrm>
          <a:off x="1" y="2348880"/>
          <a:ext cx="5580111" cy="4087231"/>
        </p:xfrm>
        <a:graphic>
          <a:graphicData uri="http://schemas.openxmlformats.org/drawingml/2006/chart">
            <c:chart xmlns:c="http://schemas.openxmlformats.org/drawingml/2006/chart" xmlns:r="http://schemas.openxmlformats.org/officeDocument/2006/relationships" r:id="rId2"/>
          </a:graphicData>
        </a:graphic>
      </p:graphicFrame>
      <p:pic>
        <p:nvPicPr>
          <p:cNvPr id="13313" name="Picture 1"/>
          <p:cNvPicPr>
            <a:picLocks noChangeAspect="1" noChangeArrowheads="1"/>
          </p:cNvPicPr>
          <p:nvPr/>
        </p:nvPicPr>
        <p:blipFill>
          <a:blip r:embed="rId3" cstate="print"/>
          <a:srcRect/>
          <a:stretch>
            <a:fillRect/>
          </a:stretch>
        </p:blipFill>
        <p:spPr bwMode="auto">
          <a:xfrm>
            <a:off x="3779912" y="2348880"/>
            <a:ext cx="5364088" cy="3267153"/>
          </a:xfrm>
          <a:prstGeom prst="rect">
            <a:avLst/>
          </a:prstGeom>
          <a:noFill/>
          <a:ln w="9525">
            <a:noFill/>
            <a:miter lim="800000"/>
            <a:headEnd/>
            <a:tailEnd/>
          </a:ln>
        </p:spPr>
      </p:pic>
    </p:spTree>
    <p:extLst>
      <p:ext uri="{BB962C8B-B14F-4D97-AF65-F5344CB8AC3E}">
        <p14:creationId xmlns:p14="http://schemas.microsoft.com/office/powerpoint/2010/main" val="405273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descr="Large confetti"/>
          <p:cNvSpPr>
            <a:spLocks noChangeArrowheads="1"/>
          </p:cNvSpPr>
          <p:nvPr/>
        </p:nvSpPr>
        <p:spPr bwMode="auto">
          <a:xfrm>
            <a:off x="0" y="228600"/>
            <a:ext cx="9144000" cy="630238"/>
          </a:xfrm>
          <a:prstGeom prst="rect">
            <a:avLst/>
          </a:prstGeom>
          <a:noFill/>
          <a:ln w="9525">
            <a:noFill/>
            <a:miter lim="800000"/>
            <a:headEnd/>
            <a:tailEnd/>
          </a:ln>
        </p:spPr>
        <p:txBody>
          <a:bodyPr anchor="b"/>
          <a:lstStyle/>
          <a:p>
            <a:r>
              <a:rPr lang="ru-RU" sz="2800" b="1"/>
              <a:t>Методы и средства цифровой обработки информации</a:t>
            </a:r>
          </a:p>
        </p:txBody>
      </p:sp>
      <p:sp>
        <p:nvSpPr>
          <p:cNvPr id="9219" name="Rectangle 7"/>
          <p:cNvSpPr>
            <a:spLocks noChangeArrowheads="1"/>
          </p:cNvSpPr>
          <p:nvPr/>
        </p:nvSpPr>
        <p:spPr bwMode="auto">
          <a:xfrm>
            <a:off x="2971800" y="1657350"/>
            <a:ext cx="9144000" cy="0"/>
          </a:xfrm>
          <a:prstGeom prst="rect">
            <a:avLst/>
          </a:prstGeom>
          <a:noFill/>
          <a:ln w="9525">
            <a:noFill/>
            <a:miter lim="800000"/>
            <a:headEnd/>
            <a:tailEnd/>
          </a:ln>
        </p:spPr>
        <p:txBody>
          <a:bodyPr>
            <a:spAutoFit/>
          </a:bodyPr>
          <a:lstStyle/>
          <a:p>
            <a:endParaRPr lang="ru-RU"/>
          </a:p>
        </p:txBody>
      </p:sp>
      <p:sp>
        <p:nvSpPr>
          <p:cNvPr id="9220" name="Rectangle 9"/>
          <p:cNvSpPr>
            <a:spLocks noChangeArrowheads="1"/>
          </p:cNvSpPr>
          <p:nvPr/>
        </p:nvSpPr>
        <p:spPr bwMode="auto">
          <a:xfrm>
            <a:off x="2852738" y="3309938"/>
            <a:ext cx="9144000" cy="0"/>
          </a:xfrm>
          <a:prstGeom prst="rect">
            <a:avLst/>
          </a:prstGeom>
          <a:noFill/>
          <a:ln w="9525">
            <a:noFill/>
            <a:miter lim="800000"/>
            <a:headEnd/>
            <a:tailEnd/>
          </a:ln>
        </p:spPr>
        <p:txBody>
          <a:bodyPr>
            <a:spAutoFit/>
          </a:bodyPr>
          <a:lstStyle/>
          <a:p>
            <a:endParaRPr lang="ru-RU"/>
          </a:p>
        </p:txBody>
      </p:sp>
      <p:sp>
        <p:nvSpPr>
          <p:cNvPr id="5427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427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5301"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12" name="Text Box 15"/>
          <p:cNvSpPr txBox="1">
            <a:spLocks noChangeArrowheads="1"/>
          </p:cNvSpPr>
          <p:nvPr/>
        </p:nvSpPr>
        <p:spPr bwMode="auto">
          <a:xfrm>
            <a:off x="857250" y="6400801"/>
            <a:ext cx="8286750" cy="424732"/>
          </a:xfrm>
          <a:prstGeom prst="rect">
            <a:avLst/>
          </a:prstGeom>
          <a:noFill/>
          <a:ln w="9525">
            <a:noFill/>
            <a:miter lim="800000"/>
            <a:headEnd/>
            <a:tailEnd/>
          </a:ln>
        </p:spPr>
        <p:txBody>
          <a:bodyPr wrap="square">
            <a:spAutoFit/>
          </a:bodyPr>
          <a:lstStyle/>
          <a:p>
            <a:pPr algn="ctr">
              <a:lnSpc>
                <a:spcPct val="90000"/>
              </a:lnSpc>
            </a:pPr>
            <a:r>
              <a:rPr lang="ru-RU" dirty="0"/>
              <a:t>Лекция </a:t>
            </a:r>
            <a:r>
              <a:rPr lang="en-US" dirty="0"/>
              <a:t>1</a:t>
            </a:r>
            <a:r>
              <a:rPr lang="ru-RU" dirty="0"/>
              <a:t>1. Вычисление АКФ и ВКФ и их применение</a:t>
            </a:r>
            <a:endParaRPr lang="ru-RU" i="1" dirty="0"/>
          </a:p>
        </p:txBody>
      </p:sp>
      <p:sp>
        <p:nvSpPr>
          <p:cNvPr id="2" name="Прямоугольник 1"/>
          <p:cNvSpPr/>
          <p:nvPr/>
        </p:nvSpPr>
        <p:spPr>
          <a:xfrm>
            <a:off x="0" y="936009"/>
            <a:ext cx="9144000" cy="1089529"/>
          </a:xfrm>
          <a:prstGeom prst="rect">
            <a:avLst/>
          </a:prstGeom>
        </p:spPr>
        <p:txBody>
          <a:bodyPr wrap="square">
            <a:spAutoFit/>
          </a:bodyPr>
          <a:lstStyle/>
          <a:p>
            <a:pPr algn="ctr">
              <a:lnSpc>
                <a:spcPct val="90000"/>
              </a:lnSpc>
            </a:pPr>
            <a:r>
              <a:rPr lang="ru-RU" b="1" dirty="0"/>
              <a:t>Нормированная спектральная плотность мощности </a:t>
            </a:r>
            <a:r>
              <a:rPr lang="en-US" b="1" i="1" dirty="0" err="1"/>
              <a:t>S</a:t>
            </a:r>
            <a:r>
              <a:rPr lang="en-US" b="1" i="1" baseline="-25000" dirty="0" err="1"/>
              <a:t>x</a:t>
            </a:r>
            <a:r>
              <a:rPr lang="ru-RU" b="1" i="1" dirty="0"/>
              <a:t>(</a:t>
            </a:r>
            <a:r>
              <a:rPr lang="en-US" b="1" i="1" dirty="0"/>
              <a:t>f</a:t>
            </a:r>
            <a:r>
              <a:rPr lang="ru-RU" b="1" i="1" dirty="0"/>
              <a:t>)</a:t>
            </a:r>
            <a:r>
              <a:rPr lang="ru-RU" b="1" dirty="0"/>
              <a:t> речевого сообщения устной русской и </a:t>
            </a:r>
            <a:r>
              <a:rPr lang="ru-RU" b="1" dirty="0" err="1"/>
              <a:t>мьянманской</a:t>
            </a:r>
            <a:r>
              <a:rPr lang="ru-RU" b="1" dirty="0"/>
              <a:t> речи для полосы телефонного канала 300 – 3400 Гц, дБ </a:t>
            </a:r>
          </a:p>
        </p:txBody>
      </p:sp>
      <p:pic>
        <p:nvPicPr>
          <p:cNvPr id="10547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988840"/>
            <a:ext cx="9131991" cy="33933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978111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descr="Large confetti"/>
          <p:cNvSpPr>
            <a:spLocks noChangeArrowheads="1"/>
          </p:cNvSpPr>
          <p:nvPr/>
        </p:nvSpPr>
        <p:spPr bwMode="auto">
          <a:xfrm>
            <a:off x="0" y="228600"/>
            <a:ext cx="9144000" cy="630238"/>
          </a:xfrm>
          <a:prstGeom prst="rect">
            <a:avLst/>
          </a:prstGeom>
          <a:noFill/>
          <a:ln w="9525">
            <a:noFill/>
            <a:miter lim="800000"/>
            <a:headEnd/>
            <a:tailEnd/>
          </a:ln>
        </p:spPr>
        <p:txBody>
          <a:bodyPr anchor="b"/>
          <a:lstStyle/>
          <a:p>
            <a:r>
              <a:rPr lang="ru-RU" sz="2800" b="1"/>
              <a:t>Методы и средства цифровой обработки информации</a:t>
            </a:r>
          </a:p>
        </p:txBody>
      </p:sp>
      <p:sp>
        <p:nvSpPr>
          <p:cNvPr id="9219" name="Rectangle 7"/>
          <p:cNvSpPr>
            <a:spLocks noChangeArrowheads="1"/>
          </p:cNvSpPr>
          <p:nvPr/>
        </p:nvSpPr>
        <p:spPr bwMode="auto">
          <a:xfrm>
            <a:off x="2971800" y="1657350"/>
            <a:ext cx="9144000" cy="0"/>
          </a:xfrm>
          <a:prstGeom prst="rect">
            <a:avLst/>
          </a:prstGeom>
          <a:noFill/>
          <a:ln w="9525">
            <a:noFill/>
            <a:miter lim="800000"/>
            <a:headEnd/>
            <a:tailEnd/>
          </a:ln>
        </p:spPr>
        <p:txBody>
          <a:bodyPr>
            <a:spAutoFit/>
          </a:bodyPr>
          <a:lstStyle/>
          <a:p>
            <a:endParaRPr lang="ru-RU"/>
          </a:p>
        </p:txBody>
      </p:sp>
      <p:sp>
        <p:nvSpPr>
          <p:cNvPr id="9220" name="Rectangle 9"/>
          <p:cNvSpPr>
            <a:spLocks noChangeArrowheads="1"/>
          </p:cNvSpPr>
          <p:nvPr/>
        </p:nvSpPr>
        <p:spPr bwMode="auto">
          <a:xfrm>
            <a:off x="2852738" y="3309938"/>
            <a:ext cx="9144000" cy="0"/>
          </a:xfrm>
          <a:prstGeom prst="rect">
            <a:avLst/>
          </a:prstGeom>
          <a:noFill/>
          <a:ln w="9525">
            <a:noFill/>
            <a:miter lim="800000"/>
            <a:headEnd/>
            <a:tailEnd/>
          </a:ln>
        </p:spPr>
        <p:txBody>
          <a:bodyPr>
            <a:spAutoFit/>
          </a:bodyPr>
          <a:lstStyle/>
          <a:p>
            <a:endParaRPr lang="ru-RU"/>
          </a:p>
        </p:txBody>
      </p:sp>
      <p:sp>
        <p:nvSpPr>
          <p:cNvPr id="5427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427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5301"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12" name="Text Box 15"/>
          <p:cNvSpPr txBox="1">
            <a:spLocks noChangeArrowheads="1"/>
          </p:cNvSpPr>
          <p:nvPr/>
        </p:nvSpPr>
        <p:spPr bwMode="auto">
          <a:xfrm>
            <a:off x="857250" y="6400801"/>
            <a:ext cx="8286750" cy="424732"/>
          </a:xfrm>
          <a:prstGeom prst="rect">
            <a:avLst/>
          </a:prstGeom>
          <a:noFill/>
          <a:ln w="9525">
            <a:noFill/>
            <a:miter lim="800000"/>
            <a:headEnd/>
            <a:tailEnd/>
          </a:ln>
        </p:spPr>
        <p:txBody>
          <a:bodyPr wrap="square">
            <a:spAutoFit/>
          </a:bodyPr>
          <a:lstStyle/>
          <a:p>
            <a:pPr algn="ctr">
              <a:lnSpc>
                <a:spcPct val="90000"/>
              </a:lnSpc>
            </a:pPr>
            <a:r>
              <a:rPr lang="ru-RU" dirty="0"/>
              <a:t>Лекция </a:t>
            </a:r>
            <a:r>
              <a:rPr lang="en-US" dirty="0"/>
              <a:t>1</a:t>
            </a:r>
            <a:r>
              <a:rPr lang="ru-RU" dirty="0"/>
              <a:t>1. Вычисление АКФ и ВКФ и их применение</a:t>
            </a:r>
            <a:endParaRPr lang="ru-RU" i="1" dirty="0"/>
          </a:p>
        </p:txBody>
      </p:sp>
      <p:sp>
        <p:nvSpPr>
          <p:cNvPr id="2" name="Прямоугольник 1"/>
          <p:cNvSpPr/>
          <p:nvPr/>
        </p:nvSpPr>
        <p:spPr>
          <a:xfrm>
            <a:off x="0" y="936009"/>
            <a:ext cx="9144000" cy="757130"/>
          </a:xfrm>
          <a:prstGeom prst="rect">
            <a:avLst/>
          </a:prstGeom>
        </p:spPr>
        <p:txBody>
          <a:bodyPr wrap="square">
            <a:spAutoFit/>
          </a:bodyPr>
          <a:lstStyle/>
          <a:p>
            <a:pPr algn="ctr">
              <a:lnSpc>
                <a:spcPct val="90000"/>
              </a:lnSpc>
            </a:pPr>
            <a:r>
              <a:rPr lang="ru-RU" b="1" dirty="0"/>
              <a:t>Аналитические модели СПМ и корреляционной функции  (КФ) речевого сообщения устной речи</a:t>
            </a:r>
          </a:p>
        </p:txBody>
      </p:sp>
      <p:graphicFrame>
        <p:nvGraphicFramePr>
          <p:cNvPr id="4" name="Объект 3"/>
          <p:cNvGraphicFramePr>
            <a:graphicFrameLocks noChangeAspect="1"/>
          </p:cNvGraphicFramePr>
          <p:nvPr>
            <p:extLst>
              <p:ext uri="{D42A27DB-BD31-4B8C-83A1-F6EECF244321}">
                <p14:modId xmlns:p14="http://schemas.microsoft.com/office/powerpoint/2010/main" val="3632428786"/>
              </p:ext>
            </p:extLst>
          </p:nvPr>
        </p:nvGraphicFramePr>
        <p:xfrm>
          <a:off x="-1" y="1628800"/>
          <a:ext cx="7040520" cy="868320"/>
        </p:xfrm>
        <a:graphic>
          <a:graphicData uri="http://schemas.openxmlformats.org/presentationml/2006/ole">
            <mc:AlternateContent xmlns:mc="http://schemas.openxmlformats.org/markup-compatibility/2006">
              <mc:Choice xmlns:v="urn:schemas-microsoft-com:vml" Requires="v">
                <p:oleObj name="Equation" r:id="rId2" imgW="3911600" imgH="482600" progId="">
                  <p:embed/>
                </p:oleObj>
              </mc:Choice>
              <mc:Fallback>
                <p:oleObj name="Equation" r:id="rId2" imgW="3911600" imgH="482600" progId="">
                  <p:embed/>
                  <p:pic>
                    <p:nvPicPr>
                      <p:cNvPr id="0" name="Picture 1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1628800"/>
                        <a:ext cx="7040520" cy="86832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ru-RU"/>
          </a:p>
        </p:txBody>
      </p:sp>
      <p:graphicFrame>
        <p:nvGraphicFramePr>
          <p:cNvPr id="6" name="Объект 5"/>
          <p:cNvGraphicFramePr>
            <a:graphicFrameLocks noChangeAspect="1"/>
          </p:cNvGraphicFramePr>
          <p:nvPr>
            <p:extLst>
              <p:ext uri="{D42A27DB-BD31-4B8C-83A1-F6EECF244321}">
                <p14:modId xmlns:p14="http://schemas.microsoft.com/office/powerpoint/2010/main" val="3263131480"/>
              </p:ext>
            </p:extLst>
          </p:nvPr>
        </p:nvGraphicFramePr>
        <p:xfrm>
          <a:off x="14535" y="2492896"/>
          <a:ext cx="9121140" cy="754380"/>
        </p:xfrm>
        <a:graphic>
          <a:graphicData uri="http://schemas.openxmlformats.org/presentationml/2006/ole">
            <mc:AlternateContent xmlns:mc="http://schemas.openxmlformats.org/markup-compatibility/2006">
              <mc:Choice xmlns:v="urn:schemas-microsoft-com:vml" Requires="v">
                <p:oleObj name="Equation" r:id="rId4" imgW="5067300" imgH="419100" progId="">
                  <p:embed/>
                </p:oleObj>
              </mc:Choice>
              <mc:Fallback>
                <p:oleObj name="Equation" r:id="rId4" imgW="5067300" imgH="419100" progId="">
                  <p:embed/>
                  <p:pic>
                    <p:nvPicPr>
                      <p:cNvPr id="0" name="Picture 1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535" y="2492896"/>
                        <a:ext cx="9121140" cy="7543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Прямоугольник 6"/>
          <p:cNvSpPr/>
          <p:nvPr/>
        </p:nvSpPr>
        <p:spPr>
          <a:xfrm>
            <a:off x="0" y="3212976"/>
            <a:ext cx="9144000" cy="2308324"/>
          </a:xfrm>
          <a:prstGeom prst="rect">
            <a:avLst/>
          </a:prstGeom>
        </p:spPr>
        <p:txBody>
          <a:bodyPr wrap="square">
            <a:spAutoFit/>
          </a:bodyPr>
          <a:lstStyle/>
          <a:p>
            <a:r>
              <a:rPr lang="ru-RU" dirty="0"/>
              <a:t>где </a:t>
            </a:r>
            <a:r>
              <a:rPr lang="ru-RU" i="1" dirty="0" err="1"/>
              <a:t>F</a:t>
            </a:r>
            <a:r>
              <a:rPr lang="ru-RU" i="1" baseline="-25000" dirty="0" err="1"/>
              <a:t>н</a:t>
            </a:r>
            <a:r>
              <a:rPr lang="ru-RU" dirty="0"/>
              <a:t> и </a:t>
            </a:r>
            <a:r>
              <a:rPr lang="ru-RU" i="1" dirty="0" err="1"/>
              <a:t>F</a:t>
            </a:r>
            <a:r>
              <a:rPr lang="ru-RU" i="1" baseline="-25000" dirty="0" err="1"/>
              <a:t>в</a:t>
            </a:r>
            <a:r>
              <a:rPr lang="ru-RU" dirty="0"/>
              <a:t> - нижнее и верхнее значения полосы частот, занимаемой речевым сообщением (300 – 3400 Гц);     </a:t>
            </a:r>
          </a:p>
          <a:p>
            <a:r>
              <a:rPr lang="ru-RU" dirty="0"/>
              <a:t>       α и  </a:t>
            </a:r>
            <a:r>
              <a:rPr lang="en-US" i="1" dirty="0"/>
              <a:t>f</a:t>
            </a:r>
            <a:r>
              <a:rPr lang="ru-RU" i="1" baseline="-25000" dirty="0"/>
              <a:t>0</a:t>
            </a:r>
            <a:r>
              <a:rPr lang="ru-RU" dirty="0"/>
              <a:t> - коэффициенты.</a:t>
            </a:r>
          </a:p>
          <a:p>
            <a:r>
              <a:rPr lang="ru-RU" dirty="0"/>
              <a:t>Для </a:t>
            </a:r>
            <a:r>
              <a:rPr lang="ru-RU" dirty="0" err="1"/>
              <a:t>мьянманского</a:t>
            </a:r>
            <a:r>
              <a:rPr lang="ru-RU" dirty="0"/>
              <a:t> языка: α = 1173,98 Гц,   </a:t>
            </a:r>
            <a:r>
              <a:rPr lang="en-US" i="1" dirty="0"/>
              <a:t>f</a:t>
            </a:r>
            <a:r>
              <a:rPr lang="ru-RU" i="1" baseline="-25000" dirty="0"/>
              <a:t>0 </a:t>
            </a:r>
            <a:r>
              <a:rPr lang="ru-RU" dirty="0"/>
              <a:t>=500 Гц и М = 0,2015.</a:t>
            </a:r>
          </a:p>
          <a:p>
            <a:r>
              <a:rPr lang="ru-RU" dirty="0"/>
              <a:t>Для русского языка:          </a:t>
            </a:r>
            <a:r>
              <a:rPr lang="ru-RU" dirty="0" err="1"/>
              <a:t>α </a:t>
            </a:r>
            <a:r>
              <a:rPr lang="ru-RU" dirty="0"/>
              <a:t>= 492 Гц,          </a:t>
            </a:r>
            <a:r>
              <a:rPr lang="en-US" i="1" dirty="0"/>
              <a:t>f</a:t>
            </a:r>
            <a:r>
              <a:rPr lang="ru-RU" i="1" baseline="-25000" dirty="0"/>
              <a:t>0 </a:t>
            </a:r>
            <a:r>
              <a:rPr lang="ru-RU" dirty="0"/>
              <a:t>=390 Гц и М = 0,207.</a:t>
            </a:r>
          </a:p>
          <a:p>
            <a:r>
              <a:rPr lang="ru-RU" dirty="0"/>
              <a:t>Для казахского языка:       </a:t>
            </a:r>
            <a:r>
              <a:rPr lang="ru-RU" dirty="0" err="1"/>
              <a:t>α </a:t>
            </a:r>
            <a:r>
              <a:rPr lang="ru-RU" dirty="0"/>
              <a:t>= 427 Гц,          </a:t>
            </a:r>
            <a:r>
              <a:rPr lang="en-US" i="1" dirty="0"/>
              <a:t>f</a:t>
            </a:r>
            <a:r>
              <a:rPr lang="ru-RU" i="1" baseline="-25000" dirty="0"/>
              <a:t>0 </a:t>
            </a:r>
            <a:r>
              <a:rPr lang="ru-RU" dirty="0"/>
              <a:t>=300 Гц и М = 0,477.</a:t>
            </a:r>
          </a:p>
        </p:txBody>
      </p:sp>
    </p:spTree>
    <p:extLst>
      <p:ext uri="{BB962C8B-B14F-4D97-AF65-F5344CB8AC3E}">
        <p14:creationId xmlns:p14="http://schemas.microsoft.com/office/powerpoint/2010/main" val="26388830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descr="Large confetti"/>
          <p:cNvSpPr>
            <a:spLocks noChangeArrowheads="1"/>
          </p:cNvSpPr>
          <p:nvPr/>
        </p:nvSpPr>
        <p:spPr bwMode="auto">
          <a:xfrm>
            <a:off x="0" y="228600"/>
            <a:ext cx="9144000" cy="630238"/>
          </a:xfrm>
          <a:prstGeom prst="rect">
            <a:avLst/>
          </a:prstGeom>
          <a:noFill/>
          <a:ln w="9525">
            <a:noFill/>
            <a:miter lim="800000"/>
            <a:headEnd/>
            <a:tailEnd/>
          </a:ln>
        </p:spPr>
        <p:txBody>
          <a:bodyPr anchor="b"/>
          <a:lstStyle/>
          <a:p>
            <a:r>
              <a:rPr lang="ru-RU" sz="2800" b="1"/>
              <a:t>Методы и средства цифровой обработки информации</a:t>
            </a:r>
          </a:p>
        </p:txBody>
      </p:sp>
      <p:sp>
        <p:nvSpPr>
          <p:cNvPr id="9219" name="Rectangle 7"/>
          <p:cNvSpPr>
            <a:spLocks noChangeArrowheads="1"/>
          </p:cNvSpPr>
          <p:nvPr/>
        </p:nvSpPr>
        <p:spPr bwMode="auto">
          <a:xfrm>
            <a:off x="2971800" y="1657350"/>
            <a:ext cx="9144000" cy="0"/>
          </a:xfrm>
          <a:prstGeom prst="rect">
            <a:avLst/>
          </a:prstGeom>
          <a:noFill/>
          <a:ln w="9525">
            <a:noFill/>
            <a:miter lim="800000"/>
            <a:headEnd/>
            <a:tailEnd/>
          </a:ln>
        </p:spPr>
        <p:txBody>
          <a:bodyPr>
            <a:spAutoFit/>
          </a:bodyPr>
          <a:lstStyle/>
          <a:p>
            <a:endParaRPr lang="ru-RU"/>
          </a:p>
        </p:txBody>
      </p:sp>
      <p:sp>
        <p:nvSpPr>
          <p:cNvPr id="9220" name="Rectangle 9"/>
          <p:cNvSpPr>
            <a:spLocks noChangeArrowheads="1"/>
          </p:cNvSpPr>
          <p:nvPr/>
        </p:nvSpPr>
        <p:spPr bwMode="auto">
          <a:xfrm>
            <a:off x="2852738" y="3309938"/>
            <a:ext cx="9144000" cy="0"/>
          </a:xfrm>
          <a:prstGeom prst="rect">
            <a:avLst/>
          </a:prstGeom>
          <a:noFill/>
          <a:ln w="9525">
            <a:noFill/>
            <a:miter lim="800000"/>
            <a:headEnd/>
            <a:tailEnd/>
          </a:ln>
        </p:spPr>
        <p:txBody>
          <a:bodyPr>
            <a:spAutoFit/>
          </a:bodyPr>
          <a:lstStyle/>
          <a:p>
            <a:endParaRPr lang="ru-RU"/>
          </a:p>
        </p:txBody>
      </p:sp>
      <p:sp>
        <p:nvSpPr>
          <p:cNvPr id="5427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427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5301"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12" name="Text Box 15"/>
          <p:cNvSpPr txBox="1">
            <a:spLocks noChangeArrowheads="1"/>
          </p:cNvSpPr>
          <p:nvPr/>
        </p:nvSpPr>
        <p:spPr bwMode="auto">
          <a:xfrm>
            <a:off x="857250" y="6400801"/>
            <a:ext cx="8286750" cy="424732"/>
          </a:xfrm>
          <a:prstGeom prst="rect">
            <a:avLst/>
          </a:prstGeom>
          <a:noFill/>
          <a:ln w="9525">
            <a:noFill/>
            <a:miter lim="800000"/>
            <a:headEnd/>
            <a:tailEnd/>
          </a:ln>
        </p:spPr>
        <p:txBody>
          <a:bodyPr wrap="square">
            <a:spAutoFit/>
          </a:bodyPr>
          <a:lstStyle/>
          <a:p>
            <a:pPr algn="ctr">
              <a:lnSpc>
                <a:spcPct val="90000"/>
              </a:lnSpc>
            </a:pPr>
            <a:r>
              <a:rPr lang="ru-RU" dirty="0"/>
              <a:t>Лекция </a:t>
            </a:r>
            <a:r>
              <a:rPr lang="en-US" dirty="0"/>
              <a:t>1</a:t>
            </a:r>
            <a:r>
              <a:rPr lang="ru-RU" dirty="0"/>
              <a:t>1. Вычисление АКФ и ВКФ и их применение</a:t>
            </a:r>
            <a:endParaRPr lang="ru-RU" i="1" dirty="0"/>
          </a:p>
        </p:txBody>
      </p:sp>
      <p:graphicFrame>
        <p:nvGraphicFramePr>
          <p:cNvPr id="10" name="Chart 2"/>
          <p:cNvGraphicFramePr>
            <a:graphicFrameLocks/>
          </p:cNvGraphicFramePr>
          <p:nvPr>
            <p:extLst>
              <p:ext uri="{D42A27DB-BD31-4B8C-83A1-F6EECF244321}">
                <p14:modId xmlns:p14="http://schemas.microsoft.com/office/powerpoint/2010/main" val="2418616727"/>
              </p:ext>
            </p:extLst>
          </p:nvPr>
        </p:nvGraphicFramePr>
        <p:xfrm>
          <a:off x="1444117" y="2026333"/>
          <a:ext cx="6255766" cy="4490273"/>
        </p:xfrm>
        <a:graphic>
          <a:graphicData uri="http://schemas.openxmlformats.org/drawingml/2006/chart">
            <c:chart xmlns:c="http://schemas.openxmlformats.org/drawingml/2006/chart" xmlns:r="http://schemas.openxmlformats.org/officeDocument/2006/relationships" r:id="rId2"/>
          </a:graphicData>
        </a:graphic>
      </p:graphicFrame>
      <p:sp>
        <p:nvSpPr>
          <p:cNvPr id="2" name="Прямоугольник 1"/>
          <p:cNvSpPr/>
          <p:nvPr/>
        </p:nvSpPr>
        <p:spPr>
          <a:xfrm>
            <a:off x="0" y="936009"/>
            <a:ext cx="9144000" cy="1089529"/>
          </a:xfrm>
          <a:prstGeom prst="rect">
            <a:avLst/>
          </a:prstGeom>
        </p:spPr>
        <p:txBody>
          <a:bodyPr wrap="square">
            <a:spAutoFit/>
          </a:bodyPr>
          <a:lstStyle/>
          <a:p>
            <a:pPr algn="ctr">
              <a:lnSpc>
                <a:spcPct val="90000"/>
              </a:lnSpc>
            </a:pPr>
            <a:r>
              <a:rPr lang="ru-RU" b="1" dirty="0"/>
              <a:t>Нормированные автокорреляционные функции телефонного сигнала на </a:t>
            </a:r>
            <a:r>
              <a:rPr lang="ru-RU" b="1" dirty="0" err="1"/>
              <a:t>мьянманском</a:t>
            </a:r>
            <a:r>
              <a:rPr lang="ru-RU" b="1" dirty="0"/>
              <a:t>  языке (сплошная линия) и на  русском языке (штриховая  линия).</a:t>
            </a:r>
          </a:p>
        </p:txBody>
      </p:sp>
    </p:spTree>
    <p:extLst>
      <p:ext uri="{BB962C8B-B14F-4D97-AF65-F5344CB8AC3E}">
        <p14:creationId xmlns:p14="http://schemas.microsoft.com/office/powerpoint/2010/main" val="12028141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descr="Large confetti"/>
          <p:cNvSpPr>
            <a:spLocks noChangeArrowheads="1"/>
          </p:cNvSpPr>
          <p:nvPr/>
        </p:nvSpPr>
        <p:spPr bwMode="auto">
          <a:xfrm>
            <a:off x="0" y="228600"/>
            <a:ext cx="9144000" cy="630238"/>
          </a:xfrm>
          <a:prstGeom prst="rect">
            <a:avLst/>
          </a:prstGeom>
          <a:noFill/>
          <a:ln w="9525">
            <a:noFill/>
            <a:miter lim="800000"/>
            <a:headEnd/>
            <a:tailEnd/>
          </a:ln>
        </p:spPr>
        <p:txBody>
          <a:bodyPr anchor="b"/>
          <a:lstStyle/>
          <a:p>
            <a:r>
              <a:rPr lang="ru-RU" sz="2800" b="1"/>
              <a:t>Методы и средства цифровой обработки информации</a:t>
            </a:r>
          </a:p>
        </p:txBody>
      </p:sp>
      <p:sp>
        <p:nvSpPr>
          <p:cNvPr id="9219" name="Rectangle 7"/>
          <p:cNvSpPr>
            <a:spLocks noChangeArrowheads="1"/>
          </p:cNvSpPr>
          <p:nvPr/>
        </p:nvSpPr>
        <p:spPr bwMode="auto">
          <a:xfrm>
            <a:off x="2971800" y="1657350"/>
            <a:ext cx="9144000" cy="0"/>
          </a:xfrm>
          <a:prstGeom prst="rect">
            <a:avLst/>
          </a:prstGeom>
          <a:noFill/>
          <a:ln w="9525">
            <a:noFill/>
            <a:miter lim="800000"/>
            <a:headEnd/>
            <a:tailEnd/>
          </a:ln>
        </p:spPr>
        <p:txBody>
          <a:bodyPr>
            <a:spAutoFit/>
          </a:bodyPr>
          <a:lstStyle/>
          <a:p>
            <a:endParaRPr lang="ru-RU"/>
          </a:p>
        </p:txBody>
      </p:sp>
      <p:sp>
        <p:nvSpPr>
          <p:cNvPr id="9220" name="Rectangle 9"/>
          <p:cNvSpPr>
            <a:spLocks noChangeArrowheads="1"/>
          </p:cNvSpPr>
          <p:nvPr/>
        </p:nvSpPr>
        <p:spPr bwMode="auto">
          <a:xfrm>
            <a:off x="2852738" y="3309938"/>
            <a:ext cx="9144000" cy="0"/>
          </a:xfrm>
          <a:prstGeom prst="rect">
            <a:avLst/>
          </a:prstGeom>
          <a:noFill/>
          <a:ln w="9525">
            <a:noFill/>
            <a:miter lim="800000"/>
            <a:headEnd/>
            <a:tailEnd/>
          </a:ln>
        </p:spPr>
        <p:txBody>
          <a:bodyPr>
            <a:spAutoFit/>
          </a:bodyPr>
          <a:lstStyle/>
          <a:p>
            <a:endParaRPr lang="ru-RU"/>
          </a:p>
        </p:txBody>
      </p:sp>
      <p:sp>
        <p:nvSpPr>
          <p:cNvPr id="5427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427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5301"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12" name="Text Box 15"/>
          <p:cNvSpPr txBox="1">
            <a:spLocks noChangeArrowheads="1"/>
          </p:cNvSpPr>
          <p:nvPr/>
        </p:nvSpPr>
        <p:spPr bwMode="auto">
          <a:xfrm>
            <a:off x="857250" y="6400801"/>
            <a:ext cx="8286750" cy="424732"/>
          </a:xfrm>
          <a:prstGeom prst="rect">
            <a:avLst/>
          </a:prstGeom>
          <a:noFill/>
          <a:ln w="9525">
            <a:noFill/>
            <a:miter lim="800000"/>
            <a:headEnd/>
            <a:tailEnd/>
          </a:ln>
        </p:spPr>
        <p:txBody>
          <a:bodyPr wrap="square">
            <a:spAutoFit/>
          </a:bodyPr>
          <a:lstStyle/>
          <a:p>
            <a:pPr algn="ctr">
              <a:lnSpc>
                <a:spcPct val="90000"/>
              </a:lnSpc>
            </a:pPr>
            <a:r>
              <a:rPr lang="ru-RU" dirty="0"/>
              <a:t>Лекция </a:t>
            </a:r>
            <a:r>
              <a:rPr lang="en-US" dirty="0"/>
              <a:t>1</a:t>
            </a:r>
            <a:r>
              <a:rPr lang="ru-RU" dirty="0"/>
              <a:t>1. Вычисление АКФ и ВКФ и их применение</a:t>
            </a:r>
            <a:endParaRPr lang="ru-RU" i="1" dirty="0"/>
          </a:p>
        </p:txBody>
      </p:sp>
      <p:sp>
        <p:nvSpPr>
          <p:cNvPr id="2" name="Прямоугольник 1"/>
          <p:cNvSpPr/>
          <p:nvPr/>
        </p:nvSpPr>
        <p:spPr>
          <a:xfrm>
            <a:off x="0" y="936009"/>
            <a:ext cx="9144000" cy="1089529"/>
          </a:xfrm>
          <a:prstGeom prst="rect">
            <a:avLst/>
          </a:prstGeom>
        </p:spPr>
        <p:txBody>
          <a:bodyPr wrap="square">
            <a:spAutoFit/>
          </a:bodyPr>
          <a:lstStyle/>
          <a:p>
            <a:pPr algn="ctr">
              <a:lnSpc>
                <a:spcPct val="90000"/>
              </a:lnSpc>
            </a:pPr>
            <a:r>
              <a:rPr lang="ru-RU" b="1" dirty="0"/>
              <a:t>Нормированные автокорреляционные функции телефонного сигнала на </a:t>
            </a:r>
            <a:r>
              <a:rPr lang="ru-RU" b="1" dirty="0" err="1"/>
              <a:t>мьянманском</a:t>
            </a:r>
            <a:r>
              <a:rPr lang="ru-RU" b="1" dirty="0"/>
              <a:t>  языке (сплошная линия) и на  русском языке (штриховая  линия).</a:t>
            </a:r>
          </a:p>
        </p:txBody>
      </p:sp>
      <p:graphicFrame>
        <p:nvGraphicFramePr>
          <p:cNvPr id="3" name="Объект 2"/>
          <p:cNvGraphicFramePr>
            <a:graphicFrameLocks noChangeAspect="1"/>
          </p:cNvGraphicFramePr>
          <p:nvPr>
            <p:extLst>
              <p:ext uri="{D42A27DB-BD31-4B8C-83A1-F6EECF244321}">
                <p14:modId xmlns:p14="http://schemas.microsoft.com/office/powerpoint/2010/main" val="979261190"/>
              </p:ext>
            </p:extLst>
          </p:nvPr>
        </p:nvGraphicFramePr>
        <p:xfrm>
          <a:off x="-36512" y="1911940"/>
          <a:ext cx="9192960" cy="1013004"/>
        </p:xfrm>
        <a:graphic>
          <a:graphicData uri="http://schemas.openxmlformats.org/presentationml/2006/ole">
            <mc:AlternateContent xmlns:mc="http://schemas.openxmlformats.org/markup-compatibility/2006">
              <mc:Choice xmlns:v="urn:schemas-microsoft-com:vml" Requires="v">
                <p:oleObj name="Equation" r:id="rId2" imgW="4838400" imgH="533160" progId="">
                  <p:embed/>
                </p:oleObj>
              </mc:Choice>
              <mc:Fallback>
                <p:oleObj name="Equation" r:id="rId2" imgW="4838400" imgH="533160" progId="">
                  <p:embed/>
                  <p:pic>
                    <p:nvPicPr>
                      <p:cNvPr id="0" name="Picture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12" y="1911940"/>
                        <a:ext cx="9192960" cy="10130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Прямоугольник 3"/>
          <p:cNvSpPr/>
          <p:nvPr/>
        </p:nvSpPr>
        <p:spPr>
          <a:xfrm>
            <a:off x="-13590" y="2894439"/>
            <a:ext cx="9108504" cy="3785652"/>
          </a:xfrm>
          <a:prstGeom prst="rect">
            <a:avLst/>
          </a:prstGeom>
        </p:spPr>
        <p:txBody>
          <a:bodyPr wrap="square">
            <a:spAutoFit/>
          </a:bodyPr>
          <a:lstStyle/>
          <a:p>
            <a:r>
              <a:rPr lang="ru-RU" dirty="0"/>
              <a:t>Аппроксимация нормированной КФ телефонного сигнала </a:t>
            </a:r>
          </a:p>
          <a:p>
            <a:r>
              <a:rPr lang="ru-RU" dirty="0"/>
              <a:t>на </a:t>
            </a:r>
            <a:r>
              <a:rPr lang="ru-RU" dirty="0" err="1"/>
              <a:t>мьянманском</a:t>
            </a:r>
            <a:r>
              <a:rPr lang="ru-RU" dirty="0"/>
              <a:t> языке:</a:t>
            </a:r>
          </a:p>
          <a:p>
            <a:endParaRPr lang="ru-RU" dirty="0"/>
          </a:p>
          <a:p>
            <a:endParaRPr lang="ru-RU" dirty="0"/>
          </a:p>
          <a:p>
            <a:r>
              <a:rPr lang="ru-RU" dirty="0"/>
              <a:t>на русском языке:</a:t>
            </a:r>
          </a:p>
          <a:p>
            <a:endParaRPr lang="ru-RU" dirty="0"/>
          </a:p>
          <a:p>
            <a:endParaRPr lang="ru-RU" dirty="0"/>
          </a:p>
          <a:p>
            <a:endParaRPr lang="ru-RU" dirty="0"/>
          </a:p>
          <a:p>
            <a:r>
              <a:rPr lang="ru-RU" dirty="0"/>
              <a:t>на казахском языке:</a:t>
            </a:r>
          </a:p>
          <a:p>
            <a:endParaRPr lang="ru-RU" dirty="0"/>
          </a:p>
        </p:txBody>
      </p:sp>
      <p:graphicFrame>
        <p:nvGraphicFramePr>
          <p:cNvPr id="5" name="Объект 4"/>
          <p:cNvGraphicFramePr>
            <a:graphicFrameLocks noChangeAspect="1"/>
          </p:cNvGraphicFramePr>
          <p:nvPr>
            <p:extLst>
              <p:ext uri="{D42A27DB-BD31-4B8C-83A1-F6EECF244321}">
                <p14:modId xmlns:p14="http://schemas.microsoft.com/office/powerpoint/2010/main" val="3445072526"/>
              </p:ext>
            </p:extLst>
          </p:nvPr>
        </p:nvGraphicFramePr>
        <p:xfrm>
          <a:off x="3106738" y="3305175"/>
          <a:ext cx="5005387" cy="914400"/>
        </p:xfrm>
        <a:graphic>
          <a:graphicData uri="http://schemas.openxmlformats.org/presentationml/2006/ole">
            <mc:AlternateContent xmlns:mc="http://schemas.openxmlformats.org/markup-compatibility/2006">
              <mc:Choice xmlns:v="urn:schemas-microsoft-com:vml" Requires="v">
                <p:oleObj name="Equation" r:id="rId4" imgW="2781000" imgH="507960" progId="">
                  <p:embed/>
                </p:oleObj>
              </mc:Choice>
              <mc:Fallback>
                <p:oleObj name="Equation" r:id="rId4" imgW="2781000" imgH="507960" progId="">
                  <p:embed/>
                  <p:pic>
                    <p:nvPicPr>
                      <p:cNvPr id="0" name="Picture 1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06738" y="3305175"/>
                        <a:ext cx="5005387" cy="914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Объект 5"/>
          <p:cNvGraphicFramePr>
            <a:graphicFrameLocks noChangeAspect="1"/>
          </p:cNvGraphicFramePr>
          <p:nvPr>
            <p:extLst>
              <p:ext uri="{D42A27DB-BD31-4B8C-83A1-F6EECF244321}">
                <p14:modId xmlns:p14="http://schemas.microsoft.com/office/powerpoint/2010/main" val="500715287"/>
              </p:ext>
            </p:extLst>
          </p:nvPr>
        </p:nvGraphicFramePr>
        <p:xfrm>
          <a:off x="3236913" y="4376738"/>
          <a:ext cx="4914900" cy="914400"/>
        </p:xfrm>
        <a:graphic>
          <a:graphicData uri="http://schemas.openxmlformats.org/presentationml/2006/ole">
            <mc:AlternateContent xmlns:mc="http://schemas.openxmlformats.org/markup-compatibility/2006">
              <mc:Choice xmlns:v="urn:schemas-microsoft-com:vml" Requires="v">
                <p:oleObj name="Equation" r:id="rId6" imgW="2730240" imgH="507960" progId="">
                  <p:embed/>
                </p:oleObj>
              </mc:Choice>
              <mc:Fallback>
                <p:oleObj name="Equation" r:id="rId6" imgW="2730240" imgH="507960" progId="">
                  <p:embed/>
                  <p:pic>
                    <p:nvPicPr>
                      <p:cNvPr id="0" name="Picture 1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36913" y="4376738"/>
                        <a:ext cx="4914900" cy="914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 name="Объект 14"/>
          <p:cNvGraphicFramePr>
            <a:graphicFrameLocks noChangeAspect="1"/>
          </p:cNvGraphicFramePr>
          <p:nvPr/>
        </p:nvGraphicFramePr>
        <p:xfrm>
          <a:off x="3209751" y="5445224"/>
          <a:ext cx="4746625" cy="963612"/>
        </p:xfrm>
        <a:graphic>
          <a:graphicData uri="http://schemas.openxmlformats.org/presentationml/2006/ole">
            <mc:AlternateContent xmlns:mc="http://schemas.openxmlformats.org/markup-compatibility/2006">
              <mc:Choice xmlns:v="urn:schemas-microsoft-com:vml" Requires="v">
                <p:oleObj name="Формула" r:id="rId8" imgW="2374560" imgH="482400" progId="Equation.3">
                  <p:embed/>
                </p:oleObj>
              </mc:Choice>
              <mc:Fallback>
                <p:oleObj name="Формула" r:id="rId8" imgW="2374560" imgH="482400" progId="Equation.3">
                  <p:embed/>
                  <p:pic>
                    <p:nvPicPr>
                      <p:cNvPr id="0" name="Picture 2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09751" y="5445224"/>
                        <a:ext cx="4746625" cy="9636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3271531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descr="Large confetti"/>
          <p:cNvSpPr>
            <a:spLocks noChangeArrowheads="1"/>
          </p:cNvSpPr>
          <p:nvPr/>
        </p:nvSpPr>
        <p:spPr bwMode="auto">
          <a:xfrm>
            <a:off x="0" y="228600"/>
            <a:ext cx="9144000" cy="630238"/>
          </a:xfrm>
          <a:prstGeom prst="rect">
            <a:avLst/>
          </a:prstGeom>
          <a:noFill/>
          <a:ln w="9525">
            <a:noFill/>
            <a:miter lim="800000"/>
            <a:headEnd/>
            <a:tailEnd/>
          </a:ln>
        </p:spPr>
        <p:txBody>
          <a:bodyPr anchor="b"/>
          <a:lstStyle/>
          <a:p>
            <a:r>
              <a:rPr lang="ru-RU" sz="2800" b="1"/>
              <a:t>Методы и средства цифровой обработки информации</a:t>
            </a:r>
          </a:p>
        </p:txBody>
      </p:sp>
      <p:sp>
        <p:nvSpPr>
          <p:cNvPr id="9219" name="Rectangle 7"/>
          <p:cNvSpPr>
            <a:spLocks noChangeArrowheads="1"/>
          </p:cNvSpPr>
          <p:nvPr/>
        </p:nvSpPr>
        <p:spPr bwMode="auto">
          <a:xfrm>
            <a:off x="2971800" y="1657350"/>
            <a:ext cx="9144000" cy="0"/>
          </a:xfrm>
          <a:prstGeom prst="rect">
            <a:avLst/>
          </a:prstGeom>
          <a:noFill/>
          <a:ln w="9525">
            <a:noFill/>
            <a:miter lim="800000"/>
            <a:headEnd/>
            <a:tailEnd/>
          </a:ln>
        </p:spPr>
        <p:txBody>
          <a:bodyPr>
            <a:spAutoFit/>
          </a:bodyPr>
          <a:lstStyle/>
          <a:p>
            <a:endParaRPr lang="ru-RU"/>
          </a:p>
        </p:txBody>
      </p:sp>
      <p:sp>
        <p:nvSpPr>
          <p:cNvPr id="9220" name="Rectangle 9"/>
          <p:cNvSpPr>
            <a:spLocks noChangeArrowheads="1"/>
          </p:cNvSpPr>
          <p:nvPr/>
        </p:nvSpPr>
        <p:spPr bwMode="auto">
          <a:xfrm>
            <a:off x="2852738" y="3309938"/>
            <a:ext cx="9144000" cy="0"/>
          </a:xfrm>
          <a:prstGeom prst="rect">
            <a:avLst/>
          </a:prstGeom>
          <a:noFill/>
          <a:ln w="9525">
            <a:noFill/>
            <a:miter lim="800000"/>
            <a:headEnd/>
            <a:tailEnd/>
          </a:ln>
        </p:spPr>
        <p:txBody>
          <a:bodyPr>
            <a:spAutoFit/>
          </a:bodyPr>
          <a:lstStyle/>
          <a:p>
            <a:endParaRPr lang="ru-RU"/>
          </a:p>
        </p:txBody>
      </p:sp>
      <p:sp>
        <p:nvSpPr>
          <p:cNvPr id="9221" name="Rectangle 10"/>
          <p:cNvSpPr>
            <a:spLocks noChangeArrowheads="1"/>
          </p:cNvSpPr>
          <p:nvPr/>
        </p:nvSpPr>
        <p:spPr bwMode="auto">
          <a:xfrm>
            <a:off x="0" y="928670"/>
            <a:ext cx="9144000" cy="7872924"/>
          </a:xfrm>
          <a:prstGeom prst="rect">
            <a:avLst/>
          </a:prstGeom>
          <a:noFill/>
          <a:ln w="9525">
            <a:noFill/>
            <a:miter lim="800000"/>
            <a:headEnd/>
            <a:tailEnd/>
          </a:ln>
        </p:spPr>
        <p:txBody>
          <a:bodyPr>
            <a:spAutoFit/>
          </a:bodyPr>
          <a:lstStyle/>
          <a:p>
            <a:pPr indent="457200" algn="ctr">
              <a:lnSpc>
                <a:spcPct val="90000"/>
              </a:lnSpc>
            </a:pPr>
            <a:r>
              <a:rPr lang="ru-RU" sz="3200" b="1" dirty="0"/>
              <a:t>Свойства ВКФ</a:t>
            </a:r>
            <a:r>
              <a:rPr lang="ru-RU" sz="3200" dirty="0"/>
              <a:t>.</a:t>
            </a:r>
          </a:p>
          <a:p>
            <a:pPr lvl="0" indent="457200">
              <a:lnSpc>
                <a:spcPct val="90000"/>
              </a:lnSpc>
              <a:buFont typeface="+mj-lt"/>
              <a:buAutoNum type="arabicPeriod"/>
            </a:pPr>
            <a:r>
              <a:rPr lang="ru-RU" sz="3200" dirty="0"/>
              <a:t>Если        и        идентичны, то          имеет один пик при        ;</a:t>
            </a:r>
          </a:p>
          <a:p>
            <a:pPr lvl="0" indent="457200">
              <a:lnSpc>
                <a:spcPct val="90000"/>
              </a:lnSpc>
              <a:buFont typeface="+mj-lt"/>
              <a:buAutoNum type="arabicPeriod"/>
            </a:pPr>
            <a:r>
              <a:rPr lang="ru-RU" sz="3200" dirty="0"/>
              <a:t>Если        и        имеют одну </a:t>
            </a:r>
          </a:p>
          <a:p>
            <a:pPr lvl="0">
              <a:lnSpc>
                <a:spcPct val="90000"/>
              </a:lnSpc>
            </a:pPr>
            <a:r>
              <a:rPr lang="ru-RU" sz="3200" dirty="0"/>
              <a:t>форму за исключением </a:t>
            </a:r>
            <a:r>
              <a:rPr lang="ru-RU" sz="3200" dirty="0" err="1"/>
              <a:t>масшта</a:t>
            </a:r>
            <a:r>
              <a:rPr lang="ru-RU" sz="3200" dirty="0"/>
              <a:t>-</a:t>
            </a:r>
          </a:p>
          <a:p>
            <a:pPr lvl="0">
              <a:lnSpc>
                <a:spcPct val="90000"/>
              </a:lnSpc>
            </a:pPr>
            <a:r>
              <a:rPr lang="ru-RU" sz="3200" dirty="0"/>
              <a:t>ба и сдвига по времени , то  </a:t>
            </a:r>
          </a:p>
          <a:p>
            <a:pPr lvl="0">
              <a:lnSpc>
                <a:spcPct val="90000"/>
              </a:lnSpc>
            </a:pPr>
            <a:r>
              <a:rPr lang="ru-RU" sz="3200" dirty="0"/>
              <a:t>имеет один пик при         ;</a:t>
            </a:r>
          </a:p>
          <a:p>
            <a:pPr lvl="0">
              <a:lnSpc>
                <a:spcPct val="90000"/>
              </a:lnSpc>
            </a:pPr>
            <a:r>
              <a:rPr lang="ru-RU" sz="3200" dirty="0"/>
              <a:t>3. Если        и       не связаны, то                </a:t>
            </a:r>
          </a:p>
          <a:p>
            <a:pPr lvl="0">
              <a:lnSpc>
                <a:spcPct val="90000"/>
              </a:lnSpc>
            </a:pPr>
            <a:r>
              <a:rPr lang="ru-RU" sz="3200" dirty="0"/>
              <a:t>              ; это условие выполняется, если суммирование ведется бесконечно долго, при конечном времени суммирования                 , а при увеличении времени суммирования                  .</a:t>
            </a:r>
          </a:p>
          <a:p>
            <a:pPr algn="just"/>
            <a:endParaRPr lang="ru-RU" sz="3200" dirty="0"/>
          </a:p>
          <a:p>
            <a:pPr algn="just"/>
            <a:r>
              <a:rPr lang="ru-RU" sz="3200" dirty="0"/>
              <a:t> </a:t>
            </a:r>
          </a:p>
          <a:p>
            <a:pPr indent="457200" algn="just"/>
            <a:endParaRPr lang="ru-RU" sz="3200" dirty="0"/>
          </a:p>
          <a:p>
            <a:pPr indent="457200" algn="just"/>
            <a:endParaRPr lang="ru-RU" sz="3200" dirty="0"/>
          </a:p>
          <a:p>
            <a:pPr indent="457200" algn="just"/>
            <a:endParaRPr lang="ru-RU" sz="3200" dirty="0"/>
          </a:p>
        </p:txBody>
      </p:sp>
      <p:sp>
        <p:nvSpPr>
          <p:cNvPr id="5427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427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5301"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6327" name="Rectangle 7"/>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6329" name="Rectangle 9"/>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8375"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graphicFrame>
        <p:nvGraphicFramePr>
          <p:cNvPr id="58374" name="Object 6"/>
          <p:cNvGraphicFramePr>
            <a:graphicFrameLocks noChangeAspect="1"/>
          </p:cNvGraphicFramePr>
          <p:nvPr/>
        </p:nvGraphicFramePr>
        <p:xfrm>
          <a:off x="1500166" y="1500174"/>
          <a:ext cx="591211" cy="428628"/>
        </p:xfrm>
        <a:graphic>
          <a:graphicData uri="http://schemas.openxmlformats.org/presentationml/2006/ole">
            <mc:AlternateContent xmlns:mc="http://schemas.openxmlformats.org/markup-compatibility/2006">
              <mc:Choice xmlns:v="urn:schemas-microsoft-com:vml" Requires="v">
                <p:oleObj name="Equation" r:id="rId2" imgW="380835" imgH="279279" progId="">
                  <p:embed/>
                </p:oleObj>
              </mc:Choice>
              <mc:Fallback>
                <p:oleObj name="Equation" r:id="rId2" imgW="380835" imgH="279279" progId="">
                  <p:embed/>
                  <p:pic>
                    <p:nvPicPr>
                      <p:cNvPr id="0" name="Picture 10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00166" y="1500174"/>
                        <a:ext cx="591211" cy="42862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8377" name="Rectangle 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graphicFrame>
        <p:nvGraphicFramePr>
          <p:cNvPr id="58376" name="Object 8"/>
          <p:cNvGraphicFramePr>
            <a:graphicFrameLocks noChangeAspect="1"/>
          </p:cNvGraphicFramePr>
          <p:nvPr/>
        </p:nvGraphicFramePr>
        <p:xfrm>
          <a:off x="2571736" y="1357298"/>
          <a:ext cx="642942" cy="454764"/>
        </p:xfrm>
        <a:graphic>
          <a:graphicData uri="http://schemas.openxmlformats.org/presentationml/2006/ole">
            <mc:AlternateContent xmlns:mc="http://schemas.openxmlformats.org/markup-compatibility/2006">
              <mc:Choice xmlns:v="urn:schemas-microsoft-com:vml" Requires="v">
                <p:oleObj name="Equation" r:id="rId4" imgW="393529" imgH="279279" progId="">
                  <p:embed/>
                </p:oleObj>
              </mc:Choice>
              <mc:Fallback>
                <p:oleObj name="Equation" r:id="rId4" imgW="393529" imgH="279279" progId="">
                  <p:embed/>
                  <p:pic>
                    <p:nvPicPr>
                      <p:cNvPr id="0" name="Picture 10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71736" y="1357298"/>
                        <a:ext cx="642942" cy="45476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8379" name="Rectangle 1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graphicFrame>
        <p:nvGraphicFramePr>
          <p:cNvPr id="58378" name="Object 10"/>
          <p:cNvGraphicFramePr>
            <a:graphicFrameLocks noChangeAspect="1"/>
          </p:cNvGraphicFramePr>
          <p:nvPr/>
        </p:nvGraphicFramePr>
        <p:xfrm>
          <a:off x="5786446" y="1571612"/>
          <a:ext cx="785818" cy="425115"/>
        </p:xfrm>
        <a:graphic>
          <a:graphicData uri="http://schemas.openxmlformats.org/presentationml/2006/ole">
            <mc:AlternateContent xmlns:mc="http://schemas.openxmlformats.org/markup-compatibility/2006">
              <mc:Choice xmlns:v="urn:schemas-microsoft-com:vml" Requires="v">
                <p:oleObj name="Equation" r:id="rId6" imgW="583693" imgH="317225" progId="">
                  <p:embed/>
                </p:oleObj>
              </mc:Choice>
              <mc:Fallback>
                <p:oleObj name="Equation" r:id="rId6" imgW="583693" imgH="317225" progId="">
                  <p:embed/>
                  <p:pic>
                    <p:nvPicPr>
                      <p:cNvPr id="0" name="Picture 10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86446" y="1571612"/>
                        <a:ext cx="785818" cy="42511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8381" name="Rectangle 1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graphicFrame>
        <p:nvGraphicFramePr>
          <p:cNvPr id="58380" name="Object 12"/>
          <p:cNvGraphicFramePr>
            <a:graphicFrameLocks noChangeAspect="1"/>
          </p:cNvGraphicFramePr>
          <p:nvPr/>
        </p:nvGraphicFramePr>
        <p:xfrm>
          <a:off x="1571604" y="2000240"/>
          <a:ext cx="642942" cy="296742"/>
        </p:xfrm>
        <a:graphic>
          <a:graphicData uri="http://schemas.openxmlformats.org/presentationml/2006/ole">
            <mc:AlternateContent xmlns:mc="http://schemas.openxmlformats.org/markup-compatibility/2006">
              <mc:Choice xmlns:v="urn:schemas-microsoft-com:vml" Requires="v">
                <p:oleObj name="Equation" r:id="rId8" imgW="495085" imgH="228501" progId="">
                  <p:embed/>
                </p:oleObj>
              </mc:Choice>
              <mc:Fallback>
                <p:oleObj name="Equation" r:id="rId8" imgW="495085" imgH="228501" progId="">
                  <p:embed/>
                  <p:pic>
                    <p:nvPicPr>
                      <p:cNvPr id="0" name="Picture 10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71604" y="2000240"/>
                        <a:ext cx="642942" cy="29674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8382" name="Object 14"/>
          <p:cNvGraphicFramePr>
            <a:graphicFrameLocks noChangeAspect="1"/>
          </p:cNvGraphicFramePr>
          <p:nvPr/>
        </p:nvGraphicFramePr>
        <p:xfrm>
          <a:off x="1500166" y="2285992"/>
          <a:ext cx="590550" cy="428625"/>
        </p:xfrm>
        <a:graphic>
          <a:graphicData uri="http://schemas.openxmlformats.org/presentationml/2006/ole">
            <mc:AlternateContent xmlns:mc="http://schemas.openxmlformats.org/markup-compatibility/2006">
              <mc:Choice xmlns:v="urn:schemas-microsoft-com:vml" Requires="v">
                <p:oleObj name="Equation" r:id="rId10" imgW="380835" imgH="279279" progId="">
                  <p:embed/>
                </p:oleObj>
              </mc:Choice>
              <mc:Fallback>
                <p:oleObj name="Equation" r:id="rId10" imgW="380835" imgH="279279" progId="">
                  <p:embed/>
                  <p:pic>
                    <p:nvPicPr>
                      <p:cNvPr id="0" name="Picture 1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00166" y="2285992"/>
                        <a:ext cx="590550" cy="428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8383" name="Object 15"/>
          <p:cNvGraphicFramePr>
            <a:graphicFrameLocks noChangeAspect="1"/>
          </p:cNvGraphicFramePr>
          <p:nvPr/>
        </p:nvGraphicFramePr>
        <p:xfrm>
          <a:off x="2500298" y="2285992"/>
          <a:ext cx="642938" cy="454025"/>
        </p:xfrm>
        <a:graphic>
          <a:graphicData uri="http://schemas.openxmlformats.org/presentationml/2006/ole">
            <mc:AlternateContent xmlns:mc="http://schemas.openxmlformats.org/markup-compatibility/2006">
              <mc:Choice xmlns:v="urn:schemas-microsoft-com:vml" Requires="v">
                <p:oleObj name="Equation" r:id="rId11" imgW="393529" imgH="279279" progId="">
                  <p:embed/>
                </p:oleObj>
              </mc:Choice>
              <mc:Fallback>
                <p:oleObj name="Equation" r:id="rId11" imgW="393529" imgH="279279" progId="">
                  <p:embed/>
                  <p:pic>
                    <p:nvPicPr>
                      <p:cNvPr id="0" name="Picture 1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00298" y="2285992"/>
                        <a:ext cx="642938" cy="454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8384" name="Object 16"/>
          <p:cNvGraphicFramePr>
            <a:graphicFrameLocks noChangeAspect="1"/>
          </p:cNvGraphicFramePr>
          <p:nvPr/>
        </p:nvGraphicFramePr>
        <p:xfrm>
          <a:off x="4929190" y="3143248"/>
          <a:ext cx="785812" cy="425450"/>
        </p:xfrm>
        <a:graphic>
          <a:graphicData uri="http://schemas.openxmlformats.org/presentationml/2006/ole">
            <mc:AlternateContent xmlns:mc="http://schemas.openxmlformats.org/markup-compatibility/2006">
              <mc:Choice xmlns:v="urn:schemas-microsoft-com:vml" Requires="v">
                <p:oleObj name="Equation" r:id="rId12" imgW="583693" imgH="317225" progId="">
                  <p:embed/>
                </p:oleObj>
              </mc:Choice>
              <mc:Fallback>
                <p:oleObj name="Equation" r:id="rId12" imgW="583693" imgH="317225" progId="">
                  <p:embed/>
                  <p:pic>
                    <p:nvPicPr>
                      <p:cNvPr id="0" name="Picture 1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29190" y="3143248"/>
                        <a:ext cx="785812" cy="425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8386" name="Rectangle 1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graphicFrame>
        <p:nvGraphicFramePr>
          <p:cNvPr id="58385" name="Object 17"/>
          <p:cNvGraphicFramePr>
            <a:graphicFrameLocks noChangeAspect="1"/>
          </p:cNvGraphicFramePr>
          <p:nvPr/>
        </p:nvGraphicFramePr>
        <p:xfrm>
          <a:off x="3643306" y="3643314"/>
          <a:ext cx="714380" cy="311729"/>
        </p:xfrm>
        <a:graphic>
          <a:graphicData uri="http://schemas.openxmlformats.org/presentationml/2006/ole">
            <mc:AlternateContent xmlns:mc="http://schemas.openxmlformats.org/markup-compatibility/2006">
              <mc:Choice xmlns:v="urn:schemas-microsoft-com:vml" Requires="v">
                <p:oleObj name="Equation" r:id="rId13" imgW="520700" imgH="228600" progId="">
                  <p:embed/>
                </p:oleObj>
              </mc:Choice>
              <mc:Fallback>
                <p:oleObj name="Equation" r:id="rId13" imgW="520700" imgH="228600" progId="">
                  <p:embed/>
                  <p:pic>
                    <p:nvPicPr>
                      <p:cNvPr id="0" name="Picture 11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643306" y="3643314"/>
                        <a:ext cx="714380" cy="31172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8389" name="Object 21"/>
          <p:cNvGraphicFramePr>
            <a:graphicFrameLocks noChangeAspect="1"/>
          </p:cNvGraphicFramePr>
          <p:nvPr/>
        </p:nvGraphicFramePr>
        <p:xfrm>
          <a:off x="1428728" y="4071942"/>
          <a:ext cx="590550" cy="428625"/>
        </p:xfrm>
        <a:graphic>
          <a:graphicData uri="http://schemas.openxmlformats.org/presentationml/2006/ole">
            <mc:AlternateContent xmlns:mc="http://schemas.openxmlformats.org/markup-compatibility/2006">
              <mc:Choice xmlns:v="urn:schemas-microsoft-com:vml" Requires="v">
                <p:oleObj name="Equation" r:id="rId15" imgW="380835" imgH="279279" progId="">
                  <p:embed/>
                </p:oleObj>
              </mc:Choice>
              <mc:Fallback>
                <p:oleObj name="Equation" r:id="rId15" imgW="380835" imgH="279279" progId="">
                  <p:embed/>
                  <p:pic>
                    <p:nvPicPr>
                      <p:cNvPr id="0" name="Picture 1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8728" y="4071942"/>
                        <a:ext cx="590550" cy="428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8390" name="Object 22"/>
          <p:cNvGraphicFramePr>
            <a:graphicFrameLocks noChangeAspect="1"/>
          </p:cNvGraphicFramePr>
          <p:nvPr/>
        </p:nvGraphicFramePr>
        <p:xfrm>
          <a:off x="2357422" y="4071942"/>
          <a:ext cx="642937" cy="454025"/>
        </p:xfrm>
        <a:graphic>
          <a:graphicData uri="http://schemas.openxmlformats.org/presentationml/2006/ole">
            <mc:AlternateContent xmlns:mc="http://schemas.openxmlformats.org/markup-compatibility/2006">
              <mc:Choice xmlns:v="urn:schemas-microsoft-com:vml" Requires="v">
                <p:oleObj name="Equation" r:id="rId16" imgW="393529" imgH="279279" progId="">
                  <p:embed/>
                </p:oleObj>
              </mc:Choice>
              <mc:Fallback>
                <p:oleObj name="Equation" r:id="rId16" imgW="393529" imgH="279279" progId="">
                  <p:embed/>
                  <p:pic>
                    <p:nvPicPr>
                      <p:cNvPr id="0" name="Picture 11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57422" y="4071942"/>
                        <a:ext cx="642937" cy="454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8392" name="Rectangle 2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graphicFrame>
        <p:nvGraphicFramePr>
          <p:cNvPr id="58391" name="Object 23"/>
          <p:cNvGraphicFramePr>
            <a:graphicFrameLocks noChangeAspect="1"/>
          </p:cNvGraphicFramePr>
          <p:nvPr/>
        </p:nvGraphicFramePr>
        <p:xfrm>
          <a:off x="0" y="4572008"/>
          <a:ext cx="1500198" cy="500066"/>
        </p:xfrm>
        <a:graphic>
          <a:graphicData uri="http://schemas.openxmlformats.org/presentationml/2006/ole">
            <mc:AlternateContent xmlns:mc="http://schemas.openxmlformats.org/markup-compatibility/2006">
              <mc:Choice xmlns:v="urn:schemas-microsoft-com:vml" Requires="v">
                <p:oleObj name="Equation" r:id="rId17" imgW="939392" imgH="317362" progId="">
                  <p:embed/>
                </p:oleObj>
              </mc:Choice>
              <mc:Fallback>
                <p:oleObj name="Equation" r:id="rId17" imgW="939392" imgH="317362" progId="">
                  <p:embed/>
                  <p:pic>
                    <p:nvPicPr>
                      <p:cNvPr id="0" name="Picture 116"/>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0" y="4572008"/>
                        <a:ext cx="1500198" cy="50006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8394" name="Rectangle 2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graphicFrame>
        <p:nvGraphicFramePr>
          <p:cNvPr id="58393" name="Object 25"/>
          <p:cNvGraphicFramePr>
            <a:graphicFrameLocks noChangeAspect="1"/>
          </p:cNvGraphicFramePr>
          <p:nvPr/>
        </p:nvGraphicFramePr>
        <p:xfrm>
          <a:off x="6143636" y="5357826"/>
          <a:ext cx="1500198" cy="500066"/>
        </p:xfrm>
        <a:graphic>
          <a:graphicData uri="http://schemas.openxmlformats.org/presentationml/2006/ole">
            <mc:AlternateContent xmlns:mc="http://schemas.openxmlformats.org/markup-compatibility/2006">
              <mc:Choice xmlns:v="urn:schemas-microsoft-com:vml" Requires="v">
                <p:oleObj name="Equation" r:id="rId19" imgW="939392" imgH="317362" progId="">
                  <p:embed/>
                </p:oleObj>
              </mc:Choice>
              <mc:Fallback>
                <p:oleObj name="Equation" r:id="rId19" imgW="939392" imgH="317362" progId="">
                  <p:embed/>
                  <p:pic>
                    <p:nvPicPr>
                      <p:cNvPr id="0" name="Picture 117"/>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143636" y="5357826"/>
                        <a:ext cx="1500198" cy="50006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8396" name="Rectangle 2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graphicFrame>
        <p:nvGraphicFramePr>
          <p:cNvPr id="58395" name="Object 27"/>
          <p:cNvGraphicFramePr>
            <a:graphicFrameLocks noChangeAspect="1"/>
          </p:cNvGraphicFramePr>
          <p:nvPr/>
        </p:nvGraphicFramePr>
        <p:xfrm>
          <a:off x="6572264" y="5855908"/>
          <a:ext cx="1643074" cy="502050"/>
        </p:xfrm>
        <a:graphic>
          <a:graphicData uri="http://schemas.openxmlformats.org/presentationml/2006/ole">
            <mc:AlternateContent xmlns:mc="http://schemas.openxmlformats.org/markup-compatibility/2006">
              <mc:Choice xmlns:v="urn:schemas-microsoft-com:vml" Requires="v">
                <p:oleObj name="Equation" r:id="rId21" imgW="1028254" imgH="317362" progId="">
                  <p:embed/>
                </p:oleObj>
              </mc:Choice>
              <mc:Fallback>
                <p:oleObj name="Equation" r:id="rId21" imgW="1028254" imgH="317362" progId="">
                  <p:embed/>
                  <p:pic>
                    <p:nvPicPr>
                      <p:cNvPr id="0" name="Picture 118"/>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6572264" y="5855908"/>
                        <a:ext cx="1643074" cy="502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4" name="Text Box 15"/>
          <p:cNvSpPr txBox="1">
            <a:spLocks noChangeArrowheads="1"/>
          </p:cNvSpPr>
          <p:nvPr/>
        </p:nvSpPr>
        <p:spPr bwMode="auto">
          <a:xfrm>
            <a:off x="857250" y="6400801"/>
            <a:ext cx="8286750" cy="424732"/>
          </a:xfrm>
          <a:prstGeom prst="rect">
            <a:avLst/>
          </a:prstGeom>
          <a:noFill/>
          <a:ln w="9525">
            <a:noFill/>
            <a:miter lim="800000"/>
            <a:headEnd/>
            <a:tailEnd/>
          </a:ln>
        </p:spPr>
        <p:txBody>
          <a:bodyPr wrap="square">
            <a:spAutoFit/>
          </a:bodyPr>
          <a:lstStyle/>
          <a:p>
            <a:pPr algn="ctr">
              <a:lnSpc>
                <a:spcPct val="90000"/>
              </a:lnSpc>
            </a:pPr>
            <a:r>
              <a:rPr lang="ru-RU" dirty="0"/>
              <a:t>Лекция </a:t>
            </a:r>
            <a:r>
              <a:rPr lang="en-US" dirty="0"/>
              <a:t>1</a:t>
            </a:r>
            <a:r>
              <a:rPr lang="ru-RU" dirty="0"/>
              <a:t>1. Вычисление АКФ и ВКФ и их применение</a:t>
            </a:r>
            <a:endParaRPr lang="ru-RU" i="1" dirty="0"/>
          </a:p>
        </p:txBody>
      </p:sp>
      <p:pic>
        <p:nvPicPr>
          <p:cNvPr id="2" name="Picture 28"/>
          <p:cNvPicPr>
            <a:picLocks noChangeAspect="1" noChangeArrowheads="1"/>
          </p:cNvPicPr>
          <p:nvPr/>
        </p:nvPicPr>
        <p:blipFill>
          <a:blip r:embed="rId23" cstate="print"/>
          <a:srcRect/>
          <a:stretch>
            <a:fillRect/>
          </a:stretch>
        </p:blipFill>
        <p:spPr bwMode="auto">
          <a:xfrm>
            <a:off x="5695950" y="1928802"/>
            <a:ext cx="3448050" cy="2190750"/>
          </a:xfrm>
          <a:prstGeom prst="rect">
            <a:avLst/>
          </a:prstGeom>
          <a:noFill/>
          <a:ln w="9525">
            <a:noFill/>
            <a:miter lim="800000"/>
            <a:headEnd/>
            <a:tailEnd/>
          </a:ln>
          <a:effec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descr="Large confetti"/>
          <p:cNvSpPr>
            <a:spLocks noChangeArrowheads="1"/>
          </p:cNvSpPr>
          <p:nvPr/>
        </p:nvSpPr>
        <p:spPr bwMode="auto">
          <a:xfrm>
            <a:off x="0" y="228600"/>
            <a:ext cx="9144000" cy="630238"/>
          </a:xfrm>
          <a:prstGeom prst="rect">
            <a:avLst/>
          </a:prstGeom>
          <a:noFill/>
          <a:ln w="9525">
            <a:noFill/>
            <a:miter lim="800000"/>
            <a:headEnd/>
            <a:tailEnd/>
          </a:ln>
        </p:spPr>
        <p:txBody>
          <a:bodyPr anchor="b"/>
          <a:lstStyle/>
          <a:p>
            <a:r>
              <a:rPr lang="ru-RU" sz="2800" b="1"/>
              <a:t>Методы и средства цифровой обработки информации</a:t>
            </a:r>
          </a:p>
        </p:txBody>
      </p:sp>
      <p:sp>
        <p:nvSpPr>
          <p:cNvPr id="9219" name="Rectangle 7"/>
          <p:cNvSpPr>
            <a:spLocks noChangeArrowheads="1"/>
          </p:cNvSpPr>
          <p:nvPr/>
        </p:nvSpPr>
        <p:spPr bwMode="auto">
          <a:xfrm>
            <a:off x="2971800" y="1657350"/>
            <a:ext cx="9144000" cy="0"/>
          </a:xfrm>
          <a:prstGeom prst="rect">
            <a:avLst/>
          </a:prstGeom>
          <a:noFill/>
          <a:ln w="9525">
            <a:noFill/>
            <a:miter lim="800000"/>
            <a:headEnd/>
            <a:tailEnd/>
          </a:ln>
        </p:spPr>
        <p:txBody>
          <a:bodyPr>
            <a:spAutoFit/>
          </a:bodyPr>
          <a:lstStyle/>
          <a:p>
            <a:endParaRPr lang="ru-RU"/>
          </a:p>
        </p:txBody>
      </p:sp>
      <p:sp>
        <p:nvSpPr>
          <p:cNvPr id="9220" name="Rectangle 9"/>
          <p:cNvSpPr>
            <a:spLocks noChangeArrowheads="1"/>
          </p:cNvSpPr>
          <p:nvPr/>
        </p:nvSpPr>
        <p:spPr bwMode="auto">
          <a:xfrm>
            <a:off x="2852738" y="3309938"/>
            <a:ext cx="9144000" cy="0"/>
          </a:xfrm>
          <a:prstGeom prst="rect">
            <a:avLst/>
          </a:prstGeom>
          <a:noFill/>
          <a:ln w="9525">
            <a:noFill/>
            <a:miter lim="800000"/>
            <a:headEnd/>
            <a:tailEnd/>
          </a:ln>
        </p:spPr>
        <p:txBody>
          <a:bodyPr>
            <a:spAutoFit/>
          </a:bodyPr>
          <a:lstStyle/>
          <a:p>
            <a:endParaRPr lang="ru-RU"/>
          </a:p>
        </p:txBody>
      </p:sp>
      <p:sp>
        <p:nvSpPr>
          <p:cNvPr id="9221" name="Rectangle 10"/>
          <p:cNvSpPr>
            <a:spLocks noChangeArrowheads="1"/>
          </p:cNvSpPr>
          <p:nvPr/>
        </p:nvSpPr>
        <p:spPr bwMode="auto">
          <a:xfrm>
            <a:off x="0" y="928670"/>
            <a:ext cx="9144000" cy="5016758"/>
          </a:xfrm>
          <a:prstGeom prst="rect">
            <a:avLst/>
          </a:prstGeom>
          <a:noFill/>
          <a:ln w="9525">
            <a:noFill/>
            <a:miter lim="800000"/>
            <a:headEnd/>
            <a:tailEnd/>
          </a:ln>
        </p:spPr>
        <p:txBody>
          <a:bodyPr>
            <a:spAutoFit/>
          </a:bodyPr>
          <a:lstStyle/>
          <a:p>
            <a:pPr indent="457200" algn="just"/>
            <a:r>
              <a:rPr lang="ru-RU" sz="3200" dirty="0"/>
              <a:t>Коэффициент взаимной корреляции получается в результате нормирования ВКФ::</a:t>
            </a:r>
          </a:p>
          <a:p>
            <a:pPr indent="457200" algn="just"/>
            <a:endParaRPr lang="ru-RU" sz="3200" dirty="0"/>
          </a:p>
          <a:p>
            <a:pPr indent="457200" algn="just"/>
            <a:endParaRPr lang="ru-RU" sz="3200" dirty="0"/>
          </a:p>
          <a:p>
            <a:pPr indent="457200" algn="just"/>
            <a:endParaRPr lang="ru-RU" sz="3200" dirty="0"/>
          </a:p>
          <a:p>
            <a:pPr indent="457200" algn="just"/>
            <a:endParaRPr lang="ru-RU" sz="3200" dirty="0"/>
          </a:p>
          <a:p>
            <a:pPr indent="457200" algn="just"/>
            <a:r>
              <a:rPr lang="ru-RU" sz="3200" dirty="0"/>
              <a:t>Коэффициент взаимной ковариации:</a:t>
            </a:r>
          </a:p>
          <a:p>
            <a:pPr indent="457200" algn="just"/>
            <a:endParaRPr lang="ru-RU" sz="3200" dirty="0"/>
          </a:p>
          <a:p>
            <a:pPr indent="457200" algn="just"/>
            <a:endParaRPr lang="ru-RU" sz="3200" dirty="0"/>
          </a:p>
          <a:p>
            <a:pPr indent="457200" algn="just"/>
            <a:endParaRPr lang="ru-RU" sz="3200" dirty="0"/>
          </a:p>
        </p:txBody>
      </p:sp>
      <p:sp>
        <p:nvSpPr>
          <p:cNvPr id="5427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427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5301"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graphicFrame>
        <p:nvGraphicFramePr>
          <p:cNvPr id="56324" name="Object 4"/>
          <p:cNvGraphicFramePr>
            <a:graphicFrameLocks noChangeAspect="1"/>
          </p:cNvGraphicFramePr>
          <p:nvPr>
            <p:extLst>
              <p:ext uri="{D42A27DB-BD31-4B8C-83A1-F6EECF244321}">
                <p14:modId xmlns:p14="http://schemas.microsoft.com/office/powerpoint/2010/main" val="58742379"/>
              </p:ext>
            </p:extLst>
          </p:nvPr>
        </p:nvGraphicFramePr>
        <p:xfrm>
          <a:off x="3347864" y="4581624"/>
          <a:ext cx="1854200" cy="863600"/>
        </p:xfrm>
        <a:graphic>
          <a:graphicData uri="http://schemas.openxmlformats.org/presentationml/2006/ole">
            <mc:AlternateContent xmlns:mc="http://schemas.openxmlformats.org/markup-compatibility/2006">
              <mc:Choice xmlns:v="urn:schemas-microsoft-com:vml" Requires="v">
                <p:oleObj name="Equation" r:id="rId2" imgW="927100" imgH="431800" progId="">
                  <p:embed/>
                </p:oleObj>
              </mc:Choice>
              <mc:Fallback>
                <p:oleObj name="Equation" r:id="rId2" imgW="927100" imgH="431800" progId="">
                  <p:embed/>
                  <p:pic>
                    <p:nvPicPr>
                      <p:cNvPr id="0" name="Picture 1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47864" y="4581624"/>
                        <a:ext cx="1854200" cy="863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6325" name="Object 5"/>
          <p:cNvGraphicFramePr>
            <a:graphicFrameLocks noChangeAspect="1"/>
          </p:cNvGraphicFramePr>
          <p:nvPr>
            <p:extLst>
              <p:ext uri="{D42A27DB-BD31-4B8C-83A1-F6EECF244321}">
                <p14:modId xmlns:p14="http://schemas.microsoft.com/office/powerpoint/2010/main" val="3875570923"/>
              </p:ext>
            </p:extLst>
          </p:nvPr>
        </p:nvGraphicFramePr>
        <p:xfrm>
          <a:off x="1835696" y="2276872"/>
          <a:ext cx="5080000" cy="1397000"/>
        </p:xfrm>
        <a:graphic>
          <a:graphicData uri="http://schemas.openxmlformats.org/presentationml/2006/ole">
            <mc:AlternateContent xmlns:mc="http://schemas.openxmlformats.org/markup-compatibility/2006">
              <mc:Choice xmlns:v="urn:schemas-microsoft-com:vml" Requires="v">
                <p:oleObj name="Equation" r:id="rId4" imgW="2540000" imgH="698500" progId="">
                  <p:embed/>
                </p:oleObj>
              </mc:Choice>
              <mc:Fallback>
                <p:oleObj name="Equation" r:id="rId4" imgW="2540000" imgH="698500" progId="">
                  <p:embed/>
                  <p:pic>
                    <p:nvPicPr>
                      <p:cNvPr id="0" name="Picture 1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35696" y="2276872"/>
                        <a:ext cx="5080000" cy="1397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Text Box 15"/>
          <p:cNvSpPr txBox="1">
            <a:spLocks noChangeArrowheads="1"/>
          </p:cNvSpPr>
          <p:nvPr/>
        </p:nvSpPr>
        <p:spPr bwMode="auto">
          <a:xfrm>
            <a:off x="857250" y="6400801"/>
            <a:ext cx="8286750" cy="424732"/>
          </a:xfrm>
          <a:prstGeom prst="rect">
            <a:avLst/>
          </a:prstGeom>
          <a:noFill/>
          <a:ln w="9525">
            <a:noFill/>
            <a:miter lim="800000"/>
            <a:headEnd/>
            <a:tailEnd/>
          </a:ln>
        </p:spPr>
        <p:txBody>
          <a:bodyPr wrap="square">
            <a:spAutoFit/>
          </a:bodyPr>
          <a:lstStyle/>
          <a:p>
            <a:pPr algn="ctr">
              <a:lnSpc>
                <a:spcPct val="90000"/>
              </a:lnSpc>
            </a:pPr>
            <a:r>
              <a:rPr lang="ru-RU" dirty="0"/>
              <a:t>Лекция </a:t>
            </a:r>
            <a:r>
              <a:rPr lang="en-US" dirty="0"/>
              <a:t>1</a:t>
            </a:r>
            <a:r>
              <a:rPr lang="ru-RU" dirty="0"/>
              <a:t>1. Вычисление АКФ и ВКФ и их применение</a:t>
            </a:r>
            <a:endParaRPr lang="ru-RU" i="1"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descr="Large confetti"/>
          <p:cNvSpPr>
            <a:spLocks noChangeArrowheads="1"/>
          </p:cNvSpPr>
          <p:nvPr/>
        </p:nvSpPr>
        <p:spPr bwMode="auto">
          <a:xfrm>
            <a:off x="0" y="228600"/>
            <a:ext cx="9144000" cy="630238"/>
          </a:xfrm>
          <a:prstGeom prst="rect">
            <a:avLst/>
          </a:prstGeom>
          <a:noFill/>
          <a:ln w="9525">
            <a:noFill/>
            <a:miter lim="800000"/>
            <a:headEnd/>
            <a:tailEnd/>
          </a:ln>
        </p:spPr>
        <p:txBody>
          <a:bodyPr anchor="b"/>
          <a:lstStyle/>
          <a:p>
            <a:r>
              <a:rPr lang="ru-RU" sz="2800" b="1"/>
              <a:t>Методы и средства цифровой обработки информации</a:t>
            </a:r>
          </a:p>
        </p:txBody>
      </p:sp>
      <p:sp>
        <p:nvSpPr>
          <p:cNvPr id="9219" name="Rectangle 7"/>
          <p:cNvSpPr>
            <a:spLocks noChangeArrowheads="1"/>
          </p:cNvSpPr>
          <p:nvPr/>
        </p:nvSpPr>
        <p:spPr bwMode="auto">
          <a:xfrm>
            <a:off x="2971800" y="1657350"/>
            <a:ext cx="9144000" cy="0"/>
          </a:xfrm>
          <a:prstGeom prst="rect">
            <a:avLst/>
          </a:prstGeom>
          <a:noFill/>
          <a:ln w="9525">
            <a:noFill/>
            <a:miter lim="800000"/>
            <a:headEnd/>
            <a:tailEnd/>
          </a:ln>
        </p:spPr>
        <p:txBody>
          <a:bodyPr>
            <a:spAutoFit/>
          </a:bodyPr>
          <a:lstStyle/>
          <a:p>
            <a:endParaRPr lang="ru-RU"/>
          </a:p>
        </p:txBody>
      </p:sp>
      <p:sp>
        <p:nvSpPr>
          <p:cNvPr id="9220" name="Rectangle 9"/>
          <p:cNvSpPr>
            <a:spLocks noChangeArrowheads="1"/>
          </p:cNvSpPr>
          <p:nvPr/>
        </p:nvSpPr>
        <p:spPr bwMode="auto">
          <a:xfrm>
            <a:off x="2852738" y="3309938"/>
            <a:ext cx="9144000" cy="0"/>
          </a:xfrm>
          <a:prstGeom prst="rect">
            <a:avLst/>
          </a:prstGeom>
          <a:noFill/>
          <a:ln w="9525">
            <a:noFill/>
            <a:miter lim="800000"/>
            <a:headEnd/>
            <a:tailEnd/>
          </a:ln>
        </p:spPr>
        <p:txBody>
          <a:bodyPr>
            <a:spAutoFit/>
          </a:bodyPr>
          <a:lstStyle/>
          <a:p>
            <a:endParaRPr lang="ru-RU"/>
          </a:p>
        </p:txBody>
      </p:sp>
      <p:sp>
        <p:nvSpPr>
          <p:cNvPr id="9221" name="Rectangle 10"/>
          <p:cNvSpPr>
            <a:spLocks noChangeArrowheads="1"/>
          </p:cNvSpPr>
          <p:nvPr/>
        </p:nvSpPr>
        <p:spPr bwMode="auto">
          <a:xfrm>
            <a:off x="0" y="928670"/>
            <a:ext cx="9144000" cy="2062103"/>
          </a:xfrm>
          <a:prstGeom prst="rect">
            <a:avLst/>
          </a:prstGeom>
          <a:noFill/>
          <a:ln w="9525">
            <a:noFill/>
            <a:miter lim="800000"/>
            <a:headEnd/>
            <a:tailEnd/>
          </a:ln>
        </p:spPr>
        <p:txBody>
          <a:bodyPr>
            <a:spAutoFit/>
          </a:bodyPr>
          <a:lstStyle/>
          <a:p>
            <a:pPr algn="ctr"/>
            <a:r>
              <a:rPr lang="ru-RU" sz="3200" dirty="0"/>
              <a:t>Связь корреляционных функций и ДПФ. Быстрая корреляция.</a:t>
            </a:r>
          </a:p>
          <a:p>
            <a:pPr indent="457200" algn="just"/>
            <a:endParaRPr lang="ru-RU" sz="3200" dirty="0"/>
          </a:p>
          <a:p>
            <a:pPr indent="457200" algn="just"/>
            <a:endParaRPr lang="ru-RU" sz="3200" dirty="0"/>
          </a:p>
        </p:txBody>
      </p:sp>
      <p:sp>
        <p:nvSpPr>
          <p:cNvPr id="5427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427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5301"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12" name="Text Box 15"/>
          <p:cNvSpPr txBox="1">
            <a:spLocks noChangeArrowheads="1"/>
          </p:cNvSpPr>
          <p:nvPr/>
        </p:nvSpPr>
        <p:spPr bwMode="auto">
          <a:xfrm>
            <a:off x="857250" y="6400801"/>
            <a:ext cx="8286750" cy="424732"/>
          </a:xfrm>
          <a:prstGeom prst="rect">
            <a:avLst/>
          </a:prstGeom>
          <a:noFill/>
          <a:ln w="9525">
            <a:noFill/>
            <a:miter lim="800000"/>
            <a:headEnd/>
            <a:tailEnd/>
          </a:ln>
        </p:spPr>
        <p:txBody>
          <a:bodyPr wrap="square">
            <a:spAutoFit/>
          </a:bodyPr>
          <a:lstStyle/>
          <a:p>
            <a:pPr algn="ctr">
              <a:lnSpc>
                <a:spcPct val="90000"/>
              </a:lnSpc>
            </a:pPr>
            <a:r>
              <a:rPr lang="ru-RU" dirty="0"/>
              <a:t>Лекция </a:t>
            </a:r>
            <a:r>
              <a:rPr lang="en-US" dirty="0"/>
              <a:t>1</a:t>
            </a:r>
            <a:r>
              <a:rPr lang="ru-RU" dirty="0"/>
              <a:t>1. Вычисление АКФ и ВКФ и их применение</a:t>
            </a:r>
            <a:endParaRPr lang="ru-RU" i="1" dirty="0"/>
          </a:p>
        </p:txBody>
      </p:sp>
      <p:sp>
        <p:nvSpPr>
          <p:cNvPr id="61445"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graphicFrame>
        <p:nvGraphicFramePr>
          <p:cNvPr id="61444" name="Object 4"/>
          <p:cNvGraphicFramePr>
            <a:graphicFrameLocks noChangeAspect="1"/>
          </p:cNvGraphicFramePr>
          <p:nvPr>
            <p:extLst>
              <p:ext uri="{D42A27DB-BD31-4B8C-83A1-F6EECF244321}">
                <p14:modId xmlns:p14="http://schemas.microsoft.com/office/powerpoint/2010/main" val="2422678272"/>
              </p:ext>
            </p:extLst>
          </p:nvPr>
        </p:nvGraphicFramePr>
        <p:xfrm>
          <a:off x="2051720" y="5445224"/>
          <a:ext cx="4849308" cy="1071570"/>
        </p:xfrm>
        <a:graphic>
          <a:graphicData uri="http://schemas.openxmlformats.org/presentationml/2006/ole">
            <mc:AlternateContent xmlns:mc="http://schemas.openxmlformats.org/markup-compatibility/2006">
              <mc:Choice xmlns:v="urn:schemas-microsoft-com:vml" Requires="v">
                <p:oleObj name="Equation" r:id="rId2" imgW="2540000" imgH="558800" progId="">
                  <p:embed/>
                </p:oleObj>
              </mc:Choice>
              <mc:Fallback>
                <p:oleObj name="Equation" r:id="rId2" imgW="2540000" imgH="558800" progId="">
                  <p:embed/>
                  <p:pic>
                    <p:nvPicPr>
                      <p:cNvPr id="0" name="Picture 4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1720" y="5445224"/>
                        <a:ext cx="4849308" cy="107157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1446" name="Object 6"/>
          <p:cNvGraphicFramePr>
            <a:graphicFrameLocks noChangeAspect="1"/>
          </p:cNvGraphicFramePr>
          <p:nvPr>
            <p:extLst>
              <p:ext uri="{D42A27DB-BD31-4B8C-83A1-F6EECF244321}">
                <p14:modId xmlns:p14="http://schemas.microsoft.com/office/powerpoint/2010/main" val="1659732116"/>
              </p:ext>
            </p:extLst>
          </p:nvPr>
        </p:nvGraphicFramePr>
        <p:xfrm>
          <a:off x="3923928" y="1973785"/>
          <a:ext cx="5021262" cy="1071563"/>
        </p:xfrm>
        <a:graphic>
          <a:graphicData uri="http://schemas.openxmlformats.org/presentationml/2006/ole">
            <mc:AlternateContent xmlns:mc="http://schemas.openxmlformats.org/markup-compatibility/2006">
              <mc:Choice xmlns:v="urn:schemas-microsoft-com:vml" Requires="v">
                <p:oleObj name="Equation" r:id="rId4" imgW="2146300" imgH="457200" progId="">
                  <p:embed/>
                </p:oleObj>
              </mc:Choice>
              <mc:Fallback>
                <p:oleObj name="Equation" r:id="rId4" imgW="2146300" imgH="457200" progId="">
                  <p:embed/>
                  <p:pic>
                    <p:nvPicPr>
                      <p:cNvPr id="0" name="Picture 4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23928" y="1973785"/>
                        <a:ext cx="5021262" cy="10715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1447" name="Object 10"/>
          <p:cNvGraphicFramePr>
            <a:graphicFrameLocks noChangeAspect="1"/>
          </p:cNvGraphicFramePr>
          <p:nvPr>
            <p:extLst>
              <p:ext uri="{D42A27DB-BD31-4B8C-83A1-F6EECF244321}">
                <p14:modId xmlns:p14="http://schemas.microsoft.com/office/powerpoint/2010/main" val="1320271223"/>
              </p:ext>
            </p:extLst>
          </p:nvPr>
        </p:nvGraphicFramePr>
        <p:xfrm>
          <a:off x="69056" y="2993427"/>
          <a:ext cx="5805488" cy="747713"/>
        </p:xfrm>
        <a:graphic>
          <a:graphicData uri="http://schemas.openxmlformats.org/presentationml/2006/ole">
            <mc:AlternateContent xmlns:mc="http://schemas.openxmlformats.org/markup-compatibility/2006">
              <mc:Choice xmlns:v="urn:schemas-microsoft-com:vml" Requires="v">
                <p:oleObj name="Equation" r:id="rId6" imgW="3657600" imgH="469900" progId="">
                  <p:embed/>
                </p:oleObj>
              </mc:Choice>
              <mc:Fallback>
                <p:oleObj name="Equation" r:id="rId6" imgW="3657600" imgH="469900" progId="">
                  <p:embed/>
                  <p:pic>
                    <p:nvPicPr>
                      <p:cNvPr id="0" name="Picture 4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9056" y="2993427"/>
                        <a:ext cx="5805488" cy="7477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1449" name="Rectangle 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graphicFrame>
        <p:nvGraphicFramePr>
          <p:cNvPr id="61448" name="Object 8"/>
          <p:cNvGraphicFramePr>
            <a:graphicFrameLocks noChangeAspect="1"/>
          </p:cNvGraphicFramePr>
          <p:nvPr>
            <p:extLst>
              <p:ext uri="{D42A27DB-BD31-4B8C-83A1-F6EECF244321}">
                <p14:modId xmlns:p14="http://schemas.microsoft.com/office/powerpoint/2010/main" val="1228724883"/>
              </p:ext>
            </p:extLst>
          </p:nvPr>
        </p:nvGraphicFramePr>
        <p:xfrm>
          <a:off x="107504" y="1988840"/>
          <a:ext cx="3448050" cy="1082675"/>
        </p:xfrm>
        <a:graphic>
          <a:graphicData uri="http://schemas.openxmlformats.org/presentationml/2006/ole">
            <mc:AlternateContent xmlns:mc="http://schemas.openxmlformats.org/markup-compatibility/2006">
              <mc:Choice xmlns:v="urn:schemas-microsoft-com:vml" Requires="v">
                <p:oleObj name="Формула" r:id="rId8" imgW="1485900" imgH="469900" progId="Equation.3">
                  <p:embed/>
                </p:oleObj>
              </mc:Choice>
              <mc:Fallback>
                <p:oleObj name="Формула" r:id="rId8" imgW="1485900" imgH="469900" progId="Equation.3">
                  <p:embed/>
                  <p:pic>
                    <p:nvPicPr>
                      <p:cNvPr id="0" name="Picture 4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7504" y="1988840"/>
                        <a:ext cx="3448050" cy="1082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1450" name="Object 10"/>
          <p:cNvGraphicFramePr>
            <a:graphicFrameLocks noChangeAspect="1"/>
          </p:cNvGraphicFramePr>
          <p:nvPr>
            <p:extLst>
              <p:ext uri="{D42A27DB-BD31-4B8C-83A1-F6EECF244321}">
                <p14:modId xmlns:p14="http://schemas.microsoft.com/office/powerpoint/2010/main" val="45393690"/>
              </p:ext>
            </p:extLst>
          </p:nvPr>
        </p:nvGraphicFramePr>
        <p:xfrm>
          <a:off x="-35396" y="3573016"/>
          <a:ext cx="9137651" cy="2222500"/>
        </p:xfrm>
        <a:graphic>
          <a:graphicData uri="http://schemas.openxmlformats.org/presentationml/2006/ole">
            <mc:AlternateContent xmlns:mc="http://schemas.openxmlformats.org/markup-compatibility/2006">
              <mc:Choice xmlns:v="urn:schemas-microsoft-com:vml" Requires="v">
                <p:oleObj name="Формула" r:id="rId10" imgW="3937000" imgH="965200" progId="Equation.3">
                  <p:embed/>
                </p:oleObj>
              </mc:Choice>
              <mc:Fallback>
                <p:oleObj name="Формула" r:id="rId10" imgW="3937000" imgH="965200" progId="Equation.3">
                  <p:embed/>
                  <p:pic>
                    <p:nvPicPr>
                      <p:cNvPr id="0" name="Picture 4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5396" y="3573016"/>
                        <a:ext cx="9137651" cy="2222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descr="Large confetti"/>
          <p:cNvSpPr>
            <a:spLocks noChangeArrowheads="1"/>
          </p:cNvSpPr>
          <p:nvPr/>
        </p:nvSpPr>
        <p:spPr bwMode="auto">
          <a:xfrm>
            <a:off x="0" y="228600"/>
            <a:ext cx="9144000" cy="630238"/>
          </a:xfrm>
          <a:prstGeom prst="rect">
            <a:avLst/>
          </a:prstGeom>
          <a:noFill/>
          <a:ln w="9525">
            <a:noFill/>
            <a:miter lim="800000"/>
            <a:headEnd/>
            <a:tailEnd/>
          </a:ln>
        </p:spPr>
        <p:txBody>
          <a:bodyPr anchor="b"/>
          <a:lstStyle/>
          <a:p>
            <a:r>
              <a:rPr lang="ru-RU" sz="2800" b="1"/>
              <a:t>Методы и средства цифровой обработки информации</a:t>
            </a:r>
          </a:p>
        </p:txBody>
      </p:sp>
      <p:sp>
        <p:nvSpPr>
          <p:cNvPr id="9219" name="Rectangle 7"/>
          <p:cNvSpPr>
            <a:spLocks noChangeArrowheads="1"/>
          </p:cNvSpPr>
          <p:nvPr/>
        </p:nvSpPr>
        <p:spPr bwMode="auto">
          <a:xfrm>
            <a:off x="2971800" y="1657350"/>
            <a:ext cx="9144000" cy="0"/>
          </a:xfrm>
          <a:prstGeom prst="rect">
            <a:avLst/>
          </a:prstGeom>
          <a:noFill/>
          <a:ln w="9525">
            <a:noFill/>
            <a:miter lim="800000"/>
            <a:headEnd/>
            <a:tailEnd/>
          </a:ln>
        </p:spPr>
        <p:txBody>
          <a:bodyPr>
            <a:spAutoFit/>
          </a:bodyPr>
          <a:lstStyle/>
          <a:p>
            <a:endParaRPr lang="ru-RU"/>
          </a:p>
        </p:txBody>
      </p:sp>
      <p:sp>
        <p:nvSpPr>
          <p:cNvPr id="9220" name="Rectangle 9"/>
          <p:cNvSpPr>
            <a:spLocks noChangeArrowheads="1"/>
          </p:cNvSpPr>
          <p:nvPr/>
        </p:nvSpPr>
        <p:spPr bwMode="auto">
          <a:xfrm>
            <a:off x="2852738" y="3309938"/>
            <a:ext cx="9144000" cy="0"/>
          </a:xfrm>
          <a:prstGeom prst="rect">
            <a:avLst/>
          </a:prstGeom>
          <a:noFill/>
          <a:ln w="9525">
            <a:noFill/>
            <a:miter lim="800000"/>
            <a:headEnd/>
            <a:tailEnd/>
          </a:ln>
        </p:spPr>
        <p:txBody>
          <a:bodyPr>
            <a:spAutoFit/>
          </a:bodyPr>
          <a:lstStyle/>
          <a:p>
            <a:endParaRPr lang="ru-RU"/>
          </a:p>
        </p:txBody>
      </p:sp>
      <p:sp>
        <p:nvSpPr>
          <p:cNvPr id="9221" name="Rectangle 10"/>
          <p:cNvSpPr>
            <a:spLocks noChangeArrowheads="1"/>
          </p:cNvSpPr>
          <p:nvPr/>
        </p:nvSpPr>
        <p:spPr bwMode="auto">
          <a:xfrm>
            <a:off x="0" y="928670"/>
            <a:ext cx="9144000" cy="5693866"/>
          </a:xfrm>
          <a:prstGeom prst="rect">
            <a:avLst/>
          </a:prstGeom>
          <a:noFill/>
          <a:ln w="9525">
            <a:noFill/>
            <a:miter lim="800000"/>
            <a:headEnd/>
            <a:tailEnd/>
          </a:ln>
        </p:spPr>
        <p:txBody>
          <a:bodyPr>
            <a:spAutoFit/>
          </a:bodyPr>
          <a:lstStyle/>
          <a:p>
            <a:pPr algn="ctr"/>
            <a:r>
              <a:rPr lang="ru-RU" sz="3200" b="1" dirty="0"/>
              <a:t>Связь корреляционных функций и ДПФ. Быстрая корреляция.</a:t>
            </a:r>
          </a:p>
          <a:p>
            <a:pPr algn="ctr"/>
            <a:endParaRPr lang="ru-RU" sz="3200" dirty="0"/>
          </a:p>
          <a:p>
            <a:pPr algn="ctr"/>
            <a:endParaRPr lang="ru-RU" sz="3200" dirty="0"/>
          </a:p>
          <a:p>
            <a:pPr algn="ctr"/>
            <a:endParaRPr lang="ru-RU" sz="3200" dirty="0"/>
          </a:p>
          <a:p>
            <a:pPr algn="ctr"/>
            <a:endParaRPr lang="ru-RU" sz="3200" dirty="0"/>
          </a:p>
          <a:p>
            <a:pPr algn="ctr"/>
            <a:endParaRPr lang="ru-RU" sz="3200" dirty="0"/>
          </a:p>
          <a:p>
            <a:pPr algn="ctr"/>
            <a:r>
              <a:rPr lang="ru-RU" sz="2800" dirty="0"/>
              <a:t>Данный подход требует выполнения двух ДПФ и одного обратного ДРФ, что легче всего сделать, используя алгоритм БПФ. Если число членов в последовательностях достаточно велико, данный метод дает результат быстрее, чем непосредственный расчет взаимной корреляции.</a:t>
            </a:r>
          </a:p>
        </p:txBody>
      </p:sp>
      <p:sp>
        <p:nvSpPr>
          <p:cNvPr id="5427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427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5301"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12" name="Text Box 15"/>
          <p:cNvSpPr txBox="1">
            <a:spLocks noChangeArrowheads="1"/>
          </p:cNvSpPr>
          <p:nvPr/>
        </p:nvSpPr>
        <p:spPr bwMode="auto">
          <a:xfrm>
            <a:off x="857250" y="6400801"/>
            <a:ext cx="8286750" cy="424732"/>
          </a:xfrm>
          <a:prstGeom prst="rect">
            <a:avLst/>
          </a:prstGeom>
          <a:noFill/>
          <a:ln w="9525">
            <a:noFill/>
            <a:miter lim="800000"/>
            <a:headEnd/>
            <a:tailEnd/>
          </a:ln>
        </p:spPr>
        <p:txBody>
          <a:bodyPr wrap="square">
            <a:spAutoFit/>
          </a:bodyPr>
          <a:lstStyle/>
          <a:p>
            <a:pPr algn="ctr">
              <a:lnSpc>
                <a:spcPct val="90000"/>
              </a:lnSpc>
            </a:pPr>
            <a:r>
              <a:rPr lang="ru-RU" dirty="0"/>
              <a:t>Лекция </a:t>
            </a:r>
            <a:r>
              <a:rPr lang="en-US" dirty="0"/>
              <a:t>1</a:t>
            </a:r>
            <a:r>
              <a:rPr lang="ru-RU" dirty="0"/>
              <a:t>1. Вычисление АКФ и ВКФ и их применение</a:t>
            </a:r>
            <a:endParaRPr lang="ru-RU" i="1" dirty="0"/>
          </a:p>
        </p:txBody>
      </p:sp>
      <p:pic>
        <p:nvPicPr>
          <p:cNvPr id="61443" name="Picture 3"/>
          <p:cNvPicPr>
            <a:picLocks noChangeAspect="1" noChangeArrowheads="1"/>
          </p:cNvPicPr>
          <p:nvPr/>
        </p:nvPicPr>
        <p:blipFill>
          <a:blip r:embed="rId2" cstate="print"/>
          <a:srcRect/>
          <a:stretch>
            <a:fillRect/>
          </a:stretch>
        </p:blipFill>
        <p:spPr bwMode="auto">
          <a:xfrm>
            <a:off x="107504" y="2079088"/>
            <a:ext cx="8916976" cy="2286016"/>
          </a:xfrm>
          <a:prstGeom prst="rect">
            <a:avLst/>
          </a:prstGeom>
          <a:noFill/>
          <a:ln w="9525">
            <a:noFill/>
            <a:miter lim="800000"/>
            <a:headEnd/>
            <a:tailEnd/>
          </a:ln>
          <a:effectLst/>
        </p:spPr>
      </p:pic>
      <p:sp>
        <p:nvSpPr>
          <p:cNvPr id="61445"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61449" name="Rectangle 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descr="Large confetti"/>
          <p:cNvSpPr>
            <a:spLocks noChangeArrowheads="1"/>
          </p:cNvSpPr>
          <p:nvPr/>
        </p:nvSpPr>
        <p:spPr bwMode="auto">
          <a:xfrm>
            <a:off x="0" y="228600"/>
            <a:ext cx="9144000" cy="630238"/>
          </a:xfrm>
          <a:prstGeom prst="rect">
            <a:avLst/>
          </a:prstGeom>
          <a:noFill/>
          <a:ln w="9525">
            <a:noFill/>
            <a:miter lim="800000"/>
            <a:headEnd/>
            <a:tailEnd/>
          </a:ln>
        </p:spPr>
        <p:txBody>
          <a:bodyPr anchor="b"/>
          <a:lstStyle/>
          <a:p>
            <a:r>
              <a:rPr lang="ru-RU" sz="2800" b="1"/>
              <a:t>Методы и средства цифровой обработки информации</a:t>
            </a:r>
          </a:p>
        </p:txBody>
      </p:sp>
      <p:sp>
        <p:nvSpPr>
          <p:cNvPr id="9219" name="Rectangle 7"/>
          <p:cNvSpPr>
            <a:spLocks noChangeArrowheads="1"/>
          </p:cNvSpPr>
          <p:nvPr/>
        </p:nvSpPr>
        <p:spPr bwMode="auto">
          <a:xfrm>
            <a:off x="2971800" y="1657350"/>
            <a:ext cx="9144000" cy="0"/>
          </a:xfrm>
          <a:prstGeom prst="rect">
            <a:avLst/>
          </a:prstGeom>
          <a:noFill/>
          <a:ln w="9525">
            <a:noFill/>
            <a:miter lim="800000"/>
            <a:headEnd/>
            <a:tailEnd/>
          </a:ln>
        </p:spPr>
        <p:txBody>
          <a:bodyPr>
            <a:spAutoFit/>
          </a:bodyPr>
          <a:lstStyle/>
          <a:p>
            <a:endParaRPr lang="ru-RU"/>
          </a:p>
        </p:txBody>
      </p:sp>
      <p:sp>
        <p:nvSpPr>
          <p:cNvPr id="9220" name="Rectangle 9"/>
          <p:cNvSpPr>
            <a:spLocks noChangeArrowheads="1"/>
          </p:cNvSpPr>
          <p:nvPr/>
        </p:nvSpPr>
        <p:spPr bwMode="auto">
          <a:xfrm>
            <a:off x="2852738" y="3309938"/>
            <a:ext cx="9144000" cy="0"/>
          </a:xfrm>
          <a:prstGeom prst="rect">
            <a:avLst/>
          </a:prstGeom>
          <a:noFill/>
          <a:ln w="9525">
            <a:noFill/>
            <a:miter lim="800000"/>
            <a:headEnd/>
            <a:tailEnd/>
          </a:ln>
        </p:spPr>
        <p:txBody>
          <a:bodyPr>
            <a:spAutoFit/>
          </a:bodyPr>
          <a:lstStyle/>
          <a:p>
            <a:endParaRPr lang="ru-RU"/>
          </a:p>
        </p:txBody>
      </p:sp>
      <p:sp>
        <p:nvSpPr>
          <p:cNvPr id="9221" name="Rectangle 10"/>
          <p:cNvSpPr>
            <a:spLocks noChangeArrowheads="1"/>
          </p:cNvSpPr>
          <p:nvPr/>
        </p:nvSpPr>
        <p:spPr bwMode="auto">
          <a:xfrm>
            <a:off x="0" y="928670"/>
            <a:ext cx="9144000" cy="4967514"/>
          </a:xfrm>
          <a:prstGeom prst="rect">
            <a:avLst/>
          </a:prstGeom>
          <a:noFill/>
          <a:ln w="9525">
            <a:noFill/>
            <a:miter lim="800000"/>
            <a:headEnd/>
            <a:tailEnd/>
          </a:ln>
        </p:spPr>
        <p:txBody>
          <a:bodyPr>
            <a:spAutoFit/>
          </a:bodyPr>
          <a:lstStyle/>
          <a:p>
            <a:pPr algn="ctr">
              <a:lnSpc>
                <a:spcPct val="90000"/>
              </a:lnSpc>
            </a:pPr>
            <a:r>
              <a:rPr lang="ru-RU" sz="3200" b="1" dirty="0"/>
              <a:t>Связь корреляционных функций и ДПФ. Быстрая корреляция.</a:t>
            </a:r>
          </a:p>
          <a:p>
            <a:pPr algn="just">
              <a:lnSpc>
                <a:spcPct val="90000"/>
              </a:lnSpc>
            </a:pPr>
            <a:r>
              <a:rPr lang="ru-RU" sz="3200" dirty="0"/>
              <a:t>Чем уже , тем шире спектр. Если два сигнала имеют общие частотные компоненты, преобразование Фурье от ВКФ демонстрирует общие компоненты.</a:t>
            </a:r>
          </a:p>
          <a:p>
            <a:pPr algn="just">
              <a:lnSpc>
                <a:spcPct val="90000"/>
              </a:lnSpc>
            </a:pPr>
            <a:r>
              <a:rPr lang="ru-RU" sz="3200" dirty="0"/>
              <a:t>Корреляционный анализ представляет во временной области ту же информацию, что спектральный –  в частотной. Выбор зависит от того, в какой области более естественно отображать информацию для данного приложения.</a:t>
            </a:r>
          </a:p>
        </p:txBody>
      </p:sp>
      <p:sp>
        <p:nvSpPr>
          <p:cNvPr id="5427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427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5301"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12" name="Text Box 15"/>
          <p:cNvSpPr txBox="1">
            <a:spLocks noChangeArrowheads="1"/>
          </p:cNvSpPr>
          <p:nvPr/>
        </p:nvSpPr>
        <p:spPr bwMode="auto">
          <a:xfrm>
            <a:off x="857250" y="6400801"/>
            <a:ext cx="8286750" cy="424732"/>
          </a:xfrm>
          <a:prstGeom prst="rect">
            <a:avLst/>
          </a:prstGeom>
          <a:noFill/>
          <a:ln w="9525">
            <a:noFill/>
            <a:miter lim="800000"/>
            <a:headEnd/>
            <a:tailEnd/>
          </a:ln>
        </p:spPr>
        <p:txBody>
          <a:bodyPr wrap="square">
            <a:spAutoFit/>
          </a:bodyPr>
          <a:lstStyle/>
          <a:p>
            <a:pPr algn="ctr">
              <a:lnSpc>
                <a:spcPct val="90000"/>
              </a:lnSpc>
            </a:pPr>
            <a:r>
              <a:rPr lang="ru-RU" dirty="0"/>
              <a:t>Лекция </a:t>
            </a:r>
            <a:r>
              <a:rPr lang="en-US" dirty="0"/>
              <a:t>1</a:t>
            </a:r>
            <a:r>
              <a:rPr lang="ru-RU" dirty="0"/>
              <a:t>1. Вычисление АКФ и ВКФ и их применение</a:t>
            </a:r>
            <a:endParaRPr lang="ru-RU" i="1" dirty="0"/>
          </a:p>
        </p:txBody>
      </p:sp>
      <p:sp>
        <p:nvSpPr>
          <p:cNvPr id="61445"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61449" name="Rectangle 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Tree>
    <p:extLst>
      <p:ext uri="{BB962C8B-B14F-4D97-AF65-F5344CB8AC3E}">
        <p14:creationId xmlns:p14="http://schemas.microsoft.com/office/powerpoint/2010/main" val="1558437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descr="Large confetti"/>
          <p:cNvSpPr>
            <a:spLocks noChangeArrowheads="1"/>
          </p:cNvSpPr>
          <p:nvPr/>
        </p:nvSpPr>
        <p:spPr bwMode="auto">
          <a:xfrm>
            <a:off x="0" y="228600"/>
            <a:ext cx="9144000" cy="630238"/>
          </a:xfrm>
          <a:prstGeom prst="rect">
            <a:avLst/>
          </a:prstGeom>
          <a:noFill/>
          <a:ln w="9525">
            <a:noFill/>
            <a:miter lim="800000"/>
            <a:headEnd/>
            <a:tailEnd/>
          </a:ln>
        </p:spPr>
        <p:txBody>
          <a:bodyPr anchor="b"/>
          <a:lstStyle/>
          <a:p>
            <a:r>
              <a:rPr lang="ru-RU" sz="2800" b="1"/>
              <a:t>Методы и средства цифровой обработки информации</a:t>
            </a:r>
          </a:p>
        </p:txBody>
      </p:sp>
      <p:sp>
        <p:nvSpPr>
          <p:cNvPr id="9219" name="Rectangle 7"/>
          <p:cNvSpPr>
            <a:spLocks noChangeArrowheads="1"/>
          </p:cNvSpPr>
          <p:nvPr/>
        </p:nvSpPr>
        <p:spPr bwMode="auto">
          <a:xfrm>
            <a:off x="2971800" y="1657350"/>
            <a:ext cx="9144000" cy="0"/>
          </a:xfrm>
          <a:prstGeom prst="rect">
            <a:avLst/>
          </a:prstGeom>
          <a:noFill/>
          <a:ln w="9525">
            <a:noFill/>
            <a:miter lim="800000"/>
            <a:headEnd/>
            <a:tailEnd/>
          </a:ln>
        </p:spPr>
        <p:txBody>
          <a:bodyPr>
            <a:spAutoFit/>
          </a:bodyPr>
          <a:lstStyle/>
          <a:p>
            <a:endParaRPr lang="ru-RU"/>
          </a:p>
        </p:txBody>
      </p:sp>
      <p:sp>
        <p:nvSpPr>
          <p:cNvPr id="9220" name="Rectangle 9"/>
          <p:cNvSpPr>
            <a:spLocks noChangeArrowheads="1"/>
          </p:cNvSpPr>
          <p:nvPr/>
        </p:nvSpPr>
        <p:spPr bwMode="auto">
          <a:xfrm>
            <a:off x="2852738" y="3309938"/>
            <a:ext cx="9144000" cy="0"/>
          </a:xfrm>
          <a:prstGeom prst="rect">
            <a:avLst/>
          </a:prstGeom>
          <a:noFill/>
          <a:ln w="9525">
            <a:noFill/>
            <a:miter lim="800000"/>
            <a:headEnd/>
            <a:tailEnd/>
          </a:ln>
        </p:spPr>
        <p:txBody>
          <a:bodyPr>
            <a:spAutoFit/>
          </a:bodyPr>
          <a:lstStyle/>
          <a:p>
            <a:endParaRPr lang="ru-RU"/>
          </a:p>
        </p:txBody>
      </p:sp>
      <p:sp>
        <p:nvSpPr>
          <p:cNvPr id="9221" name="Rectangle 10"/>
          <p:cNvSpPr>
            <a:spLocks noChangeArrowheads="1"/>
          </p:cNvSpPr>
          <p:nvPr/>
        </p:nvSpPr>
        <p:spPr bwMode="auto">
          <a:xfrm>
            <a:off x="0" y="928670"/>
            <a:ext cx="9144000" cy="6186309"/>
          </a:xfrm>
          <a:prstGeom prst="rect">
            <a:avLst/>
          </a:prstGeom>
          <a:noFill/>
          <a:ln w="9525">
            <a:noFill/>
            <a:miter lim="800000"/>
            <a:headEnd/>
            <a:tailEnd/>
          </a:ln>
        </p:spPr>
        <p:txBody>
          <a:bodyPr>
            <a:spAutoFit/>
          </a:bodyPr>
          <a:lstStyle/>
          <a:p>
            <a:pPr indent="457200" algn="ctr"/>
            <a:r>
              <a:rPr lang="ru-RU" sz="3200" b="1" dirty="0"/>
              <a:t>Применение корреляции</a:t>
            </a:r>
          </a:p>
          <a:p>
            <a:r>
              <a:rPr lang="ru-RU" sz="2800" dirty="0"/>
              <a:t>Вычисление корреляции используется в случаях, когда необходимо определить степень независимости одного процесса от другого или установить сходство одного набора данных с другим. Соответствующий математический аппарат нашел применение:</a:t>
            </a:r>
          </a:p>
          <a:p>
            <a:pPr marL="457200" lvl="0" indent="-457200">
              <a:buFont typeface="Times New Roman" panose="02020603050405020304" pitchFamily="18" charset="0"/>
              <a:buChar char="‒"/>
            </a:pPr>
            <a:r>
              <a:rPr lang="ru-RU" sz="2800" dirty="0"/>
              <a:t>в обработке изображений в сфере компьютерного зрения или дистанционного зондирования со спутников, в которых  сравниваются данные с различных изображений;</a:t>
            </a:r>
          </a:p>
          <a:p>
            <a:pPr marL="457200" lvl="0" indent="-457200">
              <a:buFont typeface="Times New Roman" panose="02020603050405020304" pitchFamily="18" charset="0"/>
              <a:buChar char="‒"/>
            </a:pPr>
            <a:r>
              <a:rPr lang="ru-RU" sz="2800" dirty="0"/>
              <a:t>в радарных и гидроакустических установках для </a:t>
            </a:r>
            <a:r>
              <a:rPr lang="ru-RU" sz="2800" dirty="0" err="1"/>
              <a:t>дальнометрии</a:t>
            </a:r>
            <a:r>
              <a:rPr lang="ru-RU" sz="2800" dirty="0"/>
              <a:t> и </a:t>
            </a:r>
            <a:r>
              <a:rPr lang="ru-RU" sz="2800" dirty="0" err="1"/>
              <a:t>местоопределения</a:t>
            </a:r>
            <a:r>
              <a:rPr lang="ru-RU" sz="2800" dirty="0"/>
              <a:t> (пеленгации), в которых сравниваются переданные и отраженные сигналы;</a:t>
            </a:r>
          </a:p>
        </p:txBody>
      </p:sp>
      <p:sp>
        <p:nvSpPr>
          <p:cNvPr id="5427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427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5301"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12" name="Text Box 15"/>
          <p:cNvSpPr txBox="1">
            <a:spLocks noChangeArrowheads="1"/>
          </p:cNvSpPr>
          <p:nvPr/>
        </p:nvSpPr>
        <p:spPr bwMode="auto">
          <a:xfrm>
            <a:off x="857250" y="6400801"/>
            <a:ext cx="8286750" cy="424732"/>
          </a:xfrm>
          <a:prstGeom prst="rect">
            <a:avLst/>
          </a:prstGeom>
          <a:noFill/>
          <a:ln w="9525">
            <a:noFill/>
            <a:miter lim="800000"/>
            <a:headEnd/>
            <a:tailEnd/>
          </a:ln>
        </p:spPr>
        <p:txBody>
          <a:bodyPr wrap="square">
            <a:spAutoFit/>
          </a:bodyPr>
          <a:lstStyle/>
          <a:p>
            <a:pPr algn="ctr">
              <a:lnSpc>
                <a:spcPct val="90000"/>
              </a:lnSpc>
            </a:pPr>
            <a:r>
              <a:rPr lang="ru-RU" dirty="0"/>
              <a:t>Лекция </a:t>
            </a:r>
            <a:r>
              <a:rPr lang="en-US" dirty="0"/>
              <a:t>1</a:t>
            </a:r>
            <a:r>
              <a:rPr lang="ru-RU" dirty="0"/>
              <a:t>1. Вычисление АКФ и ВКФ и их применение</a:t>
            </a:r>
            <a:endParaRPr lang="ru-RU" i="1"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descr="Large confetti"/>
          <p:cNvSpPr>
            <a:spLocks noChangeArrowheads="1"/>
          </p:cNvSpPr>
          <p:nvPr/>
        </p:nvSpPr>
        <p:spPr bwMode="auto">
          <a:xfrm>
            <a:off x="0" y="228600"/>
            <a:ext cx="9144000" cy="630238"/>
          </a:xfrm>
          <a:prstGeom prst="rect">
            <a:avLst/>
          </a:prstGeom>
          <a:noFill/>
          <a:ln w="9525">
            <a:noFill/>
            <a:miter lim="800000"/>
            <a:headEnd/>
            <a:tailEnd/>
          </a:ln>
        </p:spPr>
        <p:txBody>
          <a:bodyPr anchor="b"/>
          <a:lstStyle/>
          <a:p>
            <a:r>
              <a:rPr lang="ru-RU" sz="2800" b="1"/>
              <a:t>Методы и средства цифровой обработки информации</a:t>
            </a:r>
          </a:p>
        </p:txBody>
      </p:sp>
      <p:sp>
        <p:nvSpPr>
          <p:cNvPr id="9219" name="Rectangle 7"/>
          <p:cNvSpPr>
            <a:spLocks noChangeArrowheads="1"/>
          </p:cNvSpPr>
          <p:nvPr/>
        </p:nvSpPr>
        <p:spPr bwMode="auto">
          <a:xfrm>
            <a:off x="2971800" y="1657350"/>
            <a:ext cx="9144000" cy="0"/>
          </a:xfrm>
          <a:prstGeom prst="rect">
            <a:avLst/>
          </a:prstGeom>
          <a:noFill/>
          <a:ln w="9525">
            <a:noFill/>
            <a:miter lim="800000"/>
            <a:headEnd/>
            <a:tailEnd/>
          </a:ln>
        </p:spPr>
        <p:txBody>
          <a:bodyPr>
            <a:spAutoFit/>
          </a:bodyPr>
          <a:lstStyle/>
          <a:p>
            <a:endParaRPr lang="ru-RU"/>
          </a:p>
        </p:txBody>
      </p:sp>
      <p:sp>
        <p:nvSpPr>
          <p:cNvPr id="9220" name="Rectangle 9"/>
          <p:cNvSpPr>
            <a:spLocks noChangeArrowheads="1"/>
          </p:cNvSpPr>
          <p:nvPr/>
        </p:nvSpPr>
        <p:spPr bwMode="auto">
          <a:xfrm>
            <a:off x="2852738" y="3309938"/>
            <a:ext cx="9144000" cy="0"/>
          </a:xfrm>
          <a:prstGeom prst="rect">
            <a:avLst/>
          </a:prstGeom>
          <a:noFill/>
          <a:ln w="9525">
            <a:noFill/>
            <a:miter lim="800000"/>
            <a:headEnd/>
            <a:tailEnd/>
          </a:ln>
        </p:spPr>
        <p:txBody>
          <a:bodyPr>
            <a:spAutoFit/>
          </a:bodyPr>
          <a:lstStyle/>
          <a:p>
            <a:endParaRPr lang="ru-RU"/>
          </a:p>
        </p:txBody>
      </p:sp>
      <p:sp>
        <p:nvSpPr>
          <p:cNvPr id="9221" name="Rectangle 10"/>
          <p:cNvSpPr>
            <a:spLocks noChangeArrowheads="1"/>
          </p:cNvSpPr>
          <p:nvPr/>
        </p:nvSpPr>
        <p:spPr bwMode="auto">
          <a:xfrm>
            <a:off x="0" y="928670"/>
            <a:ext cx="9144000" cy="5755422"/>
          </a:xfrm>
          <a:prstGeom prst="rect">
            <a:avLst/>
          </a:prstGeom>
          <a:noFill/>
          <a:ln w="9525">
            <a:noFill/>
            <a:miter lim="800000"/>
            <a:headEnd/>
            <a:tailEnd/>
          </a:ln>
        </p:spPr>
        <p:txBody>
          <a:bodyPr>
            <a:spAutoFit/>
          </a:bodyPr>
          <a:lstStyle/>
          <a:p>
            <a:pPr indent="457200" algn="ctr"/>
            <a:r>
              <a:rPr lang="ru-RU" sz="3200" b="1" dirty="0"/>
              <a:t>Применение корреляции</a:t>
            </a:r>
          </a:p>
          <a:p>
            <a:pPr marL="457200" lvl="0" indent="-457200">
              <a:buFont typeface="Times New Roman" panose="02020603050405020304" pitchFamily="18" charset="0"/>
              <a:buChar char="‒"/>
            </a:pPr>
            <a:r>
              <a:rPr lang="ru-RU" sz="2800" dirty="0"/>
              <a:t>в детектировании и идентификации сигналов в шуме;</a:t>
            </a:r>
          </a:p>
          <a:p>
            <a:pPr marL="457200" lvl="0" indent="-457200">
              <a:buFont typeface="Times New Roman" panose="02020603050405020304" pitchFamily="18" charset="0"/>
              <a:buChar char="‒"/>
            </a:pPr>
            <a:r>
              <a:rPr lang="ru-RU" sz="2800" dirty="0"/>
              <a:t>в организации технического контроля для наблюдения за влиянием входа на выход;</a:t>
            </a:r>
          </a:p>
          <a:p>
            <a:pPr marL="457200" lvl="0" indent="-457200">
              <a:buFont typeface="Times New Roman" panose="02020603050405020304" pitchFamily="18" charset="0"/>
              <a:buChar char="‒"/>
            </a:pPr>
            <a:r>
              <a:rPr lang="ru-RU" sz="2800" dirty="0"/>
              <a:t>в идентификации систем – определении импульсной характеристики неизвестной системы;</a:t>
            </a:r>
          </a:p>
          <a:p>
            <a:pPr marL="457200" lvl="0" indent="-457200">
              <a:buFont typeface="Times New Roman" panose="02020603050405020304" pitchFamily="18" charset="0"/>
              <a:buChar char="‒"/>
            </a:pPr>
            <a:r>
              <a:rPr lang="ru-RU" sz="2800" dirty="0"/>
              <a:t>в </a:t>
            </a:r>
            <a:r>
              <a:rPr lang="ru-RU" sz="2800" dirty="0" err="1"/>
              <a:t>виброанализе</a:t>
            </a:r>
            <a:r>
              <a:rPr lang="ru-RU" sz="2800" dirty="0"/>
              <a:t> и определении нарушений в структуре без разрушения;</a:t>
            </a:r>
          </a:p>
          <a:p>
            <a:pPr marL="457200" lvl="0" indent="-457200">
              <a:buFont typeface="Times New Roman" panose="02020603050405020304" pitchFamily="18" charset="0"/>
              <a:buChar char="‒"/>
            </a:pPr>
            <a:r>
              <a:rPr lang="ru-RU" sz="2800" dirty="0"/>
              <a:t>в анализе линий связи и определение потоков;</a:t>
            </a:r>
          </a:p>
          <a:p>
            <a:pPr marL="457200" lvl="0" indent="-457200">
              <a:buFont typeface="Times New Roman" panose="02020603050405020304" pitchFamily="18" charset="0"/>
              <a:buChar char="‒"/>
            </a:pPr>
            <a:r>
              <a:rPr lang="ru-RU" sz="2800" dirty="0"/>
              <a:t>в нейрофизиологии;</a:t>
            </a:r>
          </a:p>
          <a:p>
            <a:pPr marL="457200" lvl="0" indent="-457200">
              <a:buFont typeface="Times New Roman" panose="02020603050405020304" pitchFamily="18" charset="0"/>
              <a:buChar char="‒"/>
            </a:pPr>
            <a:r>
              <a:rPr lang="ru-RU" sz="2800" dirty="0"/>
              <a:t>в анализе пульса в медицине;</a:t>
            </a:r>
          </a:p>
          <a:p>
            <a:pPr marL="457200" lvl="0" indent="-457200">
              <a:buFont typeface="Times New Roman" panose="02020603050405020304" pitchFamily="18" charset="0"/>
              <a:buChar char="‒"/>
            </a:pPr>
            <a:r>
              <a:rPr lang="ru-RU" sz="2800" dirty="0"/>
              <a:t>в сейсмических поисках нефти;</a:t>
            </a:r>
          </a:p>
          <a:p>
            <a:pPr marL="457200" lvl="0" indent="-457200">
              <a:buFont typeface="Times New Roman" panose="02020603050405020304" pitchFamily="18" charset="0"/>
              <a:buChar char="‒"/>
            </a:pPr>
            <a:r>
              <a:rPr lang="ru-RU" sz="2800" dirty="0"/>
              <a:t>в акустическом поглощении и усилении;</a:t>
            </a:r>
          </a:p>
        </p:txBody>
      </p:sp>
      <p:sp>
        <p:nvSpPr>
          <p:cNvPr id="5427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427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5301"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12" name="Text Box 15"/>
          <p:cNvSpPr txBox="1">
            <a:spLocks noChangeArrowheads="1"/>
          </p:cNvSpPr>
          <p:nvPr/>
        </p:nvSpPr>
        <p:spPr bwMode="auto">
          <a:xfrm>
            <a:off x="857250" y="6400801"/>
            <a:ext cx="8286750" cy="424732"/>
          </a:xfrm>
          <a:prstGeom prst="rect">
            <a:avLst/>
          </a:prstGeom>
          <a:noFill/>
          <a:ln w="9525">
            <a:noFill/>
            <a:miter lim="800000"/>
            <a:headEnd/>
            <a:tailEnd/>
          </a:ln>
        </p:spPr>
        <p:txBody>
          <a:bodyPr wrap="square">
            <a:spAutoFit/>
          </a:bodyPr>
          <a:lstStyle/>
          <a:p>
            <a:pPr algn="ctr">
              <a:lnSpc>
                <a:spcPct val="90000"/>
              </a:lnSpc>
            </a:pPr>
            <a:r>
              <a:rPr lang="ru-RU" dirty="0"/>
              <a:t>Лекция </a:t>
            </a:r>
            <a:r>
              <a:rPr lang="en-US" dirty="0"/>
              <a:t>1</a:t>
            </a:r>
            <a:r>
              <a:rPr lang="ru-RU" dirty="0"/>
              <a:t>1. Вычисление АКФ и ВКФ и их применение</a:t>
            </a:r>
            <a:endParaRPr lang="ru-RU" i="1" dirty="0"/>
          </a:p>
        </p:txBody>
      </p:sp>
    </p:spTree>
    <p:extLst>
      <p:ext uri="{BB962C8B-B14F-4D97-AF65-F5344CB8AC3E}">
        <p14:creationId xmlns:p14="http://schemas.microsoft.com/office/powerpoint/2010/main" val="2521759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descr="Large confetti"/>
          <p:cNvSpPr>
            <a:spLocks noChangeArrowheads="1"/>
          </p:cNvSpPr>
          <p:nvPr/>
        </p:nvSpPr>
        <p:spPr bwMode="auto">
          <a:xfrm>
            <a:off x="0" y="228600"/>
            <a:ext cx="9144000" cy="630238"/>
          </a:xfrm>
          <a:prstGeom prst="rect">
            <a:avLst/>
          </a:prstGeom>
          <a:noFill/>
          <a:ln w="9525">
            <a:noFill/>
            <a:miter lim="800000"/>
            <a:headEnd/>
            <a:tailEnd/>
          </a:ln>
        </p:spPr>
        <p:txBody>
          <a:bodyPr anchor="b"/>
          <a:lstStyle/>
          <a:p>
            <a:r>
              <a:rPr lang="ru-RU" sz="2800" b="1"/>
              <a:t>Методы и средства цифровой обработки информации</a:t>
            </a:r>
          </a:p>
        </p:txBody>
      </p:sp>
      <p:sp>
        <p:nvSpPr>
          <p:cNvPr id="9219" name="Rectangle 7"/>
          <p:cNvSpPr>
            <a:spLocks noChangeArrowheads="1"/>
          </p:cNvSpPr>
          <p:nvPr/>
        </p:nvSpPr>
        <p:spPr bwMode="auto">
          <a:xfrm>
            <a:off x="2971800" y="1657350"/>
            <a:ext cx="9144000" cy="0"/>
          </a:xfrm>
          <a:prstGeom prst="rect">
            <a:avLst/>
          </a:prstGeom>
          <a:noFill/>
          <a:ln w="9525">
            <a:noFill/>
            <a:miter lim="800000"/>
            <a:headEnd/>
            <a:tailEnd/>
          </a:ln>
        </p:spPr>
        <p:txBody>
          <a:bodyPr>
            <a:spAutoFit/>
          </a:bodyPr>
          <a:lstStyle/>
          <a:p>
            <a:endParaRPr lang="ru-RU"/>
          </a:p>
        </p:txBody>
      </p:sp>
      <p:sp>
        <p:nvSpPr>
          <p:cNvPr id="9220" name="Rectangle 9"/>
          <p:cNvSpPr>
            <a:spLocks noChangeArrowheads="1"/>
          </p:cNvSpPr>
          <p:nvPr/>
        </p:nvSpPr>
        <p:spPr bwMode="auto">
          <a:xfrm>
            <a:off x="2852738" y="3309938"/>
            <a:ext cx="9144000" cy="0"/>
          </a:xfrm>
          <a:prstGeom prst="rect">
            <a:avLst/>
          </a:prstGeom>
          <a:noFill/>
          <a:ln w="9525">
            <a:noFill/>
            <a:miter lim="800000"/>
            <a:headEnd/>
            <a:tailEnd/>
          </a:ln>
        </p:spPr>
        <p:txBody>
          <a:bodyPr>
            <a:spAutoFit/>
          </a:bodyPr>
          <a:lstStyle/>
          <a:p>
            <a:endParaRPr lang="ru-RU"/>
          </a:p>
        </p:txBody>
      </p:sp>
      <p:sp>
        <p:nvSpPr>
          <p:cNvPr id="9221" name="Rectangle 10"/>
          <p:cNvSpPr>
            <a:spLocks noChangeArrowheads="1"/>
          </p:cNvSpPr>
          <p:nvPr/>
        </p:nvSpPr>
        <p:spPr bwMode="auto">
          <a:xfrm>
            <a:off x="0" y="928670"/>
            <a:ext cx="9144000" cy="4031873"/>
          </a:xfrm>
          <a:prstGeom prst="rect">
            <a:avLst/>
          </a:prstGeom>
          <a:noFill/>
          <a:ln w="9525">
            <a:noFill/>
            <a:miter lim="800000"/>
            <a:headEnd/>
            <a:tailEnd/>
          </a:ln>
        </p:spPr>
        <p:txBody>
          <a:bodyPr>
            <a:spAutoFit/>
          </a:bodyPr>
          <a:lstStyle/>
          <a:p>
            <a:pPr indent="457200" algn="ctr"/>
            <a:r>
              <a:rPr lang="ru-RU" sz="3200" b="1" dirty="0"/>
              <a:t>Применение корреляции</a:t>
            </a:r>
          </a:p>
          <a:p>
            <a:pPr marL="457200" lvl="0" indent="-457200">
              <a:buFont typeface="Times New Roman" panose="02020603050405020304" pitchFamily="18" charset="0"/>
              <a:buChar char="‒"/>
            </a:pPr>
            <a:r>
              <a:rPr lang="ru-RU" sz="2800" dirty="0"/>
              <a:t>в определении и предотвращении шума;</a:t>
            </a:r>
          </a:p>
          <a:p>
            <a:pPr marL="457200" lvl="0" indent="-457200">
              <a:buFont typeface="Times New Roman" panose="02020603050405020304" pitchFamily="18" charset="0"/>
              <a:buChar char="‒"/>
            </a:pPr>
            <a:r>
              <a:rPr lang="ru-RU" sz="2800" dirty="0"/>
              <a:t>в радиоастрономии;</a:t>
            </a:r>
          </a:p>
          <a:p>
            <a:pPr marL="457200" lvl="0" indent="-457200">
              <a:buFont typeface="Times New Roman" panose="02020603050405020304" pitchFamily="18" charset="0"/>
              <a:buChar char="‒"/>
            </a:pPr>
            <a:r>
              <a:rPr lang="ru-RU" sz="2800" dirty="0"/>
              <a:t>в моделировании звуковых путей и распознавании речи;</a:t>
            </a:r>
          </a:p>
          <a:p>
            <a:pPr marL="457200" lvl="0" indent="-457200">
              <a:buFont typeface="Times New Roman" panose="02020603050405020304" pitchFamily="18" charset="0"/>
              <a:buChar char="‒"/>
            </a:pPr>
            <a:r>
              <a:rPr lang="ru-RU" sz="2800" dirty="0"/>
              <a:t>в корреляционных методах в химии и физике;</a:t>
            </a:r>
          </a:p>
          <a:p>
            <a:pPr marL="457200" lvl="0" indent="-457200">
              <a:buFont typeface="Times New Roman" panose="02020603050405020304" pitchFamily="18" charset="0"/>
              <a:buChar char="‒"/>
            </a:pPr>
            <a:r>
              <a:rPr lang="ru-RU" sz="2800" dirty="0"/>
              <a:t>в определении ошибок и их исправлении в </a:t>
            </a:r>
            <a:r>
              <a:rPr lang="ru-RU" sz="2800" dirty="0" err="1"/>
              <a:t>аудиомире</a:t>
            </a:r>
            <a:r>
              <a:rPr lang="ru-RU" sz="2800" dirty="0"/>
              <a:t>;</a:t>
            </a:r>
          </a:p>
          <a:p>
            <a:pPr marL="457200" lvl="0" indent="-457200">
              <a:buFont typeface="Times New Roman" panose="02020603050405020304" pitchFamily="18" charset="0"/>
              <a:buChar char="‒"/>
            </a:pPr>
            <a:r>
              <a:rPr lang="ru-RU" sz="2800" dirty="0"/>
              <a:t>в понижении шумов и ошибок в цифровых системах связи.</a:t>
            </a:r>
          </a:p>
        </p:txBody>
      </p:sp>
      <p:sp>
        <p:nvSpPr>
          <p:cNvPr id="5427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427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5301"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12" name="Text Box 15"/>
          <p:cNvSpPr txBox="1">
            <a:spLocks noChangeArrowheads="1"/>
          </p:cNvSpPr>
          <p:nvPr/>
        </p:nvSpPr>
        <p:spPr bwMode="auto">
          <a:xfrm>
            <a:off x="857250" y="6400801"/>
            <a:ext cx="8286750" cy="424732"/>
          </a:xfrm>
          <a:prstGeom prst="rect">
            <a:avLst/>
          </a:prstGeom>
          <a:noFill/>
          <a:ln w="9525">
            <a:noFill/>
            <a:miter lim="800000"/>
            <a:headEnd/>
            <a:tailEnd/>
          </a:ln>
        </p:spPr>
        <p:txBody>
          <a:bodyPr wrap="square">
            <a:spAutoFit/>
          </a:bodyPr>
          <a:lstStyle/>
          <a:p>
            <a:pPr algn="ctr">
              <a:lnSpc>
                <a:spcPct val="90000"/>
              </a:lnSpc>
            </a:pPr>
            <a:r>
              <a:rPr lang="ru-RU" dirty="0"/>
              <a:t>Лекция </a:t>
            </a:r>
            <a:r>
              <a:rPr lang="en-US" dirty="0"/>
              <a:t>1</a:t>
            </a:r>
            <a:r>
              <a:rPr lang="ru-RU" dirty="0"/>
              <a:t>1. Вычисление АКФ и ВКФ и их применение</a:t>
            </a:r>
            <a:endParaRPr lang="ru-RU" i="1" dirty="0"/>
          </a:p>
        </p:txBody>
      </p:sp>
    </p:spTree>
    <p:extLst>
      <p:ext uri="{BB962C8B-B14F-4D97-AF65-F5344CB8AC3E}">
        <p14:creationId xmlns:p14="http://schemas.microsoft.com/office/powerpoint/2010/main" val="181760035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descr="Large confetti"/>
          <p:cNvSpPr>
            <a:spLocks noChangeArrowheads="1"/>
          </p:cNvSpPr>
          <p:nvPr/>
        </p:nvSpPr>
        <p:spPr bwMode="auto">
          <a:xfrm>
            <a:off x="0" y="228600"/>
            <a:ext cx="9144000" cy="630238"/>
          </a:xfrm>
          <a:prstGeom prst="rect">
            <a:avLst/>
          </a:prstGeom>
          <a:noFill/>
          <a:ln w="9525">
            <a:noFill/>
            <a:miter lim="800000"/>
            <a:headEnd/>
            <a:tailEnd/>
          </a:ln>
        </p:spPr>
        <p:txBody>
          <a:bodyPr anchor="b"/>
          <a:lstStyle/>
          <a:p>
            <a:r>
              <a:rPr lang="ru-RU" sz="2800" b="1"/>
              <a:t>Методы и средства цифровой обработки информации</a:t>
            </a:r>
          </a:p>
        </p:txBody>
      </p:sp>
      <p:sp>
        <p:nvSpPr>
          <p:cNvPr id="9219" name="Rectangle 7"/>
          <p:cNvSpPr>
            <a:spLocks noChangeArrowheads="1"/>
          </p:cNvSpPr>
          <p:nvPr/>
        </p:nvSpPr>
        <p:spPr bwMode="auto">
          <a:xfrm>
            <a:off x="2971800" y="1657350"/>
            <a:ext cx="9144000" cy="0"/>
          </a:xfrm>
          <a:prstGeom prst="rect">
            <a:avLst/>
          </a:prstGeom>
          <a:noFill/>
          <a:ln w="9525">
            <a:noFill/>
            <a:miter lim="800000"/>
            <a:headEnd/>
            <a:tailEnd/>
          </a:ln>
        </p:spPr>
        <p:txBody>
          <a:bodyPr>
            <a:spAutoFit/>
          </a:bodyPr>
          <a:lstStyle/>
          <a:p>
            <a:endParaRPr lang="ru-RU"/>
          </a:p>
        </p:txBody>
      </p:sp>
      <p:sp>
        <p:nvSpPr>
          <p:cNvPr id="9220" name="Rectangle 9"/>
          <p:cNvSpPr>
            <a:spLocks noChangeArrowheads="1"/>
          </p:cNvSpPr>
          <p:nvPr/>
        </p:nvSpPr>
        <p:spPr bwMode="auto">
          <a:xfrm>
            <a:off x="2852738" y="3309938"/>
            <a:ext cx="9144000" cy="0"/>
          </a:xfrm>
          <a:prstGeom prst="rect">
            <a:avLst/>
          </a:prstGeom>
          <a:noFill/>
          <a:ln w="9525">
            <a:noFill/>
            <a:miter lim="800000"/>
            <a:headEnd/>
            <a:tailEnd/>
          </a:ln>
        </p:spPr>
        <p:txBody>
          <a:bodyPr>
            <a:spAutoFit/>
          </a:bodyPr>
          <a:lstStyle/>
          <a:p>
            <a:endParaRPr lang="ru-RU"/>
          </a:p>
        </p:txBody>
      </p:sp>
      <p:sp>
        <p:nvSpPr>
          <p:cNvPr id="9221" name="Rectangle 10"/>
          <p:cNvSpPr>
            <a:spLocks noChangeArrowheads="1"/>
          </p:cNvSpPr>
          <p:nvPr/>
        </p:nvSpPr>
        <p:spPr bwMode="auto">
          <a:xfrm>
            <a:off x="0" y="928670"/>
            <a:ext cx="4286233" cy="5730800"/>
          </a:xfrm>
          <a:prstGeom prst="rect">
            <a:avLst/>
          </a:prstGeom>
          <a:noFill/>
          <a:ln w="9525">
            <a:noFill/>
            <a:miter lim="800000"/>
            <a:headEnd/>
            <a:tailEnd/>
          </a:ln>
        </p:spPr>
        <p:txBody>
          <a:bodyPr wrap="square">
            <a:spAutoFit/>
          </a:bodyPr>
          <a:lstStyle/>
          <a:p>
            <a:pPr indent="457200" algn="just"/>
            <a:r>
              <a:rPr lang="ru-RU" sz="3200" b="1" dirty="0"/>
              <a:t>Применение </a:t>
            </a:r>
          </a:p>
          <a:p>
            <a:pPr indent="457200" algn="just"/>
            <a:r>
              <a:rPr lang="ru-RU" sz="3200" b="1" dirty="0"/>
              <a:t>корреляции</a:t>
            </a:r>
          </a:p>
          <a:p>
            <a:pPr indent="457200" algn="just">
              <a:lnSpc>
                <a:spcPct val="90000"/>
              </a:lnSpc>
            </a:pPr>
            <a:r>
              <a:rPr lang="ru-RU" sz="2800" dirty="0"/>
              <a:t>Взаимная корреляция помогает определить отдельный сигнал в присутствии помех. Стимулирующий сигнал  </a:t>
            </a:r>
          </a:p>
          <a:p>
            <a:pPr algn="just">
              <a:lnSpc>
                <a:spcPct val="90000"/>
              </a:lnSpc>
            </a:pPr>
            <a:r>
              <a:rPr lang="ru-RU" sz="2800" dirty="0"/>
              <a:t>с особой формой волны (сейсмическая вспышка, импульс радара или очередь тонов сонара) излучаются через определенные интервалы времени. </a:t>
            </a:r>
            <a:endParaRPr lang="ru-RU" sz="2800" b="1" dirty="0"/>
          </a:p>
        </p:txBody>
      </p:sp>
      <p:sp>
        <p:nvSpPr>
          <p:cNvPr id="5427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427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5301"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12" name="Text Box 15"/>
          <p:cNvSpPr txBox="1">
            <a:spLocks noChangeArrowheads="1"/>
          </p:cNvSpPr>
          <p:nvPr/>
        </p:nvSpPr>
        <p:spPr bwMode="auto">
          <a:xfrm>
            <a:off x="857250" y="6400801"/>
            <a:ext cx="8286750" cy="424732"/>
          </a:xfrm>
          <a:prstGeom prst="rect">
            <a:avLst/>
          </a:prstGeom>
          <a:noFill/>
          <a:ln w="9525">
            <a:noFill/>
            <a:miter lim="800000"/>
            <a:headEnd/>
            <a:tailEnd/>
          </a:ln>
        </p:spPr>
        <p:txBody>
          <a:bodyPr wrap="square">
            <a:spAutoFit/>
          </a:bodyPr>
          <a:lstStyle/>
          <a:p>
            <a:pPr algn="ctr">
              <a:lnSpc>
                <a:spcPct val="90000"/>
              </a:lnSpc>
            </a:pPr>
            <a:r>
              <a:rPr lang="ru-RU" dirty="0"/>
              <a:t>Лекция </a:t>
            </a:r>
            <a:r>
              <a:rPr lang="en-US" dirty="0"/>
              <a:t>1</a:t>
            </a:r>
            <a:r>
              <a:rPr lang="ru-RU" dirty="0"/>
              <a:t>1. Вычисление АКФ и ВКФ и их применение</a:t>
            </a:r>
            <a:endParaRPr lang="ru-RU" i="1" dirty="0"/>
          </a:p>
        </p:txBody>
      </p:sp>
      <p:pic>
        <p:nvPicPr>
          <p:cNvPr id="13" name="Picture 2"/>
          <p:cNvPicPr>
            <a:picLocks noChangeAspect="1" noChangeArrowheads="1"/>
          </p:cNvPicPr>
          <p:nvPr/>
        </p:nvPicPr>
        <p:blipFill>
          <a:blip r:embed="rId2" cstate="print"/>
          <a:srcRect/>
          <a:stretch>
            <a:fillRect/>
          </a:stretch>
        </p:blipFill>
        <p:spPr bwMode="auto">
          <a:xfrm>
            <a:off x="4286233" y="1000108"/>
            <a:ext cx="4857767" cy="5493132"/>
          </a:xfrm>
          <a:prstGeom prst="rect">
            <a:avLst/>
          </a:prstGeom>
          <a:noFill/>
          <a:ln w="9525">
            <a:noFill/>
            <a:miter lim="800000"/>
            <a:headEnd/>
            <a:tailEnd/>
          </a:ln>
        </p:spPr>
      </p:pic>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ru-RU"/>
          </a:p>
        </p:txBody>
      </p:sp>
      <p:graphicFrame>
        <p:nvGraphicFramePr>
          <p:cNvPr id="3" name="Объект 2"/>
          <p:cNvGraphicFramePr>
            <a:graphicFrameLocks noChangeAspect="1"/>
          </p:cNvGraphicFramePr>
          <p:nvPr>
            <p:extLst>
              <p:ext uri="{D42A27DB-BD31-4B8C-83A1-F6EECF244321}">
                <p14:modId xmlns:p14="http://schemas.microsoft.com/office/powerpoint/2010/main" val="2983920299"/>
              </p:ext>
            </p:extLst>
          </p:nvPr>
        </p:nvGraphicFramePr>
        <p:xfrm>
          <a:off x="3923928" y="3356992"/>
          <a:ext cx="761670" cy="558558"/>
        </p:xfrm>
        <a:graphic>
          <a:graphicData uri="http://schemas.openxmlformats.org/presentationml/2006/ole">
            <mc:AlternateContent xmlns:mc="http://schemas.openxmlformats.org/markup-compatibility/2006">
              <mc:Choice xmlns:v="urn:schemas-microsoft-com:vml" Requires="v">
                <p:oleObj r:id="rId3" imgW="380835" imgH="279279" progId="Equation.3">
                  <p:embed/>
                </p:oleObj>
              </mc:Choice>
              <mc:Fallback>
                <p:oleObj r:id="rId3" imgW="380835" imgH="279279" progId="Equation.3">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23928" y="3356992"/>
                        <a:ext cx="761670" cy="55855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2302021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descr="Large confetti"/>
          <p:cNvSpPr>
            <a:spLocks noChangeArrowheads="1"/>
          </p:cNvSpPr>
          <p:nvPr/>
        </p:nvSpPr>
        <p:spPr bwMode="auto">
          <a:xfrm>
            <a:off x="0" y="228600"/>
            <a:ext cx="9144000" cy="630238"/>
          </a:xfrm>
          <a:prstGeom prst="rect">
            <a:avLst/>
          </a:prstGeom>
          <a:noFill/>
          <a:ln w="9525">
            <a:noFill/>
            <a:miter lim="800000"/>
            <a:headEnd/>
            <a:tailEnd/>
          </a:ln>
        </p:spPr>
        <p:txBody>
          <a:bodyPr anchor="b"/>
          <a:lstStyle/>
          <a:p>
            <a:r>
              <a:rPr lang="ru-RU" sz="2800" b="1"/>
              <a:t>Методы и средства цифровой обработки информации</a:t>
            </a:r>
          </a:p>
        </p:txBody>
      </p:sp>
      <p:sp>
        <p:nvSpPr>
          <p:cNvPr id="9219" name="Rectangle 7"/>
          <p:cNvSpPr>
            <a:spLocks noChangeArrowheads="1"/>
          </p:cNvSpPr>
          <p:nvPr/>
        </p:nvSpPr>
        <p:spPr bwMode="auto">
          <a:xfrm>
            <a:off x="2971800" y="1657350"/>
            <a:ext cx="9144000" cy="0"/>
          </a:xfrm>
          <a:prstGeom prst="rect">
            <a:avLst/>
          </a:prstGeom>
          <a:noFill/>
          <a:ln w="9525">
            <a:noFill/>
            <a:miter lim="800000"/>
            <a:headEnd/>
            <a:tailEnd/>
          </a:ln>
        </p:spPr>
        <p:txBody>
          <a:bodyPr>
            <a:spAutoFit/>
          </a:bodyPr>
          <a:lstStyle/>
          <a:p>
            <a:endParaRPr lang="ru-RU"/>
          </a:p>
        </p:txBody>
      </p:sp>
      <p:sp>
        <p:nvSpPr>
          <p:cNvPr id="9220" name="Rectangle 9"/>
          <p:cNvSpPr>
            <a:spLocks noChangeArrowheads="1"/>
          </p:cNvSpPr>
          <p:nvPr/>
        </p:nvSpPr>
        <p:spPr bwMode="auto">
          <a:xfrm>
            <a:off x="2852738" y="3309938"/>
            <a:ext cx="9144000" cy="0"/>
          </a:xfrm>
          <a:prstGeom prst="rect">
            <a:avLst/>
          </a:prstGeom>
          <a:noFill/>
          <a:ln w="9525">
            <a:noFill/>
            <a:miter lim="800000"/>
            <a:headEnd/>
            <a:tailEnd/>
          </a:ln>
        </p:spPr>
        <p:txBody>
          <a:bodyPr>
            <a:spAutoFit/>
          </a:bodyPr>
          <a:lstStyle/>
          <a:p>
            <a:endParaRPr lang="ru-RU"/>
          </a:p>
        </p:txBody>
      </p:sp>
      <p:sp>
        <p:nvSpPr>
          <p:cNvPr id="9221" name="Rectangle 10"/>
          <p:cNvSpPr>
            <a:spLocks noChangeArrowheads="1"/>
          </p:cNvSpPr>
          <p:nvPr/>
        </p:nvSpPr>
        <p:spPr bwMode="auto">
          <a:xfrm>
            <a:off x="0" y="928670"/>
            <a:ext cx="9144000" cy="5509200"/>
          </a:xfrm>
          <a:prstGeom prst="rect">
            <a:avLst/>
          </a:prstGeom>
          <a:noFill/>
          <a:ln w="9525">
            <a:noFill/>
            <a:miter lim="800000"/>
            <a:headEnd/>
            <a:tailEnd/>
          </a:ln>
        </p:spPr>
        <p:txBody>
          <a:bodyPr wrap="square">
            <a:spAutoFit/>
          </a:bodyPr>
          <a:lstStyle/>
          <a:p>
            <a:pPr indent="457200" algn="just"/>
            <a:r>
              <a:rPr lang="ru-RU" sz="3200" b="1" dirty="0"/>
              <a:t>Применение корреляции</a:t>
            </a:r>
          </a:p>
          <a:p>
            <a:pPr indent="457200" algn="just"/>
            <a:r>
              <a:rPr lang="ru-RU" sz="3200" dirty="0"/>
              <a:t>Отклик     принимается, </a:t>
            </a:r>
            <a:r>
              <a:rPr lang="ru-RU" sz="3200" dirty="0" err="1"/>
              <a:t>дискретизируется</a:t>
            </a:r>
            <a:r>
              <a:rPr lang="ru-RU" sz="3200" dirty="0"/>
              <a:t> и коррелируется с дискретным, задержанным    . Форма      содержит много информации: задержка определяет диапазон и </a:t>
            </a:r>
            <a:r>
              <a:rPr lang="ru-RU" sz="3200" dirty="0" err="1"/>
              <a:t>дипплеровский</a:t>
            </a:r>
            <a:r>
              <a:rPr lang="ru-RU" sz="3200" dirty="0"/>
              <a:t> сдвиг несущей частоты при измерении скорости цели. Множество эхосигналов     появляется от отражения от нескольких объектов. </a:t>
            </a:r>
          </a:p>
          <a:p>
            <a:pPr indent="457200" algn="just"/>
            <a:r>
              <a:rPr lang="ru-RU" sz="3200" dirty="0"/>
              <a:t>Цель – найти положение и скорость цели, ее физические свойства (плотность – при поисках нефти, форму, размер).</a:t>
            </a:r>
            <a:endParaRPr lang="ru-RU" sz="3200" b="1" dirty="0"/>
          </a:p>
        </p:txBody>
      </p:sp>
      <p:sp>
        <p:nvSpPr>
          <p:cNvPr id="5427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427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5301"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12" name="Text Box 15"/>
          <p:cNvSpPr txBox="1">
            <a:spLocks noChangeArrowheads="1"/>
          </p:cNvSpPr>
          <p:nvPr/>
        </p:nvSpPr>
        <p:spPr bwMode="auto">
          <a:xfrm>
            <a:off x="857250" y="6400801"/>
            <a:ext cx="8286750" cy="424732"/>
          </a:xfrm>
          <a:prstGeom prst="rect">
            <a:avLst/>
          </a:prstGeom>
          <a:noFill/>
          <a:ln w="9525">
            <a:noFill/>
            <a:miter lim="800000"/>
            <a:headEnd/>
            <a:tailEnd/>
          </a:ln>
        </p:spPr>
        <p:txBody>
          <a:bodyPr wrap="square">
            <a:spAutoFit/>
          </a:bodyPr>
          <a:lstStyle/>
          <a:p>
            <a:pPr algn="ctr">
              <a:lnSpc>
                <a:spcPct val="90000"/>
              </a:lnSpc>
            </a:pPr>
            <a:r>
              <a:rPr lang="ru-RU" dirty="0"/>
              <a:t>Лекция </a:t>
            </a:r>
            <a:r>
              <a:rPr lang="en-US" dirty="0"/>
              <a:t>1</a:t>
            </a:r>
            <a:r>
              <a:rPr lang="ru-RU" dirty="0"/>
              <a:t>1. Вычисление АКФ и ВКФ и их применение</a:t>
            </a:r>
            <a:endParaRPr lang="ru-RU" i="1" dirty="0"/>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ru-RU"/>
          </a:p>
        </p:txBody>
      </p:sp>
      <p:graphicFrame>
        <p:nvGraphicFramePr>
          <p:cNvPr id="3" name="Объект 2"/>
          <p:cNvGraphicFramePr>
            <a:graphicFrameLocks noChangeAspect="1"/>
          </p:cNvGraphicFramePr>
          <p:nvPr>
            <p:extLst>
              <p:ext uri="{D42A27DB-BD31-4B8C-83A1-F6EECF244321}">
                <p14:modId xmlns:p14="http://schemas.microsoft.com/office/powerpoint/2010/main" val="2560161033"/>
              </p:ext>
            </p:extLst>
          </p:nvPr>
        </p:nvGraphicFramePr>
        <p:xfrm>
          <a:off x="1259632" y="2420888"/>
          <a:ext cx="787058" cy="558558"/>
        </p:xfrm>
        <a:graphic>
          <a:graphicData uri="http://schemas.openxmlformats.org/presentationml/2006/ole">
            <mc:AlternateContent xmlns:mc="http://schemas.openxmlformats.org/markup-compatibility/2006">
              <mc:Choice xmlns:v="urn:schemas-microsoft-com:vml" Requires="v">
                <p:oleObj r:id="rId2" imgW="393529" imgH="279279" progId="Equation.3">
                  <p:embed/>
                </p:oleObj>
              </mc:Choice>
              <mc:Fallback>
                <p:oleObj r:id="rId2" imgW="393529" imgH="279279" progId="Equation.3">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9632" y="2420888"/>
                        <a:ext cx="787058" cy="55855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Rectangle 4"/>
          <p:cNvSpPr>
            <a:spLocks noChangeArrowheads="1"/>
          </p:cNvSpPr>
          <p:nvPr/>
        </p:nvSpPr>
        <p:spPr bwMode="auto">
          <a:xfrm>
            <a:off x="152400" y="152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ru-RU"/>
          </a:p>
        </p:txBody>
      </p:sp>
      <p:graphicFrame>
        <p:nvGraphicFramePr>
          <p:cNvPr id="5" name="Объект 4"/>
          <p:cNvGraphicFramePr>
            <a:graphicFrameLocks noChangeAspect="1"/>
          </p:cNvGraphicFramePr>
          <p:nvPr>
            <p:extLst>
              <p:ext uri="{D42A27DB-BD31-4B8C-83A1-F6EECF244321}">
                <p14:modId xmlns:p14="http://schemas.microsoft.com/office/powerpoint/2010/main" val="1462246537"/>
              </p:ext>
            </p:extLst>
          </p:nvPr>
        </p:nvGraphicFramePr>
        <p:xfrm>
          <a:off x="2056750" y="1430282"/>
          <a:ext cx="787058" cy="558558"/>
        </p:xfrm>
        <a:graphic>
          <a:graphicData uri="http://schemas.openxmlformats.org/presentationml/2006/ole">
            <mc:AlternateContent xmlns:mc="http://schemas.openxmlformats.org/markup-compatibility/2006">
              <mc:Choice xmlns:v="urn:schemas-microsoft-com:vml" Requires="v">
                <p:oleObj r:id="rId4" imgW="393529" imgH="279279" progId="Equation.3">
                  <p:embed/>
                </p:oleObj>
              </mc:Choice>
              <mc:Fallback>
                <p:oleObj r:id="rId4" imgW="393529" imgH="279279"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6750" y="1430282"/>
                        <a:ext cx="787058" cy="55855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Объект 5"/>
          <p:cNvGraphicFramePr>
            <a:graphicFrameLocks noChangeAspect="1"/>
          </p:cNvGraphicFramePr>
          <p:nvPr>
            <p:extLst>
              <p:ext uri="{D42A27DB-BD31-4B8C-83A1-F6EECF244321}">
                <p14:modId xmlns:p14="http://schemas.microsoft.com/office/powerpoint/2010/main" val="3631956632"/>
              </p:ext>
            </p:extLst>
          </p:nvPr>
        </p:nvGraphicFramePr>
        <p:xfrm>
          <a:off x="5013201" y="3861048"/>
          <a:ext cx="762000" cy="557212"/>
        </p:xfrm>
        <a:graphic>
          <a:graphicData uri="http://schemas.openxmlformats.org/presentationml/2006/ole">
            <mc:AlternateContent xmlns:mc="http://schemas.openxmlformats.org/markup-compatibility/2006">
              <mc:Choice xmlns:v="urn:schemas-microsoft-com:vml" Requires="v">
                <p:oleObj r:id="rId5" imgW="380835" imgH="279279" progId="Equation.3">
                  <p:embed/>
                </p:oleObj>
              </mc:Choice>
              <mc:Fallback>
                <p:oleObj r:id="rId5" imgW="380835" imgH="279279" progId="Equation.3">
                  <p:embed/>
                  <p:pic>
                    <p:nvPicPr>
                      <p:cNvPr id="0" name="Объект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13201" y="3861048"/>
                        <a:ext cx="762000"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Объект 6"/>
          <p:cNvGraphicFramePr>
            <a:graphicFrameLocks noChangeAspect="1"/>
          </p:cNvGraphicFramePr>
          <p:nvPr>
            <p:extLst>
              <p:ext uri="{D42A27DB-BD31-4B8C-83A1-F6EECF244321}">
                <p14:modId xmlns:p14="http://schemas.microsoft.com/office/powerpoint/2010/main" val="565317052"/>
              </p:ext>
            </p:extLst>
          </p:nvPr>
        </p:nvGraphicFramePr>
        <p:xfrm>
          <a:off x="8100392" y="1916832"/>
          <a:ext cx="762000" cy="557212"/>
        </p:xfrm>
        <a:graphic>
          <a:graphicData uri="http://schemas.openxmlformats.org/presentationml/2006/ole">
            <mc:AlternateContent xmlns:mc="http://schemas.openxmlformats.org/markup-compatibility/2006">
              <mc:Choice xmlns:v="urn:schemas-microsoft-com:vml" Requires="v">
                <p:oleObj r:id="rId7" imgW="380835" imgH="279279" progId="Equation.3">
                  <p:embed/>
                </p:oleObj>
              </mc:Choice>
              <mc:Fallback>
                <p:oleObj r:id="rId7" imgW="380835" imgH="279279" progId="Equation.3">
                  <p:embed/>
                  <p:pic>
                    <p:nvPicPr>
                      <p:cNvPr id="0" name="Объект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100392" y="1916832"/>
                        <a:ext cx="762000"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6101025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descr="Large confetti"/>
          <p:cNvSpPr>
            <a:spLocks noChangeArrowheads="1"/>
          </p:cNvSpPr>
          <p:nvPr/>
        </p:nvSpPr>
        <p:spPr bwMode="auto">
          <a:xfrm>
            <a:off x="0" y="228600"/>
            <a:ext cx="9144000" cy="630238"/>
          </a:xfrm>
          <a:prstGeom prst="rect">
            <a:avLst/>
          </a:prstGeom>
          <a:noFill/>
          <a:ln w="9525">
            <a:noFill/>
            <a:miter lim="800000"/>
            <a:headEnd/>
            <a:tailEnd/>
          </a:ln>
        </p:spPr>
        <p:txBody>
          <a:bodyPr anchor="b"/>
          <a:lstStyle/>
          <a:p>
            <a:r>
              <a:rPr lang="ru-RU" sz="2800" b="1"/>
              <a:t>Методы и средства цифровой обработки информации</a:t>
            </a:r>
          </a:p>
        </p:txBody>
      </p:sp>
      <p:sp>
        <p:nvSpPr>
          <p:cNvPr id="9219" name="Rectangle 7"/>
          <p:cNvSpPr>
            <a:spLocks noChangeArrowheads="1"/>
          </p:cNvSpPr>
          <p:nvPr/>
        </p:nvSpPr>
        <p:spPr bwMode="auto">
          <a:xfrm>
            <a:off x="2971800" y="1657350"/>
            <a:ext cx="9144000" cy="0"/>
          </a:xfrm>
          <a:prstGeom prst="rect">
            <a:avLst/>
          </a:prstGeom>
          <a:noFill/>
          <a:ln w="9525">
            <a:noFill/>
            <a:miter lim="800000"/>
            <a:headEnd/>
            <a:tailEnd/>
          </a:ln>
        </p:spPr>
        <p:txBody>
          <a:bodyPr>
            <a:spAutoFit/>
          </a:bodyPr>
          <a:lstStyle/>
          <a:p>
            <a:endParaRPr lang="ru-RU"/>
          </a:p>
        </p:txBody>
      </p:sp>
      <p:sp>
        <p:nvSpPr>
          <p:cNvPr id="9220" name="Rectangle 9"/>
          <p:cNvSpPr>
            <a:spLocks noChangeArrowheads="1"/>
          </p:cNvSpPr>
          <p:nvPr/>
        </p:nvSpPr>
        <p:spPr bwMode="auto">
          <a:xfrm>
            <a:off x="2852738" y="3309938"/>
            <a:ext cx="9144000" cy="0"/>
          </a:xfrm>
          <a:prstGeom prst="rect">
            <a:avLst/>
          </a:prstGeom>
          <a:noFill/>
          <a:ln w="9525">
            <a:noFill/>
            <a:miter lim="800000"/>
            <a:headEnd/>
            <a:tailEnd/>
          </a:ln>
        </p:spPr>
        <p:txBody>
          <a:bodyPr>
            <a:spAutoFit/>
          </a:bodyPr>
          <a:lstStyle/>
          <a:p>
            <a:endParaRPr lang="ru-RU"/>
          </a:p>
        </p:txBody>
      </p:sp>
      <p:sp>
        <p:nvSpPr>
          <p:cNvPr id="9221" name="Rectangle 10"/>
          <p:cNvSpPr>
            <a:spLocks noChangeArrowheads="1"/>
          </p:cNvSpPr>
          <p:nvPr/>
        </p:nvSpPr>
        <p:spPr bwMode="auto">
          <a:xfrm>
            <a:off x="0" y="928670"/>
            <a:ext cx="9144000" cy="3046988"/>
          </a:xfrm>
          <a:prstGeom prst="rect">
            <a:avLst/>
          </a:prstGeom>
          <a:noFill/>
          <a:ln w="9525">
            <a:noFill/>
            <a:miter lim="800000"/>
            <a:headEnd/>
            <a:tailEnd/>
          </a:ln>
        </p:spPr>
        <p:txBody>
          <a:bodyPr>
            <a:spAutoFit/>
          </a:bodyPr>
          <a:lstStyle/>
          <a:p>
            <a:pPr algn="ctr"/>
            <a:r>
              <a:rPr lang="ru-RU" sz="3200" b="1" dirty="0"/>
              <a:t>Применение корреляции</a:t>
            </a:r>
          </a:p>
          <a:p>
            <a:pPr algn="ctr"/>
            <a:r>
              <a:rPr lang="ru-RU" sz="3200" dirty="0"/>
              <a:t>Акустический пример</a:t>
            </a:r>
            <a:endParaRPr lang="ru-RU" sz="3200" b="1" dirty="0"/>
          </a:p>
          <a:p>
            <a:pPr indent="457200" algn="just"/>
            <a:endParaRPr lang="ru-RU" sz="3200" dirty="0"/>
          </a:p>
          <a:p>
            <a:pPr indent="457200" algn="just"/>
            <a:endParaRPr lang="ru-RU" sz="3200" dirty="0"/>
          </a:p>
          <a:p>
            <a:pPr indent="457200" algn="just"/>
            <a:endParaRPr lang="ru-RU" sz="3200" dirty="0"/>
          </a:p>
          <a:p>
            <a:pPr indent="457200" algn="just"/>
            <a:endParaRPr lang="ru-RU" sz="3200" dirty="0"/>
          </a:p>
        </p:txBody>
      </p:sp>
      <p:sp>
        <p:nvSpPr>
          <p:cNvPr id="5427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427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5301"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12" name="Text Box 15"/>
          <p:cNvSpPr txBox="1">
            <a:spLocks noChangeArrowheads="1"/>
          </p:cNvSpPr>
          <p:nvPr/>
        </p:nvSpPr>
        <p:spPr bwMode="auto">
          <a:xfrm>
            <a:off x="857250" y="6400801"/>
            <a:ext cx="8286750" cy="424732"/>
          </a:xfrm>
          <a:prstGeom prst="rect">
            <a:avLst/>
          </a:prstGeom>
          <a:noFill/>
          <a:ln w="9525">
            <a:noFill/>
            <a:miter lim="800000"/>
            <a:headEnd/>
            <a:tailEnd/>
          </a:ln>
        </p:spPr>
        <p:txBody>
          <a:bodyPr wrap="square">
            <a:spAutoFit/>
          </a:bodyPr>
          <a:lstStyle/>
          <a:p>
            <a:pPr algn="ctr">
              <a:lnSpc>
                <a:spcPct val="90000"/>
              </a:lnSpc>
            </a:pPr>
            <a:r>
              <a:rPr lang="ru-RU" dirty="0"/>
              <a:t>Лекция </a:t>
            </a:r>
            <a:r>
              <a:rPr lang="en-US" dirty="0"/>
              <a:t>1</a:t>
            </a:r>
            <a:r>
              <a:rPr lang="ru-RU" dirty="0"/>
              <a:t>1. Вычисление АКФ и ВКФ и их применение</a:t>
            </a:r>
            <a:endParaRPr lang="ru-RU" i="1" dirty="0"/>
          </a:p>
        </p:txBody>
      </p:sp>
      <p:pic>
        <p:nvPicPr>
          <p:cNvPr id="64514" name="Picture 2"/>
          <p:cNvPicPr>
            <a:picLocks noChangeAspect="1" noChangeArrowheads="1"/>
          </p:cNvPicPr>
          <p:nvPr/>
        </p:nvPicPr>
        <p:blipFill>
          <a:blip r:embed="rId2" cstate="print"/>
          <a:srcRect/>
          <a:stretch>
            <a:fillRect/>
          </a:stretch>
        </p:blipFill>
        <p:spPr bwMode="auto">
          <a:xfrm>
            <a:off x="0" y="2090738"/>
            <a:ext cx="9144000" cy="3817926"/>
          </a:xfrm>
          <a:prstGeom prst="rect">
            <a:avLst/>
          </a:prstGeom>
          <a:noFill/>
          <a:ln w="9525">
            <a:noFill/>
            <a:miter lim="800000"/>
            <a:headEnd/>
            <a:tailEnd/>
          </a:ln>
          <a:effec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descr="Large confetti"/>
          <p:cNvSpPr>
            <a:spLocks noChangeArrowheads="1"/>
          </p:cNvSpPr>
          <p:nvPr/>
        </p:nvSpPr>
        <p:spPr bwMode="auto">
          <a:xfrm>
            <a:off x="0" y="228600"/>
            <a:ext cx="9144000" cy="630238"/>
          </a:xfrm>
          <a:prstGeom prst="rect">
            <a:avLst/>
          </a:prstGeom>
          <a:noFill/>
          <a:ln w="9525">
            <a:noFill/>
            <a:miter lim="800000"/>
            <a:headEnd/>
            <a:tailEnd/>
          </a:ln>
        </p:spPr>
        <p:txBody>
          <a:bodyPr anchor="b"/>
          <a:lstStyle/>
          <a:p>
            <a:r>
              <a:rPr lang="ru-RU" sz="2800" b="1"/>
              <a:t>Методы и средства цифровой обработки информации</a:t>
            </a:r>
          </a:p>
        </p:txBody>
      </p:sp>
      <p:sp>
        <p:nvSpPr>
          <p:cNvPr id="9219" name="Rectangle 7"/>
          <p:cNvSpPr>
            <a:spLocks noChangeArrowheads="1"/>
          </p:cNvSpPr>
          <p:nvPr/>
        </p:nvSpPr>
        <p:spPr bwMode="auto">
          <a:xfrm>
            <a:off x="2971800" y="1657350"/>
            <a:ext cx="9144000" cy="0"/>
          </a:xfrm>
          <a:prstGeom prst="rect">
            <a:avLst/>
          </a:prstGeom>
          <a:noFill/>
          <a:ln w="9525">
            <a:noFill/>
            <a:miter lim="800000"/>
            <a:headEnd/>
            <a:tailEnd/>
          </a:ln>
        </p:spPr>
        <p:txBody>
          <a:bodyPr>
            <a:spAutoFit/>
          </a:bodyPr>
          <a:lstStyle/>
          <a:p>
            <a:endParaRPr lang="ru-RU"/>
          </a:p>
        </p:txBody>
      </p:sp>
      <p:sp>
        <p:nvSpPr>
          <p:cNvPr id="9220" name="Rectangle 9"/>
          <p:cNvSpPr>
            <a:spLocks noChangeArrowheads="1"/>
          </p:cNvSpPr>
          <p:nvPr/>
        </p:nvSpPr>
        <p:spPr bwMode="auto">
          <a:xfrm>
            <a:off x="2852738" y="3309938"/>
            <a:ext cx="9144000" cy="0"/>
          </a:xfrm>
          <a:prstGeom prst="rect">
            <a:avLst/>
          </a:prstGeom>
          <a:noFill/>
          <a:ln w="9525">
            <a:noFill/>
            <a:miter lim="800000"/>
            <a:headEnd/>
            <a:tailEnd/>
          </a:ln>
        </p:spPr>
        <p:txBody>
          <a:bodyPr>
            <a:spAutoFit/>
          </a:bodyPr>
          <a:lstStyle/>
          <a:p>
            <a:endParaRPr lang="ru-RU"/>
          </a:p>
        </p:txBody>
      </p:sp>
      <p:sp>
        <p:nvSpPr>
          <p:cNvPr id="9221" name="Rectangle 10"/>
          <p:cNvSpPr>
            <a:spLocks noChangeArrowheads="1"/>
          </p:cNvSpPr>
          <p:nvPr/>
        </p:nvSpPr>
        <p:spPr bwMode="auto">
          <a:xfrm>
            <a:off x="0" y="928670"/>
            <a:ext cx="9144000" cy="7971413"/>
          </a:xfrm>
          <a:prstGeom prst="rect">
            <a:avLst/>
          </a:prstGeom>
          <a:noFill/>
          <a:ln w="9525">
            <a:noFill/>
            <a:miter lim="800000"/>
            <a:headEnd/>
            <a:tailEnd/>
          </a:ln>
        </p:spPr>
        <p:txBody>
          <a:bodyPr>
            <a:spAutoFit/>
          </a:bodyPr>
          <a:lstStyle/>
          <a:p>
            <a:pPr algn="ctr"/>
            <a:r>
              <a:rPr lang="ru-RU" sz="3200" b="1" dirty="0"/>
              <a:t>Применение корреляции. Акустический пример</a:t>
            </a:r>
          </a:p>
          <a:p>
            <a:pPr algn="just"/>
            <a:r>
              <a:rPr lang="ru-RU" sz="3200" dirty="0"/>
              <a:t>Задержка между стимулом и откликом определяет сдвиг максимума ВКФ. Путь 1 через стену самый прямой (меньше время), но зашумленный. Путь 2 над стеной длиннее и содержит меньше препятствий, т.е. больше амплитуда. Дальний и зашумленный путь 3 через пол появляется за счет вибрации основания микрофона. Наличие помех и задержек определяется по положению и форме пиков ВКФ, на основании этой информации определяется расстояние и физические свойства среды.</a:t>
            </a:r>
            <a:endParaRPr lang="ru-RU" sz="3200" b="1" dirty="0"/>
          </a:p>
          <a:p>
            <a:pPr indent="457200" algn="just"/>
            <a:endParaRPr lang="ru-RU" sz="3200" dirty="0"/>
          </a:p>
          <a:p>
            <a:pPr indent="457200" algn="just"/>
            <a:endParaRPr lang="ru-RU" sz="3200" dirty="0"/>
          </a:p>
          <a:p>
            <a:pPr indent="457200" algn="just"/>
            <a:endParaRPr lang="ru-RU" sz="3200" dirty="0"/>
          </a:p>
          <a:p>
            <a:pPr indent="457200" algn="just"/>
            <a:endParaRPr lang="ru-RU" sz="3200" dirty="0"/>
          </a:p>
        </p:txBody>
      </p:sp>
      <p:sp>
        <p:nvSpPr>
          <p:cNvPr id="5427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427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5301"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12" name="Text Box 15"/>
          <p:cNvSpPr txBox="1">
            <a:spLocks noChangeArrowheads="1"/>
          </p:cNvSpPr>
          <p:nvPr/>
        </p:nvSpPr>
        <p:spPr bwMode="auto">
          <a:xfrm>
            <a:off x="857250" y="6400801"/>
            <a:ext cx="8286750" cy="424732"/>
          </a:xfrm>
          <a:prstGeom prst="rect">
            <a:avLst/>
          </a:prstGeom>
          <a:noFill/>
          <a:ln w="9525">
            <a:noFill/>
            <a:miter lim="800000"/>
            <a:headEnd/>
            <a:tailEnd/>
          </a:ln>
        </p:spPr>
        <p:txBody>
          <a:bodyPr wrap="square">
            <a:spAutoFit/>
          </a:bodyPr>
          <a:lstStyle/>
          <a:p>
            <a:pPr algn="ctr">
              <a:lnSpc>
                <a:spcPct val="90000"/>
              </a:lnSpc>
            </a:pPr>
            <a:r>
              <a:rPr lang="ru-RU" dirty="0"/>
              <a:t>Лекция </a:t>
            </a:r>
            <a:r>
              <a:rPr lang="en-US" dirty="0"/>
              <a:t>1</a:t>
            </a:r>
            <a:r>
              <a:rPr lang="ru-RU" dirty="0"/>
              <a:t>1. Вычисление АКФ и ВКФ и их применение</a:t>
            </a:r>
            <a:endParaRPr lang="ru-RU" i="1" dirty="0"/>
          </a:p>
        </p:txBody>
      </p:sp>
    </p:spTree>
    <p:extLst>
      <p:ext uri="{BB962C8B-B14F-4D97-AF65-F5344CB8AC3E}">
        <p14:creationId xmlns:p14="http://schemas.microsoft.com/office/powerpoint/2010/main" val="128456046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descr="Large confetti"/>
          <p:cNvSpPr>
            <a:spLocks noChangeArrowheads="1"/>
          </p:cNvSpPr>
          <p:nvPr/>
        </p:nvSpPr>
        <p:spPr bwMode="auto">
          <a:xfrm>
            <a:off x="0" y="228600"/>
            <a:ext cx="9144000" cy="630238"/>
          </a:xfrm>
          <a:prstGeom prst="rect">
            <a:avLst/>
          </a:prstGeom>
          <a:noFill/>
          <a:ln w="9525">
            <a:noFill/>
            <a:miter lim="800000"/>
            <a:headEnd/>
            <a:tailEnd/>
          </a:ln>
        </p:spPr>
        <p:txBody>
          <a:bodyPr anchor="b"/>
          <a:lstStyle/>
          <a:p>
            <a:r>
              <a:rPr lang="ru-RU" sz="2800" b="1"/>
              <a:t>Методы и средства цифровой обработки информации</a:t>
            </a:r>
          </a:p>
        </p:txBody>
      </p:sp>
      <p:sp>
        <p:nvSpPr>
          <p:cNvPr id="9219" name="Rectangle 7"/>
          <p:cNvSpPr>
            <a:spLocks noChangeArrowheads="1"/>
          </p:cNvSpPr>
          <p:nvPr/>
        </p:nvSpPr>
        <p:spPr bwMode="auto">
          <a:xfrm>
            <a:off x="2971800" y="1657350"/>
            <a:ext cx="9144000" cy="0"/>
          </a:xfrm>
          <a:prstGeom prst="rect">
            <a:avLst/>
          </a:prstGeom>
          <a:noFill/>
          <a:ln w="9525">
            <a:noFill/>
            <a:miter lim="800000"/>
            <a:headEnd/>
            <a:tailEnd/>
          </a:ln>
        </p:spPr>
        <p:txBody>
          <a:bodyPr>
            <a:spAutoFit/>
          </a:bodyPr>
          <a:lstStyle/>
          <a:p>
            <a:endParaRPr lang="ru-RU"/>
          </a:p>
        </p:txBody>
      </p:sp>
      <p:sp>
        <p:nvSpPr>
          <p:cNvPr id="9220" name="Rectangle 9"/>
          <p:cNvSpPr>
            <a:spLocks noChangeArrowheads="1"/>
          </p:cNvSpPr>
          <p:nvPr/>
        </p:nvSpPr>
        <p:spPr bwMode="auto">
          <a:xfrm>
            <a:off x="2852738" y="3309938"/>
            <a:ext cx="9144000" cy="0"/>
          </a:xfrm>
          <a:prstGeom prst="rect">
            <a:avLst/>
          </a:prstGeom>
          <a:noFill/>
          <a:ln w="9525">
            <a:noFill/>
            <a:miter lim="800000"/>
            <a:headEnd/>
            <a:tailEnd/>
          </a:ln>
        </p:spPr>
        <p:txBody>
          <a:bodyPr>
            <a:spAutoFit/>
          </a:bodyPr>
          <a:lstStyle/>
          <a:p>
            <a:endParaRPr lang="ru-RU"/>
          </a:p>
        </p:txBody>
      </p:sp>
      <p:sp>
        <p:nvSpPr>
          <p:cNvPr id="9221" name="Rectangle 10"/>
          <p:cNvSpPr>
            <a:spLocks noChangeArrowheads="1"/>
          </p:cNvSpPr>
          <p:nvPr/>
        </p:nvSpPr>
        <p:spPr bwMode="auto">
          <a:xfrm>
            <a:off x="0" y="928670"/>
            <a:ext cx="9144000" cy="7971413"/>
          </a:xfrm>
          <a:prstGeom prst="rect">
            <a:avLst/>
          </a:prstGeom>
          <a:noFill/>
          <a:ln w="9525">
            <a:noFill/>
            <a:miter lim="800000"/>
            <a:headEnd/>
            <a:tailEnd/>
          </a:ln>
        </p:spPr>
        <p:txBody>
          <a:bodyPr>
            <a:spAutoFit/>
          </a:bodyPr>
          <a:lstStyle/>
          <a:p>
            <a:pPr algn="ctr"/>
            <a:r>
              <a:rPr lang="ru-RU" sz="3200" b="1" dirty="0"/>
              <a:t>Применение корреляции</a:t>
            </a:r>
          </a:p>
          <a:p>
            <a:pPr lvl="0"/>
            <a:r>
              <a:rPr lang="ru-RU" sz="3200" dirty="0"/>
              <a:t>1.Определение величины максимума. </a:t>
            </a:r>
          </a:p>
          <a:p>
            <a:pPr lvl="0"/>
            <a:r>
              <a:rPr lang="ru-RU" sz="3200" dirty="0"/>
              <a:t>2.Определение смещения максимума от начала координат. Если         ,то  запаздывает         по отношению к        , если           ,то наоборот.</a:t>
            </a:r>
          </a:p>
          <a:p>
            <a:r>
              <a:rPr lang="ru-RU" sz="3200" dirty="0"/>
              <a:t>Существует три группы задач, в которых по паре сигналов требуется определить, одинаковые ли они:</a:t>
            </a:r>
          </a:p>
          <a:p>
            <a:pPr lvl="0"/>
            <a:r>
              <a:rPr lang="ru-RU" sz="3200" dirty="0"/>
              <a:t>Задача обнаружения сигналов.</a:t>
            </a:r>
          </a:p>
          <a:p>
            <a:pPr lvl="0"/>
            <a:r>
              <a:rPr lang="ru-RU" sz="3200" dirty="0"/>
              <a:t>Задача различения сигналов.</a:t>
            </a:r>
          </a:p>
          <a:p>
            <a:pPr lvl="0"/>
            <a:r>
              <a:rPr lang="ru-RU" sz="3200" dirty="0"/>
              <a:t>Задача, связанная с поиском запаздывания.</a:t>
            </a:r>
          </a:p>
          <a:p>
            <a:pPr algn="ctr"/>
            <a:endParaRPr lang="ru-RU" sz="3200" b="1" dirty="0"/>
          </a:p>
          <a:p>
            <a:pPr indent="457200" algn="just"/>
            <a:endParaRPr lang="ru-RU" sz="3200" dirty="0"/>
          </a:p>
          <a:p>
            <a:pPr indent="457200" algn="just"/>
            <a:endParaRPr lang="ru-RU" sz="3200" dirty="0"/>
          </a:p>
          <a:p>
            <a:pPr indent="457200" algn="just"/>
            <a:endParaRPr lang="ru-RU" sz="3200" dirty="0"/>
          </a:p>
          <a:p>
            <a:pPr indent="457200" algn="just"/>
            <a:endParaRPr lang="ru-RU" sz="3200" dirty="0"/>
          </a:p>
        </p:txBody>
      </p:sp>
      <p:sp>
        <p:nvSpPr>
          <p:cNvPr id="5427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427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5301"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12" name="Text Box 15"/>
          <p:cNvSpPr txBox="1">
            <a:spLocks noChangeArrowheads="1"/>
          </p:cNvSpPr>
          <p:nvPr/>
        </p:nvSpPr>
        <p:spPr bwMode="auto">
          <a:xfrm>
            <a:off x="857250" y="6400801"/>
            <a:ext cx="8286750" cy="424732"/>
          </a:xfrm>
          <a:prstGeom prst="rect">
            <a:avLst/>
          </a:prstGeom>
          <a:noFill/>
          <a:ln w="9525">
            <a:noFill/>
            <a:miter lim="800000"/>
            <a:headEnd/>
            <a:tailEnd/>
          </a:ln>
        </p:spPr>
        <p:txBody>
          <a:bodyPr wrap="square">
            <a:spAutoFit/>
          </a:bodyPr>
          <a:lstStyle/>
          <a:p>
            <a:pPr algn="ctr">
              <a:lnSpc>
                <a:spcPct val="90000"/>
              </a:lnSpc>
            </a:pPr>
            <a:r>
              <a:rPr lang="ru-RU" dirty="0"/>
              <a:t>Лекция </a:t>
            </a:r>
            <a:r>
              <a:rPr lang="en-US" dirty="0"/>
              <a:t>1</a:t>
            </a:r>
            <a:r>
              <a:rPr lang="ru-RU" dirty="0"/>
              <a:t>1. Вычисление АКФ и ВКФ и их применение</a:t>
            </a:r>
            <a:endParaRPr lang="ru-RU" i="1" dirty="0"/>
          </a:p>
        </p:txBody>
      </p:sp>
      <p:sp>
        <p:nvSpPr>
          <p:cNvPr id="68638" name="Rectangle 3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graphicFrame>
        <p:nvGraphicFramePr>
          <p:cNvPr id="68637" name="Object 29"/>
          <p:cNvGraphicFramePr>
            <a:graphicFrameLocks noChangeAspect="1"/>
          </p:cNvGraphicFramePr>
          <p:nvPr/>
        </p:nvGraphicFramePr>
        <p:xfrm>
          <a:off x="3000364" y="2500306"/>
          <a:ext cx="833443" cy="357190"/>
        </p:xfrm>
        <a:graphic>
          <a:graphicData uri="http://schemas.openxmlformats.org/presentationml/2006/ole">
            <mc:AlternateContent xmlns:mc="http://schemas.openxmlformats.org/markup-compatibility/2006">
              <mc:Choice xmlns:v="urn:schemas-microsoft-com:vml" Requires="v">
                <p:oleObj name="Equation" r:id="rId2" imgW="533169" imgH="228501" progId="">
                  <p:embed/>
                </p:oleObj>
              </mc:Choice>
              <mc:Fallback>
                <p:oleObj name="Equation" r:id="rId2" imgW="533169" imgH="228501" progId="">
                  <p:embed/>
                  <p:pic>
                    <p:nvPicPr>
                      <p:cNvPr id="0" name="Picture 6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00364" y="2500306"/>
                        <a:ext cx="833443" cy="3571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8640" name="Rectangle 3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graphicFrame>
        <p:nvGraphicFramePr>
          <p:cNvPr id="68639" name="Object 31"/>
          <p:cNvGraphicFramePr>
            <a:graphicFrameLocks noChangeAspect="1"/>
          </p:cNvGraphicFramePr>
          <p:nvPr/>
        </p:nvGraphicFramePr>
        <p:xfrm>
          <a:off x="6786578" y="2420128"/>
          <a:ext cx="642942" cy="535785"/>
        </p:xfrm>
        <a:graphic>
          <a:graphicData uri="http://schemas.openxmlformats.org/presentationml/2006/ole">
            <mc:AlternateContent xmlns:mc="http://schemas.openxmlformats.org/markup-compatibility/2006">
              <mc:Choice xmlns:v="urn:schemas-microsoft-com:vml" Requires="v">
                <p:oleObj name="Equation" r:id="rId4" imgW="304536" imgH="253780" progId="">
                  <p:embed/>
                </p:oleObj>
              </mc:Choice>
              <mc:Fallback>
                <p:oleObj name="Equation" r:id="rId4" imgW="304536" imgH="253780" progId="">
                  <p:embed/>
                  <p:pic>
                    <p:nvPicPr>
                      <p:cNvPr id="0" name="Picture 6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86578" y="2420128"/>
                        <a:ext cx="642942" cy="5357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8642" name="Rectangle 3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graphicFrame>
        <p:nvGraphicFramePr>
          <p:cNvPr id="68641" name="Object 33"/>
          <p:cNvGraphicFramePr>
            <a:graphicFrameLocks noChangeAspect="1"/>
          </p:cNvGraphicFramePr>
          <p:nvPr/>
        </p:nvGraphicFramePr>
        <p:xfrm>
          <a:off x="2571735" y="2928934"/>
          <a:ext cx="689747" cy="500066"/>
        </p:xfrm>
        <a:graphic>
          <a:graphicData uri="http://schemas.openxmlformats.org/presentationml/2006/ole">
            <mc:AlternateContent xmlns:mc="http://schemas.openxmlformats.org/markup-compatibility/2006">
              <mc:Choice xmlns:v="urn:schemas-microsoft-com:vml" Requires="v">
                <p:oleObj name="Equation" r:id="rId6" imgW="380835" imgH="279279" progId="">
                  <p:embed/>
                </p:oleObj>
              </mc:Choice>
              <mc:Fallback>
                <p:oleObj name="Equation" r:id="rId6" imgW="380835" imgH="279279" progId="">
                  <p:embed/>
                  <p:pic>
                    <p:nvPicPr>
                      <p:cNvPr id="0" name="Picture 6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71735" y="2928934"/>
                        <a:ext cx="689747" cy="50006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8643" name="Object 35"/>
          <p:cNvGraphicFramePr>
            <a:graphicFrameLocks noChangeAspect="1"/>
          </p:cNvGraphicFramePr>
          <p:nvPr/>
        </p:nvGraphicFramePr>
        <p:xfrm>
          <a:off x="4357686" y="3000372"/>
          <a:ext cx="954952" cy="460375"/>
        </p:xfrm>
        <a:graphic>
          <a:graphicData uri="http://schemas.openxmlformats.org/presentationml/2006/ole">
            <mc:AlternateContent xmlns:mc="http://schemas.openxmlformats.org/markup-compatibility/2006">
              <mc:Choice xmlns:v="urn:schemas-microsoft-com:vml" Requires="v">
                <p:oleObj name="Equation" r:id="rId8" imgW="368140" imgH="177723" progId="">
                  <p:embed/>
                </p:oleObj>
              </mc:Choice>
              <mc:Fallback>
                <p:oleObj name="Equation" r:id="rId8" imgW="368140" imgH="177723" progId="">
                  <p:embed/>
                  <p:pic>
                    <p:nvPicPr>
                      <p:cNvPr id="0" name="Picture 6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357686" y="3000372"/>
                        <a:ext cx="954952" cy="460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descr="Large confetti"/>
          <p:cNvSpPr>
            <a:spLocks noChangeArrowheads="1"/>
          </p:cNvSpPr>
          <p:nvPr/>
        </p:nvSpPr>
        <p:spPr bwMode="auto">
          <a:xfrm>
            <a:off x="0" y="228600"/>
            <a:ext cx="9144000" cy="630238"/>
          </a:xfrm>
          <a:prstGeom prst="rect">
            <a:avLst/>
          </a:prstGeom>
          <a:noFill/>
          <a:ln w="9525">
            <a:noFill/>
            <a:miter lim="800000"/>
            <a:headEnd/>
            <a:tailEnd/>
          </a:ln>
        </p:spPr>
        <p:txBody>
          <a:bodyPr anchor="b"/>
          <a:lstStyle/>
          <a:p>
            <a:r>
              <a:rPr lang="ru-RU" sz="2800" b="1"/>
              <a:t>Методы и средства цифровой обработки информации</a:t>
            </a:r>
          </a:p>
        </p:txBody>
      </p:sp>
      <p:sp>
        <p:nvSpPr>
          <p:cNvPr id="9219" name="Rectangle 7"/>
          <p:cNvSpPr>
            <a:spLocks noChangeArrowheads="1"/>
          </p:cNvSpPr>
          <p:nvPr/>
        </p:nvSpPr>
        <p:spPr bwMode="auto">
          <a:xfrm>
            <a:off x="2971800" y="1657350"/>
            <a:ext cx="9144000" cy="0"/>
          </a:xfrm>
          <a:prstGeom prst="rect">
            <a:avLst/>
          </a:prstGeom>
          <a:noFill/>
          <a:ln w="9525">
            <a:noFill/>
            <a:miter lim="800000"/>
            <a:headEnd/>
            <a:tailEnd/>
          </a:ln>
        </p:spPr>
        <p:txBody>
          <a:bodyPr>
            <a:spAutoFit/>
          </a:bodyPr>
          <a:lstStyle/>
          <a:p>
            <a:endParaRPr lang="ru-RU"/>
          </a:p>
        </p:txBody>
      </p:sp>
      <p:sp>
        <p:nvSpPr>
          <p:cNvPr id="9220" name="Rectangle 9"/>
          <p:cNvSpPr>
            <a:spLocks noChangeArrowheads="1"/>
          </p:cNvSpPr>
          <p:nvPr/>
        </p:nvSpPr>
        <p:spPr bwMode="auto">
          <a:xfrm>
            <a:off x="2852738" y="3309938"/>
            <a:ext cx="9144000" cy="0"/>
          </a:xfrm>
          <a:prstGeom prst="rect">
            <a:avLst/>
          </a:prstGeom>
          <a:noFill/>
          <a:ln w="9525">
            <a:noFill/>
            <a:miter lim="800000"/>
            <a:headEnd/>
            <a:tailEnd/>
          </a:ln>
        </p:spPr>
        <p:txBody>
          <a:bodyPr>
            <a:spAutoFit/>
          </a:bodyPr>
          <a:lstStyle/>
          <a:p>
            <a:endParaRPr lang="ru-RU"/>
          </a:p>
        </p:txBody>
      </p:sp>
      <p:sp>
        <p:nvSpPr>
          <p:cNvPr id="9221" name="Rectangle 10"/>
          <p:cNvSpPr>
            <a:spLocks noChangeArrowheads="1"/>
          </p:cNvSpPr>
          <p:nvPr/>
        </p:nvSpPr>
        <p:spPr bwMode="auto">
          <a:xfrm>
            <a:off x="0" y="928670"/>
            <a:ext cx="9144000" cy="3539430"/>
          </a:xfrm>
          <a:prstGeom prst="rect">
            <a:avLst/>
          </a:prstGeom>
          <a:noFill/>
          <a:ln w="9525">
            <a:noFill/>
            <a:miter lim="800000"/>
            <a:headEnd/>
            <a:tailEnd/>
          </a:ln>
        </p:spPr>
        <p:txBody>
          <a:bodyPr>
            <a:spAutoFit/>
          </a:bodyPr>
          <a:lstStyle/>
          <a:p>
            <a:pPr algn="ctr"/>
            <a:r>
              <a:rPr lang="ru-RU" sz="3200" b="1" dirty="0"/>
              <a:t>Применение корреляции</a:t>
            </a:r>
          </a:p>
          <a:p>
            <a:pPr lvl="0"/>
            <a:r>
              <a:rPr lang="ru-RU" sz="3200" dirty="0"/>
              <a:t>Определение величины максимума. Теоретически он меньше или равен         . Если ВКФ </a:t>
            </a:r>
            <a:r>
              <a:rPr lang="ru-RU" sz="3200" dirty="0" err="1"/>
              <a:t>пронормирована</a:t>
            </a:r>
            <a:r>
              <a:rPr lang="ru-RU" sz="3200" dirty="0"/>
              <a:t>, то максимум меньше или равен единице. Степень близости к единице говорит о наличии взаимосвязи между двумя сигналами. Если единица, то сигналы совпадают.</a:t>
            </a:r>
          </a:p>
        </p:txBody>
      </p:sp>
      <p:sp>
        <p:nvSpPr>
          <p:cNvPr id="5427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427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5301"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12" name="Text Box 15"/>
          <p:cNvSpPr txBox="1">
            <a:spLocks noChangeArrowheads="1"/>
          </p:cNvSpPr>
          <p:nvPr/>
        </p:nvSpPr>
        <p:spPr bwMode="auto">
          <a:xfrm>
            <a:off x="857250" y="6400801"/>
            <a:ext cx="8286750" cy="424732"/>
          </a:xfrm>
          <a:prstGeom prst="rect">
            <a:avLst/>
          </a:prstGeom>
          <a:noFill/>
          <a:ln w="9525">
            <a:noFill/>
            <a:miter lim="800000"/>
            <a:headEnd/>
            <a:tailEnd/>
          </a:ln>
        </p:spPr>
        <p:txBody>
          <a:bodyPr wrap="square">
            <a:spAutoFit/>
          </a:bodyPr>
          <a:lstStyle/>
          <a:p>
            <a:pPr algn="ctr">
              <a:lnSpc>
                <a:spcPct val="90000"/>
              </a:lnSpc>
            </a:pPr>
            <a:r>
              <a:rPr lang="ru-RU" dirty="0"/>
              <a:t>Лекция </a:t>
            </a:r>
            <a:r>
              <a:rPr lang="en-US" dirty="0"/>
              <a:t>1</a:t>
            </a:r>
            <a:r>
              <a:rPr lang="ru-RU" dirty="0"/>
              <a:t>1. Вычисление АКФ и ВКФ и их применение</a:t>
            </a:r>
            <a:endParaRPr lang="ru-RU" i="1" dirty="0"/>
          </a:p>
        </p:txBody>
      </p:sp>
      <p:graphicFrame>
        <p:nvGraphicFramePr>
          <p:cNvPr id="101378" name="Object 2"/>
          <p:cNvGraphicFramePr>
            <a:graphicFrameLocks noChangeAspect="1"/>
          </p:cNvGraphicFramePr>
          <p:nvPr/>
        </p:nvGraphicFramePr>
        <p:xfrm>
          <a:off x="3786182" y="1958968"/>
          <a:ext cx="949325" cy="541338"/>
        </p:xfrm>
        <a:graphic>
          <a:graphicData uri="http://schemas.openxmlformats.org/presentationml/2006/ole">
            <mc:AlternateContent xmlns:mc="http://schemas.openxmlformats.org/markup-compatibility/2006">
              <mc:Choice xmlns:v="urn:schemas-microsoft-com:vml" Requires="v">
                <p:oleObj name="Equation" r:id="rId2" imgW="406224" imgH="228501" progId="">
                  <p:embed/>
                </p:oleObj>
              </mc:Choice>
              <mc:Fallback>
                <p:oleObj name="Equation" r:id="rId2" imgW="406224" imgH="228501" progId="">
                  <p:embed/>
                  <p:pic>
                    <p:nvPicPr>
                      <p:cNvPr id="0"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86182" y="1958968"/>
                        <a:ext cx="949325" cy="5413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descr="Large confetti"/>
          <p:cNvSpPr>
            <a:spLocks noChangeArrowheads="1"/>
          </p:cNvSpPr>
          <p:nvPr/>
        </p:nvSpPr>
        <p:spPr bwMode="auto">
          <a:xfrm>
            <a:off x="0" y="228600"/>
            <a:ext cx="9144000" cy="630238"/>
          </a:xfrm>
          <a:prstGeom prst="rect">
            <a:avLst/>
          </a:prstGeom>
          <a:noFill/>
          <a:ln w="9525">
            <a:noFill/>
            <a:miter lim="800000"/>
            <a:headEnd/>
            <a:tailEnd/>
          </a:ln>
        </p:spPr>
        <p:txBody>
          <a:bodyPr anchor="b"/>
          <a:lstStyle/>
          <a:p>
            <a:r>
              <a:rPr lang="ru-RU" sz="2800" b="1"/>
              <a:t>Методы и средства цифровой обработки информации</a:t>
            </a:r>
          </a:p>
        </p:txBody>
      </p:sp>
      <p:sp>
        <p:nvSpPr>
          <p:cNvPr id="9219" name="Rectangle 7"/>
          <p:cNvSpPr>
            <a:spLocks noChangeArrowheads="1"/>
          </p:cNvSpPr>
          <p:nvPr/>
        </p:nvSpPr>
        <p:spPr bwMode="auto">
          <a:xfrm>
            <a:off x="2971800" y="1657350"/>
            <a:ext cx="9144000" cy="0"/>
          </a:xfrm>
          <a:prstGeom prst="rect">
            <a:avLst/>
          </a:prstGeom>
          <a:noFill/>
          <a:ln w="9525">
            <a:noFill/>
            <a:miter lim="800000"/>
            <a:headEnd/>
            <a:tailEnd/>
          </a:ln>
        </p:spPr>
        <p:txBody>
          <a:bodyPr>
            <a:spAutoFit/>
          </a:bodyPr>
          <a:lstStyle/>
          <a:p>
            <a:endParaRPr lang="ru-RU"/>
          </a:p>
        </p:txBody>
      </p:sp>
      <p:sp>
        <p:nvSpPr>
          <p:cNvPr id="9220" name="Rectangle 9"/>
          <p:cNvSpPr>
            <a:spLocks noChangeArrowheads="1"/>
          </p:cNvSpPr>
          <p:nvPr/>
        </p:nvSpPr>
        <p:spPr bwMode="auto">
          <a:xfrm>
            <a:off x="2852738" y="3309938"/>
            <a:ext cx="9144000" cy="0"/>
          </a:xfrm>
          <a:prstGeom prst="rect">
            <a:avLst/>
          </a:prstGeom>
          <a:noFill/>
          <a:ln w="9525">
            <a:noFill/>
            <a:miter lim="800000"/>
            <a:headEnd/>
            <a:tailEnd/>
          </a:ln>
        </p:spPr>
        <p:txBody>
          <a:bodyPr>
            <a:spAutoFit/>
          </a:bodyPr>
          <a:lstStyle/>
          <a:p>
            <a:endParaRPr lang="ru-RU"/>
          </a:p>
        </p:txBody>
      </p:sp>
      <p:sp>
        <p:nvSpPr>
          <p:cNvPr id="9221" name="Rectangle 10"/>
          <p:cNvSpPr>
            <a:spLocks noChangeArrowheads="1"/>
          </p:cNvSpPr>
          <p:nvPr/>
        </p:nvSpPr>
        <p:spPr bwMode="auto">
          <a:xfrm>
            <a:off x="0" y="928670"/>
            <a:ext cx="9144000" cy="2554545"/>
          </a:xfrm>
          <a:prstGeom prst="rect">
            <a:avLst/>
          </a:prstGeom>
          <a:noFill/>
          <a:ln w="9525">
            <a:noFill/>
            <a:miter lim="800000"/>
            <a:headEnd/>
            <a:tailEnd/>
          </a:ln>
        </p:spPr>
        <p:txBody>
          <a:bodyPr>
            <a:spAutoFit/>
          </a:bodyPr>
          <a:lstStyle/>
          <a:p>
            <a:pPr algn="ctr"/>
            <a:r>
              <a:rPr lang="ru-RU" sz="3200" b="1" dirty="0"/>
              <a:t>Применение корреляции</a:t>
            </a:r>
          </a:p>
          <a:p>
            <a:pPr algn="ctr"/>
            <a:r>
              <a:rPr lang="ru-RU" sz="3200" dirty="0"/>
              <a:t>Корреляционный детектор</a:t>
            </a:r>
          </a:p>
          <a:p>
            <a:pPr indent="457200" algn="just"/>
            <a:endParaRPr lang="ru-RU" sz="3200" dirty="0"/>
          </a:p>
          <a:p>
            <a:pPr indent="457200" algn="just"/>
            <a:endParaRPr lang="ru-RU" sz="3200" dirty="0"/>
          </a:p>
          <a:p>
            <a:pPr indent="457200" algn="just"/>
            <a:endParaRPr lang="ru-RU" sz="3200" dirty="0"/>
          </a:p>
        </p:txBody>
      </p:sp>
      <p:sp>
        <p:nvSpPr>
          <p:cNvPr id="5427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427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5301"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12" name="Text Box 15"/>
          <p:cNvSpPr txBox="1">
            <a:spLocks noChangeArrowheads="1"/>
          </p:cNvSpPr>
          <p:nvPr/>
        </p:nvSpPr>
        <p:spPr bwMode="auto">
          <a:xfrm>
            <a:off x="857250" y="6400801"/>
            <a:ext cx="8286750" cy="424732"/>
          </a:xfrm>
          <a:prstGeom prst="rect">
            <a:avLst/>
          </a:prstGeom>
          <a:noFill/>
          <a:ln w="9525">
            <a:noFill/>
            <a:miter lim="800000"/>
            <a:headEnd/>
            <a:tailEnd/>
          </a:ln>
        </p:spPr>
        <p:txBody>
          <a:bodyPr wrap="square">
            <a:spAutoFit/>
          </a:bodyPr>
          <a:lstStyle/>
          <a:p>
            <a:pPr algn="ctr">
              <a:lnSpc>
                <a:spcPct val="90000"/>
              </a:lnSpc>
            </a:pPr>
            <a:r>
              <a:rPr lang="ru-RU" dirty="0"/>
              <a:t>Лекция </a:t>
            </a:r>
            <a:r>
              <a:rPr lang="en-US" dirty="0"/>
              <a:t>1</a:t>
            </a:r>
            <a:r>
              <a:rPr lang="ru-RU" dirty="0"/>
              <a:t>1. Вычисление АКФ и ВКФ и их применение</a:t>
            </a:r>
            <a:endParaRPr lang="ru-RU" i="1" dirty="0"/>
          </a:p>
        </p:txBody>
      </p:sp>
      <p:pic>
        <p:nvPicPr>
          <p:cNvPr id="65539" name="Picture 3"/>
          <p:cNvPicPr>
            <a:picLocks noChangeAspect="1" noChangeArrowheads="1"/>
          </p:cNvPicPr>
          <p:nvPr/>
        </p:nvPicPr>
        <p:blipFill>
          <a:blip r:embed="rId2" cstate="print"/>
          <a:srcRect/>
          <a:stretch>
            <a:fillRect/>
          </a:stretch>
        </p:blipFill>
        <p:spPr bwMode="auto">
          <a:xfrm>
            <a:off x="0" y="2143116"/>
            <a:ext cx="9144000" cy="1986944"/>
          </a:xfrm>
          <a:prstGeom prst="rect">
            <a:avLst/>
          </a:prstGeom>
          <a:noFill/>
          <a:ln w="9525">
            <a:noFill/>
            <a:miter lim="800000"/>
            <a:headEnd/>
            <a:tailEnd/>
          </a:ln>
          <a:effectLst/>
        </p:spPr>
      </p:pic>
      <p:sp>
        <p:nvSpPr>
          <p:cNvPr id="11" name="Прямоугольник 10"/>
          <p:cNvSpPr/>
          <p:nvPr/>
        </p:nvSpPr>
        <p:spPr>
          <a:xfrm>
            <a:off x="0" y="4143380"/>
            <a:ext cx="9144000" cy="1938992"/>
          </a:xfrm>
          <a:prstGeom prst="rect">
            <a:avLst/>
          </a:prstGeom>
        </p:spPr>
        <p:txBody>
          <a:bodyPr wrap="square">
            <a:spAutoFit/>
          </a:bodyPr>
          <a:lstStyle/>
          <a:p>
            <a:r>
              <a:rPr lang="ru-RU" dirty="0"/>
              <a:t>Задача 1.Есть сигнал, приходящий из линии связи, и некоторый эталон. Требуется определить, является ли полученный извне сигнал  таким же, как эталон.</a:t>
            </a:r>
          </a:p>
          <a:p>
            <a:r>
              <a:rPr lang="ru-RU" dirty="0"/>
              <a:t>Можно было бы сравнить сигналы по точкам, но нули времени сигналов могут и не совпадать.</a:t>
            </a: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ru-RU"/>
          </a:p>
        </p:txBody>
      </p:sp>
      <p:graphicFrame>
        <p:nvGraphicFramePr>
          <p:cNvPr id="3" name="Объект 2"/>
          <p:cNvGraphicFramePr>
            <a:graphicFrameLocks noChangeAspect="1"/>
          </p:cNvGraphicFramePr>
          <p:nvPr>
            <p:extLst>
              <p:ext uri="{D42A27DB-BD31-4B8C-83A1-F6EECF244321}">
                <p14:modId xmlns:p14="http://schemas.microsoft.com/office/powerpoint/2010/main" val="690698154"/>
              </p:ext>
            </p:extLst>
          </p:nvPr>
        </p:nvGraphicFramePr>
        <p:xfrm>
          <a:off x="4320232" y="5805264"/>
          <a:ext cx="4140200" cy="558800"/>
        </p:xfrm>
        <a:graphic>
          <a:graphicData uri="http://schemas.openxmlformats.org/presentationml/2006/ole">
            <mc:AlternateContent xmlns:mc="http://schemas.openxmlformats.org/markup-compatibility/2006">
              <mc:Choice xmlns:v="urn:schemas-microsoft-com:vml" Requires="v">
                <p:oleObj r:id="rId3" imgW="2070100" imgH="279400" progId="Equation.3">
                  <p:embed/>
                </p:oleObj>
              </mc:Choice>
              <mc:Fallback>
                <p:oleObj r:id="rId3" imgW="2070100" imgH="279400" progId="Equation.3">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20232" y="5805264"/>
                        <a:ext cx="4140200" cy="558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descr="Large confetti"/>
          <p:cNvSpPr>
            <a:spLocks noChangeArrowheads="1"/>
          </p:cNvSpPr>
          <p:nvPr/>
        </p:nvSpPr>
        <p:spPr bwMode="auto">
          <a:xfrm>
            <a:off x="0" y="228600"/>
            <a:ext cx="9144000" cy="630238"/>
          </a:xfrm>
          <a:prstGeom prst="rect">
            <a:avLst/>
          </a:prstGeom>
          <a:noFill/>
          <a:ln w="9525">
            <a:noFill/>
            <a:miter lim="800000"/>
            <a:headEnd/>
            <a:tailEnd/>
          </a:ln>
        </p:spPr>
        <p:txBody>
          <a:bodyPr anchor="b"/>
          <a:lstStyle/>
          <a:p>
            <a:r>
              <a:rPr lang="ru-RU" sz="2800" b="1"/>
              <a:t>Методы и средства цифровой обработки информации</a:t>
            </a:r>
          </a:p>
        </p:txBody>
      </p:sp>
      <p:sp>
        <p:nvSpPr>
          <p:cNvPr id="9219" name="Rectangle 7"/>
          <p:cNvSpPr>
            <a:spLocks noChangeArrowheads="1"/>
          </p:cNvSpPr>
          <p:nvPr/>
        </p:nvSpPr>
        <p:spPr bwMode="auto">
          <a:xfrm>
            <a:off x="2971800" y="1657350"/>
            <a:ext cx="9144000" cy="0"/>
          </a:xfrm>
          <a:prstGeom prst="rect">
            <a:avLst/>
          </a:prstGeom>
          <a:noFill/>
          <a:ln w="9525">
            <a:noFill/>
            <a:miter lim="800000"/>
            <a:headEnd/>
            <a:tailEnd/>
          </a:ln>
        </p:spPr>
        <p:txBody>
          <a:bodyPr>
            <a:spAutoFit/>
          </a:bodyPr>
          <a:lstStyle/>
          <a:p>
            <a:endParaRPr lang="ru-RU"/>
          </a:p>
        </p:txBody>
      </p:sp>
      <p:sp>
        <p:nvSpPr>
          <p:cNvPr id="9220" name="Rectangle 9"/>
          <p:cNvSpPr>
            <a:spLocks noChangeArrowheads="1"/>
          </p:cNvSpPr>
          <p:nvPr/>
        </p:nvSpPr>
        <p:spPr bwMode="auto">
          <a:xfrm>
            <a:off x="2852738" y="3309938"/>
            <a:ext cx="9144000" cy="0"/>
          </a:xfrm>
          <a:prstGeom prst="rect">
            <a:avLst/>
          </a:prstGeom>
          <a:noFill/>
          <a:ln w="9525">
            <a:noFill/>
            <a:miter lim="800000"/>
            <a:headEnd/>
            <a:tailEnd/>
          </a:ln>
        </p:spPr>
        <p:txBody>
          <a:bodyPr>
            <a:spAutoFit/>
          </a:bodyPr>
          <a:lstStyle/>
          <a:p>
            <a:endParaRPr lang="ru-RU"/>
          </a:p>
        </p:txBody>
      </p:sp>
      <p:sp>
        <p:nvSpPr>
          <p:cNvPr id="9221" name="Rectangle 10"/>
          <p:cNvSpPr>
            <a:spLocks noChangeArrowheads="1"/>
          </p:cNvSpPr>
          <p:nvPr/>
        </p:nvSpPr>
        <p:spPr bwMode="auto">
          <a:xfrm>
            <a:off x="0" y="928670"/>
            <a:ext cx="9144000" cy="2062103"/>
          </a:xfrm>
          <a:prstGeom prst="rect">
            <a:avLst/>
          </a:prstGeom>
          <a:noFill/>
          <a:ln w="9525">
            <a:noFill/>
            <a:miter lim="800000"/>
            <a:headEnd/>
            <a:tailEnd/>
          </a:ln>
        </p:spPr>
        <p:txBody>
          <a:bodyPr>
            <a:spAutoFit/>
          </a:bodyPr>
          <a:lstStyle/>
          <a:p>
            <a:pPr algn="ctr"/>
            <a:r>
              <a:rPr lang="ru-RU" sz="3200" dirty="0"/>
              <a:t>Детектор, основанный на корреляционном детекторе</a:t>
            </a:r>
          </a:p>
          <a:p>
            <a:pPr indent="457200" algn="just"/>
            <a:endParaRPr lang="ru-RU" sz="3200" dirty="0"/>
          </a:p>
          <a:p>
            <a:pPr indent="457200" algn="just"/>
            <a:endParaRPr lang="ru-RU" sz="3200" dirty="0"/>
          </a:p>
        </p:txBody>
      </p:sp>
      <p:sp>
        <p:nvSpPr>
          <p:cNvPr id="5427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427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5301"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12" name="Text Box 15"/>
          <p:cNvSpPr txBox="1">
            <a:spLocks noChangeArrowheads="1"/>
          </p:cNvSpPr>
          <p:nvPr/>
        </p:nvSpPr>
        <p:spPr bwMode="auto">
          <a:xfrm>
            <a:off x="857250" y="6400801"/>
            <a:ext cx="8286750" cy="424732"/>
          </a:xfrm>
          <a:prstGeom prst="rect">
            <a:avLst/>
          </a:prstGeom>
          <a:noFill/>
          <a:ln w="9525">
            <a:noFill/>
            <a:miter lim="800000"/>
            <a:headEnd/>
            <a:tailEnd/>
          </a:ln>
        </p:spPr>
        <p:txBody>
          <a:bodyPr wrap="square">
            <a:spAutoFit/>
          </a:bodyPr>
          <a:lstStyle/>
          <a:p>
            <a:pPr algn="ctr">
              <a:lnSpc>
                <a:spcPct val="90000"/>
              </a:lnSpc>
            </a:pPr>
            <a:r>
              <a:rPr lang="ru-RU" dirty="0"/>
              <a:t>Лекция </a:t>
            </a:r>
            <a:r>
              <a:rPr lang="en-US" dirty="0"/>
              <a:t>1</a:t>
            </a:r>
            <a:r>
              <a:rPr lang="ru-RU" dirty="0"/>
              <a:t>1. Вычисление АКФ и ВКФ и их применение</a:t>
            </a:r>
            <a:endParaRPr lang="ru-RU" i="1" dirty="0"/>
          </a:p>
        </p:txBody>
      </p:sp>
      <p:pic>
        <p:nvPicPr>
          <p:cNvPr id="66562" name="Picture 2"/>
          <p:cNvPicPr>
            <a:picLocks noChangeAspect="1" noChangeArrowheads="1"/>
          </p:cNvPicPr>
          <p:nvPr/>
        </p:nvPicPr>
        <p:blipFill>
          <a:blip r:embed="rId2" cstate="print"/>
          <a:srcRect/>
          <a:stretch>
            <a:fillRect/>
          </a:stretch>
        </p:blipFill>
        <p:spPr bwMode="auto">
          <a:xfrm>
            <a:off x="714348" y="1928802"/>
            <a:ext cx="7500990" cy="4527761"/>
          </a:xfrm>
          <a:prstGeom prst="rect">
            <a:avLst/>
          </a:prstGeom>
          <a:noFill/>
          <a:ln w="9525">
            <a:noFill/>
            <a:miter lim="800000"/>
            <a:headEnd/>
            <a:tailEnd/>
          </a:ln>
          <a:effec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descr="Large confetti"/>
          <p:cNvSpPr>
            <a:spLocks noChangeArrowheads="1"/>
          </p:cNvSpPr>
          <p:nvPr/>
        </p:nvSpPr>
        <p:spPr bwMode="auto">
          <a:xfrm>
            <a:off x="0" y="228600"/>
            <a:ext cx="9144000" cy="630238"/>
          </a:xfrm>
          <a:prstGeom prst="rect">
            <a:avLst/>
          </a:prstGeom>
          <a:noFill/>
          <a:ln w="9525">
            <a:noFill/>
            <a:miter lim="800000"/>
            <a:headEnd/>
            <a:tailEnd/>
          </a:ln>
        </p:spPr>
        <p:txBody>
          <a:bodyPr anchor="b"/>
          <a:lstStyle/>
          <a:p>
            <a:r>
              <a:rPr lang="ru-RU" sz="2800" b="1"/>
              <a:t>Методы и средства цифровой обработки информации</a:t>
            </a:r>
          </a:p>
        </p:txBody>
      </p:sp>
      <p:sp>
        <p:nvSpPr>
          <p:cNvPr id="9219" name="Rectangle 7"/>
          <p:cNvSpPr>
            <a:spLocks noChangeArrowheads="1"/>
          </p:cNvSpPr>
          <p:nvPr/>
        </p:nvSpPr>
        <p:spPr bwMode="auto">
          <a:xfrm>
            <a:off x="2971800" y="1657350"/>
            <a:ext cx="9144000" cy="0"/>
          </a:xfrm>
          <a:prstGeom prst="rect">
            <a:avLst/>
          </a:prstGeom>
          <a:noFill/>
          <a:ln w="9525">
            <a:noFill/>
            <a:miter lim="800000"/>
            <a:headEnd/>
            <a:tailEnd/>
          </a:ln>
        </p:spPr>
        <p:txBody>
          <a:bodyPr>
            <a:spAutoFit/>
          </a:bodyPr>
          <a:lstStyle/>
          <a:p>
            <a:endParaRPr lang="ru-RU"/>
          </a:p>
        </p:txBody>
      </p:sp>
      <p:sp>
        <p:nvSpPr>
          <p:cNvPr id="9220" name="Rectangle 9"/>
          <p:cNvSpPr>
            <a:spLocks noChangeArrowheads="1"/>
          </p:cNvSpPr>
          <p:nvPr/>
        </p:nvSpPr>
        <p:spPr bwMode="auto">
          <a:xfrm>
            <a:off x="2852738" y="3309938"/>
            <a:ext cx="9144000" cy="0"/>
          </a:xfrm>
          <a:prstGeom prst="rect">
            <a:avLst/>
          </a:prstGeom>
          <a:noFill/>
          <a:ln w="9525">
            <a:noFill/>
            <a:miter lim="800000"/>
            <a:headEnd/>
            <a:tailEnd/>
          </a:ln>
        </p:spPr>
        <p:txBody>
          <a:bodyPr>
            <a:spAutoFit/>
          </a:bodyPr>
          <a:lstStyle/>
          <a:p>
            <a:endParaRPr lang="ru-RU"/>
          </a:p>
        </p:txBody>
      </p:sp>
      <p:sp>
        <p:nvSpPr>
          <p:cNvPr id="9221" name="Rectangle 10"/>
          <p:cNvSpPr>
            <a:spLocks noChangeArrowheads="1"/>
          </p:cNvSpPr>
          <p:nvPr/>
        </p:nvSpPr>
        <p:spPr bwMode="auto">
          <a:xfrm>
            <a:off x="0" y="928670"/>
            <a:ext cx="9144000" cy="1569660"/>
          </a:xfrm>
          <a:prstGeom prst="rect">
            <a:avLst/>
          </a:prstGeom>
          <a:noFill/>
          <a:ln w="9525">
            <a:noFill/>
            <a:miter lim="800000"/>
            <a:headEnd/>
            <a:tailEnd/>
          </a:ln>
        </p:spPr>
        <p:txBody>
          <a:bodyPr>
            <a:spAutoFit/>
          </a:bodyPr>
          <a:lstStyle/>
          <a:p>
            <a:pPr algn="ctr"/>
            <a:r>
              <a:rPr lang="ru-RU" sz="3200" dirty="0"/>
              <a:t>Структурная схема измерителя скорости неоднородного потока жидкости</a:t>
            </a:r>
          </a:p>
          <a:p>
            <a:pPr indent="457200" algn="just"/>
            <a:endParaRPr lang="ru-RU" sz="3200" dirty="0"/>
          </a:p>
        </p:txBody>
      </p:sp>
      <p:sp>
        <p:nvSpPr>
          <p:cNvPr id="5427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427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5301"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12" name="Text Box 15"/>
          <p:cNvSpPr txBox="1">
            <a:spLocks noChangeArrowheads="1"/>
          </p:cNvSpPr>
          <p:nvPr/>
        </p:nvSpPr>
        <p:spPr bwMode="auto">
          <a:xfrm>
            <a:off x="857250" y="6400801"/>
            <a:ext cx="8286750" cy="424732"/>
          </a:xfrm>
          <a:prstGeom prst="rect">
            <a:avLst/>
          </a:prstGeom>
          <a:noFill/>
          <a:ln w="9525">
            <a:noFill/>
            <a:miter lim="800000"/>
            <a:headEnd/>
            <a:tailEnd/>
          </a:ln>
        </p:spPr>
        <p:txBody>
          <a:bodyPr wrap="square">
            <a:spAutoFit/>
          </a:bodyPr>
          <a:lstStyle/>
          <a:p>
            <a:pPr algn="ctr">
              <a:lnSpc>
                <a:spcPct val="90000"/>
              </a:lnSpc>
            </a:pPr>
            <a:r>
              <a:rPr lang="ru-RU" dirty="0"/>
              <a:t>Лекция </a:t>
            </a:r>
            <a:r>
              <a:rPr lang="en-US" dirty="0"/>
              <a:t>1</a:t>
            </a:r>
            <a:r>
              <a:rPr lang="ru-RU" dirty="0"/>
              <a:t>1. Вычисление АКФ и ВКФ и их применение</a:t>
            </a:r>
            <a:endParaRPr lang="ru-RU" i="1" dirty="0"/>
          </a:p>
        </p:txBody>
      </p:sp>
      <p:pic>
        <p:nvPicPr>
          <p:cNvPr id="67586" name="Picture 2"/>
          <p:cNvPicPr>
            <a:picLocks noChangeAspect="1" noChangeArrowheads="1"/>
          </p:cNvPicPr>
          <p:nvPr/>
        </p:nvPicPr>
        <p:blipFill>
          <a:blip r:embed="rId2" cstate="print"/>
          <a:srcRect/>
          <a:stretch>
            <a:fillRect/>
          </a:stretch>
        </p:blipFill>
        <p:spPr bwMode="auto">
          <a:xfrm>
            <a:off x="70138" y="2000240"/>
            <a:ext cx="9073862" cy="4319670"/>
          </a:xfrm>
          <a:prstGeom prst="rect">
            <a:avLst/>
          </a:prstGeom>
          <a:noFill/>
          <a:ln w="9525">
            <a:noFill/>
            <a:miter lim="800000"/>
            <a:headEnd/>
            <a:tailEnd/>
          </a:ln>
          <a:effectLst/>
        </p:spPr>
      </p:pic>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ru-RU"/>
          </a:p>
        </p:txBody>
      </p:sp>
      <p:graphicFrame>
        <p:nvGraphicFramePr>
          <p:cNvPr id="3" name="Объект 2"/>
          <p:cNvGraphicFramePr>
            <a:graphicFrameLocks noChangeAspect="1"/>
          </p:cNvGraphicFramePr>
          <p:nvPr>
            <p:extLst>
              <p:ext uri="{D42A27DB-BD31-4B8C-83A1-F6EECF244321}">
                <p14:modId xmlns:p14="http://schemas.microsoft.com/office/powerpoint/2010/main" val="1823296346"/>
              </p:ext>
            </p:extLst>
          </p:nvPr>
        </p:nvGraphicFramePr>
        <p:xfrm>
          <a:off x="8035184" y="836712"/>
          <a:ext cx="1091726" cy="1142504"/>
        </p:xfrm>
        <a:graphic>
          <a:graphicData uri="http://schemas.openxmlformats.org/presentationml/2006/ole">
            <mc:AlternateContent xmlns:mc="http://schemas.openxmlformats.org/markup-compatibility/2006">
              <mc:Choice xmlns:v="urn:schemas-microsoft-com:vml" Requires="v">
                <p:oleObj r:id="rId3" imgW="545863" imgH="571252" progId="Equation.3">
                  <p:embed/>
                </p:oleObj>
              </mc:Choice>
              <mc:Fallback>
                <p:oleObj r:id="rId3" imgW="545863" imgH="571252" progId="Equation.3">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35184" y="836712"/>
                        <a:ext cx="1091726" cy="11425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descr="Large confetti"/>
          <p:cNvSpPr>
            <a:spLocks noChangeArrowheads="1"/>
          </p:cNvSpPr>
          <p:nvPr/>
        </p:nvSpPr>
        <p:spPr bwMode="auto">
          <a:xfrm>
            <a:off x="0" y="228600"/>
            <a:ext cx="9144000" cy="630238"/>
          </a:xfrm>
          <a:prstGeom prst="rect">
            <a:avLst/>
          </a:prstGeom>
          <a:noFill/>
          <a:ln w="9525">
            <a:noFill/>
            <a:miter lim="800000"/>
            <a:headEnd/>
            <a:tailEnd/>
          </a:ln>
        </p:spPr>
        <p:txBody>
          <a:bodyPr anchor="b"/>
          <a:lstStyle/>
          <a:p>
            <a:r>
              <a:rPr lang="ru-RU" sz="2800" b="1"/>
              <a:t>Методы и средства цифровой обработки информации</a:t>
            </a:r>
          </a:p>
        </p:txBody>
      </p:sp>
      <p:sp>
        <p:nvSpPr>
          <p:cNvPr id="9219" name="Rectangle 7"/>
          <p:cNvSpPr>
            <a:spLocks noChangeArrowheads="1"/>
          </p:cNvSpPr>
          <p:nvPr/>
        </p:nvSpPr>
        <p:spPr bwMode="auto">
          <a:xfrm>
            <a:off x="2971800" y="1657350"/>
            <a:ext cx="9144000" cy="0"/>
          </a:xfrm>
          <a:prstGeom prst="rect">
            <a:avLst/>
          </a:prstGeom>
          <a:noFill/>
          <a:ln w="9525">
            <a:noFill/>
            <a:miter lim="800000"/>
            <a:headEnd/>
            <a:tailEnd/>
          </a:ln>
        </p:spPr>
        <p:txBody>
          <a:bodyPr>
            <a:spAutoFit/>
          </a:bodyPr>
          <a:lstStyle/>
          <a:p>
            <a:endParaRPr lang="ru-RU"/>
          </a:p>
        </p:txBody>
      </p:sp>
      <p:sp>
        <p:nvSpPr>
          <p:cNvPr id="9220" name="Rectangle 9"/>
          <p:cNvSpPr>
            <a:spLocks noChangeArrowheads="1"/>
          </p:cNvSpPr>
          <p:nvPr/>
        </p:nvSpPr>
        <p:spPr bwMode="auto">
          <a:xfrm>
            <a:off x="2852738" y="3309938"/>
            <a:ext cx="9144000" cy="0"/>
          </a:xfrm>
          <a:prstGeom prst="rect">
            <a:avLst/>
          </a:prstGeom>
          <a:noFill/>
          <a:ln w="9525">
            <a:noFill/>
            <a:miter lim="800000"/>
            <a:headEnd/>
            <a:tailEnd/>
          </a:ln>
        </p:spPr>
        <p:txBody>
          <a:bodyPr>
            <a:spAutoFit/>
          </a:bodyPr>
          <a:lstStyle/>
          <a:p>
            <a:endParaRPr lang="ru-RU"/>
          </a:p>
        </p:txBody>
      </p:sp>
      <p:sp>
        <p:nvSpPr>
          <p:cNvPr id="5427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427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5301"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12" name="Text Box 15"/>
          <p:cNvSpPr txBox="1">
            <a:spLocks noChangeArrowheads="1"/>
          </p:cNvSpPr>
          <p:nvPr/>
        </p:nvSpPr>
        <p:spPr bwMode="auto">
          <a:xfrm>
            <a:off x="857250" y="6400801"/>
            <a:ext cx="8286750" cy="424732"/>
          </a:xfrm>
          <a:prstGeom prst="rect">
            <a:avLst/>
          </a:prstGeom>
          <a:noFill/>
          <a:ln w="9525">
            <a:noFill/>
            <a:miter lim="800000"/>
            <a:headEnd/>
            <a:tailEnd/>
          </a:ln>
        </p:spPr>
        <p:txBody>
          <a:bodyPr wrap="square">
            <a:spAutoFit/>
          </a:bodyPr>
          <a:lstStyle/>
          <a:p>
            <a:pPr algn="ctr">
              <a:lnSpc>
                <a:spcPct val="90000"/>
              </a:lnSpc>
            </a:pPr>
            <a:r>
              <a:rPr lang="ru-RU" dirty="0"/>
              <a:t>Лекция </a:t>
            </a:r>
            <a:r>
              <a:rPr lang="en-US" dirty="0"/>
              <a:t>1</a:t>
            </a:r>
            <a:r>
              <a:rPr lang="ru-RU" dirty="0"/>
              <a:t>1. Вычисление АКФ и ВКФ и их применение</a:t>
            </a:r>
            <a:endParaRPr lang="ru-RU" i="1" dirty="0"/>
          </a:p>
        </p:txBody>
      </p:sp>
      <p:pic>
        <p:nvPicPr>
          <p:cNvPr id="71682" name="Picture 2"/>
          <p:cNvPicPr>
            <a:picLocks noChangeAspect="1" noChangeArrowheads="1"/>
          </p:cNvPicPr>
          <p:nvPr/>
        </p:nvPicPr>
        <p:blipFill>
          <a:blip r:embed="rId2" cstate="print"/>
          <a:srcRect/>
          <a:stretch>
            <a:fillRect/>
          </a:stretch>
        </p:blipFill>
        <p:spPr bwMode="auto">
          <a:xfrm>
            <a:off x="0" y="1428736"/>
            <a:ext cx="3952875" cy="4505325"/>
          </a:xfrm>
          <a:prstGeom prst="rect">
            <a:avLst/>
          </a:prstGeom>
          <a:noFill/>
          <a:ln w="9525">
            <a:noFill/>
            <a:miter lim="800000"/>
            <a:headEnd/>
            <a:tailEnd/>
          </a:ln>
          <a:effectLst/>
        </p:spPr>
      </p:pic>
      <p:pic>
        <p:nvPicPr>
          <p:cNvPr id="71683" name="Picture 3"/>
          <p:cNvPicPr>
            <a:picLocks noChangeAspect="1" noChangeArrowheads="1"/>
          </p:cNvPicPr>
          <p:nvPr/>
        </p:nvPicPr>
        <p:blipFill>
          <a:blip r:embed="rId3" cstate="print"/>
          <a:srcRect/>
          <a:stretch>
            <a:fillRect/>
          </a:stretch>
        </p:blipFill>
        <p:spPr bwMode="auto">
          <a:xfrm>
            <a:off x="5246145" y="1000108"/>
            <a:ext cx="3897855" cy="5467346"/>
          </a:xfrm>
          <a:prstGeom prst="rect">
            <a:avLst/>
          </a:prstGeom>
          <a:noFill/>
          <a:ln w="9525">
            <a:noFill/>
            <a:miter lim="800000"/>
            <a:headEnd/>
            <a:tailEnd/>
          </a:ln>
          <a:effectLst/>
        </p:spPr>
      </p:pic>
      <p:sp>
        <p:nvSpPr>
          <p:cNvPr id="13" name="Rectangle 10"/>
          <p:cNvSpPr>
            <a:spLocks noChangeArrowheads="1"/>
          </p:cNvSpPr>
          <p:nvPr/>
        </p:nvSpPr>
        <p:spPr bwMode="auto">
          <a:xfrm>
            <a:off x="0" y="5929330"/>
            <a:ext cx="7143768" cy="461665"/>
          </a:xfrm>
          <a:prstGeom prst="rect">
            <a:avLst/>
          </a:prstGeom>
          <a:noFill/>
          <a:ln w="9525">
            <a:noFill/>
            <a:miter lim="800000"/>
            <a:headEnd/>
            <a:tailEnd/>
          </a:ln>
        </p:spPr>
        <p:txBody>
          <a:bodyPr wrap="square">
            <a:spAutoFit/>
          </a:bodyPr>
          <a:lstStyle/>
          <a:p>
            <a:r>
              <a:rPr lang="ru-RU" dirty="0"/>
              <a:t>Функциональная схема системы детектирования</a:t>
            </a:r>
          </a:p>
        </p:txBody>
      </p:sp>
      <p:sp>
        <p:nvSpPr>
          <p:cNvPr id="9221" name="Rectangle 10"/>
          <p:cNvSpPr>
            <a:spLocks noChangeArrowheads="1"/>
          </p:cNvSpPr>
          <p:nvPr/>
        </p:nvSpPr>
        <p:spPr bwMode="auto">
          <a:xfrm>
            <a:off x="0" y="928670"/>
            <a:ext cx="7215206" cy="461665"/>
          </a:xfrm>
          <a:prstGeom prst="rect">
            <a:avLst/>
          </a:prstGeom>
          <a:noFill/>
          <a:ln w="9525">
            <a:noFill/>
            <a:miter lim="800000"/>
            <a:headEnd/>
            <a:tailEnd/>
          </a:ln>
        </p:spPr>
        <p:txBody>
          <a:bodyPr wrap="square">
            <a:spAutoFit/>
          </a:bodyPr>
          <a:lstStyle/>
          <a:p>
            <a:r>
              <a:rPr lang="ru-RU" dirty="0"/>
              <a:t>Функциональная схема системы тонального набора</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descr="Large confetti"/>
          <p:cNvSpPr>
            <a:spLocks noChangeArrowheads="1"/>
          </p:cNvSpPr>
          <p:nvPr/>
        </p:nvSpPr>
        <p:spPr bwMode="auto">
          <a:xfrm>
            <a:off x="0" y="228600"/>
            <a:ext cx="9144000" cy="630238"/>
          </a:xfrm>
          <a:prstGeom prst="rect">
            <a:avLst/>
          </a:prstGeom>
          <a:noFill/>
          <a:ln w="9525">
            <a:noFill/>
            <a:miter lim="800000"/>
            <a:headEnd/>
            <a:tailEnd/>
          </a:ln>
        </p:spPr>
        <p:txBody>
          <a:bodyPr anchor="b"/>
          <a:lstStyle/>
          <a:p>
            <a:r>
              <a:rPr lang="ru-RU" sz="2800" b="1"/>
              <a:t>Методы и средства цифровой обработки информации</a:t>
            </a:r>
          </a:p>
        </p:txBody>
      </p:sp>
      <p:sp>
        <p:nvSpPr>
          <p:cNvPr id="9219" name="Rectangle 7"/>
          <p:cNvSpPr>
            <a:spLocks noChangeArrowheads="1"/>
          </p:cNvSpPr>
          <p:nvPr/>
        </p:nvSpPr>
        <p:spPr bwMode="auto">
          <a:xfrm>
            <a:off x="2971800" y="1657350"/>
            <a:ext cx="9144000" cy="0"/>
          </a:xfrm>
          <a:prstGeom prst="rect">
            <a:avLst/>
          </a:prstGeom>
          <a:noFill/>
          <a:ln w="9525">
            <a:noFill/>
            <a:miter lim="800000"/>
            <a:headEnd/>
            <a:tailEnd/>
          </a:ln>
        </p:spPr>
        <p:txBody>
          <a:bodyPr>
            <a:spAutoFit/>
          </a:bodyPr>
          <a:lstStyle/>
          <a:p>
            <a:endParaRPr lang="ru-RU"/>
          </a:p>
        </p:txBody>
      </p:sp>
      <p:sp>
        <p:nvSpPr>
          <p:cNvPr id="9220" name="Rectangle 9"/>
          <p:cNvSpPr>
            <a:spLocks noChangeArrowheads="1"/>
          </p:cNvSpPr>
          <p:nvPr/>
        </p:nvSpPr>
        <p:spPr bwMode="auto">
          <a:xfrm>
            <a:off x="2852738" y="3309938"/>
            <a:ext cx="9144000" cy="0"/>
          </a:xfrm>
          <a:prstGeom prst="rect">
            <a:avLst/>
          </a:prstGeom>
          <a:noFill/>
          <a:ln w="9525">
            <a:noFill/>
            <a:miter lim="800000"/>
            <a:headEnd/>
            <a:tailEnd/>
          </a:ln>
        </p:spPr>
        <p:txBody>
          <a:bodyPr>
            <a:spAutoFit/>
          </a:bodyPr>
          <a:lstStyle/>
          <a:p>
            <a:endParaRPr lang="ru-RU"/>
          </a:p>
        </p:txBody>
      </p:sp>
      <p:sp>
        <p:nvSpPr>
          <p:cNvPr id="5427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427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5301"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12" name="Text Box 15"/>
          <p:cNvSpPr txBox="1">
            <a:spLocks noChangeArrowheads="1"/>
          </p:cNvSpPr>
          <p:nvPr/>
        </p:nvSpPr>
        <p:spPr bwMode="auto">
          <a:xfrm>
            <a:off x="857250" y="6400801"/>
            <a:ext cx="8286750" cy="424732"/>
          </a:xfrm>
          <a:prstGeom prst="rect">
            <a:avLst/>
          </a:prstGeom>
          <a:noFill/>
          <a:ln w="9525">
            <a:noFill/>
            <a:miter lim="800000"/>
            <a:headEnd/>
            <a:tailEnd/>
          </a:ln>
        </p:spPr>
        <p:txBody>
          <a:bodyPr wrap="square">
            <a:spAutoFit/>
          </a:bodyPr>
          <a:lstStyle/>
          <a:p>
            <a:pPr algn="ctr">
              <a:lnSpc>
                <a:spcPct val="90000"/>
              </a:lnSpc>
            </a:pPr>
            <a:r>
              <a:rPr lang="ru-RU" dirty="0"/>
              <a:t>Лекция </a:t>
            </a:r>
            <a:r>
              <a:rPr lang="en-US" dirty="0"/>
              <a:t>1</a:t>
            </a:r>
            <a:r>
              <a:rPr lang="ru-RU" dirty="0"/>
              <a:t>1. Вычисление АКФ и ВКФ и их применение</a:t>
            </a:r>
            <a:endParaRPr lang="ru-RU" i="1" dirty="0"/>
          </a:p>
        </p:txBody>
      </p:sp>
      <p:sp>
        <p:nvSpPr>
          <p:cNvPr id="9221" name="Rectangle 10"/>
          <p:cNvSpPr>
            <a:spLocks noChangeArrowheads="1"/>
          </p:cNvSpPr>
          <p:nvPr/>
        </p:nvSpPr>
        <p:spPr bwMode="auto">
          <a:xfrm>
            <a:off x="0" y="928670"/>
            <a:ext cx="9144000" cy="5509200"/>
          </a:xfrm>
          <a:prstGeom prst="rect">
            <a:avLst/>
          </a:prstGeom>
          <a:noFill/>
          <a:ln w="9525">
            <a:noFill/>
            <a:miter lim="800000"/>
            <a:headEnd/>
            <a:tailEnd/>
          </a:ln>
        </p:spPr>
        <p:txBody>
          <a:bodyPr wrap="square">
            <a:spAutoFit/>
          </a:bodyPr>
          <a:lstStyle/>
          <a:p>
            <a:pPr algn="ctr"/>
            <a:r>
              <a:rPr lang="ru-RU" sz="3200" b="1" dirty="0"/>
              <a:t>Кодовые последовательности </a:t>
            </a:r>
            <a:r>
              <a:rPr lang="ru-RU" sz="3200" b="1" dirty="0" err="1"/>
              <a:t>Баркера</a:t>
            </a:r>
            <a:endParaRPr lang="ru-RU" sz="3200" b="1" dirty="0"/>
          </a:p>
          <a:p>
            <a:pPr algn="just"/>
            <a:r>
              <a:rPr lang="ru-RU" sz="3200" dirty="0" err="1"/>
              <a:t>Баркер</a:t>
            </a:r>
            <a:r>
              <a:rPr lang="ru-RU" sz="3200" dirty="0"/>
              <a:t> поставил задачу о поиске кодовых последовательностей из {1, –1}, близких по свойствам к белому шуму в том смысле, что автокорреляционная функция (скалярное произведение вектора кода </a:t>
            </a:r>
            <a:r>
              <a:rPr lang="ru-RU" sz="3200" dirty="0" err="1"/>
              <a:t>Баркера</a:t>
            </a:r>
            <a:r>
              <a:rPr lang="ru-RU" sz="3200" dirty="0"/>
              <a:t> v на вектор с любым, по величине, нециклическим сдвигом элементов влево v) ограничена по амплитуде |</a:t>
            </a:r>
            <a:r>
              <a:rPr lang="ru-RU" sz="3200" dirty="0" err="1"/>
              <a:t>v'v</a:t>
            </a:r>
            <a:r>
              <a:rPr lang="ru-RU" sz="3200" dirty="0"/>
              <a:t>|≤1. Задача </a:t>
            </a:r>
            <a:r>
              <a:rPr lang="ru-RU" sz="3200" dirty="0" err="1"/>
              <a:t>Баркера</a:t>
            </a:r>
            <a:r>
              <a:rPr lang="ru-RU" sz="3200" dirty="0"/>
              <a:t> интересна в том смысле, что она имеет решением последовательности, длиною не большей 13 (гипотеза </a:t>
            </a:r>
            <a:r>
              <a:rPr lang="ru-RU" sz="3200" dirty="0" err="1"/>
              <a:t>Баркера</a:t>
            </a:r>
            <a:r>
              <a:rPr lang="ru-RU" sz="3200" dirty="0"/>
              <a:t>).</a:t>
            </a:r>
            <a:endParaRPr lang="ru-RU" sz="3200" b="1"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descr="Large confetti"/>
          <p:cNvSpPr>
            <a:spLocks noChangeArrowheads="1"/>
          </p:cNvSpPr>
          <p:nvPr/>
        </p:nvSpPr>
        <p:spPr bwMode="auto">
          <a:xfrm>
            <a:off x="0" y="228600"/>
            <a:ext cx="9144000" cy="630238"/>
          </a:xfrm>
          <a:prstGeom prst="rect">
            <a:avLst/>
          </a:prstGeom>
          <a:noFill/>
          <a:ln w="9525">
            <a:noFill/>
            <a:miter lim="800000"/>
            <a:headEnd/>
            <a:tailEnd/>
          </a:ln>
        </p:spPr>
        <p:txBody>
          <a:bodyPr anchor="b"/>
          <a:lstStyle/>
          <a:p>
            <a:r>
              <a:rPr lang="ru-RU" sz="2800" b="1"/>
              <a:t>Методы и средства цифровой обработки информации</a:t>
            </a:r>
          </a:p>
        </p:txBody>
      </p:sp>
      <p:sp>
        <p:nvSpPr>
          <p:cNvPr id="9219" name="Rectangle 7"/>
          <p:cNvSpPr>
            <a:spLocks noChangeArrowheads="1"/>
          </p:cNvSpPr>
          <p:nvPr/>
        </p:nvSpPr>
        <p:spPr bwMode="auto">
          <a:xfrm>
            <a:off x="2971800" y="1657350"/>
            <a:ext cx="9144000" cy="0"/>
          </a:xfrm>
          <a:prstGeom prst="rect">
            <a:avLst/>
          </a:prstGeom>
          <a:noFill/>
          <a:ln w="9525">
            <a:noFill/>
            <a:miter lim="800000"/>
            <a:headEnd/>
            <a:tailEnd/>
          </a:ln>
        </p:spPr>
        <p:txBody>
          <a:bodyPr>
            <a:spAutoFit/>
          </a:bodyPr>
          <a:lstStyle/>
          <a:p>
            <a:endParaRPr lang="ru-RU"/>
          </a:p>
        </p:txBody>
      </p:sp>
      <p:sp>
        <p:nvSpPr>
          <p:cNvPr id="9220" name="Rectangle 9"/>
          <p:cNvSpPr>
            <a:spLocks noChangeArrowheads="1"/>
          </p:cNvSpPr>
          <p:nvPr/>
        </p:nvSpPr>
        <p:spPr bwMode="auto">
          <a:xfrm>
            <a:off x="2852738" y="3309938"/>
            <a:ext cx="9144000" cy="0"/>
          </a:xfrm>
          <a:prstGeom prst="rect">
            <a:avLst/>
          </a:prstGeom>
          <a:noFill/>
          <a:ln w="9525">
            <a:noFill/>
            <a:miter lim="800000"/>
            <a:headEnd/>
            <a:tailEnd/>
          </a:ln>
        </p:spPr>
        <p:txBody>
          <a:bodyPr>
            <a:spAutoFit/>
          </a:bodyPr>
          <a:lstStyle/>
          <a:p>
            <a:endParaRPr lang="ru-RU"/>
          </a:p>
        </p:txBody>
      </p:sp>
      <p:sp>
        <p:nvSpPr>
          <p:cNvPr id="5427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427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5301"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12" name="Text Box 15"/>
          <p:cNvSpPr txBox="1">
            <a:spLocks noChangeArrowheads="1"/>
          </p:cNvSpPr>
          <p:nvPr/>
        </p:nvSpPr>
        <p:spPr bwMode="auto">
          <a:xfrm>
            <a:off x="857250" y="6400801"/>
            <a:ext cx="8286750" cy="424732"/>
          </a:xfrm>
          <a:prstGeom prst="rect">
            <a:avLst/>
          </a:prstGeom>
          <a:noFill/>
          <a:ln w="9525">
            <a:noFill/>
            <a:miter lim="800000"/>
            <a:headEnd/>
            <a:tailEnd/>
          </a:ln>
        </p:spPr>
        <p:txBody>
          <a:bodyPr wrap="square">
            <a:spAutoFit/>
          </a:bodyPr>
          <a:lstStyle/>
          <a:p>
            <a:pPr algn="ctr">
              <a:lnSpc>
                <a:spcPct val="90000"/>
              </a:lnSpc>
            </a:pPr>
            <a:r>
              <a:rPr lang="ru-RU" dirty="0"/>
              <a:t>Лекция </a:t>
            </a:r>
            <a:r>
              <a:rPr lang="en-US" dirty="0"/>
              <a:t>1</a:t>
            </a:r>
            <a:r>
              <a:rPr lang="ru-RU" dirty="0"/>
              <a:t>1. Вычисление АКФ и ВКФ и их применение</a:t>
            </a:r>
            <a:endParaRPr lang="ru-RU" i="1" dirty="0"/>
          </a:p>
        </p:txBody>
      </p:sp>
      <p:sp>
        <p:nvSpPr>
          <p:cNvPr id="9221" name="Rectangle 10"/>
          <p:cNvSpPr>
            <a:spLocks noChangeArrowheads="1"/>
          </p:cNvSpPr>
          <p:nvPr/>
        </p:nvSpPr>
        <p:spPr bwMode="auto">
          <a:xfrm>
            <a:off x="0" y="928670"/>
            <a:ext cx="9144000" cy="584775"/>
          </a:xfrm>
          <a:prstGeom prst="rect">
            <a:avLst/>
          </a:prstGeom>
          <a:noFill/>
          <a:ln w="9525">
            <a:noFill/>
            <a:miter lim="800000"/>
            <a:headEnd/>
            <a:tailEnd/>
          </a:ln>
        </p:spPr>
        <p:txBody>
          <a:bodyPr wrap="square">
            <a:spAutoFit/>
          </a:bodyPr>
          <a:lstStyle/>
          <a:p>
            <a:pPr algn="ctr"/>
            <a:r>
              <a:rPr lang="ru-RU" sz="3200" b="1" dirty="0"/>
              <a:t>Кодовые последовательности </a:t>
            </a:r>
            <a:r>
              <a:rPr lang="ru-RU" sz="3200" b="1" dirty="0" err="1"/>
              <a:t>Баркера</a:t>
            </a:r>
            <a:endParaRPr lang="ru-RU" sz="3200" b="1" dirty="0"/>
          </a:p>
        </p:txBody>
      </p:sp>
      <p:graphicFrame>
        <p:nvGraphicFramePr>
          <p:cNvPr id="10" name="Объект 4"/>
          <p:cNvGraphicFramePr>
            <a:graphicFrameLocks/>
          </p:cNvGraphicFramePr>
          <p:nvPr>
            <p:extLst>
              <p:ext uri="{D42A27DB-BD31-4B8C-83A1-F6EECF244321}">
                <p14:modId xmlns:p14="http://schemas.microsoft.com/office/powerpoint/2010/main" val="2199927175"/>
              </p:ext>
            </p:extLst>
          </p:nvPr>
        </p:nvGraphicFramePr>
        <p:xfrm>
          <a:off x="504056" y="1502605"/>
          <a:ext cx="8172400" cy="4898197"/>
        </p:xfrm>
        <a:graphic>
          <a:graphicData uri="http://schemas.openxmlformats.org/drawingml/2006/table">
            <a:tbl>
              <a:tblPr firstRow="1" firstCol="1" bandRow="1">
                <a:tableStyleId>{5C22544A-7EE6-4342-B048-85BDC9FD1C3A}</a:tableStyleId>
              </a:tblPr>
              <a:tblGrid>
                <a:gridCol w="3907079">
                  <a:extLst>
                    <a:ext uri="{9D8B030D-6E8A-4147-A177-3AD203B41FA5}">
                      <a16:colId xmlns:a16="http://schemas.microsoft.com/office/drawing/2014/main" val="20000"/>
                    </a:ext>
                  </a:extLst>
                </a:gridCol>
                <a:gridCol w="4265321">
                  <a:extLst>
                    <a:ext uri="{9D8B030D-6E8A-4147-A177-3AD203B41FA5}">
                      <a16:colId xmlns:a16="http://schemas.microsoft.com/office/drawing/2014/main" val="20001"/>
                    </a:ext>
                  </a:extLst>
                </a:gridCol>
              </a:tblGrid>
              <a:tr h="548327">
                <a:tc>
                  <a:txBody>
                    <a:bodyPr/>
                    <a:lstStyle/>
                    <a:p>
                      <a:pPr algn="just">
                        <a:lnSpc>
                          <a:spcPct val="115000"/>
                        </a:lnSpc>
                        <a:spcAft>
                          <a:spcPts val="0"/>
                        </a:spcAft>
                      </a:pPr>
                      <a:r>
                        <a:rPr lang="ru-RU" sz="2800" dirty="0">
                          <a:solidFill>
                            <a:schemeClr val="tx1"/>
                          </a:solidFill>
                          <a:effectLst/>
                          <a:latin typeface="Times New Roman" pitchFamily="18" charset="0"/>
                          <a:cs typeface="Times New Roman" pitchFamily="18" charset="0"/>
                        </a:rPr>
                        <a:t>n</a:t>
                      </a:r>
                      <a:endParaRPr lang="ru-RU" sz="2800" dirty="0">
                        <a:solidFill>
                          <a:schemeClr val="tx1"/>
                        </a:solidFill>
                        <a:effectLst/>
                        <a:latin typeface="Times New Roman" pitchFamily="18" charset="0"/>
                        <a:ea typeface="Calibri" panose="020F0502020204030204" pitchFamily="34" charset="0"/>
                        <a:cs typeface="Times New Roman" pitchFamily="18" charset="0"/>
                      </a:endParaRPr>
                    </a:p>
                  </a:txBody>
                  <a:tcPr marL="9525" marR="9525" marT="9525" marB="9525" anchor="ctr">
                    <a:solidFill>
                      <a:schemeClr val="bg1"/>
                    </a:solidFill>
                  </a:tcPr>
                </a:tc>
                <a:tc>
                  <a:txBody>
                    <a:bodyPr/>
                    <a:lstStyle/>
                    <a:p>
                      <a:pPr algn="just">
                        <a:lnSpc>
                          <a:spcPct val="115000"/>
                        </a:lnSpc>
                        <a:spcAft>
                          <a:spcPts val="0"/>
                        </a:spcAft>
                      </a:pPr>
                      <a:r>
                        <a:rPr lang="ru-RU" sz="2800" dirty="0">
                          <a:solidFill>
                            <a:schemeClr val="tx1"/>
                          </a:solidFill>
                          <a:effectLst/>
                          <a:latin typeface="Times New Roman" pitchFamily="18" charset="0"/>
                          <a:cs typeface="Times New Roman" pitchFamily="18" charset="0"/>
                        </a:rPr>
                        <a:t>Последовательность</a:t>
                      </a:r>
                      <a:endParaRPr lang="ru-RU" sz="2800" dirty="0">
                        <a:solidFill>
                          <a:schemeClr val="tx1"/>
                        </a:solidFill>
                        <a:effectLst/>
                        <a:latin typeface="Times New Roman" pitchFamily="18" charset="0"/>
                        <a:ea typeface="Calibri" panose="020F0502020204030204" pitchFamily="34" charset="0"/>
                        <a:cs typeface="Times New Roman" pitchFamily="18" charset="0"/>
                      </a:endParaRPr>
                    </a:p>
                  </a:txBody>
                  <a:tcPr marL="9525" marR="9525" marT="9525" marB="9525" anchor="ctr">
                    <a:solidFill>
                      <a:schemeClr val="bg1"/>
                    </a:solidFill>
                  </a:tcPr>
                </a:tc>
                <a:extLst>
                  <a:ext uri="{0D108BD9-81ED-4DB2-BD59-A6C34878D82A}">
                    <a16:rowId xmlns:a16="http://schemas.microsoft.com/office/drawing/2014/main" val="10000"/>
                  </a:ext>
                </a:extLst>
              </a:tr>
              <a:tr h="548327">
                <a:tc>
                  <a:txBody>
                    <a:bodyPr/>
                    <a:lstStyle/>
                    <a:p>
                      <a:pPr algn="just">
                        <a:lnSpc>
                          <a:spcPct val="115000"/>
                        </a:lnSpc>
                        <a:spcAft>
                          <a:spcPts val="0"/>
                        </a:spcAft>
                      </a:pPr>
                      <a:r>
                        <a:rPr lang="ru-RU" sz="2800" dirty="0">
                          <a:solidFill>
                            <a:schemeClr val="tx1"/>
                          </a:solidFill>
                          <a:effectLst/>
                          <a:latin typeface="Times New Roman" pitchFamily="18" charset="0"/>
                          <a:cs typeface="Times New Roman" pitchFamily="18" charset="0"/>
                        </a:rPr>
                        <a:t>2 </a:t>
                      </a:r>
                      <a:r>
                        <a:rPr lang="ru-RU" sz="2800" dirty="0" err="1">
                          <a:solidFill>
                            <a:schemeClr val="tx1"/>
                          </a:solidFill>
                          <a:effectLst/>
                          <a:latin typeface="Times New Roman" pitchFamily="18" charset="0"/>
                          <a:cs typeface="Times New Roman" pitchFamily="18" charset="0"/>
                        </a:rPr>
                        <a:t>Belevitсh</a:t>
                      </a:r>
                      <a:r>
                        <a:rPr lang="ru-RU" sz="2800" dirty="0">
                          <a:solidFill>
                            <a:schemeClr val="tx1"/>
                          </a:solidFill>
                          <a:effectLst/>
                          <a:latin typeface="Times New Roman" pitchFamily="18" charset="0"/>
                          <a:cs typeface="Times New Roman" pitchFamily="18" charset="0"/>
                        </a:rPr>
                        <a:t> </a:t>
                      </a:r>
                      <a:r>
                        <a:rPr lang="ru-RU" sz="2800" dirty="0" err="1">
                          <a:solidFill>
                            <a:schemeClr val="tx1"/>
                          </a:solidFill>
                          <a:effectLst/>
                          <a:latin typeface="Times New Roman" pitchFamily="18" charset="0"/>
                          <a:cs typeface="Times New Roman" pitchFamily="18" charset="0"/>
                        </a:rPr>
                        <a:t>type</a:t>
                      </a:r>
                      <a:r>
                        <a:rPr lang="ru-RU" sz="2800" dirty="0">
                          <a:solidFill>
                            <a:schemeClr val="tx1"/>
                          </a:solidFill>
                          <a:effectLst/>
                          <a:latin typeface="Times New Roman" pitchFamily="18" charset="0"/>
                          <a:cs typeface="Times New Roman" pitchFamily="18" charset="0"/>
                        </a:rPr>
                        <a:t>*</a:t>
                      </a:r>
                      <a:endParaRPr lang="ru-RU" sz="2800" dirty="0">
                        <a:solidFill>
                          <a:schemeClr val="tx1"/>
                        </a:solidFill>
                        <a:effectLst/>
                        <a:latin typeface="Times New Roman" pitchFamily="18" charset="0"/>
                        <a:ea typeface="Calibri" panose="020F0502020204030204" pitchFamily="34" charset="0"/>
                        <a:cs typeface="Times New Roman" pitchFamily="18" charset="0"/>
                      </a:endParaRPr>
                    </a:p>
                  </a:txBody>
                  <a:tcPr marL="9525" marR="9525" marT="9525" marB="9525" anchor="ctr">
                    <a:solidFill>
                      <a:schemeClr val="bg1"/>
                    </a:solidFill>
                  </a:tcPr>
                </a:tc>
                <a:tc>
                  <a:txBody>
                    <a:bodyPr/>
                    <a:lstStyle/>
                    <a:p>
                      <a:pPr algn="just">
                        <a:lnSpc>
                          <a:spcPct val="115000"/>
                        </a:lnSpc>
                        <a:spcAft>
                          <a:spcPts val="0"/>
                        </a:spcAft>
                      </a:pPr>
                      <a:r>
                        <a:rPr lang="ru-RU" sz="2800" dirty="0">
                          <a:solidFill>
                            <a:schemeClr val="tx1"/>
                          </a:solidFill>
                          <a:effectLst/>
                          <a:latin typeface="Times New Roman" pitchFamily="18" charset="0"/>
                          <a:cs typeface="Times New Roman" pitchFamily="18" charset="0"/>
                        </a:rPr>
                        <a:t>1,-1</a:t>
                      </a:r>
                      <a:endParaRPr lang="ru-RU" sz="2800" dirty="0">
                        <a:solidFill>
                          <a:schemeClr val="tx1"/>
                        </a:solidFill>
                        <a:effectLst/>
                        <a:latin typeface="Times New Roman" pitchFamily="18" charset="0"/>
                        <a:ea typeface="Calibri" panose="020F0502020204030204" pitchFamily="34" charset="0"/>
                        <a:cs typeface="Times New Roman" pitchFamily="18" charset="0"/>
                      </a:endParaRPr>
                    </a:p>
                  </a:txBody>
                  <a:tcPr marL="9525" marR="9525" marT="9525" marB="9525" anchor="ctr">
                    <a:solidFill>
                      <a:schemeClr val="bg1"/>
                    </a:solidFill>
                  </a:tcPr>
                </a:tc>
                <a:extLst>
                  <a:ext uri="{0D108BD9-81ED-4DB2-BD59-A6C34878D82A}">
                    <a16:rowId xmlns:a16="http://schemas.microsoft.com/office/drawing/2014/main" val="10001"/>
                  </a:ext>
                </a:extLst>
              </a:tr>
              <a:tr h="548327">
                <a:tc>
                  <a:txBody>
                    <a:bodyPr/>
                    <a:lstStyle/>
                    <a:p>
                      <a:pPr algn="just">
                        <a:lnSpc>
                          <a:spcPct val="115000"/>
                        </a:lnSpc>
                        <a:spcAft>
                          <a:spcPts val="0"/>
                        </a:spcAft>
                      </a:pPr>
                      <a:r>
                        <a:rPr lang="ru-RU" sz="2800" dirty="0">
                          <a:solidFill>
                            <a:schemeClr val="tx1"/>
                          </a:solidFill>
                          <a:effectLst/>
                          <a:latin typeface="Times New Roman" pitchFamily="18" charset="0"/>
                          <a:cs typeface="Times New Roman" pitchFamily="18" charset="0"/>
                        </a:rPr>
                        <a:t>3 </a:t>
                      </a:r>
                      <a:r>
                        <a:rPr lang="ru-RU" sz="2800" dirty="0" err="1">
                          <a:solidFill>
                            <a:schemeClr val="tx1"/>
                          </a:solidFill>
                          <a:effectLst/>
                          <a:latin typeface="Times New Roman" pitchFamily="18" charset="0"/>
                          <a:cs typeface="Times New Roman" pitchFamily="18" charset="0"/>
                        </a:rPr>
                        <a:t>Mersenne</a:t>
                      </a:r>
                      <a:r>
                        <a:rPr lang="ru-RU" sz="2800" dirty="0">
                          <a:solidFill>
                            <a:schemeClr val="tx1"/>
                          </a:solidFill>
                          <a:effectLst/>
                          <a:latin typeface="Times New Roman" pitchFamily="18" charset="0"/>
                          <a:cs typeface="Times New Roman" pitchFamily="18" charset="0"/>
                        </a:rPr>
                        <a:t> </a:t>
                      </a:r>
                      <a:r>
                        <a:rPr lang="ru-RU" sz="2800" dirty="0" err="1">
                          <a:solidFill>
                            <a:schemeClr val="tx1"/>
                          </a:solidFill>
                          <a:effectLst/>
                          <a:latin typeface="Times New Roman" pitchFamily="18" charset="0"/>
                          <a:cs typeface="Times New Roman" pitchFamily="18" charset="0"/>
                        </a:rPr>
                        <a:t>type</a:t>
                      </a:r>
                      <a:endParaRPr lang="ru-RU" sz="2800" dirty="0">
                        <a:solidFill>
                          <a:schemeClr val="tx1"/>
                        </a:solidFill>
                        <a:effectLst/>
                        <a:latin typeface="Times New Roman" pitchFamily="18" charset="0"/>
                        <a:ea typeface="Calibri" panose="020F0502020204030204" pitchFamily="34" charset="0"/>
                        <a:cs typeface="Times New Roman" pitchFamily="18" charset="0"/>
                      </a:endParaRPr>
                    </a:p>
                  </a:txBody>
                  <a:tcPr marL="9525" marR="9525" marT="9525" marB="9525" anchor="ctr">
                    <a:solidFill>
                      <a:schemeClr val="bg1"/>
                    </a:solidFill>
                  </a:tcPr>
                </a:tc>
                <a:tc>
                  <a:txBody>
                    <a:bodyPr/>
                    <a:lstStyle/>
                    <a:p>
                      <a:pPr algn="just">
                        <a:lnSpc>
                          <a:spcPct val="115000"/>
                        </a:lnSpc>
                        <a:spcAft>
                          <a:spcPts val="0"/>
                        </a:spcAft>
                      </a:pPr>
                      <a:r>
                        <a:rPr lang="ru-RU" sz="2800" dirty="0">
                          <a:solidFill>
                            <a:schemeClr val="tx1"/>
                          </a:solidFill>
                          <a:effectLst/>
                          <a:latin typeface="Times New Roman" pitchFamily="18" charset="0"/>
                          <a:cs typeface="Times New Roman" pitchFamily="18" charset="0"/>
                        </a:rPr>
                        <a:t>1,1,-1</a:t>
                      </a:r>
                      <a:endParaRPr lang="ru-RU" sz="2800" dirty="0">
                        <a:solidFill>
                          <a:schemeClr val="tx1"/>
                        </a:solidFill>
                        <a:effectLst/>
                        <a:latin typeface="Times New Roman" pitchFamily="18" charset="0"/>
                        <a:ea typeface="Calibri" panose="020F0502020204030204" pitchFamily="34" charset="0"/>
                        <a:cs typeface="Times New Roman" pitchFamily="18" charset="0"/>
                      </a:endParaRPr>
                    </a:p>
                  </a:txBody>
                  <a:tcPr marL="9525" marR="9525" marT="9525" marB="9525" anchor="ctr">
                    <a:solidFill>
                      <a:schemeClr val="bg1"/>
                    </a:solidFill>
                  </a:tcPr>
                </a:tc>
                <a:extLst>
                  <a:ext uri="{0D108BD9-81ED-4DB2-BD59-A6C34878D82A}">
                    <a16:rowId xmlns:a16="http://schemas.microsoft.com/office/drawing/2014/main" val="10002"/>
                  </a:ext>
                </a:extLst>
              </a:tr>
              <a:tr h="548327">
                <a:tc>
                  <a:txBody>
                    <a:bodyPr/>
                    <a:lstStyle/>
                    <a:p>
                      <a:pPr algn="just">
                        <a:lnSpc>
                          <a:spcPct val="115000"/>
                        </a:lnSpc>
                        <a:spcAft>
                          <a:spcPts val="0"/>
                        </a:spcAft>
                      </a:pPr>
                      <a:r>
                        <a:rPr lang="ru-RU" sz="2800" dirty="0">
                          <a:solidFill>
                            <a:schemeClr val="tx1"/>
                          </a:solidFill>
                          <a:effectLst/>
                          <a:latin typeface="Times New Roman" pitchFamily="18" charset="0"/>
                          <a:cs typeface="Times New Roman" pitchFamily="18" charset="0"/>
                        </a:rPr>
                        <a:t>4 </a:t>
                      </a:r>
                      <a:r>
                        <a:rPr lang="ru-RU" sz="2800" dirty="0" err="1">
                          <a:solidFill>
                            <a:schemeClr val="tx1"/>
                          </a:solidFill>
                          <a:effectLst/>
                          <a:latin typeface="Times New Roman" pitchFamily="18" charset="0"/>
                          <a:cs typeface="Times New Roman" pitchFamily="18" charset="0"/>
                        </a:rPr>
                        <a:t>Hadamard</a:t>
                      </a:r>
                      <a:r>
                        <a:rPr lang="ru-RU" sz="2800" dirty="0">
                          <a:solidFill>
                            <a:schemeClr val="tx1"/>
                          </a:solidFill>
                          <a:effectLst/>
                          <a:latin typeface="Times New Roman" pitchFamily="18" charset="0"/>
                          <a:cs typeface="Times New Roman" pitchFamily="18" charset="0"/>
                        </a:rPr>
                        <a:t> </a:t>
                      </a:r>
                      <a:r>
                        <a:rPr lang="ru-RU" sz="2800" dirty="0" err="1">
                          <a:solidFill>
                            <a:schemeClr val="tx1"/>
                          </a:solidFill>
                          <a:effectLst/>
                          <a:latin typeface="Times New Roman" pitchFamily="18" charset="0"/>
                          <a:cs typeface="Times New Roman" pitchFamily="18" charset="0"/>
                        </a:rPr>
                        <a:t>type</a:t>
                      </a:r>
                      <a:endParaRPr lang="ru-RU" sz="2800" dirty="0">
                        <a:solidFill>
                          <a:schemeClr val="tx1"/>
                        </a:solidFill>
                        <a:effectLst/>
                        <a:latin typeface="Times New Roman" pitchFamily="18" charset="0"/>
                        <a:ea typeface="Calibri" panose="020F0502020204030204" pitchFamily="34" charset="0"/>
                        <a:cs typeface="Times New Roman" pitchFamily="18" charset="0"/>
                      </a:endParaRPr>
                    </a:p>
                  </a:txBody>
                  <a:tcPr marL="9525" marR="9525" marT="9525" marB="9525" anchor="ctr">
                    <a:solidFill>
                      <a:schemeClr val="bg1"/>
                    </a:solidFill>
                  </a:tcPr>
                </a:tc>
                <a:tc>
                  <a:txBody>
                    <a:bodyPr/>
                    <a:lstStyle/>
                    <a:p>
                      <a:pPr algn="just">
                        <a:lnSpc>
                          <a:spcPct val="115000"/>
                        </a:lnSpc>
                        <a:spcAft>
                          <a:spcPts val="0"/>
                        </a:spcAft>
                      </a:pPr>
                      <a:r>
                        <a:rPr lang="ru-RU" sz="2800" dirty="0">
                          <a:solidFill>
                            <a:schemeClr val="tx1"/>
                          </a:solidFill>
                          <a:effectLst/>
                          <a:latin typeface="Times New Roman" pitchFamily="18" charset="0"/>
                          <a:cs typeface="Times New Roman" pitchFamily="18" charset="0"/>
                        </a:rPr>
                        <a:t>1,1,-1,1</a:t>
                      </a:r>
                      <a:endParaRPr lang="ru-RU" sz="2800" dirty="0">
                        <a:solidFill>
                          <a:schemeClr val="tx1"/>
                        </a:solidFill>
                        <a:effectLst/>
                        <a:latin typeface="Times New Roman" pitchFamily="18" charset="0"/>
                        <a:ea typeface="Calibri" panose="020F0502020204030204" pitchFamily="34" charset="0"/>
                        <a:cs typeface="Times New Roman" pitchFamily="18" charset="0"/>
                      </a:endParaRPr>
                    </a:p>
                  </a:txBody>
                  <a:tcPr marL="9525" marR="9525" marT="9525" marB="9525" anchor="ctr">
                    <a:solidFill>
                      <a:schemeClr val="bg1"/>
                    </a:solidFill>
                  </a:tcPr>
                </a:tc>
                <a:extLst>
                  <a:ext uri="{0D108BD9-81ED-4DB2-BD59-A6C34878D82A}">
                    <a16:rowId xmlns:a16="http://schemas.microsoft.com/office/drawing/2014/main" val="10003"/>
                  </a:ext>
                </a:extLst>
              </a:tr>
              <a:tr h="548327">
                <a:tc>
                  <a:txBody>
                    <a:bodyPr/>
                    <a:lstStyle/>
                    <a:p>
                      <a:pPr algn="just">
                        <a:lnSpc>
                          <a:spcPct val="115000"/>
                        </a:lnSpc>
                        <a:spcAft>
                          <a:spcPts val="0"/>
                        </a:spcAft>
                      </a:pPr>
                      <a:r>
                        <a:rPr lang="ru-RU" sz="2800" dirty="0">
                          <a:solidFill>
                            <a:schemeClr val="tx1"/>
                          </a:solidFill>
                          <a:effectLst/>
                          <a:latin typeface="Times New Roman" pitchFamily="18" charset="0"/>
                          <a:cs typeface="Times New Roman" pitchFamily="18" charset="0"/>
                        </a:rPr>
                        <a:t>5 </a:t>
                      </a:r>
                      <a:r>
                        <a:rPr lang="ru-RU" sz="2800" dirty="0" err="1">
                          <a:solidFill>
                            <a:schemeClr val="tx1"/>
                          </a:solidFill>
                          <a:effectLst/>
                          <a:latin typeface="Times New Roman" pitchFamily="18" charset="0"/>
                          <a:cs typeface="Times New Roman" pitchFamily="18" charset="0"/>
                        </a:rPr>
                        <a:t>Raghavarao</a:t>
                      </a:r>
                      <a:r>
                        <a:rPr lang="ru-RU" sz="2800" dirty="0">
                          <a:solidFill>
                            <a:schemeClr val="tx1"/>
                          </a:solidFill>
                          <a:effectLst/>
                          <a:latin typeface="Times New Roman" pitchFamily="18" charset="0"/>
                          <a:cs typeface="Times New Roman" pitchFamily="18" charset="0"/>
                        </a:rPr>
                        <a:t> </a:t>
                      </a:r>
                      <a:r>
                        <a:rPr lang="ru-RU" sz="2800" dirty="0" err="1">
                          <a:solidFill>
                            <a:schemeClr val="tx1"/>
                          </a:solidFill>
                          <a:effectLst/>
                          <a:latin typeface="Times New Roman" pitchFamily="18" charset="0"/>
                          <a:cs typeface="Times New Roman" pitchFamily="18" charset="0"/>
                        </a:rPr>
                        <a:t>type</a:t>
                      </a:r>
                      <a:endParaRPr lang="ru-RU" sz="2800" dirty="0">
                        <a:solidFill>
                          <a:schemeClr val="tx1"/>
                        </a:solidFill>
                        <a:effectLst/>
                        <a:latin typeface="Times New Roman" pitchFamily="18" charset="0"/>
                        <a:ea typeface="Calibri" panose="020F0502020204030204" pitchFamily="34" charset="0"/>
                        <a:cs typeface="Times New Roman" pitchFamily="18" charset="0"/>
                      </a:endParaRPr>
                    </a:p>
                  </a:txBody>
                  <a:tcPr marL="9525" marR="9525" marT="9525" marB="9525" anchor="ctr">
                    <a:solidFill>
                      <a:schemeClr val="bg1"/>
                    </a:solidFill>
                  </a:tcPr>
                </a:tc>
                <a:tc>
                  <a:txBody>
                    <a:bodyPr/>
                    <a:lstStyle/>
                    <a:p>
                      <a:pPr algn="just">
                        <a:lnSpc>
                          <a:spcPct val="115000"/>
                        </a:lnSpc>
                        <a:spcAft>
                          <a:spcPts val="0"/>
                        </a:spcAft>
                      </a:pPr>
                      <a:r>
                        <a:rPr lang="ru-RU" sz="2800" dirty="0">
                          <a:solidFill>
                            <a:schemeClr val="tx1"/>
                          </a:solidFill>
                          <a:effectLst/>
                          <a:latin typeface="Times New Roman" pitchFamily="18" charset="0"/>
                          <a:cs typeface="Times New Roman" pitchFamily="18" charset="0"/>
                        </a:rPr>
                        <a:t>1,1,1,-1,1</a:t>
                      </a:r>
                      <a:endParaRPr lang="ru-RU" sz="2800" dirty="0">
                        <a:solidFill>
                          <a:schemeClr val="tx1"/>
                        </a:solidFill>
                        <a:effectLst/>
                        <a:latin typeface="Times New Roman" pitchFamily="18" charset="0"/>
                        <a:ea typeface="Calibri" panose="020F0502020204030204" pitchFamily="34" charset="0"/>
                        <a:cs typeface="Times New Roman" pitchFamily="18" charset="0"/>
                      </a:endParaRPr>
                    </a:p>
                  </a:txBody>
                  <a:tcPr marL="9525" marR="9525" marT="9525" marB="9525" anchor="ctr">
                    <a:solidFill>
                      <a:schemeClr val="bg1"/>
                    </a:solidFill>
                  </a:tcPr>
                </a:tc>
                <a:extLst>
                  <a:ext uri="{0D108BD9-81ED-4DB2-BD59-A6C34878D82A}">
                    <a16:rowId xmlns:a16="http://schemas.microsoft.com/office/drawing/2014/main" val="10004"/>
                  </a:ext>
                </a:extLst>
              </a:tr>
              <a:tr h="548327">
                <a:tc>
                  <a:txBody>
                    <a:bodyPr/>
                    <a:lstStyle/>
                    <a:p>
                      <a:pPr algn="just">
                        <a:lnSpc>
                          <a:spcPct val="115000"/>
                        </a:lnSpc>
                        <a:spcAft>
                          <a:spcPts val="0"/>
                        </a:spcAft>
                      </a:pPr>
                      <a:r>
                        <a:rPr lang="ru-RU" sz="2800" dirty="0">
                          <a:solidFill>
                            <a:schemeClr val="tx1"/>
                          </a:solidFill>
                          <a:effectLst/>
                          <a:latin typeface="Times New Roman" pitchFamily="18" charset="0"/>
                          <a:cs typeface="Times New Roman" pitchFamily="18" charset="0"/>
                        </a:rPr>
                        <a:t>7 </a:t>
                      </a:r>
                      <a:r>
                        <a:rPr lang="ru-RU" sz="2800" dirty="0" err="1">
                          <a:solidFill>
                            <a:schemeClr val="tx1"/>
                          </a:solidFill>
                          <a:effectLst/>
                          <a:latin typeface="Times New Roman" pitchFamily="18" charset="0"/>
                          <a:cs typeface="Times New Roman" pitchFamily="18" charset="0"/>
                        </a:rPr>
                        <a:t>Mersenne</a:t>
                      </a:r>
                      <a:r>
                        <a:rPr lang="ru-RU" sz="2800" dirty="0">
                          <a:solidFill>
                            <a:schemeClr val="tx1"/>
                          </a:solidFill>
                          <a:effectLst/>
                          <a:latin typeface="Times New Roman" pitchFamily="18" charset="0"/>
                          <a:cs typeface="Times New Roman" pitchFamily="18" charset="0"/>
                        </a:rPr>
                        <a:t> </a:t>
                      </a:r>
                      <a:r>
                        <a:rPr lang="ru-RU" sz="2800" dirty="0" err="1">
                          <a:solidFill>
                            <a:schemeClr val="tx1"/>
                          </a:solidFill>
                          <a:effectLst/>
                          <a:latin typeface="Times New Roman" pitchFamily="18" charset="0"/>
                          <a:cs typeface="Times New Roman" pitchFamily="18" charset="0"/>
                        </a:rPr>
                        <a:t>type</a:t>
                      </a:r>
                      <a:endParaRPr lang="ru-RU" sz="2800" dirty="0">
                        <a:solidFill>
                          <a:schemeClr val="tx1"/>
                        </a:solidFill>
                        <a:effectLst/>
                        <a:latin typeface="Times New Roman" pitchFamily="18" charset="0"/>
                        <a:ea typeface="Calibri" panose="020F0502020204030204" pitchFamily="34" charset="0"/>
                        <a:cs typeface="Times New Roman" pitchFamily="18" charset="0"/>
                      </a:endParaRPr>
                    </a:p>
                  </a:txBody>
                  <a:tcPr marL="9525" marR="9525" marT="9525" marB="9525" anchor="ctr">
                    <a:solidFill>
                      <a:schemeClr val="bg1"/>
                    </a:solidFill>
                  </a:tcPr>
                </a:tc>
                <a:tc>
                  <a:txBody>
                    <a:bodyPr/>
                    <a:lstStyle/>
                    <a:p>
                      <a:pPr algn="just">
                        <a:lnSpc>
                          <a:spcPct val="115000"/>
                        </a:lnSpc>
                        <a:spcAft>
                          <a:spcPts val="0"/>
                        </a:spcAft>
                      </a:pPr>
                      <a:r>
                        <a:rPr lang="ru-RU" sz="2800" dirty="0">
                          <a:solidFill>
                            <a:schemeClr val="tx1"/>
                          </a:solidFill>
                          <a:effectLst/>
                          <a:latin typeface="Times New Roman" pitchFamily="18" charset="0"/>
                          <a:cs typeface="Times New Roman" pitchFamily="18" charset="0"/>
                        </a:rPr>
                        <a:t>1,1,1,-1,-1,1,-1</a:t>
                      </a:r>
                      <a:endParaRPr lang="ru-RU" sz="2800" dirty="0">
                        <a:solidFill>
                          <a:schemeClr val="tx1"/>
                        </a:solidFill>
                        <a:effectLst/>
                        <a:latin typeface="Times New Roman" pitchFamily="18" charset="0"/>
                        <a:ea typeface="Calibri" panose="020F0502020204030204" pitchFamily="34" charset="0"/>
                        <a:cs typeface="Times New Roman" pitchFamily="18" charset="0"/>
                      </a:endParaRPr>
                    </a:p>
                  </a:txBody>
                  <a:tcPr marL="9525" marR="9525" marT="9525" marB="9525" anchor="ctr">
                    <a:solidFill>
                      <a:schemeClr val="bg1"/>
                    </a:solidFill>
                  </a:tcPr>
                </a:tc>
                <a:extLst>
                  <a:ext uri="{0D108BD9-81ED-4DB2-BD59-A6C34878D82A}">
                    <a16:rowId xmlns:a16="http://schemas.microsoft.com/office/drawing/2014/main" val="10005"/>
                  </a:ext>
                </a:extLst>
              </a:tr>
              <a:tr h="548327">
                <a:tc>
                  <a:txBody>
                    <a:bodyPr/>
                    <a:lstStyle/>
                    <a:p>
                      <a:pPr algn="just">
                        <a:lnSpc>
                          <a:spcPct val="115000"/>
                        </a:lnSpc>
                        <a:spcAft>
                          <a:spcPts val="0"/>
                        </a:spcAft>
                      </a:pPr>
                      <a:r>
                        <a:rPr lang="ru-RU" sz="2800" dirty="0">
                          <a:solidFill>
                            <a:schemeClr val="tx1"/>
                          </a:solidFill>
                          <a:effectLst/>
                          <a:latin typeface="Times New Roman" pitchFamily="18" charset="0"/>
                          <a:cs typeface="Times New Roman" pitchFamily="18" charset="0"/>
                        </a:rPr>
                        <a:t>11 </a:t>
                      </a:r>
                      <a:r>
                        <a:rPr lang="ru-RU" sz="2800" dirty="0" err="1">
                          <a:solidFill>
                            <a:schemeClr val="tx1"/>
                          </a:solidFill>
                          <a:effectLst/>
                          <a:latin typeface="Times New Roman" pitchFamily="18" charset="0"/>
                          <a:cs typeface="Times New Roman" pitchFamily="18" charset="0"/>
                        </a:rPr>
                        <a:t>Mersenne</a:t>
                      </a:r>
                      <a:r>
                        <a:rPr lang="ru-RU" sz="2800" dirty="0">
                          <a:solidFill>
                            <a:schemeClr val="tx1"/>
                          </a:solidFill>
                          <a:effectLst/>
                          <a:latin typeface="Times New Roman" pitchFamily="18" charset="0"/>
                          <a:cs typeface="Times New Roman" pitchFamily="18" charset="0"/>
                        </a:rPr>
                        <a:t> </a:t>
                      </a:r>
                      <a:r>
                        <a:rPr lang="ru-RU" sz="2800" dirty="0" err="1">
                          <a:solidFill>
                            <a:schemeClr val="tx1"/>
                          </a:solidFill>
                          <a:effectLst/>
                          <a:latin typeface="Times New Roman" pitchFamily="18" charset="0"/>
                          <a:cs typeface="Times New Roman" pitchFamily="18" charset="0"/>
                        </a:rPr>
                        <a:t>type</a:t>
                      </a:r>
                      <a:r>
                        <a:rPr lang="ru-RU" sz="2800" dirty="0">
                          <a:solidFill>
                            <a:schemeClr val="tx1"/>
                          </a:solidFill>
                          <a:effectLst/>
                          <a:latin typeface="Times New Roman" pitchFamily="18" charset="0"/>
                          <a:cs typeface="Times New Roman" pitchFamily="18" charset="0"/>
                        </a:rPr>
                        <a:t>*</a:t>
                      </a:r>
                      <a:endParaRPr lang="ru-RU" sz="2800" dirty="0">
                        <a:solidFill>
                          <a:schemeClr val="tx1"/>
                        </a:solidFill>
                        <a:effectLst/>
                        <a:latin typeface="Times New Roman" pitchFamily="18" charset="0"/>
                        <a:ea typeface="Calibri" panose="020F0502020204030204" pitchFamily="34" charset="0"/>
                        <a:cs typeface="Times New Roman" pitchFamily="18" charset="0"/>
                      </a:endParaRPr>
                    </a:p>
                  </a:txBody>
                  <a:tcPr marL="9525" marR="9525" marT="9525" marB="9525" anchor="ctr">
                    <a:solidFill>
                      <a:schemeClr val="bg1"/>
                    </a:solidFill>
                  </a:tcPr>
                </a:tc>
                <a:tc>
                  <a:txBody>
                    <a:bodyPr/>
                    <a:lstStyle/>
                    <a:p>
                      <a:pPr algn="just">
                        <a:lnSpc>
                          <a:spcPct val="115000"/>
                        </a:lnSpc>
                        <a:spcAft>
                          <a:spcPts val="0"/>
                        </a:spcAft>
                      </a:pPr>
                      <a:r>
                        <a:rPr lang="ru-RU" sz="2800" dirty="0">
                          <a:solidFill>
                            <a:schemeClr val="tx1"/>
                          </a:solidFill>
                          <a:effectLst/>
                          <a:latin typeface="Times New Roman" pitchFamily="18" charset="0"/>
                          <a:cs typeface="Times New Roman" pitchFamily="18" charset="0"/>
                        </a:rPr>
                        <a:t>1,1,1,-1,-1,-1,1,-1,-1,1,-1</a:t>
                      </a:r>
                      <a:endParaRPr lang="ru-RU" sz="2800" dirty="0">
                        <a:solidFill>
                          <a:schemeClr val="tx1"/>
                        </a:solidFill>
                        <a:effectLst/>
                        <a:latin typeface="Times New Roman" pitchFamily="18" charset="0"/>
                        <a:ea typeface="Calibri" panose="020F0502020204030204" pitchFamily="34" charset="0"/>
                        <a:cs typeface="Times New Roman" pitchFamily="18" charset="0"/>
                      </a:endParaRPr>
                    </a:p>
                  </a:txBody>
                  <a:tcPr marL="9525" marR="9525" marT="9525" marB="9525" anchor="ctr">
                    <a:solidFill>
                      <a:schemeClr val="bg1"/>
                    </a:solidFill>
                  </a:tcPr>
                </a:tc>
                <a:extLst>
                  <a:ext uri="{0D108BD9-81ED-4DB2-BD59-A6C34878D82A}">
                    <a16:rowId xmlns:a16="http://schemas.microsoft.com/office/drawing/2014/main" val="10006"/>
                  </a:ext>
                </a:extLst>
              </a:tr>
              <a:tr h="548327">
                <a:tc>
                  <a:txBody>
                    <a:bodyPr/>
                    <a:lstStyle/>
                    <a:p>
                      <a:pPr algn="just">
                        <a:lnSpc>
                          <a:spcPct val="115000"/>
                        </a:lnSpc>
                        <a:spcAft>
                          <a:spcPts val="0"/>
                        </a:spcAft>
                      </a:pPr>
                      <a:r>
                        <a:rPr lang="ru-RU" sz="2800" dirty="0">
                          <a:solidFill>
                            <a:schemeClr val="tx1"/>
                          </a:solidFill>
                          <a:effectLst/>
                          <a:latin typeface="Times New Roman" pitchFamily="18" charset="0"/>
                          <a:cs typeface="Times New Roman" pitchFamily="18" charset="0"/>
                        </a:rPr>
                        <a:t>13 </a:t>
                      </a:r>
                      <a:r>
                        <a:rPr lang="ru-RU" sz="2800" dirty="0" err="1">
                          <a:solidFill>
                            <a:schemeClr val="tx1"/>
                          </a:solidFill>
                          <a:effectLst/>
                          <a:latin typeface="Times New Roman" pitchFamily="18" charset="0"/>
                          <a:cs typeface="Times New Roman" pitchFamily="18" charset="0"/>
                        </a:rPr>
                        <a:t>Raghavarao</a:t>
                      </a:r>
                      <a:r>
                        <a:rPr lang="ru-RU" sz="2800" dirty="0">
                          <a:solidFill>
                            <a:schemeClr val="tx1"/>
                          </a:solidFill>
                          <a:effectLst/>
                          <a:latin typeface="Times New Roman" pitchFamily="18" charset="0"/>
                          <a:cs typeface="Times New Roman" pitchFamily="18" charset="0"/>
                        </a:rPr>
                        <a:t> </a:t>
                      </a:r>
                      <a:r>
                        <a:rPr lang="ru-RU" sz="2800" dirty="0" err="1">
                          <a:solidFill>
                            <a:schemeClr val="tx1"/>
                          </a:solidFill>
                          <a:effectLst/>
                          <a:latin typeface="Times New Roman" pitchFamily="18" charset="0"/>
                          <a:cs typeface="Times New Roman" pitchFamily="18" charset="0"/>
                        </a:rPr>
                        <a:t>type</a:t>
                      </a:r>
                      <a:endParaRPr lang="ru-RU" sz="2800" dirty="0">
                        <a:solidFill>
                          <a:schemeClr val="tx1"/>
                        </a:solidFill>
                        <a:effectLst/>
                        <a:latin typeface="Times New Roman" pitchFamily="18" charset="0"/>
                        <a:ea typeface="Calibri" panose="020F0502020204030204" pitchFamily="34" charset="0"/>
                        <a:cs typeface="Times New Roman" pitchFamily="18" charset="0"/>
                      </a:endParaRPr>
                    </a:p>
                  </a:txBody>
                  <a:tcPr marL="9525" marR="9525" marT="9525" marB="9525" anchor="ctr">
                    <a:solidFill>
                      <a:schemeClr val="bg1"/>
                    </a:solidFill>
                  </a:tcPr>
                </a:tc>
                <a:tc>
                  <a:txBody>
                    <a:bodyPr/>
                    <a:lstStyle/>
                    <a:p>
                      <a:pPr algn="just">
                        <a:lnSpc>
                          <a:spcPct val="115000"/>
                        </a:lnSpc>
                        <a:spcAft>
                          <a:spcPts val="0"/>
                        </a:spcAft>
                      </a:pPr>
                      <a:r>
                        <a:rPr lang="ru-RU" sz="2800" dirty="0">
                          <a:solidFill>
                            <a:schemeClr val="tx1"/>
                          </a:solidFill>
                          <a:effectLst/>
                          <a:latin typeface="Times New Roman" pitchFamily="18" charset="0"/>
                          <a:cs typeface="Times New Roman" pitchFamily="18" charset="0"/>
                        </a:rPr>
                        <a:t>1,1,1,1,1,-1,-1,1,1,-1,1,-1,1</a:t>
                      </a:r>
                      <a:endParaRPr lang="ru-RU" sz="2800" dirty="0">
                        <a:solidFill>
                          <a:schemeClr val="tx1"/>
                        </a:solidFill>
                        <a:effectLst/>
                        <a:latin typeface="Times New Roman" pitchFamily="18" charset="0"/>
                        <a:ea typeface="Calibri" panose="020F0502020204030204" pitchFamily="34" charset="0"/>
                        <a:cs typeface="Times New Roman" pitchFamily="18" charset="0"/>
                      </a:endParaRPr>
                    </a:p>
                  </a:txBody>
                  <a:tcPr marL="9525" marR="9525" marT="9525" marB="9525" anchor="ctr">
                    <a:solidFill>
                      <a:schemeClr val="bg1"/>
                    </a:solidFill>
                  </a:tcPr>
                </a:tc>
                <a:extLst>
                  <a:ext uri="{0D108BD9-81ED-4DB2-BD59-A6C34878D82A}">
                    <a16:rowId xmlns:a16="http://schemas.microsoft.com/office/drawing/2014/main" val="10007"/>
                  </a:ext>
                </a:extLst>
              </a:tr>
              <a:tr h="511581">
                <a:tc>
                  <a:txBody>
                    <a:bodyPr/>
                    <a:lstStyle/>
                    <a:p>
                      <a:pPr>
                        <a:lnSpc>
                          <a:spcPct val="107000"/>
                        </a:lnSpc>
                      </a:pPr>
                      <a:endParaRPr lang="ru-RU" sz="2800">
                        <a:solidFill>
                          <a:schemeClr val="tx1"/>
                        </a:solidFill>
                        <a:effectLst/>
                        <a:latin typeface="Times New Roman" pitchFamily="18" charset="0"/>
                        <a:cs typeface="Times New Roman" pitchFamily="18" charset="0"/>
                      </a:endParaRPr>
                    </a:p>
                  </a:txBody>
                  <a:tcPr marL="9525" marR="9525" marT="9525" marB="9525" anchor="ctr">
                    <a:solidFill>
                      <a:schemeClr val="bg1"/>
                    </a:solidFill>
                  </a:tcPr>
                </a:tc>
                <a:tc>
                  <a:txBody>
                    <a:bodyPr/>
                    <a:lstStyle/>
                    <a:p>
                      <a:pPr>
                        <a:lnSpc>
                          <a:spcPct val="107000"/>
                        </a:lnSpc>
                      </a:pPr>
                      <a:endParaRPr lang="ru-RU" sz="2800" dirty="0">
                        <a:solidFill>
                          <a:schemeClr val="tx1"/>
                        </a:solidFill>
                        <a:effectLst/>
                        <a:latin typeface="Times New Roman" pitchFamily="18" charset="0"/>
                        <a:cs typeface="Times New Roman" pitchFamily="18" charset="0"/>
                      </a:endParaRPr>
                    </a:p>
                  </a:txBody>
                  <a:tcPr marL="9525" marR="9525" marT="9525" marB="9525" anchor="ctr">
                    <a:solidFill>
                      <a:schemeClr val="bg1"/>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58315406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descr="Large confetti"/>
          <p:cNvSpPr>
            <a:spLocks noChangeArrowheads="1"/>
          </p:cNvSpPr>
          <p:nvPr/>
        </p:nvSpPr>
        <p:spPr bwMode="auto">
          <a:xfrm>
            <a:off x="0" y="228600"/>
            <a:ext cx="9144000" cy="630238"/>
          </a:xfrm>
          <a:prstGeom prst="rect">
            <a:avLst/>
          </a:prstGeom>
          <a:noFill/>
          <a:ln w="9525">
            <a:noFill/>
            <a:miter lim="800000"/>
            <a:headEnd/>
            <a:tailEnd/>
          </a:ln>
        </p:spPr>
        <p:txBody>
          <a:bodyPr anchor="b"/>
          <a:lstStyle/>
          <a:p>
            <a:r>
              <a:rPr lang="ru-RU" sz="2800" b="1"/>
              <a:t>Методы и средства цифровой обработки информации</a:t>
            </a:r>
          </a:p>
        </p:txBody>
      </p:sp>
      <p:sp>
        <p:nvSpPr>
          <p:cNvPr id="9219" name="Rectangle 7"/>
          <p:cNvSpPr>
            <a:spLocks noChangeArrowheads="1"/>
          </p:cNvSpPr>
          <p:nvPr/>
        </p:nvSpPr>
        <p:spPr bwMode="auto">
          <a:xfrm>
            <a:off x="2971800" y="1657350"/>
            <a:ext cx="9144000" cy="0"/>
          </a:xfrm>
          <a:prstGeom prst="rect">
            <a:avLst/>
          </a:prstGeom>
          <a:noFill/>
          <a:ln w="9525">
            <a:noFill/>
            <a:miter lim="800000"/>
            <a:headEnd/>
            <a:tailEnd/>
          </a:ln>
        </p:spPr>
        <p:txBody>
          <a:bodyPr>
            <a:spAutoFit/>
          </a:bodyPr>
          <a:lstStyle/>
          <a:p>
            <a:endParaRPr lang="ru-RU"/>
          </a:p>
        </p:txBody>
      </p:sp>
      <p:sp>
        <p:nvSpPr>
          <p:cNvPr id="9220" name="Rectangle 9"/>
          <p:cNvSpPr>
            <a:spLocks noChangeArrowheads="1"/>
          </p:cNvSpPr>
          <p:nvPr/>
        </p:nvSpPr>
        <p:spPr bwMode="auto">
          <a:xfrm>
            <a:off x="2852738" y="3309938"/>
            <a:ext cx="9144000" cy="0"/>
          </a:xfrm>
          <a:prstGeom prst="rect">
            <a:avLst/>
          </a:prstGeom>
          <a:noFill/>
          <a:ln w="9525">
            <a:noFill/>
            <a:miter lim="800000"/>
            <a:headEnd/>
            <a:tailEnd/>
          </a:ln>
        </p:spPr>
        <p:txBody>
          <a:bodyPr>
            <a:spAutoFit/>
          </a:bodyPr>
          <a:lstStyle/>
          <a:p>
            <a:endParaRPr lang="ru-RU"/>
          </a:p>
        </p:txBody>
      </p:sp>
      <p:sp>
        <p:nvSpPr>
          <p:cNvPr id="5427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427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5301"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12" name="Text Box 15"/>
          <p:cNvSpPr txBox="1">
            <a:spLocks noChangeArrowheads="1"/>
          </p:cNvSpPr>
          <p:nvPr/>
        </p:nvSpPr>
        <p:spPr bwMode="auto">
          <a:xfrm>
            <a:off x="857250" y="6400801"/>
            <a:ext cx="8286750" cy="424732"/>
          </a:xfrm>
          <a:prstGeom prst="rect">
            <a:avLst/>
          </a:prstGeom>
          <a:noFill/>
          <a:ln w="9525">
            <a:noFill/>
            <a:miter lim="800000"/>
            <a:headEnd/>
            <a:tailEnd/>
          </a:ln>
        </p:spPr>
        <p:txBody>
          <a:bodyPr wrap="square">
            <a:spAutoFit/>
          </a:bodyPr>
          <a:lstStyle/>
          <a:p>
            <a:pPr algn="ctr">
              <a:lnSpc>
                <a:spcPct val="90000"/>
              </a:lnSpc>
            </a:pPr>
            <a:r>
              <a:rPr lang="ru-RU" dirty="0"/>
              <a:t>Лекция </a:t>
            </a:r>
            <a:r>
              <a:rPr lang="en-US" dirty="0"/>
              <a:t>1</a:t>
            </a:r>
            <a:r>
              <a:rPr lang="ru-RU" dirty="0"/>
              <a:t>1. Вычисление АКФ и ВКФ и их применение</a:t>
            </a:r>
            <a:endParaRPr lang="ru-RU" i="1" dirty="0"/>
          </a:p>
        </p:txBody>
      </p:sp>
      <p:sp>
        <p:nvSpPr>
          <p:cNvPr id="9221" name="Rectangle 10"/>
          <p:cNvSpPr>
            <a:spLocks noChangeArrowheads="1"/>
          </p:cNvSpPr>
          <p:nvPr/>
        </p:nvSpPr>
        <p:spPr bwMode="auto">
          <a:xfrm>
            <a:off x="0" y="928670"/>
            <a:ext cx="9144000" cy="584775"/>
          </a:xfrm>
          <a:prstGeom prst="rect">
            <a:avLst/>
          </a:prstGeom>
          <a:noFill/>
          <a:ln w="9525">
            <a:noFill/>
            <a:miter lim="800000"/>
            <a:headEnd/>
            <a:tailEnd/>
          </a:ln>
        </p:spPr>
        <p:txBody>
          <a:bodyPr wrap="square">
            <a:spAutoFit/>
          </a:bodyPr>
          <a:lstStyle/>
          <a:p>
            <a:pPr algn="ctr"/>
            <a:r>
              <a:rPr lang="ru-RU" sz="3200" b="1" dirty="0"/>
              <a:t>Кодовые последовательности </a:t>
            </a:r>
            <a:r>
              <a:rPr lang="ru-RU" sz="3200" b="1" dirty="0" err="1"/>
              <a:t>Баркера</a:t>
            </a:r>
            <a:r>
              <a:rPr lang="ru-RU" sz="3200" b="1" dirty="0"/>
              <a:t> и их АКФ</a:t>
            </a:r>
          </a:p>
        </p:txBody>
      </p:sp>
      <p:sp>
        <p:nvSpPr>
          <p:cNvPr id="11" name="Объект 2"/>
          <p:cNvSpPr txBox="1">
            <a:spLocks/>
          </p:cNvSpPr>
          <p:nvPr/>
        </p:nvSpPr>
        <p:spPr>
          <a:xfrm>
            <a:off x="22815" y="1404308"/>
            <a:ext cx="9121185" cy="3450696"/>
          </a:xfrm>
          <a:prstGeom prst="rect">
            <a:avLst/>
          </a:prstGeom>
        </p:spPr>
        <p:txBody>
          <a:bodyPr/>
          <a:lstStyle>
            <a:lvl1pPr marL="342900" indent="-342900" algn="l" rtl="0" eaLnBrk="0" fontAlgn="base" hangingPunct="0">
              <a:spcBef>
                <a:spcPct val="20000"/>
              </a:spcBef>
              <a:spcAft>
                <a:spcPct val="0"/>
              </a:spcAft>
              <a:buSzPct val="85000"/>
              <a:buBlip>
                <a:blip r:embed="rId2"/>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70000"/>
              <a:buFont typeface="Wingdings" pitchFamily="2" charset="2"/>
              <a:buChar char="n"/>
              <a:defRPr sz="2800">
                <a:solidFill>
                  <a:schemeClr val="tx1"/>
                </a:solidFill>
                <a:latin typeface="+mn-lt"/>
              </a:defRPr>
            </a:lvl2pPr>
            <a:lvl3pPr marL="1143000" indent="-228600" algn="l" rtl="0" eaLnBrk="0" fontAlgn="base" hangingPunct="0">
              <a:spcBef>
                <a:spcPct val="20000"/>
              </a:spcBef>
              <a:spcAft>
                <a:spcPct val="0"/>
              </a:spcAft>
              <a:buSzPct val="70000"/>
              <a:buFont typeface="Wingdings" pitchFamily="2" charset="2"/>
              <a:buChar char="n"/>
              <a:defRPr sz="2400">
                <a:solidFill>
                  <a:schemeClr val="tx1"/>
                </a:solidFill>
                <a:latin typeface="+mn-lt"/>
              </a:defRPr>
            </a:lvl3pPr>
            <a:lvl4pPr marL="1600200" indent="-228600" algn="l" rtl="0" eaLnBrk="0" fontAlgn="base" hangingPunct="0">
              <a:spcBef>
                <a:spcPct val="20000"/>
              </a:spcBef>
              <a:spcAft>
                <a:spcPct val="0"/>
              </a:spcAft>
              <a:buSzPct val="70000"/>
              <a:buFont typeface="Wingdings" pitchFamily="2" charset="2"/>
              <a:buChar char="n"/>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buNone/>
            </a:pPr>
            <a:r>
              <a:rPr lang="ru-RU" kern="0" dirty="0"/>
              <a:t>Код </a:t>
            </a:r>
            <a:r>
              <a:rPr lang="ru-RU" kern="0" dirty="0" err="1"/>
              <a:t>Баркера</a:t>
            </a:r>
            <a:r>
              <a:rPr lang="ru-RU" kern="0" dirty="0"/>
              <a:t> 2 порядка         </a:t>
            </a:r>
          </a:p>
          <a:p>
            <a:pPr marL="0" indent="0">
              <a:buFontTx/>
              <a:buNone/>
            </a:pPr>
            <a:endParaRPr lang="ru-RU" kern="0" dirty="0"/>
          </a:p>
          <a:p>
            <a:pPr marL="0" indent="0">
              <a:buFontTx/>
              <a:buNone/>
            </a:pPr>
            <a:endParaRPr lang="ru-RU" kern="0" dirty="0"/>
          </a:p>
          <a:p>
            <a:pPr marL="0" indent="0">
              <a:buNone/>
            </a:pPr>
            <a:endParaRPr lang="ru-RU" kern="0" dirty="0"/>
          </a:p>
          <a:p>
            <a:pPr marL="0" indent="0">
              <a:buNone/>
            </a:pPr>
            <a:r>
              <a:rPr lang="ru-RU" kern="0" dirty="0"/>
              <a:t>Код </a:t>
            </a:r>
            <a:r>
              <a:rPr lang="ru-RU" kern="0" dirty="0" err="1"/>
              <a:t>Баркера</a:t>
            </a:r>
            <a:r>
              <a:rPr lang="ru-RU" kern="0" dirty="0"/>
              <a:t> 3 порядка </a:t>
            </a:r>
          </a:p>
          <a:p>
            <a:endParaRPr lang="ru-RU" kern="0" dirty="0"/>
          </a:p>
          <a:p>
            <a:pPr marL="0" indent="0">
              <a:buFontTx/>
              <a:buNone/>
            </a:pPr>
            <a:endParaRPr lang="ru-RU" kern="0" dirty="0"/>
          </a:p>
        </p:txBody>
      </p:sp>
      <p:pic>
        <p:nvPicPr>
          <p:cNvPr id="13" name="Рисунок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32758" y="1978377"/>
            <a:ext cx="4375746" cy="1818937"/>
          </a:xfrm>
          <a:prstGeom prst="rect">
            <a:avLst/>
          </a:prstGeom>
        </p:spPr>
      </p:pic>
      <p:pic>
        <p:nvPicPr>
          <p:cNvPr id="14" name="Рисунок 1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14" y="1978379"/>
            <a:ext cx="4359190" cy="1818936"/>
          </a:xfrm>
          <a:prstGeom prst="rect">
            <a:avLst/>
          </a:prstGeom>
        </p:spPr>
      </p:pic>
      <p:pic>
        <p:nvPicPr>
          <p:cNvPr id="15" name="Рисунок 1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292" y="4392000"/>
            <a:ext cx="4359192" cy="1917320"/>
          </a:xfrm>
          <a:prstGeom prst="rect">
            <a:avLst/>
          </a:prstGeom>
        </p:spPr>
      </p:pic>
      <p:pic>
        <p:nvPicPr>
          <p:cNvPr id="16" name="Рисунок 1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32757" y="4392000"/>
            <a:ext cx="4375747" cy="1917320"/>
          </a:xfrm>
          <a:prstGeom prst="rect">
            <a:avLst/>
          </a:prstGeom>
        </p:spPr>
      </p:pic>
    </p:spTree>
    <p:extLst>
      <p:ext uri="{BB962C8B-B14F-4D97-AF65-F5344CB8AC3E}">
        <p14:creationId xmlns:p14="http://schemas.microsoft.com/office/powerpoint/2010/main" val="47518861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descr="Large confetti"/>
          <p:cNvSpPr>
            <a:spLocks noChangeArrowheads="1"/>
          </p:cNvSpPr>
          <p:nvPr/>
        </p:nvSpPr>
        <p:spPr bwMode="auto">
          <a:xfrm>
            <a:off x="0" y="228600"/>
            <a:ext cx="9144000" cy="630238"/>
          </a:xfrm>
          <a:prstGeom prst="rect">
            <a:avLst/>
          </a:prstGeom>
          <a:noFill/>
          <a:ln w="9525">
            <a:noFill/>
            <a:miter lim="800000"/>
            <a:headEnd/>
            <a:tailEnd/>
          </a:ln>
        </p:spPr>
        <p:txBody>
          <a:bodyPr anchor="b"/>
          <a:lstStyle/>
          <a:p>
            <a:r>
              <a:rPr lang="ru-RU" sz="2800" b="1"/>
              <a:t>Методы и средства цифровой обработки информации</a:t>
            </a:r>
          </a:p>
        </p:txBody>
      </p:sp>
      <p:sp>
        <p:nvSpPr>
          <p:cNvPr id="9219" name="Rectangle 7"/>
          <p:cNvSpPr>
            <a:spLocks noChangeArrowheads="1"/>
          </p:cNvSpPr>
          <p:nvPr/>
        </p:nvSpPr>
        <p:spPr bwMode="auto">
          <a:xfrm>
            <a:off x="2971800" y="1657350"/>
            <a:ext cx="9144000" cy="0"/>
          </a:xfrm>
          <a:prstGeom prst="rect">
            <a:avLst/>
          </a:prstGeom>
          <a:noFill/>
          <a:ln w="9525">
            <a:noFill/>
            <a:miter lim="800000"/>
            <a:headEnd/>
            <a:tailEnd/>
          </a:ln>
        </p:spPr>
        <p:txBody>
          <a:bodyPr>
            <a:spAutoFit/>
          </a:bodyPr>
          <a:lstStyle/>
          <a:p>
            <a:endParaRPr lang="ru-RU"/>
          </a:p>
        </p:txBody>
      </p:sp>
      <p:sp>
        <p:nvSpPr>
          <p:cNvPr id="9220" name="Rectangle 9"/>
          <p:cNvSpPr>
            <a:spLocks noChangeArrowheads="1"/>
          </p:cNvSpPr>
          <p:nvPr/>
        </p:nvSpPr>
        <p:spPr bwMode="auto">
          <a:xfrm>
            <a:off x="2852738" y="3309938"/>
            <a:ext cx="9144000" cy="0"/>
          </a:xfrm>
          <a:prstGeom prst="rect">
            <a:avLst/>
          </a:prstGeom>
          <a:noFill/>
          <a:ln w="9525">
            <a:noFill/>
            <a:miter lim="800000"/>
            <a:headEnd/>
            <a:tailEnd/>
          </a:ln>
        </p:spPr>
        <p:txBody>
          <a:bodyPr>
            <a:spAutoFit/>
          </a:bodyPr>
          <a:lstStyle/>
          <a:p>
            <a:endParaRPr lang="ru-RU"/>
          </a:p>
        </p:txBody>
      </p:sp>
      <p:sp>
        <p:nvSpPr>
          <p:cNvPr id="5427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427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5301"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12" name="Text Box 15"/>
          <p:cNvSpPr txBox="1">
            <a:spLocks noChangeArrowheads="1"/>
          </p:cNvSpPr>
          <p:nvPr/>
        </p:nvSpPr>
        <p:spPr bwMode="auto">
          <a:xfrm>
            <a:off x="857250" y="6400801"/>
            <a:ext cx="8286750" cy="424732"/>
          </a:xfrm>
          <a:prstGeom prst="rect">
            <a:avLst/>
          </a:prstGeom>
          <a:noFill/>
          <a:ln w="9525">
            <a:noFill/>
            <a:miter lim="800000"/>
            <a:headEnd/>
            <a:tailEnd/>
          </a:ln>
        </p:spPr>
        <p:txBody>
          <a:bodyPr wrap="square">
            <a:spAutoFit/>
          </a:bodyPr>
          <a:lstStyle/>
          <a:p>
            <a:pPr algn="ctr">
              <a:lnSpc>
                <a:spcPct val="90000"/>
              </a:lnSpc>
            </a:pPr>
            <a:r>
              <a:rPr lang="ru-RU" dirty="0"/>
              <a:t>Лекция </a:t>
            </a:r>
            <a:r>
              <a:rPr lang="en-US" dirty="0"/>
              <a:t>1</a:t>
            </a:r>
            <a:r>
              <a:rPr lang="ru-RU" dirty="0"/>
              <a:t>1. Вычисление АКФ и ВКФ и их применение</a:t>
            </a:r>
            <a:endParaRPr lang="ru-RU" i="1" dirty="0"/>
          </a:p>
        </p:txBody>
      </p:sp>
      <p:sp>
        <p:nvSpPr>
          <p:cNvPr id="9221" name="Rectangle 10"/>
          <p:cNvSpPr>
            <a:spLocks noChangeArrowheads="1"/>
          </p:cNvSpPr>
          <p:nvPr/>
        </p:nvSpPr>
        <p:spPr bwMode="auto">
          <a:xfrm>
            <a:off x="0" y="928670"/>
            <a:ext cx="9144000" cy="584775"/>
          </a:xfrm>
          <a:prstGeom prst="rect">
            <a:avLst/>
          </a:prstGeom>
          <a:noFill/>
          <a:ln w="9525">
            <a:noFill/>
            <a:miter lim="800000"/>
            <a:headEnd/>
            <a:tailEnd/>
          </a:ln>
        </p:spPr>
        <p:txBody>
          <a:bodyPr wrap="square">
            <a:spAutoFit/>
          </a:bodyPr>
          <a:lstStyle/>
          <a:p>
            <a:pPr algn="ctr"/>
            <a:r>
              <a:rPr lang="ru-RU" sz="3200" b="1" dirty="0"/>
              <a:t>Кодовые последовательности </a:t>
            </a:r>
            <a:r>
              <a:rPr lang="ru-RU" sz="3200" b="1" dirty="0" err="1"/>
              <a:t>Баркера</a:t>
            </a:r>
            <a:r>
              <a:rPr lang="ru-RU" sz="3200" b="1" dirty="0"/>
              <a:t> и их АКФ</a:t>
            </a:r>
          </a:p>
        </p:txBody>
      </p:sp>
      <p:sp>
        <p:nvSpPr>
          <p:cNvPr id="11" name="Объект 2"/>
          <p:cNvSpPr txBox="1">
            <a:spLocks/>
          </p:cNvSpPr>
          <p:nvPr/>
        </p:nvSpPr>
        <p:spPr>
          <a:xfrm>
            <a:off x="22815" y="1404308"/>
            <a:ext cx="9121185" cy="3450696"/>
          </a:xfrm>
          <a:prstGeom prst="rect">
            <a:avLst/>
          </a:prstGeom>
        </p:spPr>
        <p:txBody>
          <a:bodyPr/>
          <a:lstStyle>
            <a:lvl1pPr marL="342900" indent="-342900" algn="l" rtl="0" eaLnBrk="0" fontAlgn="base" hangingPunct="0">
              <a:spcBef>
                <a:spcPct val="20000"/>
              </a:spcBef>
              <a:spcAft>
                <a:spcPct val="0"/>
              </a:spcAft>
              <a:buSzPct val="85000"/>
              <a:buBlip>
                <a:blip r:embed="rId2"/>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70000"/>
              <a:buFont typeface="Wingdings" pitchFamily="2" charset="2"/>
              <a:buChar char="n"/>
              <a:defRPr sz="2800">
                <a:solidFill>
                  <a:schemeClr val="tx1"/>
                </a:solidFill>
                <a:latin typeface="+mn-lt"/>
              </a:defRPr>
            </a:lvl2pPr>
            <a:lvl3pPr marL="1143000" indent="-228600" algn="l" rtl="0" eaLnBrk="0" fontAlgn="base" hangingPunct="0">
              <a:spcBef>
                <a:spcPct val="20000"/>
              </a:spcBef>
              <a:spcAft>
                <a:spcPct val="0"/>
              </a:spcAft>
              <a:buSzPct val="70000"/>
              <a:buFont typeface="Wingdings" pitchFamily="2" charset="2"/>
              <a:buChar char="n"/>
              <a:defRPr sz="2400">
                <a:solidFill>
                  <a:schemeClr val="tx1"/>
                </a:solidFill>
                <a:latin typeface="+mn-lt"/>
              </a:defRPr>
            </a:lvl3pPr>
            <a:lvl4pPr marL="1600200" indent="-228600" algn="l" rtl="0" eaLnBrk="0" fontAlgn="base" hangingPunct="0">
              <a:spcBef>
                <a:spcPct val="20000"/>
              </a:spcBef>
              <a:spcAft>
                <a:spcPct val="0"/>
              </a:spcAft>
              <a:buSzPct val="70000"/>
              <a:buFont typeface="Wingdings" pitchFamily="2" charset="2"/>
              <a:buChar char="n"/>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buNone/>
            </a:pPr>
            <a:r>
              <a:rPr lang="ru-RU" kern="0" dirty="0"/>
              <a:t>Код </a:t>
            </a:r>
            <a:r>
              <a:rPr lang="ru-RU" kern="0" dirty="0" err="1"/>
              <a:t>Баркера</a:t>
            </a:r>
            <a:r>
              <a:rPr lang="ru-RU" kern="0" dirty="0"/>
              <a:t> 4 порядка         </a:t>
            </a:r>
          </a:p>
          <a:p>
            <a:pPr marL="0" indent="0">
              <a:buFontTx/>
              <a:buNone/>
            </a:pPr>
            <a:endParaRPr lang="ru-RU" kern="0" dirty="0"/>
          </a:p>
          <a:p>
            <a:pPr marL="0" indent="0">
              <a:buFontTx/>
              <a:buNone/>
            </a:pPr>
            <a:endParaRPr lang="ru-RU" kern="0" dirty="0"/>
          </a:p>
          <a:p>
            <a:pPr marL="0" indent="0">
              <a:buNone/>
            </a:pPr>
            <a:endParaRPr lang="ru-RU" kern="0" dirty="0"/>
          </a:p>
          <a:p>
            <a:pPr marL="0" indent="0">
              <a:buNone/>
            </a:pPr>
            <a:r>
              <a:rPr lang="ru-RU" kern="0" dirty="0"/>
              <a:t>Код </a:t>
            </a:r>
            <a:r>
              <a:rPr lang="ru-RU" kern="0" dirty="0" err="1"/>
              <a:t>Баркера</a:t>
            </a:r>
            <a:r>
              <a:rPr lang="ru-RU" kern="0" dirty="0"/>
              <a:t> 5 порядка </a:t>
            </a:r>
          </a:p>
          <a:p>
            <a:endParaRPr lang="ru-RU" kern="0" dirty="0"/>
          </a:p>
          <a:p>
            <a:pPr marL="0" indent="0">
              <a:buFontTx/>
              <a:buNone/>
            </a:pPr>
            <a:endParaRPr lang="ru-RU" kern="0" dirty="0"/>
          </a:p>
        </p:txBody>
      </p:sp>
      <p:pic>
        <p:nvPicPr>
          <p:cNvPr id="17" name="Рисунок 1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13976" y="1844824"/>
            <a:ext cx="4365551" cy="1982425"/>
          </a:xfrm>
          <a:prstGeom prst="rect">
            <a:avLst/>
          </a:prstGeom>
        </p:spPr>
      </p:pic>
      <p:pic>
        <p:nvPicPr>
          <p:cNvPr id="18" name="Рисунок 1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456" y="1881700"/>
            <a:ext cx="4423371" cy="1945549"/>
          </a:xfrm>
          <a:prstGeom prst="rect">
            <a:avLst/>
          </a:prstGeom>
        </p:spPr>
      </p:pic>
      <p:pic>
        <p:nvPicPr>
          <p:cNvPr id="19" name="Рисунок 1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13976" y="4365104"/>
            <a:ext cx="4365551" cy="1981200"/>
          </a:xfrm>
          <a:prstGeom prst="rect">
            <a:avLst/>
          </a:prstGeom>
        </p:spPr>
      </p:pic>
      <p:pic>
        <p:nvPicPr>
          <p:cNvPr id="20" name="Рисунок 1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8100" y="4365104"/>
            <a:ext cx="4533900" cy="1981200"/>
          </a:xfrm>
          <a:prstGeom prst="rect">
            <a:avLst/>
          </a:prstGeom>
        </p:spPr>
      </p:pic>
    </p:spTree>
    <p:extLst>
      <p:ext uri="{BB962C8B-B14F-4D97-AF65-F5344CB8AC3E}">
        <p14:creationId xmlns:p14="http://schemas.microsoft.com/office/powerpoint/2010/main" val="326008898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descr="Large confetti"/>
          <p:cNvSpPr>
            <a:spLocks noChangeArrowheads="1"/>
          </p:cNvSpPr>
          <p:nvPr/>
        </p:nvSpPr>
        <p:spPr bwMode="auto">
          <a:xfrm>
            <a:off x="0" y="228600"/>
            <a:ext cx="9144000" cy="630238"/>
          </a:xfrm>
          <a:prstGeom prst="rect">
            <a:avLst/>
          </a:prstGeom>
          <a:noFill/>
          <a:ln w="9525">
            <a:noFill/>
            <a:miter lim="800000"/>
            <a:headEnd/>
            <a:tailEnd/>
          </a:ln>
        </p:spPr>
        <p:txBody>
          <a:bodyPr anchor="b"/>
          <a:lstStyle/>
          <a:p>
            <a:r>
              <a:rPr lang="ru-RU" sz="2800" b="1"/>
              <a:t>Методы и средства цифровой обработки информации</a:t>
            </a:r>
          </a:p>
        </p:txBody>
      </p:sp>
      <p:sp>
        <p:nvSpPr>
          <p:cNvPr id="9219" name="Rectangle 7"/>
          <p:cNvSpPr>
            <a:spLocks noChangeArrowheads="1"/>
          </p:cNvSpPr>
          <p:nvPr/>
        </p:nvSpPr>
        <p:spPr bwMode="auto">
          <a:xfrm>
            <a:off x="2971800" y="1657350"/>
            <a:ext cx="9144000" cy="0"/>
          </a:xfrm>
          <a:prstGeom prst="rect">
            <a:avLst/>
          </a:prstGeom>
          <a:noFill/>
          <a:ln w="9525">
            <a:noFill/>
            <a:miter lim="800000"/>
            <a:headEnd/>
            <a:tailEnd/>
          </a:ln>
        </p:spPr>
        <p:txBody>
          <a:bodyPr>
            <a:spAutoFit/>
          </a:bodyPr>
          <a:lstStyle/>
          <a:p>
            <a:endParaRPr lang="ru-RU"/>
          </a:p>
        </p:txBody>
      </p:sp>
      <p:sp>
        <p:nvSpPr>
          <p:cNvPr id="9220" name="Rectangle 9"/>
          <p:cNvSpPr>
            <a:spLocks noChangeArrowheads="1"/>
          </p:cNvSpPr>
          <p:nvPr/>
        </p:nvSpPr>
        <p:spPr bwMode="auto">
          <a:xfrm>
            <a:off x="2852738" y="3309938"/>
            <a:ext cx="9144000" cy="0"/>
          </a:xfrm>
          <a:prstGeom prst="rect">
            <a:avLst/>
          </a:prstGeom>
          <a:noFill/>
          <a:ln w="9525">
            <a:noFill/>
            <a:miter lim="800000"/>
            <a:headEnd/>
            <a:tailEnd/>
          </a:ln>
        </p:spPr>
        <p:txBody>
          <a:bodyPr>
            <a:spAutoFit/>
          </a:bodyPr>
          <a:lstStyle/>
          <a:p>
            <a:endParaRPr lang="ru-RU"/>
          </a:p>
        </p:txBody>
      </p:sp>
      <p:sp>
        <p:nvSpPr>
          <p:cNvPr id="5427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427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5301"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12" name="Text Box 15"/>
          <p:cNvSpPr txBox="1">
            <a:spLocks noChangeArrowheads="1"/>
          </p:cNvSpPr>
          <p:nvPr/>
        </p:nvSpPr>
        <p:spPr bwMode="auto">
          <a:xfrm>
            <a:off x="857250" y="6400801"/>
            <a:ext cx="8286750" cy="424732"/>
          </a:xfrm>
          <a:prstGeom prst="rect">
            <a:avLst/>
          </a:prstGeom>
          <a:noFill/>
          <a:ln w="9525">
            <a:noFill/>
            <a:miter lim="800000"/>
            <a:headEnd/>
            <a:tailEnd/>
          </a:ln>
        </p:spPr>
        <p:txBody>
          <a:bodyPr wrap="square">
            <a:spAutoFit/>
          </a:bodyPr>
          <a:lstStyle/>
          <a:p>
            <a:pPr algn="ctr">
              <a:lnSpc>
                <a:spcPct val="90000"/>
              </a:lnSpc>
            </a:pPr>
            <a:r>
              <a:rPr lang="ru-RU" dirty="0"/>
              <a:t>Лекция </a:t>
            </a:r>
            <a:r>
              <a:rPr lang="en-US" dirty="0"/>
              <a:t>1</a:t>
            </a:r>
            <a:r>
              <a:rPr lang="ru-RU" dirty="0"/>
              <a:t>1. Вычисление АКФ и ВКФ и их применение</a:t>
            </a:r>
            <a:endParaRPr lang="ru-RU" i="1" dirty="0"/>
          </a:p>
        </p:txBody>
      </p:sp>
      <p:sp>
        <p:nvSpPr>
          <p:cNvPr id="9221" name="Rectangle 10"/>
          <p:cNvSpPr>
            <a:spLocks noChangeArrowheads="1"/>
          </p:cNvSpPr>
          <p:nvPr/>
        </p:nvSpPr>
        <p:spPr bwMode="auto">
          <a:xfrm>
            <a:off x="0" y="928670"/>
            <a:ext cx="9144000" cy="584775"/>
          </a:xfrm>
          <a:prstGeom prst="rect">
            <a:avLst/>
          </a:prstGeom>
          <a:noFill/>
          <a:ln w="9525">
            <a:noFill/>
            <a:miter lim="800000"/>
            <a:headEnd/>
            <a:tailEnd/>
          </a:ln>
        </p:spPr>
        <p:txBody>
          <a:bodyPr wrap="square">
            <a:spAutoFit/>
          </a:bodyPr>
          <a:lstStyle/>
          <a:p>
            <a:pPr algn="ctr"/>
            <a:r>
              <a:rPr lang="ru-RU" sz="3200" b="1" dirty="0"/>
              <a:t>Кодовые последовательности </a:t>
            </a:r>
            <a:r>
              <a:rPr lang="ru-RU" sz="3200" b="1" dirty="0" err="1"/>
              <a:t>Баркера</a:t>
            </a:r>
            <a:r>
              <a:rPr lang="ru-RU" sz="3200" b="1" dirty="0"/>
              <a:t> и их АКФ</a:t>
            </a:r>
          </a:p>
        </p:txBody>
      </p:sp>
      <p:sp>
        <p:nvSpPr>
          <p:cNvPr id="11" name="Объект 2"/>
          <p:cNvSpPr txBox="1">
            <a:spLocks/>
          </p:cNvSpPr>
          <p:nvPr/>
        </p:nvSpPr>
        <p:spPr>
          <a:xfrm>
            <a:off x="22815" y="1404308"/>
            <a:ext cx="9121185" cy="3450696"/>
          </a:xfrm>
          <a:prstGeom prst="rect">
            <a:avLst/>
          </a:prstGeom>
        </p:spPr>
        <p:txBody>
          <a:bodyPr/>
          <a:lstStyle>
            <a:lvl1pPr marL="342900" indent="-342900" algn="l" rtl="0" eaLnBrk="0" fontAlgn="base" hangingPunct="0">
              <a:spcBef>
                <a:spcPct val="20000"/>
              </a:spcBef>
              <a:spcAft>
                <a:spcPct val="0"/>
              </a:spcAft>
              <a:buSzPct val="85000"/>
              <a:buBlip>
                <a:blip r:embed="rId2"/>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70000"/>
              <a:buFont typeface="Wingdings" pitchFamily="2" charset="2"/>
              <a:buChar char="n"/>
              <a:defRPr sz="2800">
                <a:solidFill>
                  <a:schemeClr val="tx1"/>
                </a:solidFill>
                <a:latin typeface="+mn-lt"/>
              </a:defRPr>
            </a:lvl2pPr>
            <a:lvl3pPr marL="1143000" indent="-228600" algn="l" rtl="0" eaLnBrk="0" fontAlgn="base" hangingPunct="0">
              <a:spcBef>
                <a:spcPct val="20000"/>
              </a:spcBef>
              <a:spcAft>
                <a:spcPct val="0"/>
              </a:spcAft>
              <a:buSzPct val="70000"/>
              <a:buFont typeface="Wingdings" pitchFamily="2" charset="2"/>
              <a:buChar char="n"/>
              <a:defRPr sz="2400">
                <a:solidFill>
                  <a:schemeClr val="tx1"/>
                </a:solidFill>
                <a:latin typeface="+mn-lt"/>
              </a:defRPr>
            </a:lvl3pPr>
            <a:lvl4pPr marL="1600200" indent="-228600" algn="l" rtl="0" eaLnBrk="0" fontAlgn="base" hangingPunct="0">
              <a:spcBef>
                <a:spcPct val="20000"/>
              </a:spcBef>
              <a:spcAft>
                <a:spcPct val="0"/>
              </a:spcAft>
              <a:buSzPct val="70000"/>
              <a:buFont typeface="Wingdings" pitchFamily="2" charset="2"/>
              <a:buChar char="n"/>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buNone/>
            </a:pPr>
            <a:r>
              <a:rPr lang="ru-RU" kern="0" dirty="0"/>
              <a:t>Код </a:t>
            </a:r>
            <a:r>
              <a:rPr lang="ru-RU" kern="0" dirty="0" err="1"/>
              <a:t>Баркера</a:t>
            </a:r>
            <a:r>
              <a:rPr lang="ru-RU" kern="0" dirty="0"/>
              <a:t> 7 порядка         </a:t>
            </a:r>
          </a:p>
          <a:p>
            <a:pPr marL="0" indent="0">
              <a:buFontTx/>
              <a:buNone/>
            </a:pPr>
            <a:endParaRPr lang="ru-RU" kern="0" dirty="0"/>
          </a:p>
          <a:p>
            <a:pPr marL="0" indent="0">
              <a:buFontTx/>
              <a:buNone/>
            </a:pPr>
            <a:endParaRPr lang="ru-RU" kern="0" dirty="0"/>
          </a:p>
          <a:p>
            <a:pPr marL="0" indent="0">
              <a:buNone/>
            </a:pPr>
            <a:endParaRPr lang="ru-RU" kern="0" dirty="0"/>
          </a:p>
          <a:p>
            <a:pPr marL="0" indent="0">
              <a:buNone/>
            </a:pPr>
            <a:r>
              <a:rPr lang="ru-RU" kern="0" dirty="0"/>
              <a:t>Код </a:t>
            </a:r>
            <a:r>
              <a:rPr lang="ru-RU" kern="0" dirty="0" err="1"/>
              <a:t>Баркера</a:t>
            </a:r>
            <a:r>
              <a:rPr lang="ru-RU" kern="0"/>
              <a:t> 13 </a:t>
            </a:r>
            <a:r>
              <a:rPr lang="ru-RU" kern="0" dirty="0"/>
              <a:t>порядка </a:t>
            </a:r>
          </a:p>
          <a:p>
            <a:endParaRPr lang="ru-RU" kern="0" dirty="0"/>
          </a:p>
          <a:p>
            <a:pPr marL="0" indent="0">
              <a:buFontTx/>
              <a:buNone/>
            </a:pPr>
            <a:endParaRPr lang="ru-RU" kern="0" dirty="0"/>
          </a:p>
        </p:txBody>
      </p:sp>
      <p:pic>
        <p:nvPicPr>
          <p:cNvPr id="13" name="Рисунок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16970" y="1916832"/>
            <a:ext cx="4663542" cy="1715623"/>
          </a:xfrm>
          <a:prstGeom prst="rect">
            <a:avLst/>
          </a:prstGeom>
        </p:spPr>
      </p:pic>
      <p:pic>
        <p:nvPicPr>
          <p:cNvPr id="14" name="Рисунок 1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496" y="1916832"/>
            <a:ext cx="4436642" cy="1715623"/>
          </a:xfrm>
          <a:prstGeom prst="rect">
            <a:avLst/>
          </a:prstGeom>
        </p:spPr>
      </p:pic>
      <p:pic>
        <p:nvPicPr>
          <p:cNvPr id="15" name="Рисунок 1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16971" y="4365104"/>
            <a:ext cx="4663541" cy="1863572"/>
          </a:xfrm>
          <a:prstGeom prst="rect">
            <a:avLst/>
          </a:prstGeom>
        </p:spPr>
      </p:pic>
      <p:pic>
        <p:nvPicPr>
          <p:cNvPr id="16" name="Рисунок 1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5496" y="4365104"/>
            <a:ext cx="4436642" cy="1863572"/>
          </a:xfrm>
          <a:prstGeom prst="rect">
            <a:avLst/>
          </a:prstGeom>
        </p:spPr>
      </p:pic>
    </p:spTree>
    <p:extLst>
      <p:ext uri="{BB962C8B-B14F-4D97-AF65-F5344CB8AC3E}">
        <p14:creationId xmlns:p14="http://schemas.microsoft.com/office/powerpoint/2010/main" val="285093015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1930BDCE-684D-5C7D-AE68-13370E938244}"/>
              </a:ext>
            </a:extLst>
          </p:cNvPr>
          <p:cNvPicPr>
            <a:picLocks noChangeAspect="1"/>
          </p:cNvPicPr>
          <p:nvPr/>
        </p:nvPicPr>
        <p:blipFill>
          <a:blip r:embed="rId2"/>
          <a:stretch>
            <a:fillRect/>
          </a:stretch>
        </p:blipFill>
        <p:spPr>
          <a:xfrm>
            <a:off x="4458908" y="1902205"/>
            <a:ext cx="4633306" cy="1511417"/>
          </a:xfrm>
          <a:prstGeom prst="rect">
            <a:avLst/>
          </a:prstGeom>
        </p:spPr>
      </p:pic>
      <p:sp>
        <p:nvSpPr>
          <p:cNvPr id="9218" name="Rectangle 4" descr="Large confetti"/>
          <p:cNvSpPr>
            <a:spLocks noChangeArrowheads="1"/>
          </p:cNvSpPr>
          <p:nvPr/>
        </p:nvSpPr>
        <p:spPr bwMode="auto">
          <a:xfrm>
            <a:off x="0" y="228600"/>
            <a:ext cx="9144000" cy="630238"/>
          </a:xfrm>
          <a:prstGeom prst="rect">
            <a:avLst/>
          </a:prstGeom>
          <a:noFill/>
          <a:ln w="9525">
            <a:noFill/>
            <a:miter lim="800000"/>
            <a:headEnd/>
            <a:tailEnd/>
          </a:ln>
        </p:spPr>
        <p:txBody>
          <a:bodyPr anchor="b"/>
          <a:lstStyle/>
          <a:p>
            <a:r>
              <a:rPr lang="ru-RU" sz="2800" b="1"/>
              <a:t>Методы и средства цифровой обработки информации</a:t>
            </a:r>
          </a:p>
        </p:txBody>
      </p:sp>
      <p:sp>
        <p:nvSpPr>
          <p:cNvPr id="9219" name="Rectangle 7"/>
          <p:cNvSpPr>
            <a:spLocks noChangeArrowheads="1"/>
          </p:cNvSpPr>
          <p:nvPr/>
        </p:nvSpPr>
        <p:spPr bwMode="auto">
          <a:xfrm>
            <a:off x="2971800" y="1657350"/>
            <a:ext cx="9144000" cy="0"/>
          </a:xfrm>
          <a:prstGeom prst="rect">
            <a:avLst/>
          </a:prstGeom>
          <a:noFill/>
          <a:ln w="9525">
            <a:noFill/>
            <a:miter lim="800000"/>
            <a:headEnd/>
            <a:tailEnd/>
          </a:ln>
        </p:spPr>
        <p:txBody>
          <a:bodyPr>
            <a:spAutoFit/>
          </a:bodyPr>
          <a:lstStyle/>
          <a:p>
            <a:endParaRPr lang="ru-RU"/>
          </a:p>
        </p:txBody>
      </p:sp>
      <p:sp>
        <p:nvSpPr>
          <p:cNvPr id="9220" name="Rectangle 9"/>
          <p:cNvSpPr>
            <a:spLocks noChangeArrowheads="1"/>
          </p:cNvSpPr>
          <p:nvPr/>
        </p:nvSpPr>
        <p:spPr bwMode="auto">
          <a:xfrm>
            <a:off x="2852738" y="3309938"/>
            <a:ext cx="9144000" cy="0"/>
          </a:xfrm>
          <a:prstGeom prst="rect">
            <a:avLst/>
          </a:prstGeom>
          <a:noFill/>
          <a:ln w="9525">
            <a:noFill/>
            <a:miter lim="800000"/>
            <a:headEnd/>
            <a:tailEnd/>
          </a:ln>
        </p:spPr>
        <p:txBody>
          <a:bodyPr>
            <a:spAutoFit/>
          </a:bodyPr>
          <a:lstStyle/>
          <a:p>
            <a:endParaRPr lang="ru-RU"/>
          </a:p>
        </p:txBody>
      </p:sp>
      <p:sp>
        <p:nvSpPr>
          <p:cNvPr id="5427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427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5301"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12" name="Text Box 15"/>
          <p:cNvSpPr txBox="1">
            <a:spLocks noChangeArrowheads="1"/>
          </p:cNvSpPr>
          <p:nvPr/>
        </p:nvSpPr>
        <p:spPr bwMode="auto">
          <a:xfrm>
            <a:off x="857250" y="6400801"/>
            <a:ext cx="8286750" cy="424732"/>
          </a:xfrm>
          <a:prstGeom prst="rect">
            <a:avLst/>
          </a:prstGeom>
          <a:noFill/>
          <a:ln w="9525">
            <a:noFill/>
            <a:miter lim="800000"/>
            <a:headEnd/>
            <a:tailEnd/>
          </a:ln>
        </p:spPr>
        <p:txBody>
          <a:bodyPr wrap="square">
            <a:spAutoFit/>
          </a:bodyPr>
          <a:lstStyle/>
          <a:p>
            <a:pPr algn="ctr">
              <a:lnSpc>
                <a:spcPct val="90000"/>
              </a:lnSpc>
            </a:pPr>
            <a:r>
              <a:rPr lang="ru-RU" dirty="0"/>
              <a:t>Лекция </a:t>
            </a:r>
            <a:r>
              <a:rPr lang="en-US" dirty="0"/>
              <a:t>1</a:t>
            </a:r>
            <a:r>
              <a:rPr lang="ru-RU" dirty="0"/>
              <a:t>1. Вычисление АКФ и ВКФ и их применение</a:t>
            </a:r>
            <a:endParaRPr lang="ru-RU" i="1" dirty="0"/>
          </a:p>
        </p:txBody>
      </p:sp>
      <p:sp>
        <p:nvSpPr>
          <p:cNvPr id="9221" name="Rectangle 10"/>
          <p:cNvSpPr>
            <a:spLocks noChangeArrowheads="1"/>
          </p:cNvSpPr>
          <p:nvPr/>
        </p:nvSpPr>
        <p:spPr bwMode="auto">
          <a:xfrm>
            <a:off x="0" y="928670"/>
            <a:ext cx="9144000" cy="1077218"/>
          </a:xfrm>
          <a:prstGeom prst="rect">
            <a:avLst/>
          </a:prstGeom>
          <a:noFill/>
          <a:ln w="9525">
            <a:noFill/>
            <a:miter lim="800000"/>
            <a:headEnd/>
            <a:tailEnd/>
          </a:ln>
        </p:spPr>
        <p:txBody>
          <a:bodyPr wrap="square">
            <a:spAutoFit/>
          </a:bodyPr>
          <a:lstStyle/>
          <a:p>
            <a:pPr algn="ctr"/>
            <a:r>
              <a:rPr lang="ru-RU" sz="3200" b="1" dirty="0"/>
              <a:t>Кодовые последовательности 13 порядка</a:t>
            </a:r>
          </a:p>
          <a:p>
            <a:pPr algn="ctr"/>
            <a:r>
              <a:rPr lang="ru-RU" sz="3200" b="1" dirty="0" err="1"/>
              <a:t>Баркера</a:t>
            </a:r>
            <a:r>
              <a:rPr lang="ru-RU" sz="3200" b="1" dirty="0"/>
              <a:t>                                   измененная </a:t>
            </a:r>
          </a:p>
        </p:txBody>
      </p:sp>
      <p:sp>
        <p:nvSpPr>
          <p:cNvPr id="11" name="Объект 2"/>
          <p:cNvSpPr txBox="1">
            <a:spLocks/>
          </p:cNvSpPr>
          <p:nvPr/>
        </p:nvSpPr>
        <p:spPr>
          <a:xfrm>
            <a:off x="22815" y="1404308"/>
            <a:ext cx="9121185" cy="3450696"/>
          </a:xfrm>
          <a:prstGeom prst="rect">
            <a:avLst/>
          </a:prstGeom>
        </p:spPr>
        <p:txBody>
          <a:bodyPr/>
          <a:lstStyle>
            <a:lvl1pPr marL="342900" indent="-342900" algn="l" rtl="0" eaLnBrk="0" fontAlgn="base" hangingPunct="0">
              <a:spcBef>
                <a:spcPct val="20000"/>
              </a:spcBef>
              <a:spcAft>
                <a:spcPct val="0"/>
              </a:spcAft>
              <a:buSzPct val="85000"/>
              <a:buBlip>
                <a:blip r:embed="rId3"/>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70000"/>
              <a:buFont typeface="Wingdings" pitchFamily="2" charset="2"/>
              <a:buChar char="n"/>
              <a:defRPr sz="2800">
                <a:solidFill>
                  <a:schemeClr val="tx1"/>
                </a:solidFill>
                <a:latin typeface="+mn-lt"/>
              </a:defRPr>
            </a:lvl2pPr>
            <a:lvl3pPr marL="1143000" indent="-228600" algn="l" rtl="0" eaLnBrk="0" fontAlgn="base" hangingPunct="0">
              <a:spcBef>
                <a:spcPct val="20000"/>
              </a:spcBef>
              <a:spcAft>
                <a:spcPct val="0"/>
              </a:spcAft>
              <a:buSzPct val="70000"/>
              <a:buFont typeface="Wingdings" pitchFamily="2" charset="2"/>
              <a:buChar char="n"/>
              <a:defRPr sz="2400">
                <a:solidFill>
                  <a:schemeClr val="tx1"/>
                </a:solidFill>
                <a:latin typeface="+mn-lt"/>
              </a:defRPr>
            </a:lvl3pPr>
            <a:lvl4pPr marL="1600200" indent="-228600" algn="l" rtl="0" eaLnBrk="0" fontAlgn="base" hangingPunct="0">
              <a:spcBef>
                <a:spcPct val="20000"/>
              </a:spcBef>
              <a:spcAft>
                <a:spcPct val="0"/>
              </a:spcAft>
              <a:buSzPct val="70000"/>
              <a:buFont typeface="Wingdings" pitchFamily="2" charset="2"/>
              <a:buChar char="n"/>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buFontTx/>
              <a:buNone/>
            </a:pPr>
            <a:endParaRPr lang="ru-RU" kern="0" dirty="0"/>
          </a:p>
          <a:p>
            <a:pPr marL="0" indent="0">
              <a:buFontTx/>
              <a:buNone/>
            </a:pPr>
            <a:endParaRPr lang="ru-RU" kern="0" dirty="0"/>
          </a:p>
          <a:p>
            <a:pPr marL="0" indent="0">
              <a:buNone/>
            </a:pPr>
            <a:endParaRPr lang="ru-RU" kern="0" dirty="0"/>
          </a:p>
          <a:p>
            <a:pPr marL="0" indent="0">
              <a:buNone/>
            </a:pPr>
            <a:endParaRPr lang="ru-RU" kern="0" dirty="0"/>
          </a:p>
          <a:p>
            <a:pPr marL="0" indent="0">
              <a:buFontTx/>
              <a:buNone/>
            </a:pPr>
            <a:endParaRPr lang="ru-RU" kern="0" dirty="0"/>
          </a:p>
        </p:txBody>
      </p:sp>
      <p:pic>
        <p:nvPicPr>
          <p:cNvPr id="15" name="Рисунок 1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3718769"/>
            <a:ext cx="4486981" cy="1863572"/>
          </a:xfrm>
          <a:prstGeom prst="rect">
            <a:avLst/>
          </a:prstGeom>
        </p:spPr>
      </p:pic>
      <p:pic>
        <p:nvPicPr>
          <p:cNvPr id="16" name="Рисунок 1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339" y="1877116"/>
            <a:ext cx="4436642" cy="1863572"/>
          </a:xfrm>
          <a:prstGeom prst="rect">
            <a:avLst/>
          </a:prstGeom>
        </p:spPr>
      </p:pic>
      <p:pic>
        <p:nvPicPr>
          <p:cNvPr id="9" name="Рисунок 8">
            <a:extLst>
              <a:ext uri="{FF2B5EF4-FFF2-40B4-BE49-F238E27FC236}">
                <a16:creationId xmlns:a16="http://schemas.microsoft.com/office/drawing/2014/main" id="{BC324BFE-1142-370B-636D-90B74CC12FA3}"/>
              </a:ext>
            </a:extLst>
          </p:cNvPr>
          <p:cNvPicPr>
            <a:picLocks noChangeAspect="1"/>
          </p:cNvPicPr>
          <p:nvPr/>
        </p:nvPicPr>
        <p:blipFill>
          <a:blip r:embed="rId6"/>
          <a:stretch>
            <a:fillRect/>
          </a:stretch>
        </p:blipFill>
        <p:spPr>
          <a:xfrm>
            <a:off x="4613909" y="5398175"/>
            <a:ext cx="1472501" cy="1458861"/>
          </a:xfrm>
          <a:prstGeom prst="rect">
            <a:avLst/>
          </a:prstGeom>
        </p:spPr>
      </p:pic>
      <p:pic>
        <p:nvPicPr>
          <p:cNvPr id="17" name="Рисунок 16">
            <a:extLst>
              <a:ext uri="{FF2B5EF4-FFF2-40B4-BE49-F238E27FC236}">
                <a16:creationId xmlns:a16="http://schemas.microsoft.com/office/drawing/2014/main" id="{BD80F767-2B4A-E49F-5B09-B9AD5FCAA78F}"/>
              </a:ext>
            </a:extLst>
          </p:cNvPr>
          <p:cNvPicPr>
            <a:picLocks noChangeAspect="1"/>
          </p:cNvPicPr>
          <p:nvPr/>
        </p:nvPicPr>
        <p:blipFill>
          <a:blip r:embed="rId7"/>
          <a:stretch>
            <a:fillRect/>
          </a:stretch>
        </p:blipFill>
        <p:spPr>
          <a:xfrm>
            <a:off x="4591768" y="3407695"/>
            <a:ext cx="4572000" cy="2045997"/>
          </a:xfrm>
          <a:prstGeom prst="rect">
            <a:avLst/>
          </a:prstGeom>
        </p:spPr>
      </p:pic>
      <p:pic>
        <p:nvPicPr>
          <p:cNvPr id="19" name="Рисунок 18">
            <a:extLst>
              <a:ext uri="{FF2B5EF4-FFF2-40B4-BE49-F238E27FC236}">
                <a16:creationId xmlns:a16="http://schemas.microsoft.com/office/drawing/2014/main" id="{7C39BFFF-7FEC-C82C-EAC2-A6A2819C484F}"/>
              </a:ext>
            </a:extLst>
          </p:cNvPr>
          <p:cNvPicPr>
            <a:picLocks noChangeAspect="1"/>
          </p:cNvPicPr>
          <p:nvPr/>
        </p:nvPicPr>
        <p:blipFill>
          <a:blip r:embed="rId8"/>
          <a:stretch>
            <a:fillRect/>
          </a:stretch>
        </p:blipFill>
        <p:spPr>
          <a:xfrm>
            <a:off x="2725931" y="5367429"/>
            <a:ext cx="1865837" cy="1512105"/>
          </a:xfrm>
          <a:prstGeom prst="rect">
            <a:avLst/>
          </a:prstGeom>
        </p:spPr>
      </p:pic>
    </p:spTree>
    <p:extLst>
      <p:ext uri="{BB962C8B-B14F-4D97-AF65-F5344CB8AC3E}">
        <p14:creationId xmlns:p14="http://schemas.microsoft.com/office/powerpoint/2010/main" val="359237384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descr="Large confetti"/>
          <p:cNvSpPr>
            <a:spLocks noChangeArrowheads="1"/>
          </p:cNvSpPr>
          <p:nvPr/>
        </p:nvSpPr>
        <p:spPr bwMode="auto">
          <a:xfrm>
            <a:off x="0" y="228600"/>
            <a:ext cx="9144000" cy="630238"/>
          </a:xfrm>
          <a:prstGeom prst="rect">
            <a:avLst/>
          </a:prstGeom>
          <a:noFill/>
          <a:ln w="9525">
            <a:noFill/>
            <a:miter lim="800000"/>
            <a:headEnd/>
            <a:tailEnd/>
          </a:ln>
        </p:spPr>
        <p:txBody>
          <a:bodyPr anchor="b"/>
          <a:lstStyle/>
          <a:p>
            <a:r>
              <a:rPr lang="ru-RU" sz="2800" b="1"/>
              <a:t>Методы и средства цифровой обработки информации</a:t>
            </a:r>
          </a:p>
        </p:txBody>
      </p:sp>
      <p:sp>
        <p:nvSpPr>
          <p:cNvPr id="9219" name="Rectangle 7"/>
          <p:cNvSpPr>
            <a:spLocks noChangeArrowheads="1"/>
          </p:cNvSpPr>
          <p:nvPr/>
        </p:nvSpPr>
        <p:spPr bwMode="auto">
          <a:xfrm>
            <a:off x="2971800" y="1657350"/>
            <a:ext cx="9144000" cy="0"/>
          </a:xfrm>
          <a:prstGeom prst="rect">
            <a:avLst/>
          </a:prstGeom>
          <a:noFill/>
          <a:ln w="9525">
            <a:noFill/>
            <a:miter lim="800000"/>
            <a:headEnd/>
            <a:tailEnd/>
          </a:ln>
        </p:spPr>
        <p:txBody>
          <a:bodyPr>
            <a:spAutoFit/>
          </a:bodyPr>
          <a:lstStyle/>
          <a:p>
            <a:endParaRPr lang="ru-RU"/>
          </a:p>
        </p:txBody>
      </p:sp>
      <p:sp>
        <p:nvSpPr>
          <p:cNvPr id="9220" name="Rectangle 9"/>
          <p:cNvSpPr>
            <a:spLocks noChangeArrowheads="1"/>
          </p:cNvSpPr>
          <p:nvPr/>
        </p:nvSpPr>
        <p:spPr bwMode="auto">
          <a:xfrm>
            <a:off x="2852738" y="3309938"/>
            <a:ext cx="9144000" cy="0"/>
          </a:xfrm>
          <a:prstGeom prst="rect">
            <a:avLst/>
          </a:prstGeom>
          <a:noFill/>
          <a:ln w="9525">
            <a:noFill/>
            <a:miter lim="800000"/>
            <a:headEnd/>
            <a:tailEnd/>
          </a:ln>
        </p:spPr>
        <p:txBody>
          <a:bodyPr>
            <a:spAutoFit/>
          </a:bodyPr>
          <a:lstStyle/>
          <a:p>
            <a:endParaRPr lang="ru-RU"/>
          </a:p>
        </p:txBody>
      </p:sp>
      <p:sp>
        <p:nvSpPr>
          <p:cNvPr id="5427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427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5301"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12" name="Text Box 15"/>
          <p:cNvSpPr txBox="1">
            <a:spLocks noChangeArrowheads="1"/>
          </p:cNvSpPr>
          <p:nvPr/>
        </p:nvSpPr>
        <p:spPr bwMode="auto">
          <a:xfrm>
            <a:off x="857250" y="6400801"/>
            <a:ext cx="8286750" cy="424732"/>
          </a:xfrm>
          <a:prstGeom prst="rect">
            <a:avLst/>
          </a:prstGeom>
          <a:noFill/>
          <a:ln w="9525">
            <a:noFill/>
            <a:miter lim="800000"/>
            <a:headEnd/>
            <a:tailEnd/>
          </a:ln>
        </p:spPr>
        <p:txBody>
          <a:bodyPr wrap="square">
            <a:spAutoFit/>
          </a:bodyPr>
          <a:lstStyle/>
          <a:p>
            <a:pPr algn="ctr">
              <a:lnSpc>
                <a:spcPct val="90000"/>
              </a:lnSpc>
            </a:pPr>
            <a:r>
              <a:rPr lang="ru-RU" dirty="0"/>
              <a:t>Лекция </a:t>
            </a:r>
            <a:r>
              <a:rPr lang="en-US" dirty="0"/>
              <a:t>1</a:t>
            </a:r>
            <a:r>
              <a:rPr lang="ru-RU" dirty="0"/>
              <a:t>1. Вычисление АКФ и ВКФ и их применение</a:t>
            </a:r>
            <a:endParaRPr lang="ru-RU" i="1" dirty="0"/>
          </a:p>
        </p:txBody>
      </p:sp>
      <p:sp>
        <p:nvSpPr>
          <p:cNvPr id="9221" name="Rectangle 10"/>
          <p:cNvSpPr>
            <a:spLocks noChangeArrowheads="1"/>
          </p:cNvSpPr>
          <p:nvPr/>
        </p:nvSpPr>
        <p:spPr bwMode="auto">
          <a:xfrm>
            <a:off x="0" y="928670"/>
            <a:ext cx="9144000" cy="584775"/>
          </a:xfrm>
          <a:prstGeom prst="rect">
            <a:avLst/>
          </a:prstGeom>
          <a:noFill/>
          <a:ln w="9525">
            <a:noFill/>
            <a:miter lim="800000"/>
            <a:headEnd/>
            <a:tailEnd/>
          </a:ln>
        </p:spPr>
        <p:txBody>
          <a:bodyPr wrap="square">
            <a:spAutoFit/>
          </a:bodyPr>
          <a:lstStyle/>
          <a:p>
            <a:pPr algn="ctr"/>
            <a:endParaRPr lang="ru-RU" sz="3200" b="1" dirty="0"/>
          </a:p>
        </p:txBody>
      </p:sp>
      <p:pic>
        <p:nvPicPr>
          <p:cNvPr id="2" name="Рисунок 1">
            <a:extLst>
              <a:ext uri="{FF2B5EF4-FFF2-40B4-BE49-F238E27FC236}">
                <a16:creationId xmlns:a16="http://schemas.microsoft.com/office/drawing/2014/main" id="{86286F26-4317-C6BB-13EE-B54D6DCE4B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7544" y="1001447"/>
            <a:ext cx="7962767" cy="5307873"/>
          </a:xfrm>
          <a:prstGeom prst="rect">
            <a:avLst/>
          </a:prstGeom>
        </p:spPr>
      </p:pic>
    </p:spTree>
    <p:extLst>
      <p:ext uri="{BB962C8B-B14F-4D97-AF65-F5344CB8AC3E}">
        <p14:creationId xmlns:p14="http://schemas.microsoft.com/office/powerpoint/2010/main" val="199298120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F27AF-5FA2-B57D-CD87-A35024D1EE16}"/>
            </a:ext>
          </a:extLst>
        </p:cNvPr>
        <p:cNvGrpSpPr/>
        <p:nvPr/>
      </p:nvGrpSpPr>
      <p:grpSpPr>
        <a:xfrm>
          <a:off x="0" y="0"/>
          <a:ext cx="0" cy="0"/>
          <a:chOff x="0" y="0"/>
          <a:chExt cx="0" cy="0"/>
        </a:xfrm>
      </p:grpSpPr>
      <p:sp>
        <p:nvSpPr>
          <p:cNvPr id="9218" name="Rectangle 4" descr="Large confetti">
            <a:extLst>
              <a:ext uri="{FF2B5EF4-FFF2-40B4-BE49-F238E27FC236}">
                <a16:creationId xmlns:a16="http://schemas.microsoft.com/office/drawing/2014/main" id="{B0376985-E1F5-38A8-5B15-595E27F6C94A}"/>
              </a:ext>
            </a:extLst>
          </p:cNvPr>
          <p:cNvSpPr>
            <a:spLocks noChangeArrowheads="1"/>
          </p:cNvSpPr>
          <p:nvPr/>
        </p:nvSpPr>
        <p:spPr bwMode="auto">
          <a:xfrm>
            <a:off x="0" y="228600"/>
            <a:ext cx="9144000" cy="630238"/>
          </a:xfrm>
          <a:prstGeom prst="rect">
            <a:avLst/>
          </a:prstGeom>
          <a:noFill/>
          <a:ln w="9525">
            <a:noFill/>
            <a:miter lim="800000"/>
            <a:headEnd/>
            <a:tailEnd/>
          </a:ln>
        </p:spPr>
        <p:txBody>
          <a:bodyPr anchor="b"/>
          <a:lstStyle/>
          <a:p>
            <a:r>
              <a:rPr lang="ru-RU" sz="2800" b="1"/>
              <a:t>Методы и средства цифровой обработки информации</a:t>
            </a:r>
          </a:p>
        </p:txBody>
      </p:sp>
      <p:sp>
        <p:nvSpPr>
          <p:cNvPr id="9219" name="Rectangle 7">
            <a:extLst>
              <a:ext uri="{FF2B5EF4-FFF2-40B4-BE49-F238E27FC236}">
                <a16:creationId xmlns:a16="http://schemas.microsoft.com/office/drawing/2014/main" id="{4FC1DAAD-59F8-95EA-E1C6-7A691A9BBC18}"/>
              </a:ext>
            </a:extLst>
          </p:cNvPr>
          <p:cNvSpPr>
            <a:spLocks noChangeArrowheads="1"/>
          </p:cNvSpPr>
          <p:nvPr/>
        </p:nvSpPr>
        <p:spPr bwMode="auto">
          <a:xfrm>
            <a:off x="2971800" y="1657350"/>
            <a:ext cx="9144000" cy="0"/>
          </a:xfrm>
          <a:prstGeom prst="rect">
            <a:avLst/>
          </a:prstGeom>
          <a:noFill/>
          <a:ln w="9525">
            <a:noFill/>
            <a:miter lim="800000"/>
            <a:headEnd/>
            <a:tailEnd/>
          </a:ln>
        </p:spPr>
        <p:txBody>
          <a:bodyPr>
            <a:spAutoFit/>
          </a:bodyPr>
          <a:lstStyle/>
          <a:p>
            <a:endParaRPr lang="ru-RU"/>
          </a:p>
        </p:txBody>
      </p:sp>
      <p:sp>
        <p:nvSpPr>
          <p:cNvPr id="9220" name="Rectangle 9">
            <a:extLst>
              <a:ext uri="{FF2B5EF4-FFF2-40B4-BE49-F238E27FC236}">
                <a16:creationId xmlns:a16="http://schemas.microsoft.com/office/drawing/2014/main" id="{19BF5B68-4DC0-57E9-3EF5-910B233E346F}"/>
              </a:ext>
            </a:extLst>
          </p:cNvPr>
          <p:cNvSpPr>
            <a:spLocks noChangeArrowheads="1"/>
          </p:cNvSpPr>
          <p:nvPr/>
        </p:nvSpPr>
        <p:spPr bwMode="auto">
          <a:xfrm>
            <a:off x="2852738" y="3309938"/>
            <a:ext cx="9144000" cy="0"/>
          </a:xfrm>
          <a:prstGeom prst="rect">
            <a:avLst/>
          </a:prstGeom>
          <a:noFill/>
          <a:ln w="9525">
            <a:noFill/>
            <a:miter lim="800000"/>
            <a:headEnd/>
            <a:tailEnd/>
          </a:ln>
        </p:spPr>
        <p:txBody>
          <a:bodyPr>
            <a:spAutoFit/>
          </a:bodyPr>
          <a:lstStyle/>
          <a:p>
            <a:endParaRPr lang="ru-RU"/>
          </a:p>
        </p:txBody>
      </p:sp>
      <p:sp>
        <p:nvSpPr>
          <p:cNvPr id="54274" name="Rectangle 2">
            <a:extLst>
              <a:ext uri="{FF2B5EF4-FFF2-40B4-BE49-F238E27FC236}">
                <a16:creationId xmlns:a16="http://schemas.microsoft.com/office/drawing/2014/main" id="{E391420F-C980-A1F4-94E5-9D89F69AD938}"/>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4276" name="Rectangle 4">
            <a:extLst>
              <a:ext uri="{FF2B5EF4-FFF2-40B4-BE49-F238E27FC236}">
                <a16:creationId xmlns:a16="http://schemas.microsoft.com/office/drawing/2014/main" id="{ECB14FC4-A234-4D0B-9BF2-EBDAAD46EA96}"/>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5301" name="Rectangle 5">
            <a:extLst>
              <a:ext uri="{FF2B5EF4-FFF2-40B4-BE49-F238E27FC236}">
                <a16:creationId xmlns:a16="http://schemas.microsoft.com/office/drawing/2014/main" id="{A99724DF-3125-BD71-9701-F2D7E0861F38}"/>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12" name="Text Box 15">
            <a:extLst>
              <a:ext uri="{FF2B5EF4-FFF2-40B4-BE49-F238E27FC236}">
                <a16:creationId xmlns:a16="http://schemas.microsoft.com/office/drawing/2014/main" id="{4E04FD73-5E0B-EBE4-7EB3-5D2E3DF96A70}"/>
              </a:ext>
            </a:extLst>
          </p:cNvPr>
          <p:cNvSpPr txBox="1">
            <a:spLocks noChangeArrowheads="1"/>
          </p:cNvSpPr>
          <p:nvPr/>
        </p:nvSpPr>
        <p:spPr bwMode="auto">
          <a:xfrm>
            <a:off x="857250" y="6400801"/>
            <a:ext cx="8286750" cy="424732"/>
          </a:xfrm>
          <a:prstGeom prst="rect">
            <a:avLst/>
          </a:prstGeom>
          <a:noFill/>
          <a:ln w="9525">
            <a:noFill/>
            <a:miter lim="800000"/>
            <a:headEnd/>
            <a:tailEnd/>
          </a:ln>
        </p:spPr>
        <p:txBody>
          <a:bodyPr wrap="square">
            <a:spAutoFit/>
          </a:bodyPr>
          <a:lstStyle/>
          <a:p>
            <a:pPr algn="ctr">
              <a:lnSpc>
                <a:spcPct val="90000"/>
              </a:lnSpc>
            </a:pPr>
            <a:r>
              <a:rPr lang="ru-RU" dirty="0"/>
              <a:t>Лекция </a:t>
            </a:r>
            <a:r>
              <a:rPr lang="en-US" dirty="0"/>
              <a:t>1</a:t>
            </a:r>
            <a:r>
              <a:rPr lang="ru-RU" dirty="0"/>
              <a:t>1. Вычисление АКФ и ВКФ и их применение</a:t>
            </a:r>
            <a:endParaRPr lang="ru-RU" i="1" dirty="0"/>
          </a:p>
        </p:txBody>
      </p:sp>
      <p:sp>
        <p:nvSpPr>
          <p:cNvPr id="9221" name="Rectangle 10">
            <a:extLst>
              <a:ext uri="{FF2B5EF4-FFF2-40B4-BE49-F238E27FC236}">
                <a16:creationId xmlns:a16="http://schemas.microsoft.com/office/drawing/2014/main" id="{7D9868C6-ECF1-4F7E-B33C-829993A1404C}"/>
              </a:ext>
            </a:extLst>
          </p:cNvPr>
          <p:cNvSpPr>
            <a:spLocks noChangeArrowheads="1"/>
          </p:cNvSpPr>
          <p:nvPr/>
        </p:nvSpPr>
        <p:spPr bwMode="auto">
          <a:xfrm>
            <a:off x="0" y="928670"/>
            <a:ext cx="9144000" cy="5755422"/>
          </a:xfrm>
          <a:prstGeom prst="rect">
            <a:avLst/>
          </a:prstGeom>
          <a:noFill/>
          <a:ln w="9525">
            <a:noFill/>
            <a:miter lim="800000"/>
            <a:headEnd/>
            <a:tailEnd/>
          </a:ln>
        </p:spPr>
        <p:txBody>
          <a:bodyPr wrap="square">
            <a:spAutoFit/>
          </a:bodyPr>
          <a:lstStyle/>
          <a:p>
            <a:pPr algn="ctr"/>
            <a:r>
              <a:rPr lang="ru-RU" sz="3200" b="1" dirty="0"/>
              <a:t>Электрофизиология</a:t>
            </a:r>
          </a:p>
          <a:p>
            <a:pPr algn="just"/>
            <a:r>
              <a:rPr lang="ru-RU" sz="2800" dirty="0"/>
              <a:t>Электрофизиологи регистрируют электрическую активность мозга — с помощью тонких электродов, позволяющих записывать разряды отдельных нейронов, или с помощью электроэнцефалографии (методики отведения потенциалов мозга с поверхности головы).</a:t>
            </a:r>
          </a:p>
          <a:p>
            <a:pPr algn="just"/>
            <a:r>
              <a:rPr lang="ru-RU" sz="2800" dirty="0"/>
              <a:t>Тонкий электрод может быть сделан из металла (покрытого изоляционным материалом, обнажающим лишь острый кончик) или из стекла. Стеклянный </a:t>
            </a:r>
            <a:r>
              <a:rPr lang="ru-RU" sz="2800" dirty="0" err="1"/>
              <a:t>микроэлектрод</a:t>
            </a:r>
            <a:r>
              <a:rPr lang="ru-RU" sz="2800" dirty="0"/>
              <a:t> представляет собой тонкую трубочку, заполненную внутри солевым раствором. Электрод может быть настолько тонок, что проникает внутрь клетки и позволяет записывать внутриклеточные потенциалы. </a:t>
            </a:r>
          </a:p>
        </p:txBody>
      </p:sp>
    </p:spTree>
    <p:extLst>
      <p:ext uri="{BB962C8B-B14F-4D97-AF65-F5344CB8AC3E}">
        <p14:creationId xmlns:p14="http://schemas.microsoft.com/office/powerpoint/2010/main" val="292491423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descr="Large confetti"/>
          <p:cNvSpPr>
            <a:spLocks noChangeArrowheads="1"/>
          </p:cNvSpPr>
          <p:nvPr/>
        </p:nvSpPr>
        <p:spPr bwMode="auto">
          <a:xfrm>
            <a:off x="0" y="228600"/>
            <a:ext cx="9144000" cy="630238"/>
          </a:xfrm>
          <a:prstGeom prst="rect">
            <a:avLst/>
          </a:prstGeom>
          <a:noFill/>
          <a:ln w="9525">
            <a:noFill/>
            <a:miter lim="800000"/>
            <a:headEnd/>
            <a:tailEnd/>
          </a:ln>
        </p:spPr>
        <p:txBody>
          <a:bodyPr anchor="b"/>
          <a:lstStyle/>
          <a:p>
            <a:r>
              <a:rPr lang="ru-RU" sz="2800" b="1"/>
              <a:t>Методы и средства цифровой обработки информации</a:t>
            </a:r>
          </a:p>
        </p:txBody>
      </p:sp>
      <p:sp>
        <p:nvSpPr>
          <p:cNvPr id="9219" name="Rectangle 7"/>
          <p:cNvSpPr>
            <a:spLocks noChangeArrowheads="1"/>
          </p:cNvSpPr>
          <p:nvPr/>
        </p:nvSpPr>
        <p:spPr bwMode="auto">
          <a:xfrm>
            <a:off x="2971800" y="1657350"/>
            <a:ext cx="9144000" cy="0"/>
          </a:xfrm>
          <a:prstGeom prst="rect">
            <a:avLst/>
          </a:prstGeom>
          <a:noFill/>
          <a:ln w="9525">
            <a:noFill/>
            <a:miter lim="800000"/>
            <a:headEnd/>
            <a:tailEnd/>
          </a:ln>
        </p:spPr>
        <p:txBody>
          <a:bodyPr>
            <a:spAutoFit/>
          </a:bodyPr>
          <a:lstStyle/>
          <a:p>
            <a:endParaRPr lang="ru-RU"/>
          </a:p>
        </p:txBody>
      </p:sp>
      <p:sp>
        <p:nvSpPr>
          <p:cNvPr id="9220" name="Rectangle 9"/>
          <p:cNvSpPr>
            <a:spLocks noChangeArrowheads="1"/>
          </p:cNvSpPr>
          <p:nvPr/>
        </p:nvSpPr>
        <p:spPr bwMode="auto">
          <a:xfrm>
            <a:off x="2852738" y="3309938"/>
            <a:ext cx="9144000" cy="0"/>
          </a:xfrm>
          <a:prstGeom prst="rect">
            <a:avLst/>
          </a:prstGeom>
          <a:noFill/>
          <a:ln w="9525">
            <a:noFill/>
            <a:miter lim="800000"/>
            <a:headEnd/>
            <a:tailEnd/>
          </a:ln>
        </p:spPr>
        <p:txBody>
          <a:bodyPr>
            <a:spAutoFit/>
          </a:bodyPr>
          <a:lstStyle/>
          <a:p>
            <a:endParaRPr lang="ru-RU"/>
          </a:p>
        </p:txBody>
      </p:sp>
      <p:sp>
        <p:nvSpPr>
          <p:cNvPr id="5427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427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5301"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12" name="Text Box 15"/>
          <p:cNvSpPr txBox="1">
            <a:spLocks noChangeArrowheads="1"/>
          </p:cNvSpPr>
          <p:nvPr/>
        </p:nvSpPr>
        <p:spPr bwMode="auto">
          <a:xfrm>
            <a:off x="857250" y="6400801"/>
            <a:ext cx="8286750" cy="424732"/>
          </a:xfrm>
          <a:prstGeom prst="rect">
            <a:avLst/>
          </a:prstGeom>
          <a:noFill/>
          <a:ln w="9525">
            <a:noFill/>
            <a:miter lim="800000"/>
            <a:headEnd/>
            <a:tailEnd/>
          </a:ln>
        </p:spPr>
        <p:txBody>
          <a:bodyPr wrap="square">
            <a:spAutoFit/>
          </a:bodyPr>
          <a:lstStyle/>
          <a:p>
            <a:pPr algn="ctr">
              <a:lnSpc>
                <a:spcPct val="90000"/>
              </a:lnSpc>
            </a:pPr>
            <a:r>
              <a:rPr lang="ru-RU" dirty="0"/>
              <a:t>Лекция </a:t>
            </a:r>
            <a:r>
              <a:rPr lang="en-US" dirty="0"/>
              <a:t>1</a:t>
            </a:r>
            <a:r>
              <a:rPr lang="ru-RU" dirty="0"/>
              <a:t>1. Вычисление АКФ и ВКФ и их применение</a:t>
            </a:r>
            <a:endParaRPr lang="ru-RU" i="1" dirty="0"/>
          </a:p>
        </p:txBody>
      </p:sp>
      <p:sp>
        <p:nvSpPr>
          <p:cNvPr id="9221" name="Rectangle 10"/>
          <p:cNvSpPr>
            <a:spLocks noChangeArrowheads="1"/>
          </p:cNvSpPr>
          <p:nvPr/>
        </p:nvSpPr>
        <p:spPr bwMode="auto">
          <a:xfrm>
            <a:off x="0" y="928670"/>
            <a:ext cx="9144000" cy="5324535"/>
          </a:xfrm>
          <a:prstGeom prst="rect">
            <a:avLst/>
          </a:prstGeom>
          <a:noFill/>
          <a:ln w="9525">
            <a:noFill/>
            <a:miter lim="800000"/>
            <a:headEnd/>
            <a:tailEnd/>
          </a:ln>
        </p:spPr>
        <p:txBody>
          <a:bodyPr wrap="square">
            <a:spAutoFit/>
          </a:bodyPr>
          <a:lstStyle/>
          <a:p>
            <a:pPr algn="ctr"/>
            <a:r>
              <a:rPr lang="ru-RU" sz="3200" b="1" dirty="0"/>
              <a:t>Электрофизиология</a:t>
            </a:r>
          </a:p>
          <a:p>
            <a:pPr algn="just"/>
            <a:r>
              <a:rPr lang="ru-RU" sz="2800" dirty="0"/>
              <a:t>Другой способ регистрации активности нейронов — внеклеточный.</a:t>
            </a:r>
          </a:p>
          <a:p>
            <a:pPr algn="just"/>
            <a:r>
              <a:rPr lang="ru-RU" sz="2800" dirty="0"/>
              <a:t>В некоторых случаях тонкие электроды (от одного до несколько сотен) вживляются в мозг, и исследователи регистрируют активность продолжительное время. В других случаях электрод вводится в мозг только на время эксперимента, а по окончании записи извлекается.</a:t>
            </a:r>
          </a:p>
          <a:p>
            <a:pPr algn="just"/>
            <a:r>
              <a:rPr lang="ru-RU" sz="2800" dirty="0"/>
              <a:t>С помощью тонкого электрода можно регистрировать как активность отдельных нейронов, так и локальные потенциалы (</a:t>
            </a:r>
            <a:r>
              <a:rPr lang="ru-RU" sz="2800" dirty="0" err="1"/>
              <a:t>local</a:t>
            </a:r>
            <a:r>
              <a:rPr lang="ru-RU" sz="2800" dirty="0"/>
              <a:t> </a:t>
            </a:r>
            <a:r>
              <a:rPr lang="ru-RU" sz="2800" dirty="0" err="1"/>
              <a:t>field</a:t>
            </a:r>
            <a:r>
              <a:rPr lang="ru-RU" sz="2800" dirty="0"/>
              <a:t> </a:t>
            </a:r>
            <a:r>
              <a:rPr lang="ru-RU" sz="2800" dirty="0" err="1"/>
              <a:t>potentials</a:t>
            </a:r>
            <a:r>
              <a:rPr lang="ru-RU" sz="2800" dirty="0"/>
              <a:t>), образующиеся в результате активности многих сотен нейронов.</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descr="Large confetti"/>
          <p:cNvSpPr>
            <a:spLocks noChangeArrowheads="1"/>
          </p:cNvSpPr>
          <p:nvPr/>
        </p:nvSpPr>
        <p:spPr bwMode="auto">
          <a:xfrm>
            <a:off x="0" y="228600"/>
            <a:ext cx="9144000" cy="630238"/>
          </a:xfrm>
          <a:prstGeom prst="rect">
            <a:avLst/>
          </a:prstGeom>
          <a:noFill/>
          <a:ln w="9525">
            <a:noFill/>
            <a:miter lim="800000"/>
            <a:headEnd/>
            <a:tailEnd/>
          </a:ln>
        </p:spPr>
        <p:txBody>
          <a:bodyPr anchor="b"/>
          <a:lstStyle/>
          <a:p>
            <a:r>
              <a:rPr lang="ru-RU" sz="2800" b="1"/>
              <a:t>Методы и средства цифровой обработки информации</a:t>
            </a:r>
          </a:p>
        </p:txBody>
      </p:sp>
      <p:sp>
        <p:nvSpPr>
          <p:cNvPr id="9219" name="Rectangle 7"/>
          <p:cNvSpPr>
            <a:spLocks noChangeArrowheads="1"/>
          </p:cNvSpPr>
          <p:nvPr/>
        </p:nvSpPr>
        <p:spPr bwMode="auto">
          <a:xfrm>
            <a:off x="2971800" y="1657350"/>
            <a:ext cx="9144000" cy="0"/>
          </a:xfrm>
          <a:prstGeom prst="rect">
            <a:avLst/>
          </a:prstGeom>
          <a:noFill/>
          <a:ln w="9525">
            <a:noFill/>
            <a:miter lim="800000"/>
            <a:headEnd/>
            <a:tailEnd/>
          </a:ln>
        </p:spPr>
        <p:txBody>
          <a:bodyPr>
            <a:spAutoFit/>
          </a:bodyPr>
          <a:lstStyle/>
          <a:p>
            <a:endParaRPr lang="ru-RU"/>
          </a:p>
        </p:txBody>
      </p:sp>
      <p:sp>
        <p:nvSpPr>
          <p:cNvPr id="9220" name="Rectangle 9"/>
          <p:cNvSpPr>
            <a:spLocks noChangeArrowheads="1"/>
          </p:cNvSpPr>
          <p:nvPr/>
        </p:nvSpPr>
        <p:spPr bwMode="auto">
          <a:xfrm>
            <a:off x="2852738" y="3309938"/>
            <a:ext cx="9144000" cy="0"/>
          </a:xfrm>
          <a:prstGeom prst="rect">
            <a:avLst/>
          </a:prstGeom>
          <a:noFill/>
          <a:ln w="9525">
            <a:noFill/>
            <a:miter lim="800000"/>
            <a:headEnd/>
            <a:tailEnd/>
          </a:ln>
        </p:spPr>
        <p:txBody>
          <a:bodyPr>
            <a:spAutoFit/>
          </a:bodyPr>
          <a:lstStyle/>
          <a:p>
            <a:endParaRPr lang="ru-RU"/>
          </a:p>
        </p:txBody>
      </p:sp>
      <p:sp>
        <p:nvSpPr>
          <p:cNvPr id="5427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427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5301"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12" name="Text Box 15"/>
          <p:cNvSpPr txBox="1">
            <a:spLocks noChangeArrowheads="1"/>
          </p:cNvSpPr>
          <p:nvPr/>
        </p:nvSpPr>
        <p:spPr bwMode="auto">
          <a:xfrm>
            <a:off x="857250" y="6400801"/>
            <a:ext cx="8286750" cy="424732"/>
          </a:xfrm>
          <a:prstGeom prst="rect">
            <a:avLst/>
          </a:prstGeom>
          <a:noFill/>
          <a:ln w="9525">
            <a:noFill/>
            <a:miter lim="800000"/>
            <a:headEnd/>
            <a:tailEnd/>
          </a:ln>
        </p:spPr>
        <p:txBody>
          <a:bodyPr wrap="square">
            <a:spAutoFit/>
          </a:bodyPr>
          <a:lstStyle/>
          <a:p>
            <a:pPr algn="ctr">
              <a:lnSpc>
                <a:spcPct val="90000"/>
              </a:lnSpc>
            </a:pPr>
            <a:r>
              <a:rPr lang="ru-RU" dirty="0"/>
              <a:t>Лекция </a:t>
            </a:r>
            <a:r>
              <a:rPr lang="en-US" dirty="0"/>
              <a:t>1</a:t>
            </a:r>
            <a:r>
              <a:rPr lang="ru-RU" dirty="0"/>
              <a:t>1. Вычисление АКФ и ВКФ и их применение</a:t>
            </a:r>
            <a:endParaRPr lang="ru-RU" i="1" dirty="0"/>
          </a:p>
        </p:txBody>
      </p:sp>
      <p:sp>
        <p:nvSpPr>
          <p:cNvPr id="9221" name="Rectangle 10"/>
          <p:cNvSpPr>
            <a:spLocks noChangeArrowheads="1"/>
          </p:cNvSpPr>
          <p:nvPr/>
        </p:nvSpPr>
        <p:spPr bwMode="auto">
          <a:xfrm>
            <a:off x="0" y="928670"/>
            <a:ext cx="9144000" cy="5016758"/>
          </a:xfrm>
          <a:prstGeom prst="rect">
            <a:avLst/>
          </a:prstGeom>
          <a:noFill/>
          <a:ln w="9525">
            <a:noFill/>
            <a:miter lim="800000"/>
            <a:headEnd/>
            <a:tailEnd/>
          </a:ln>
        </p:spPr>
        <p:txBody>
          <a:bodyPr wrap="square">
            <a:spAutoFit/>
          </a:bodyPr>
          <a:lstStyle/>
          <a:p>
            <a:pPr algn="ctr"/>
            <a:r>
              <a:rPr lang="ru-RU" sz="3200" b="1" dirty="0"/>
              <a:t>Электрофизиология</a:t>
            </a:r>
          </a:p>
          <a:p>
            <a:pPr algn="just"/>
            <a:r>
              <a:rPr lang="ru-RU" dirty="0"/>
              <a:t>С помощью ЭЭГ электродов, а также поверхностных электродов, накладываемых непосредственно на мозг, можно регистрировать только глобальную активность большого количества нейронов. Полагают, что регистрируемая таким образом активность складывается как из нейронных потенциалов действия (то есть нейронных импульсов), так и </a:t>
            </a:r>
            <a:r>
              <a:rPr lang="ru-RU" dirty="0" err="1"/>
              <a:t>подпороговых</a:t>
            </a:r>
            <a:r>
              <a:rPr lang="ru-RU" dirty="0"/>
              <a:t> деполяризаций и </a:t>
            </a:r>
            <a:r>
              <a:rPr lang="ru-RU" dirty="0" err="1"/>
              <a:t>гиперполяризаций</a:t>
            </a:r>
            <a:r>
              <a:rPr lang="ru-RU" dirty="0"/>
              <a:t>.</a:t>
            </a:r>
          </a:p>
          <a:p>
            <a:pPr algn="just"/>
            <a:r>
              <a:rPr lang="ru-RU" dirty="0"/>
              <a:t>При анализе потенциалов мозга часто производят их спектральный анализ, причём разные компоненты спектра имеют разные названия: дельта (0,5—4 Гц), </a:t>
            </a:r>
            <a:r>
              <a:rPr lang="ru-RU" dirty="0" err="1"/>
              <a:t>тета</a:t>
            </a:r>
            <a:r>
              <a:rPr lang="ru-RU" dirty="0"/>
              <a:t> 1 (4—6 Гц), </a:t>
            </a:r>
            <a:r>
              <a:rPr lang="ru-RU" dirty="0" err="1"/>
              <a:t>тета</a:t>
            </a:r>
            <a:r>
              <a:rPr lang="ru-RU" dirty="0"/>
              <a:t> 2 (6—8 Гц), альфа (8—13 Гц), бета 1 (13—20 Гц), бета 2 (20—40 Гц), </a:t>
            </a:r>
            <a:r>
              <a:rPr lang="ru-RU" dirty="0" err="1"/>
              <a:t>гамма-волны</a:t>
            </a:r>
            <a:r>
              <a:rPr lang="ru-RU" dirty="0"/>
              <a:t> (включает частоту бета 2 ритма и выше).</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descr="Large confetti"/>
          <p:cNvSpPr>
            <a:spLocks noChangeArrowheads="1"/>
          </p:cNvSpPr>
          <p:nvPr/>
        </p:nvSpPr>
        <p:spPr bwMode="auto">
          <a:xfrm>
            <a:off x="0" y="228600"/>
            <a:ext cx="9144000" cy="630238"/>
          </a:xfrm>
          <a:prstGeom prst="rect">
            <a:avLst/>
          </a:prstGeom>
          <a:noFill/>
          <a:ln w="9525">
            <a:noFill/>
            <a:miter lim="800000"/>
            <a:headEnd/>
            <a:tailEnd/>
          </a:ln>
        </p:spPr>
        <p:txBody>
          <a:bodyPr anchor="b"/>
          <a:lstStyle/>
          <a:p>
            <a:r>
              <a:rPr lang="ru-RU" sz="2800" b="1"/>
              <a:t>Методы и средства цифровой обработки информации</a:t>
            </a:r>
          </a:p>
        </p:txBody>
      </p:sp>
      <p:sp>
        <p:nvSpPr>
          <p:cNvPr id="9219" name="Rectangle 7"/>
          <p:cNvSpPr>
            <a:spLocks noChangeArrowheads="1"/>
          </p:cNvSpPr>
          <p:nvPr/>
        </p:nvSpPr>
        <p:spPr bwMode="auto">
          <a:xfrm>
            <a:off x="2971800" y="1657350"/>
            <a:ext cx="9144000" cy="0"/>
          </a:xfrm>
          <a:prstGeom prst="rect">
            <a:avLst/>
          </a:prstGeom>
          <a:noFill/>
          <a:ln w="9525">
            <a:noFill/>
            <a:miter lim="800000"/>
            <a:headEnd/>
            <a:tailEnd/>
          </a:ln>
        </p:spPr>
        <p:txBody>
          <a:bodyPr>
            <a:spAutoFit/>
          </a:bodyPr>
          <a:lstStyle/>
          <a:p>
            <a:endParaRPr lang="ru-RU"/>
          </a:p>
        </p:txBody>
      </p:sp>
      <p:sp>
        <p:nvSpPr>
          <p:cNvPr id="9220" name="Rectangle 9"/>
          <p:cNvSpPr>
            <a:spLocks noChangeArrowheads="1"/>
          </p:cNvSpPr>
          <p:nvPr/>
        </p:nvSpPr>
        <p:spPr bwMode="auto">
          <a:xfrm>
            <a:off x="2852738" y="3309938"/>
            <a:ext cx="9144000" cy="0"/>
          </a:xfrm>
          <a:prstGeom prst="rect">
            <a:avLst/>
          </a:prstGeom>
          <a:noFill/>
          <a:ln w="9525">
            <a:noFill/>
            <a:miter lim="800000"/>
            <a:headEnd/>
            <a:tailEnd/>
          </a:ln>
        </p:spPr>
        <p:txBody>
          <a:bodyPr>
            <a:spAutoFit/>
          </a:bodyPr>
          <a:lstStyle/>
          <a:p>
            <a:endParaRPr lang="ru-RU"/>
          </a:p>
        </p:txBody>
      </p:sp>
      <p:sp>
        <p:nvSpPr>
          <p:cNvPr id="5427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427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5301"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12" name="Text Box 15"/>
          <p:cNvSpPr txBox="1">
            <a:spLocks noChangeArrowheads="1"/>
          </p:cNvSpPr>
          <p:nvPr/>
        </p:nvSpPr>
        <p:spPr bwMode="auto">
          <a:xfrm>
            <a:off x="857250" y="6400801"/>
            <a:ext cx="8286750" cy="424732"/>
          </a:xfrm>
          <a:prstGeom prst="rect">
            <a:avLst/>
          </a:prstGeom>
          <a:noFill/>
          <a:ln w="9525">
            <a:noFill/>
            <a:miter lim="800000"/>
            <a:headEnd/>
            <a:tailEnd/>
          </a:ln>
        </p:spPr>
        <p:txBody>
          <a:bodyPr wrap="square">
            <a:spAutoFit/>
          </a:bodyPr>
          <a:lstStyle/>
          <a:p>
            <a:pPr algn="ctr">
              <a:lnSpc>
                <a:spcPct val="90000"/>
              </a:lnSpc>
            </a:pPr>
            <a:r>
              <a:rPr lang="ru-RU" dirty="0"/>
              <a:t>Лекция </a:t>
            </a:r>
            <a:r>
              <a:rPr lang="en-US" dirty="0"/>
              <a:t>1</a:t>
            </a:r>
            <a:r>
              <a:rPr lang="ru-RU" dirty="0"/>
              <a:t>1. Вычисление АКФ и ВКФ и их применение</a:t>
            </a:r>
            <a:endParaRPr lang="ru-RU" i="1" dirty="0"/>
          </a:p>
        </p:txBody>
      </p:sp>
      <p:pic>
        <p:nvPicPr>
          <p:cNvPr id="80899" name="Picture 3"/>
          <p:cNvPicPr>
            <a:picLocks noChangeAspect="1" noChangeArrowheads="1"/>
          </p:cNvPicPr>
          <p:nvPr/>
        </p:nvPicPr>
        <p:blipFill>
          <a:blip r:embed="rId2" cstate="print"/>
          <a:srcRect/>
          <a:stretch>
            <a:fillRect/>
          </a:stretch>
        </p:blipFill>
        <p:spPr bwMode="auto">
          <a:xfrm>
            <a:off x="214281" y="928669"/>
            <a:ext cx="8715437" cy="5546186"/>
          </a:xfrm>
          <a:prstGeom prst="rect">
            <a:avLst/>
          </a:prstGeom>
          <a:noFill/>
          <a:ln w="9525">
            <a:noFill/>
            <a:miter lim="800000"/>
            <a:headEnd/>
            <a:tailEnd/>
          </a:ln>
          <a:effectLst/>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descr="Large confetti"/>
          <p:cNvSpPr>
            <a:spLocks noChangeArrowheads="1"/>
          </p:cNvSpPr>
          <p:nvPr/>
        </p:nvSpPr>
        <p:spPr bwMode="auto">
          <a:xfrm>
            <a:off x="0" y="228600"/>
            <a:ext cx="9144000" cy="630238"/>
          </a:xfrm>
          <a:prstGeom prst="rect">
            <a:avLst/>
          </a:prstGeom>
          <a:noFill/>
          <a:ln w="9525">
            <a:noFill/>
            <a:miter lim="800000"/>
            <a:headEnd/>
            <a:tailEnd/>
          </a:ln>
        </p:spPr>
        <p:txBody>
          <a:bodyPr anchor="b"/>
          <a:lstStyle/>
          <a:p>
            <a:r>
              <a:rPr lang="ru-RU" sz="2800" b="1"/>
              <a:t>Методы и средства цифровой обработки информации</a:t>
            </a:r>
          </a:p>
        </p:txBody>
      </p:sp>
      <p:sp>
        <p:nvSpPr>
          <p:cNvPr id="9219" name="Rectangle 7"/>
          <p:cNvSpPr>
            <a:spLocks noChangeArrowheads="1"/>
          </p:cNvSpPr>
          <p:nvPr/>
        </p:nvSpPr>
        <p:spPr bwMode="auto">
          <a:xfrm>
            <a:off x="2971800" y="1657350"/>
            <a:ext cx="9144000" cy="0"/>
          </a:xfrm>
          <a:prstGeom prst="rect">
            <a:avLst/>
          </a:prstGeom>
          <a:noFill/>
          <a:ln w="9525">
            <a:noFill/>
            <a:miter lim="800000"/>
            <a:headEnd/>
            <a:tailEnd/>
          </a:ln>
        </p:spPr>
        <p:txBody>
          <a:bodyPr>
            <a:spAutoFit/>
          </a:bodyPr>
          <a:lstStyle/>
          <a:p>
            <a:endParaRPr lang="ru-RU"/>
          </a:p>
        </p:txBody>
      </p:sp>
      <p:sp>
        <p:nvSpPr>
          <p:cNvPr id="9220" name="Rectangle 9"/>
          <p:cNvSpPr>
            <a:spLocks noChangeArrowheads="1"/>
          </p:cNvSpPr>
          <p:nvPr/>
        </p:nvSpPr>
        <p:spPr bwMode="auto">
          <a:xfrm>
            <a:off x="2852738" y="3309938"/>
            <a:ext cx="9144000" cy="0"/>
          </a:xfrm>
          <a:prstGeom prst="rect">
            <a:avLst/>
          </a:prstGeom>
          <a:noFill/>
          <a:ln w="9525">
            <a:noFill/>
            <a:miter lim="800000"/>
            <a:headEnd/>
            <a:tailEnd/>
          </a:ln>
        </p:spPr>
        <p:txBody>
          <a:bodyPr>
            <a:spAutoFit/>
          </a:bodyPr>
          <a:lstStyle/>
          <a:p>
            <a:endParaRPr lang="ru-RU"/>
          </a:p>
        </p:txBody>
      </p:sp>
      <p:sp>
        <p:nvSpPr>
          <p:cNvPr id="5427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427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5301"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pic>
        <p:nvPicPr>
          <p:cNvPr id="109572" name="Picture 4" descr="image3"/>
          <p:cNvPicPr>
            <a:picLocks noChangeAspect="1" noChangeArrowheads="1"/>
          </p:cNvPicPr>
          <p:nvPr/>
        </p:nvPicPr>
        <p:blipFill>
          <a:blip r:embed="rId2" cstate="print"/>
          <a:srcRect/>
          <a:stretch>
            <a:fillRect/>
          </a:stretch>
        </p:blipFill>
        <p:spPr bwMode="auto">
          <a:xfrm>
            <a:off x="360040" y="4941168"/>
            <a:ext cx="3779912" cy="1798108"/>
          </a:xfrm>
          <a:prstGeom prst="rect">
            <a:avLst/>
          </a:prstGeom>
          <a:noFill/>
          <a:ln w="9525">
            <a:noFill/>
            <a:miter lim="800000"/>
            <a:headEnd/>
            <a:tailEnd/>
          </a:ln>
        </p:spPr>
      </p:pic>
      <p:pic>
        <p:nvPicPr>
          <p:cNvPr id="109573" name="Picture 5" descr="image5"/>
          <p:cNvPicPr>
            <a:picLocks noChangeAspect="1" noChangeArrowheads="1"/>
          </p:cNvPicPr>
          <p:nvPr/>
        </p:nvPicPr>
        <p:blipFill>
          <a:blip r:embed="rId3" cstate="print"/>
          <a:srcRect/>
          <a:stretch>
            <a:fillRect/>
          </a:stretch>
        </p:blipFill>
        <p:spPr bwMode="auto">
          <a:xfrm>
            <a:off x="4571999" y="1018058"/>
            <a:ext cx="4499627" cy="1618854"/>
          </a:xfrm>
          <a:prstGeom prst="rect">
            <a:avLst/>
          </a:prstGeom>
          <a:noFill/>
          <a:ln w="9525">
            <a:noFill/>
            <a:miter lim="800000"/>
            <a:headEnd/>
            <a:tailEnd/>
          </a:ln>
        </p:spPr>
      </p:pic>
      <p:pic>
        <p:nvPicPr>
          <p:cNvPr id="109574" name="Picture 6" descr="image7"/>
          <p:cNvPicPr>
            <a:picLocks noChangeAspect="1" noChangeArrowheads="1"/>
          </p:cNvPicPr>
          <p:nvPr/>
        </p:nvPicPr>
        <p:blipFill>
          <a:blip r:embed="rId4" cstate="print"/>
          <a:srcRect/>
          <a:stretch>
            <a:fillRect/>
          </a:stretch>
        </p:blipFill>
        <p:spPr bwMode="auto">
          <a:xfrm>
            <a:off x="4932040" y="4653136"/>
            <a:ext cx="3910644" cy="1647565"/>
          </a:xfrm>
          <a:prstGeom prst="rect">
            <a:avLst/>
          </a:prstGeom>
          <a:noFill/>
          <a:ln w="9525">
            <a:noFill/>
            <a:miter lim="800000"/>
            <a:headEnd/>
            <a:tailEnd/>
          </a:ln>
        </p:spPr>
      </p:pic>
      <p:pic>
        <p:nvPicPr>
          <p:cNvPr id="109575" name="Picture 7"/>
          <p:cNvPicPr>
            <a:picLocks noChangeAspect="1" noChangeArrowheads="1"/>
          </p:cNvPicPr>
          <p:nvPr/>
        </p:nvPicPr>
        <p:blipFill>
          <a:blip r:embed="rId5" cstate="print"/>
          <a:srcRect/>
          <a:stretch>
            <a:fillRect/>
          </a:stretch>
        </p:blipFill>
        <p:spPr bwMode="auto">
          <a:xfrm>
            <a:off x="4572002" y="2750690"/>
            <a:ext cx="4499990" cy="1830438"/>
          </a:xfrm>
          <a:prstGeom prst="rect">
            <a:avLst/>
          </a:prstGeom>
          <a:noFill/>
          <a:ln w="9525">
            <a:noFill/>
            <a:miter lim="800000"/>
            <a:headEnd/>
            <a:tailEnd/>
          </a:ln>
        </p:spPr>
      </p:pic>
      <p:pic>
        <p:nvPicPr>
          <p:cNvPr id="109576" name="Picture 8"/>
          <p:cNvPicPr>
            <a:picLocks noChangeAspect="1" noChangeArrowheads="1"/>
          </p:cNvPicPr>
          <p:nvPr/>
        </p:nvPicPr>
        <p:blipFill>
          <a:blip r:embed="rId6" cstate="print"/>
          <a:srcRect/>
          <a:stretch>
            <a:fillRect/>
          </a:stretch>
        </p:blipFill>
        <p:spPr bwMode="auto">
          <a:xfrm>
            <a:off x="45046" y="980729"/>
            <a:ext cx="4454946" cy="2055015"/>
          </a:xfrm>
          <a:prstGeom prst="rect">
            <a:avLst/>
          </a:prstGeom>
          <a:noFill/>
          <a:ln w="9525">
            <a:noFill/>
            <a:miter lim="800000"/>
            <a:headEnd/>
            <a:tailEnd/>
          </a:ln>
        </p:spPr>
      </p:pic>
      <p:pic>
        <p:nvPicPr>
          <p:cNvPr id="109577" name="Picture 9"/>
          <p:cNvPicPr>
            <a:picLocks noChangeAspect="1" noChangeArrowheads="1"/>
          </p:cNvPicPr>
          <p:nvPr/>
        </p:nvPicPr>
        <p:blipFill>
          <a:blip r:embed="rId7" cstate="print"/>
          <a:srcRect/>
          <a:stretch>
            <a:fillRect/>
          </a:stretch>
        </p:blipFill>
        <p:spPr bwMode="auto">
          <a:xfrm>
            <a:off x="72008" y="3148462"/>
            <a:ext cx="4427984" cy="1693164"/>
          </a:xfrm>
          <a:prstGeom prst="rect">
            <a:avLst/>
          </a:prstGeom>
          <a:noFill/>
          <a:ln w="9525">
            <a:noFill/>
            <a:miter lim="800000"/>
            <a:headEnd/>
            <a:tailEnd/>
          </a:ln>
        </p:spPr>
      </p:pic>
      <p:sp>
        <p:nvSpPr>
          <p:cNvPr id="12" name="Text Box 15"/>
          <p:cNvSpPr txBox="1">
            <a:spLocks noChangeArrowheads="1"/>
          </p:cNvSpPr>
          <p:nvPr/>
        </p:nvSpPr>
        <p:spPr bwMode="auto">
          <a:xfrm>
            <a:off x="1835696" y="6400801"/>
            <a:ext cx="7308304" cy="424732"/>
          </a:xfrm>
          <a:prstGeom prst="rect">
            <a:avLst/>
          </a:prstGeom>
          <a:noFill/>
          <a:ln w="9525">
            <a:noFill/>
            <a:miter lim="800000"/>
            <a:headEnd/>
            <a:tailEnd/>
          </a:ln>
        </p:spPr>
        <p:txBody>
          <a:bodyPr wrap="square">
            <a:spAutoFit/>
          </a:bodyPr>
          <a:lstStyle/>
          <a:p>
            <a:pPr algn="ctr">
              <a:lnSpc>
                <a:spcPct val="90000"/>
              </a:lnSpc>
            </a:pPr>
            <a:r>
              <a:rPr lang="ru-RU" dirty="0"/>
              <a:t>Лекция </a:t>
            </a:r>
            <a:r>
              <a:rPr lang="en-US" dirty="0"/>
              <a:t>1</a:t>
            </a:r>
            <a:r>
              <a:rPr lang="ru-RU" dirty="0"/>
              <a:t>1. Вычисление АКФ и ВКФ и их применение</a:t>
            </a:r>
          </a:p>
        </p:txBody>
      </p:sp>
    </p:spTree>
  </p:cSld>
  <p:clrMapOvr>
    <a:masterClrMapping/>
  </p:clrMapOvr>
</p:sld>
</file>

<file path=ppt/theme/theme1.xml><?xml version="1.0" encoding="utf-8"?>
<a:theme xmlns:a="http://schemas.openxmlformats.org/drawingml/2006/main" name="Рисовая бумага">
  <a:themeElements>
    <a:clrScheme name="Рисовая бумага 2">
      <a:dk1>
        <a:srgbClr val="00264C"/>
      </a:dk1>
      <a:lt1>
        <a:srgbClr val="FFFFE9"/>
      </a:lt1>
      <a:dk2>
        <a:srgbClr val="333333"/>
      </a:dk2>
      <a:lt2>
        <a:srgbClr val="333333"/>
      </a:lt2>
      <a:accent1>
        <a:srgbClr val="78C0B2"/>
      </a:accent1>
      <a:accent2>
        <a:srgbClr val="262D4C"/>
      </a:accent2>
      <a:accent3>
        <a:srgbClr val="FFFFF2"/>
      </a:accent3>
      <a:accent4>
        <a:srgbClr val="001F40"/>
      </a:accent4>
      <a:accent5>
        <a:srgbClr val="BEDCD5"/>
      </a:accent5>
      <a:accent6>
        <a:srgbClr val="212844"/>
      </a:accent6>
      <a:hlink>
        <a:srgbClr val="598BBD"/>
      </a:hlink>
      <a:folHlink>
        <a:srgbClr val="4D4D4D"/>
      </a:folHlink>
    </a:clrScheme>
    <a:fontScheme name="Рисовая бумага">
      <a:majorFont>
        <a:latin typeface="Times New Roman"/>
        <a:ea typeface=""/>
        <a:cs typeface=""/>
      </a:majorFont>
      <a:minorFont>
        <a:latin typeface="Times New Roman"/>
        <a:ea typeface=""/>
        <a:cs typeface=""/>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ru-RU"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ru-RU"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Рисовая бумага 1">
        <a:dk1>
          <a:srgbClr val="9D9475"/>
        </a:dk1>
        <a:lt1>
          <a:srgbClr val="333333"/>
        </a:lt1>
        <a:dk2>
          <a:srgbClr val="333300"/>
        </a:dk2>
        <a:lt2>
          <a:srgbClr val="333333"/>
        </a:lt2>
        <a:accent1>
          <a:srgbClr val="B3C39F"/>
        </a:accent1>
        <a:accent2>
          <a:srgbClr val="DCD9CE"/>
        </a:accent2>
        <a:accent3>
          <a:srgbClr val="ADADAA"/>
        </a:accent3>
        <a:accent4>
          <a:srgbClr val="2A2A2A"/>
        </a:accent4>
        <a:accent5>
          <a:srgbClr val="D6DECD"/>
        </a:accent5>
        <a:accent6>
          <a:srgbClr val="C7C4BA"/>
        </a:accent6>
        <a:hlink>
          <a:srgbClr val="CC9900"/>
        </a:hlink>
        <a:folHlink>
          <a:srgbClr val="ADA68B"/>
        </a:folHlink>
      </a:clrScheme>
      <a:clrMap bg1="dk2" tx1="lt1" bg2="dk1" tx2="lt2" accent1="accent1" accent2="accent2" accent3="accent3" accent4="accent4" accent5="accent5" accent6="accent6" hlink="hlink" folHlink="folHlink"/>
    </a:extraClrScheme>
    <a:extraClrScheme>
      <a:clrScheme name="Рисовая бумага 2">
        <a:dk1>
          <a:srgbClr val="00264C"/>
        </a:dk1>
        <a:lt1>
          <a:srgbClr val="FFFFE9"/>
        </a:lt1>
        <a:dk2>
          <a:srgbClr val="333333"/>
        </a:dk2>
        <a:lt2>
          <a:srgbClr val="333333"/>
        </a:lt2>
        <a:accent1>
          <a:srgbClr val="78C0B2"/>
        </a:accent1>
        <a:accent2>
          <a:srgbClr val="262D4C"/>
        </a:accent2>
        <a:accent3>
          <a:srgbClr val="FFFFF2"/>
        </a:accent3>
        <a:accent4>
          <a:srgbClr val="001F40"/>
        </a:accent4>
        <a:accent5>
          <a:srgbClr val="BEDCD5"/>
        </a:accent5>
        <a:accent6>
          <a:srgbClr val="212844"/>
        </a:accent6>
        <a:hlink>
          <a:srgbClr val="598BBD"/>
        </a:hlink>
        <a:folHlink>
          <a:srgbClr val="4D4D4D"/>
        </a:folHlink>
      </a:clrScheme>
      <a:clrMap bg1="lt1" tx1="dk1" bg2="lt2" tx2="dk2" accent1="accent1" accent2="accent2" accent3="accent3" accent4="accent4" accent5="accent5" accent6="accent6" hlink="hlink" folHlink="folHlink"/>
    </a:extraClrScheme>
    <a:extraClrScheme>
      <a:clrScheme name="Рисовая бумага 3">
        <a:dk1>
          <a:srgbClr val="000000"/>
        </a:dk1>
        <a:lt1>
          <a:srgbClr val="F8F8F8"/>
        </a:lt1>
        <a:dk2>
          <a:srgbClr val="333333"/>
        </a:dk2>
        <a:lt2>
          <a:srgbClr val="5F5F5F"/>
        </a:lt2>
        <a:accent1>
          <a:srgbClr val="DDDDDD"/>
        </a:accent1>
        <a:accent2>
          <a:srgbClr val="808080"/>
        </a:accent2>
        <a:accent3>
          <a:srgbClr val="FBFBFB"/>
        </a:accent3>
        <a:accent4>
          <a:srgbClr val="000000"/>
        </a:accent4>
        <a:accent5>
          <a:srgbClr val="EBEBEB"/>
        </a:accent5>
        <a:accent6>
          <a:srgbClr val="737373"/>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Рисовая бумага 4">
        <a:dk1>
          <a:srgbClr val="00264C"/>
        </a:dk1>
        <a:lt1>
          <a:srgbClr val="FFFFFF"/>
        </a:lt1>
        <a:dk2>
          <a:srgbClr val="333333"/>
        </a:dk2>
        <a:lt2>
          <a:srgbClr val="2E697E"/>
        </a:lt2>
        <a:accent1>
          <a:srgbClr val="BAC8AA"/>
        </a:accent1>
        <a:accent2>
          <a:srgbClr val="6E9883"/>
        </a:accent2>
        <a:accent3>
          <a:srgbClr val="FFFFFF"/>
        </a:accent3>
        <a:accent4>
          <a:srgbClr val="001F40"/>
        </a:accent4>
        <a:accent5>
          <a:srgbClr val="D9E0D2"/>
        </a:accent5>
        <a:accent6>
          <a:srgbClr val="638976"/>
        </a:accent6>
        <a:hlink>
          <a:srgbClr val="CC9900"/>
        </a:hlink>
        <a:folHlink>
          <a:srgbClr val="7DAECF"/>
        </a:folHlink>
      </a:clrScheme>
      <a:clrMap bg1="lt1" tx1="dk1" bg2="lt2" tx2="dk2" accent1="accent1" accent2="accent2" accent3="accent3" accent4="accent4" accent5="accent5" accent6="accent6" hlink="hlink" folHlink="folHlink"/>
    </a:extraClrScheme>
    <a:extraClrScheme>
      <a:clrScheme name="Рисовая бумага 5">
        <a:dk1>
          <a:srgbClr val="20374E"/>
        </a:dk1>
        <a:lt1>
          <a:srgbClr val="DCE4D2"/>
        </a:lt1>
        <a:dk2>
          <a:srgbClr val="333333"/>
        </a:dk2>
        <a:lt2>
          <a:srgbClr val="524C46"/>
        </a:lt2>
        <a:accent1>
          <a:srgbClr val="C9C491"/>
        </a:accent1>
        <a:accent2>
          <a:srgbClr val="8A776A"/>
        </a:accent2>
        <a:accent3>
          <a:srgbClr val="EBEFE5"/>
        </a:accent3>
        <a:accent4>
          <a:srgbClr val="1A2D41"/>
        </a:accent4>
        <a:accent5>
          <a:srgbClr val="E1DEC7"/>
        </a:accent5>
        <a:accent6>
          <a:srgbClr val="7D6B5F"/>
        </a:accent6>
        <a:hlink>
          <a:srgbClr val="67895F"/>
        </a:hlink>
        <a:folHlink>
          <a:srgbClr val="4D4D4D"/>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Тема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Тема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F6380A0290AF84484F859C9FFD97568" ma:contentTypeVersion="12" ma:contentTypeDescription="Create a new document." ma:contentTypeScope="" ma:versionID="cf54314a2294cc51bca07dd21acfd142">
  <xsd:schema xmlns:xsd="http://www.w3.org/2001/XMLSchema" xmlns:xs="http://www.w3.org/2001/XMLSchema" xmlns:p="http://schemas.microsoft.com/office/2006/metadata/properties" xmlns:ns2="bffb7b91-0466-4de0-9379-f5c53c3acedf" xmlns:ns3="b78dbef7-f85b-47b5-8738-6377d50f4027" targetNamespace="http://schemas.microsoft.com/office/2006/metadata/properties" ma:root="true" ma:fieldsID="e7fe3ad7f24e9b7702c01ae7f09f4209" ns2:_="" ns3:_="">
    <xsd:import namespace="bffb7b91-0466-4de0-9379-f5c53c3acedf"/>
    <xsd:import namespace="b78dbef7-f85b-47b5-8738-6377d50f4027"/>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ffb7b91-0466-4de0-9379-f5c53c3aced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2736f47c-10d0-40be-bc11-4282b17364be" ma:termSetId="09814cd3-568e-fe90-9814-8d621ff8fb84" ma:anchorId="fba54fb3-c3e1-fe81-a776-ca4b69148c4d" ma:open="true" ma:isKeyword="false">
      <xsd:complexType>
        <xsd:sequence>
          <xsd:element ref="pc:Terms" minOccurs="0" maxOccurs="1"/>
        </xsd:sequence>
      </xsd:complex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SearchProperties" ma:index="18" nillable="true" ma:displayName="MediaServiceSearchProperties" ma:hidden="true" ma:internalName="MediaServiceSearchProperties" ma:readOnly="true">
      <xsd:simpleType>
        <xsd:restriction base="dms:Note"/>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78dbef7-f85b-47b5-8738-6377d50f4027"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400abce2-0e1e-4c89-8b2b-0842737d5961}" ma:internalName="TaxCatchAll" ma:showField="CatchAllData" ma:web="b78dbef7-f85b-47b5-8738-6377d50f402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b78dbef7-f85b-47b5-8738-6377d50f4027" xsi:nil="true"/>
    <lcf76f155ced4ddcb4097134ff3c332f xmlns="bffb7b91-0466-4de0-9379-f5c53c3acedf">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CAB13172-1671-4D5A-B32E-608358D75C1F}"/>
</file>

<file path=customXml/itemProps2.xml><?xml version="1.0" encoding="utf-8"?>
<ds:datastoreItem xmlns:ds="http://schemas.openxmlformats.org/officeDocument/2006/customXml" ds:itemID="{2BCD1FF4-FF1C-48AB-B340-C3C31A23151B}">
  <ds:schemaRefs>
    <ds:schemaRef ds:uri="http://schemas.microsoft.com/sharepoint/v3/contenttype/forms"/>
  </ds:schemaRefs>
</ds:datastoreItem>
</file>

<file path=customXml/itemProps3.xml><?xml version="1.0" encoding="utf-8"?>
<ds:datastoreItem xmlns:ds="http://schemas.openxmlformats.org/officeDocument/2006/customXml" ds:itemID="{4484CA6D-0D05-4C06-95D1-69522B0EDA56}">
  <ds:schemaRefs>
    <ds:schemaRef ds:uri="http://schemas.microsoft.com/office/2006/metadata/properties"/>
    <ds:schemaRef ds:uri="http://schemas.microsoft.com/office/infopath/2007/PartnerControls"/>
    <ds:schemaRef ds:uri="8110952f-db7b-4716-b1f4-15f065799f1b"/>
  </ds:schemaRefs>
</ds:datastoreItem>
</file>

<file path=docProps/app.xml><?xml version="1.0" encoding="utf-8"?>
<Properties xmlns="http://schemas.openxmlformats.org/officeDocument/2006/extended-properties" xmlns:vt="http://schemas.openxmlformats.org/officeDocument/2006/docPropsVTypes">
  <Template>D:\Program Files\Microsoft Office\Templates\Presentation Designs\Рисовая бумага.pot</Template>
  <TotalTime>4365</TotalTime>
  <Words>3679</Words>
  <Application>Microsoft Office PowerPoint</Application>
  <PresentationFormat>Экран (4:3)</PresentationFormat>
  <Paragraphs>463</Paragraphs>
  <Slides>58</Slides>
  <Notes>1</Notes>
  <HiddenSlides>0</HiddenSlides>
  <MMClips>0</MMClips>
  <ScaleCrop>false</ScaleCrop>
  <HeadingPairs>
    <vt:vector size="4" baseType="variant">
      <vt:variant>
        <vt:lpstr>Тема</vt:lpstr>
      </vt:variant>
      <vt:variant>
        <vt:i4>1</vt:i4>
      </vt:variant>
      <vt:variant>
        <vt:lpstr>Заголовки слайдов</vt:lpstr>
      </vt:variant>
      <vt:variant>
        <vt:i4>58</vt:i4>
      </vt:variant>
    </vt:vector>
  </HeadingPairs>
  <TitlesOfParts>
    <vt:vector size="59" baseType="lpstr">
      <vt:lpstr>Рисовая бумага</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МИИТ</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СЕМЬЯ СИДОРЕНКО</dc:creator>
  <cp:lastModifiedBy>Сидоренко Валентина Геннадьевна</cp:lastModifiedBy>
  <cp:revision>507</cp:revision>
  <dcterms:created xsi:type="dcterms:W3CDTF">2008-09-09T04:05:39Z</dcterms:created>
  <dcterms:modified xsi:type="dcterms:W3CDTF">2024-11-21T14:19:26Z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0x0101004F6380A0290AF84484F859C9FFD97568</vt:lpwstr>
  </property>
  <property fmtid="{D5CDD505-2E9C-101B-9397-08002B2CF9AE}" pid="3" name="Order">
    <vt:r8>17500</vt:r8>
  </property>
  <property fmtid="{D5CDD505-2E9C-101B-9397-08002B2CF9AE}" pid="4" name="xd_ProgID">
    <vt:lpwstr/>
  </property>
  <property fmtid="{D5CDD505-2E9C-101B-9397-08002B2CF9AE}" pid="5" name="_SourceUrl">
    <vt:lpwstr/>
  </property>
  <property fmtid="{D5CDD505-2E9C-101B-9397-08002B2CF9AE}" pid="6" name="_SharedFileIndex">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TriggerFlowInfo">
    <vt:lpwstr/>
  </property>
  <property fmtid="{D5CDD505-2E9C-101B-9397-08002B2CF9AE}" pid="11" name="xd_Signature">
    <vt:bool>false</vt:bool>
  </property>
</Properties>
</file>