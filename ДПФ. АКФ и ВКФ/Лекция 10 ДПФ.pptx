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5"/>
  </p:sldMasterIdLst>
  <p:notesMasterIdLst>
    <p:notesMasterId r:id="rId39"/>
  </p:notesMasterIdLst>
  <p:handoutMasterIdLst>
    <p:handoutMasterId r:id="rId40"/>
  </p:handoutMasterIdLst>
  <p:sldIdLst>
    <p:sldId id="310" r:id="rId6"/>
    <p:sldId id="336" r:id="rId7"/>
    <p:sldId id="337" r:id="rId8"/>
    <p:sldId id="338" r:id="rId9"/>
    <p:sldId id="353" r:id="rId10"/>
    <p:sldId id="364" r:id="rId11"/>
    <p:sldId id="365" r:id="rId12"/>
    <p:sldId id="366" r:id="rId13"/>
    <p:sldId id="367" r:id="rId14"/>
    <p:sldId id="368" r:id="rId15"/>
    <p:sldId id="339" r:id="rId16"/>
    <p:sldId id="349" r:id="rId17"/>
    <p:sldId id="348" r:id="rId18"/>
    <p:sldId id="340" r:id="rId19"/>
    <p:sldId id="350" r:id="rId20"/>
    <p:sldId id="351" r:id="rId21"/>
    <p:sldId id="362" r:id="rId22"/>
    <p:sldId id="363" r:id="rId23"/>
    <p:sldId id="347" r:id="rId24"/>
    <p:sldId id="341" r:id="rId25"/>
    <p:sldId id="342" r:id="rId26"/>
    <p:sldId id="343" r:id="rId27"/>
    <p:sldId id="345" r:id="rId28"/>
    <p:sldId id="346" r:id="rId29"/>
    <p:sldId id="344" r:id="rId30"/>
    <p:sldId id="358" r:id="rId31"/>
    <p:sldId id="356" r:id="rId32"/>
    <p:sldId id="352" r:id="rId33"/>
    <p:sldId id="359" r:id="rId34"/>
    <p:sldId id="360" r:id="rId35"/>
    <p:sldId id="361" r:id="rId36"/>
    <p:sldId id="354" r:id="rId37"/>
    <p:sldId id="355" r:id="rId38"/>
  </p:sldIdLst>
  <p:sldSz cx="9144000" cy="6858000" type="screen4x3"/>
  <p:notesSz cx="6759575" cy="98679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082A"/>
    <a:srgbClr val="FB6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1F77A0-22D8-45FC-BCCC-1EC078BA97CF}" v="3" dt="2022-11-01T11:35:48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914" autoAdjust="0"/>
    <p:restoredTop sz="90929"/>
  </p:normalViewPr>
  <p:slideViewPr>
    <p:cSldViewPr>
      <p:cViewPr varScale="1">
        <p:scale>
          <a:sx n="39" d="100"/>
          <a:sy n="39" d="100"/>
        </p:scale>
        <p:origin x="54" y="14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Сидоренко Валентина Геннадьевна" userId="S::sidorenko_v@edu.rut-miit.ru::9fd89ba1-258d-4f41-8d6a-6540ac52a2c2" providerId="AD" clId="Web-{711F77A0-22D8-45FC-BCCC-1EC078BA97CF}"/>
    <pc:docChg chg="modSld">
      <pc:chgData name="Сидоренко Валентина Геннадьевна" userId="S::sidorenko_v@edu.rut-miit.ru::9fd89ba1-258d-4f41-8d6a-6540ac52a2c2" providerId="AD" clId="Web-{711F77A0-22D8-45FC-BCCC-1EC078BA97CF}" dt="2022-11-01T11:35:52.527" v="3" actId="1076"/>
      <pc:docMkLst>
        <pc:docMk/>
      </pc:docMkLst>
      <pc:sldChg chg="addSp delSp modSp">
        <pc:chgData name="Сидоренко Валентина Геннадьевна" userId="S::sidorenko_v@edu.rut-miit.ru::9fd89ba1-258d-4f41-8d6a-6540ac52a2c2" providerId="AD" clId="Web-{711F77A0-22D8-45FC-BCCC-1EC078BA97CF}" dt="2022-11-01T11:35:52.527" v="3" actId="1076"/>
        <pc:sldMkLst>
          <pc:docMk/>
          <pc:sldMk cId="0" sldId="355"/>
        </pc:sldMkLst>
        <pc:spChg chg="del">
          <ac:chgData name="Сидоренко Валентина Геннадьевна" userId="S::sidorenko_v@edu.rut-miit.ru::9fd89ba1-258d-4f41-8d6a-6540ac52a2c2" providerId="AD" clId="Web-{711F77A0-22D8-45FC-BCCC-1EC078BA97CF}" dt="2022-11-01T11:35:37.683" v="0"/>
          <ac:spMkLst>
            <pc:docMk/>
            <pc:sldMk cId="0" sldId="355"/>
            <ac:spMk id="36872" creationId="{310453EB-C107-CDE8-7B59-35FE88A7A766}"/>
          </ac:spMkLst>
        </pc:spChg>
        <pc:graphicFrameChg chg="add mod">
          <ac:chgData name="Сидоренко Валентина Геннадьевна" userId="S::sidorenko_v@edu.rut-miit.ru::9fd89ba1-258d-4f41-8d6a-6540ac52a2c2" providerId="AD" clId="Web-{711F77A0-22D8-45FC-BCCC-1EC078BA97CF}" dt="2022-11-01T11:35:52.527" v="3" actId="1076"/>
          <ac:graphicFrameMkLst>
            <pc:docMk/>
            <pc:sldMk cId="0" sldId="355"/>
            <ac:graphicFrameMk id="3" creationId="{25DCC1A0-039A-102A-CBA3-B50E228BF93A}"/>
          </ac:graphicFrameMkLst>
        </pc:graphicFrameChg>
        <pc:graphicFrameChg chg="del">
          <ac:chgData name="Сидоренко Валентина Геннадьевна" userId="S::sidorenko_v@edu.rut-miit.ru::9fd89ba1-258d-4f41-8d6a-6540ac52a2c2" providerId="AD" clId="Web-{711F77A0-22D8-45FC-BCCC-1EC078BA97CF}" dt="2022-11-01T11:35:40.496" v="1"/>
          <ac:graphicFrameMkLst>
            <pc:docMk/>
            <pc:sldMk cId="0" sldId="355"/>
            <ac:graphicFrameMk id="13" creationId="{391117EA-8B7D-EDFF-28C8-D79E04EF0BF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05CEF02-DA68-DA40-5D1C-91E4598D11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1215589-3A0A-A726-9467-26B44D87732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0638" y="0"/>
            <a:ext cx="2928937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A8A93DD3-0E82-4F33-927E-8226F8C0E5E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2893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E734A219-8469-CF79-826B-259612013AF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0638" y="9374188"/>
            <a:ext cx="2928937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A291F223-6A0D-4739-B406-BD88B5B6B6F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B44EC3B-27F6-AE06-A862-650EB694D52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257EDF5-BD21-1351-9FD3-91B4A57B4D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30638" y="0"/>
            <a:ext cx="2928937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86E157EF-4A6D-8B61-6276-BA7F6F9439F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FD40262-6312-5344-6CA7-D26559D9E98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1700" y="4687888"/>
            <a:ext cx="4956175" cy="444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F3EFEFE9-B52B-02A3-C8B7-CD10F288C2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2893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E1C6268-A40A-9463-35F2-19404B4362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0638" y="9374188"/>
            <a:ext cx="2928937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21786E4-EDC2-4D51-82BF-76DA6B8A4EF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061A8FF-BC23-7E75-A49B-5807B95FDAF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94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CFC76A1-2963-A6D3-3399-909ED3264A3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91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67A278-6EBB-D555-63FE-AC952DBEAEE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19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16138BB-87AA-32A9-1CDF-F8C90949AA5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334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2754F76-362D-A636-C689-E74D229F023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04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EC3CF19-7A19-2A21-6361-AEAC0FC59E5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63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435084-D495-218A-556C-49A0093BA4A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66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19E9E9-8567-7664-A441-708E7CAD261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76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3C1D488-363F-3E10-900C-3BD6C77C1A1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036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832D50F-5A12-E91E-C0A7-0E1B514E415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086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Large confetti">
            <a:extLst>
              <a:ext uri="{FF2B5EF4-FFF2-40B4-BE49-F238E27FC236}">
                <a16:creationId xmlns:a16="http://schemas.microsoft.com/office/drawing/2014/main" id="{C7EFB7BD-DF6C-7D2E-3F07-E6C65FB31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Теория информации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CF9D096-64CD-55AD-4255-D0218DD290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81B1BF5-EBEE-C7E2-A3F0-F7D40A99B21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3E04756B-D04E-BB5E-AAE2-11561086F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8458200" cy="873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1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9.bin"/><Relationship Id="rId2" Type="http://schemas.openxmlformats.org/officeDocument/2006/relationships/image" Target="../media/image2.png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4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0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2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oleObject" Target="../embeddings/oleObject31.bin"/><Relationship Id="rId7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45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11" Type="http://schemas.openxmlformats.org/officeDocument/2006/relationships/oleObject" Target="../embeddings/oleObject35.bin"/><Relationship Id="rId5" Type="http://schemas.openxmlformats.org/officeDocument/2006/relationships/image" Target="../media/image41.png"/><Relationship Id="rId10" Type="http://schemas.openxmlformats.org/officeDocument/2006/relationships/image" Target="../media/image44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46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57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58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55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6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9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6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 descr="Large confetti">
            <a:extLst>
              <a:ext uri="{FF2B5EF4-FFF2-40B4-BE49-F238E27FC236}">
                <a16:creationId xmlns:a16="http://schemas.microsoft.com/office/drawing/2014/main" id="{A24D9FF1-F634-8B91-0DF6-7BB921BC4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4099" name="Rectangle 7">
            <a:extLst>
              <a:ext uri="{FF2B5EF4-FFF2-40B4-BE49-F238E27FC236}">
                <a16:creationId xmlns:a16="http://schemas.microsoft.com/office/drawing/2014/main" id="{2734A25E-7956-FD44-1A16-85487277D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4100" name="Rectangle 9">
            <a:extLst>
              <a:ext uri="{FF2B5EF4-FFF2-40B4-BE49-F238E27FC236}">
                <a16:creationId xmlns:a16="http://schemas.microsoft.com/office/drawing/2014/main" id="{F3ACE6F5-8E6A-8D45-AB5D-448DAEA34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4101" name="Rectangle 10">
            <a:extLst>
              <a:ext uri="{FF2B5EF4-FFF2-40B4-BE49-F238E27FC236}">
                <a16:creationId xmlns:a16="http://schemas.microsoft.com/office/drawing/2014/main" id="{16993F29-BD4D-2F6B-4509-330C8379D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928938"/>
            <a:ext cx="6905625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Дискретное преобразование Фурье</a:t>
            </a:r>
            <a:endParaRPr lang="ru-RU" altLang="ru-RU" b="1" i="1"/>
          </a:p>
        </p:txBody>
      </p:sp>
      <p:sp>
        <p:nvSpPr>
          <p:cNvPr id="4102" name="Text Box 15">
            <a:extLst>
              <a:ext uri="{FF2B5EF4-FFF2-40B4-BE49-F238E27FC236}">
                <a16:creationId xmlns:a16="http://schemas.microsoft.com/office/drawing/2014/main" id="{026E443B-966D-B397-00DF-1FF90A44D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 descr="Large confetti">
            <a:extLst>
              <a:ext uri="{FF2B5EF4-FFF2-40B4-BE49-F238E27FC236}">
                <a16:creationId xmlns:a16="http://schemas.microsoft.com/office/drawing/2014/main" id="{103E3AEC-72A0-3B7A-6ED2-D5C17F58C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5123" name="Rectangle 7">
            <a:extLst>
              <a:ext uri="{FF2B5EF4-FFF2-40B4-BE49-F238E27FC236}">
                <a16:creationId xmlns:a16="http://schemas.microsoft.com/office/drawing/2014/main" id="{D37FAD0B-6A08-BB5F-838E-C0DB7F19F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5124" name="Rectangle 9">
            <a:extLst>
              <a:ext uri="{FF2B5EF4-FFF2-40B4-BE49-F238E27FC236}">
                <a16:creationId xmlns:a16="http://schemas.microsoft.com/office/drawing/2014/main" id="{643937C4-6822-5E5A-21DB-6B511F8B1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pSp>
        <p:nvGrpSpPr>
          <p:cNvPr id="5125" name="Group 2">
            <a:extLst>
              <a:ext uri="{FF2B5EF4-FFF2-40B4-BE49-F238E27FC236}">
                <a16:creationId xmlns:a16="http://schemas.microsoft.com/office/drawing/2014/main" id="{63EB5AFC-33AF-F459-54BE-B70C3004F03A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2071688"/>
            <a:ext cx="6511925" cy="4391025"/>
            <a:chOff x="1341" y="7974"/>
            <a:chExt cx="9836" cy="6673"/>
          </a:xfrm>
        </p:grpSpPr>
        <p:graphicFrame>
          <p:nvGraphicFramePr>
            <p:cNvPr id="5128" name="Object 3">
              <a:extLst>
                <a:ext uri="{FF2B5EF4-FFF2-40B4-BE49-F238E27FC236}">
                  <a16:creationId xmlns:a16="http://schemas.microsoft.com/office/drawing/2014/main" id="{0FE04AC0-082D-1DA9-BB6C-48D1505A74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41" y="7974"/>
            <a:ext cx="7136" cy="6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Точечный рисунок" r:id="rId3" imgW="4533333" imgH="4238095" progId="Paint.Picture">
                    <p:embed/>
                  </p:oleObj>
                </mc:Choice>
                <mc:Fallback>
                  <p:oleObj name="Точечный рисунок" r:id="rId3" imgW="4533333" imgH="4238095" progId="Paint.Picture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1" y="7974"/>
                          <a:ext cx="7136" cy="66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3" name="Text Box 4">
              <a:extLst>
                <a:ext uri="{FF2B5EF4-FFF2-40B4-BE49-F238E27FC236}">
                  <a16:creationId xmlns:a16="http://schemas.microsoft.com/office/drawing/2014/main" id="{DC90B29B-D8C7-1EFD-B8AA-D62A82791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1" y="7974"/>
              <a:ext cx="3060" cy="162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Aft>
                  <a:spcPts val="0"/>
                </a:spcAft>
                <a:defRPr/>
              </a:pPr>
              <a:r>
                <a:rPr lang="ru-RU" sz="1400" dirty="0">
                  <a:latin typeface="+mn-lt"/>
                </a:rPr>
                <a:t>ПРЕОБРАЗОВАНИЕ ФУРЬЕ (ПФ):</a:t>
              </a:r>
            </a:p>
            <a:p>
              <a:pPr algn="ctr" eaLnBrk="1" hangingPunct="1">
                <a:spcAft>
                  <a:spcPts val="0"/>
                </a:spcAft>
                <a:defRPr/>
              </a:pPr>
              <a:r>
                <a:rPr lang="ru-RU" sz="1400" dirty="0">
                  <a:latin typeface="+mn-lt"/>
                </a:rPr>
                <a:t>сигнал непрерывный и</a:t>
              </a:r>
            </a:p>
            <a:p>
              <a:pPr algn="ctr" eaLnBrk="1" hangingPunct="1">
                <a:spcAft>
                  <a:spcPts val="0"/>
                </a:spcAft>
                <a:defRPr/>
              </a:pPr>
              <a:r>
                <a:rPr lang="ru-RU" sz="1400" dirty="0">
                  <a:latin typeface="+mn-lt"/>
                </a:rPr>
                <a:t>апериодический</a:t>
              </a:r>
            </a:p>
            <a:p>
              <a:pPr eaLnBrk="1" hangingPunct="1">
                <a:spcAft>
                  <a:spcPts val="0"/>
                </a:spcAft>
                <a:defRPr/>
              </a:pPr>
              <a:endParaRPr lang="ru-RU" dirty="0">
                <a:latin typeface="+mn-lt"/>
              </a:endParaRPr>
            </a:p>
          </p:txBody>
        </p:sp>
        <p:sp>
          <p:nvSpPr>
            <p:cNvPr id="1034" name="Text Box 5">
              <a:extLst>
                <a:ext uri="{FF2B5EF4-FFF2-40B4-BE49-F238E27FC236}">
                  <a16:creationId xmlns:a16="http://schemas.microsoft.com/office/drawing/2014/main" id="{526AB71D-6605-E6F0-4D6B-090BCDD30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1" y="9774"/>
              <a:ext cx="3060" cy="1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Aft>
                  <a:spcPts val="0"/>
                </a:spcAft>
                <a:defRPr/>
              </a:pPr>
              <a:r>
                <a:rPr lang="ru-RU" sz="1400" dirty="0">
                  <a:latin typeface="+mn-lt"/>
                </a:rPr>
                <a:t>РЯДЫ ФУРЬЕ:</a:t>
              </a:r>
            </a:p>
            <a:p>
              <a:pPr algn="ctr" eaLnBrk="1" hangingPunct="1">
                <a:spcAft>
                  <a:spcPts val="0"/>
                </a:spcAft>
                <a:defRPr/>
              </a:pPr>
              <a:r>
                <a:rPr lang="ru-RU" sz="1400" dirty="0">
                  <a:latin typeface="+mn-lt"/>
                </a:rPr>
                <a:t>сигнал непрерывный</a:t>
              </a:r>
            </a:p>
            <a:p>
              <a:pPr algn="ctr" eaLnBrk="1" hangingPunct="1">
                <a:spcAft>
                  <a:spcPts val="0"/>
                </a:spcAft>
                <a:defRPr/>
              </a:pPr>
              <a:r>
                <a:rPr lang="ru-RU" sz="1400" dirty="0">
                  <a:latin typeface="+mn-lt"/>
                </a:rPr>
                <a:t>и периодический</a:t>
              </a:r>
              <a:endParaRPr lang="ru-RU" dirty="0">
                <a:latin typeface="+mn-lt"/>
              </a:endParaRPr>
            </a:p>
          </p:txBody>
        </p:sp>
        <p:sp>
          <p:nvSpPr>
            <p:cNvPr id="1035" name="Text Box 6">
              <a:extLst>
                <a:ext uri="{FF2B5EF4-FFF2-40B4-BE49-F238E27FC236}">
                  <a16:creationId xmlns:a16="http://schemas.microsoft.com/office/drawing/2014/main" id="{C9A24900-D45A-8A29-7757-F857571AB8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1" y="11395"/>
              <a:ext cx="3060" cy="1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Aft>
                  <a:spcPts val="0"/>
                </a:spcAft>
                <a:defRPr/>
              </a:pPr>
              <a:r>
                <a:rPr lang="ru-RU" sz="1400" dirty="0">
                  <a:latin typeface="+mn-lt"/>
                </a:rPr>
                <a:t>ПФ для сигналов дискретного времени:</a:t>
              </a:r>
            </a:p>
            <a:p>
              <a:pPr algn="ctr" eaLnBrk="1" hangingPunct="1">
                <a:spcAft>
                  <a:spcPts val="0"/>
                </a:spcAft>
                <a:defRPr/>
              </a:pPr>
              <a:r>
                <a:rPr lang="ru-RU" sz="1400" dirty="0">
                  <a:latin typeface="+mn-lt"/>
                </a:rPr>
                <a:t>сигнал дискретный</a:t>
              </a:r>
            </a:p>
            <a:p>
              <a:pPr algn="ctr" eaLnBrk="1" hangingPunct="1">
                <a:spcAft>
                  <a:spcPts val="0"/>
                </a:spcAft>
                <a:defRPr/>
              </a:pPr>
              <a:r>
                <a:rPr lang="ru-RU" sz="1400" dirty="0">
                  <a:latin typeface="+mn-lt"/>
                </a:rPr>
                <a:t>и апериодический</a:t>
              </a:r>
              <a:endParaRPr lang="ru-RU" dirty="0">
                <a:latin typeface="+mn-lt"/>
              </a:endParaRPr>
            </a:p>
          </p:txBody>
        </p:sp>
        <p:sp>
          <p:nvSpPr>
            <p:cNvPr id="1036" name="Text Box 7">
              <a:extLst>
                <a:ext uri="{FF2B5EF4-FFF2-40B4-BE49-F238E27FC236}">
                  <a16:creationId xmlns:a16="http://schemas.microsoft.com/office/drawing/2014/main" id="{09F0F0C0-400C-5C90-4CA6-D79D192745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1" y="13014"/>
              <a:ext cx="3060" cy="1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spcAft>
                  <a:spcPts val="0"/>
                </a:spcAft>
                <a:defRPr/>
              </a:pPr>
              <a:r>
                <a:rPr lang="ru-RU" sz="1400" dirty="0">
                  <a:latin typeface="+mn-lt"/>
                </a:rPr>
                <a:t>ДПФ:</a:t>
              </a:r>
            </a:p>
            <a:p>
              <a:pPr algn="ctr" eaLnBrk="1" hangingPunct="1">
                <a:spcAft>
                  <a:spcPts val="0"/>
                </a:spcAft>
                <a:defRPr/>
              </a:pPr>
              <a:r>
                <a:rPr lang="ru-RU" sz="1400" dirty="0">
                  <a:latin typeface="+mn-lt"/>
                </a:rPr>
                <a:t>сигнал дискретный</a:t>
              </a:r>
            </a:p>
            <a:p>
              <a:pPr algn="ctr" eaLnBrk="1" hangingPunct="1">
                <a:spcAft>
                  <a:spcPts val="0"/>
                </a:spcAft>
                <a:defRPr/>
              </a:pPr>
              <a:r>
                <a:rPr lang="ru-RU" sz="1400" dirty="0">
                  <a:latin typeface="+mn-lt"/>
                </a:rPr>
                <a:t>и периодический</a:t>
              </a:r>
              <a:endParaRPr lang="ru-RU" sz="1000" dirty="0">
                <a:latin typeface="+mn-lt"/>
              </a:endParaRPr>
            </a:p>
            <a:p>
              <a:pPr eaLnBrk="1" hangingPunct="1">
                <a:spcAft>
                  <a:spcPts val="0"/>
                </a:spcAft>
                <a:defRPr/>
              </a:pPr>
              <a:endParaRPr lang="ru-RU" dirty="0">
                <a:latin typeface="+mn-lt"/>
              </a:endParaRPr>
            </a:p>
          </p:txBody>
        </p:sp>
      </p:grpSp>
      <p:sp>
        <p:nvSpPr>
          <p:cNvPr id="5126" name="Rectangle 8">
            <a:extLst>
              <a:ext uri="{FF2B5EF4-FFF2-40B4-BE49-F238E27FC236}">
                <a16:creationId xmlns:a16="http://schemas.microsoft.com/office/drawing/2014/main" id="{C4FF5793-3C51-E471-0362-88CB6C6D9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840105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>
                <a:cs typeface="Times New Roman" panose="02020603050405020304" pitchFamily="18" charset="0"/>
              </a:rPr>
              <a:t>Семейство преобразований Фурье 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>
                <a:cs typeface="Times New Roman" panose="02020603050405020304" pitchFamily="18" charset="0"/>
              </a:rPr>
              <a:t>как функция сигнала во временной области</a:t>
            </a:r>
            <a:endParaRPr lang="ru-RU" altLang="ru-RU" b="1"/>
          </a:p>
        </p:txBody>
      </p:sp>
      <p:sp>
        <p:nvSpPr>
          <p:cNvPr id="5127" name="Text Box 15">
            <a:extLst>
              <a:ext uri="{FF2B5EF4-FFF2-40B4-BE49-F238E27FC236}">
                <a16:creationId xmlns:a16="http://schemas.microsoft.com/office/drawing/2014/main" id="{2AD57B59-9F6B-9DFB-FCDB-5727A8981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 descr="Large confetti">
            <a:extLst>
              <a:ext uri="{FF2B5EF4-FFF2-40B4-BE49-F238E27FC236}">
                <a16:creationId xmlns:a16="http://schemas.microsoft.com/office/drawing/2014/main" id="{79AD310D-96CE-A6B5-CDFE-D81237E53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FCE8B912-6A99-469E-8F1F-72B2DD469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6148" name="Rectangle 9">
            <a:extLst>
              <a:ext uri="{FF2B5EF4-FFF2-40B4-BE49-F238E27FC236}">
                <a16:creationId xmlns:a16="http://schemas.microsoft.com/office/drawing/2014/main" id="{9D7DC7A4-3362-6951-3D77-0F2DA070E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6149" name="Rectangle 10">
            <a:extLst>
              <a:ext uri="{FF2B5EF4-FFF2-40B4-BE49-F238E27FC236}">
                <a16:creationId xmlns:a16="http://schemas.microsoft.com/office/drawing/2014/main" id="{C5D1FE3F-07A1-8970-251D-EC107FA64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6800"/>
            <a:ext cx="91440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Типы преобразований Фурье</a:t>
            </a:r>
            <a:endParaRPr lang="ru-RU" altLang="ru-RU" b="1" i="1"/>
          </a:p>
        </p:txBody>
      </p:sp>
      <p:graphicFrame>
        <p:nvGraphicFramePr>
          <p:cNvPr id="11298" name="Group 34">
            <a:extLst>
              <a:ext uri="{FF2B5EF4-FFF2-40B4-BE49-F238E27FC236}">
                <a16:creationId xmlns:a16="http://schemas.microsoft.com/office/drawing/2014/main" id="{28C9FAD8-CCFA-7CE6-B75A-D885A3F9B4A7}"/>
              </a:ext>
            </a:extLst>
          </p:cNvPr>
          <p:cNvGraphicFramePr>
            <a:graphicFrameLocks noGrp="1"/>
          </p:cNvGraphicFramePr>
          <p:nvPr/>
        </p:nvGraphicFramePr>
        <p:xfrm>
          <a:off x="0" y="1397000"/>
          <a:ext cx="9144000" cy="499745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Тип преобразования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Природа и интервал изменения сигнала во временной области </a:t>
                      </a: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Природа и интервал изменения сигнала в частотной области</a:t>
                      </a: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5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Ряды Фурье</a:t>
                      </a: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Непрерывный -&gt;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Периодический -&gt;</a:t>
                      </a: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5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Преобразование Фурье</a:t>
                      </a: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Непрерывный -&gt;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апериодический-&gt;</a:t>
                      </a: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5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Преобразование Фурье для сигналов дискретного времени</a:t>
                      </a: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Дискретный-&gt;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апериодический-&gt;</a:t>
                      </a: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5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Дискретное преобразование Фурье 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DFT</a:t>
                      </a: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Дискретный-&gt;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периодический-&gt;</a:t>
                      </a: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286" marR="362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300" name="Rectangle 10">
            <a:extLst>
              <a:ext uri="{FF2B5EF4-FFF2-40B4-BE49-F238E27FC236}">
                <a16:creationId xmlns:a16="http://schemas.microsoft.com/office/drawing/2014/main" id="{E4F0831E-808E-3EAE-38B2-181FD8B8A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0292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000"/>
              <a:t>Непрерывный</a:t>
            </a:r>
            <a:endParaRPr lang="ru-RU" altLang="ru-RU" sz="2000" i="1"/>
          </a:p>
        </p:txBody>
      </p:sp>
      <p:sp>
        <p:nvSpPr>
          <p:cNvPr id="11301" name="Rectangle 10">
            <a:extLst>
              <a:ext uri="{FF2B5EF4-FFF2-40B4-BE49-F238E27FC236}">
                <a16:creationId xmlns:a16="http://schemas.microsoft.com/office/drawing/2014/main" id="{89A645A3-CD7F-45A6-C7CF-C886B3674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1148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000"/>
              <a:t>Непрерывный</a:t>
            </a:r>
            <a:endParaRPr lang="ru-RU" altLang="ru-RU" sz="2000" i="1"/>
          </a:p>
        </p:txBody>
      </p:sp>
      <p:sp>
        <p:nvSpPr>
          <p:cNvPr id="11308" name="Rectangle 10">
            <a:extLst>
              <a:ext uri="{FF2B5EF4-FFF2-40B4-BE49-F238E27FC236}">
                <a16:creationId xmlns:a16="http://schemas.microsoft.com/office/drawing/2014/main" id="{4D0B8161-0B6D-AA2B-B46C-DB6BCA03E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6670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000"/>
              <a:t>Апериодический</a:t>
            </a:r>
            <a:endParaRPr lang="ru-RU" altLang="ru-RU" sz="2000" i="1"/>
          </a:p>
        </p:txBody>
      </p:sp>
      <p:sp>
        <p:nvSpPr>
          <p:cNvPr id="11309" name="Rectangle 10">
            <a:extLst>
              <a:ext uri="{FF2B5EF4-FFF2-40B4-BE49-F238E27FC236}">
                <a16:creationId xmlns:a16="http://schemas.microsoft.com/office/drawing/2014/main" id="{A46950BA-8CE5-418B-EDB1-3FB66B9FA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6576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000"/>
              <a:t>Апериодический</a:t>
            </a:r>
            <a:endParaRPr lang="ru-RU" altLang="ru-RU" sz="2000" i="1"/>
          </a:p>
        </p:txBody>
      </p:sp>
      <p:sp>
        <p:nvSpPr>
          <p:cNvPr id="11310" name="Rectangle 10">
            <a:extLst>
              <a:ext uri="{FF2B5EF4-FFF2-40B4-BE49-F238E27FC236}">
                <a16:creationId xmlns:a16="http://schemas.microsoft.com/office/drawing/2014/main" id="{E1F4E5FE-8C7B-45DD-9BAA-60B09C6A6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4864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000"/>
              <a:t>Периодический</a:t>
            </a:r>
            <a:endParaRPr lang="ru-RU" altLang="ru-RU" sz="2000" i="1"/>
          </a:p>
        </p:txBody>
      </p:sp>
      <p:sp>
        <p:nvSpPr>
          <p:cNvPr id="11311" name="Rectangle 10">
            <a:extLst>
              <a:ext uri="{FF2B5EF4-FFF2-40B4-BE49-F238E27FC236}">
                <a16:creationId xmlns:a16="http://schemas.microsoft.com/office/drawing/2014/main" id="{08D80225-A9E3-A400-7FB8-840428027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5720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000"/>
              <a:t>Периодический</a:t>
            </a:r>
            <a:endParaRPr lang="ru-RU" altLang="ru-RU" sz="2000" i="1"/>
          </a:p>
        </p:txBody>
      </p:sp>
      <p:sp>
        <p:nvSpPr>
          <p:cNvPr id="11312" name="Rectangle 10">
            <a:extLst>
              <a:ext uri="{FF2B5EF4-FFF2-40B4-BE49-F238E27FC236}">
                <a16:creationId xmlns:a16="http://schemas.microsoft.com/office/drawing/2014/main" id="{D68A2255-B8F0-3B7F-B847-F55EDF80A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062288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000"/>
              <a:t>Дискретный</a:t>
            </a:r>
            <a:endParaRPr lang="ru-RU" altLang="ru-RU" sz="2000" i="1"/>
          </a:p>
        </p:txBody>
      </p:sp>
      <p:sp>
        <p:nvSpPr>
          <p:cNvPr id="11313" name="Rectangle 10">
            <a:extLst>
              <a:ext uri="{FF2B5EF4-FFF2-40B4-BE49-F238E27FC236}">
                <a16:creationId xmlns:a16="http://schemas.microsoft.com/office/drawing/2014/main" id="{568DC14B-AF55-3093-EAC1-597A56ECB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9436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000"/>
              <a:t>Дискретный</a:t>
            </a:r>
            <a:endParaRPr lang="ru-RU" altLang="ru-RU" sz="2000" i="1"/>
          </a:p>
        </p:txBody>
      </p:sp>
      <p:sp>
        <p:nvSpPr>
          <p:cNvPr id="6184" name="Text Box 15">
            <a:extLst>
              <a:ext uri="{FF2B5EF4-FFF2-40B4-BE49-F238E27FC236}">
                <a16:creationId xmlns:a16="http://schemas.microsoft.com/office/drawing/2014/main" id="{39BE0324-5178-E149-9271-0628D591E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0" grpId="0" autoUpdateAnimBg="0"/>
      <p:bldP spid="11301" grpId="0" autoUpdateAnimBg="0"/>
      <p:bldP spid="11308" grpId="0" autoUpdateAnimBg="0"/>
      <p:bldP spid="11309" grpId="0" autoUpdateAnimBg="0"/>
      <p:bldP spid="11310" grpId="0" autoUpdateAnimBg="0"/>
      <p:bldP spid="11311" grpId="0" autoUpdateAnimBg="0"/>
      <p:bldP spid="11312" grpId="0" autoUpdateAnimBg="0"/>
      <p:bldP spid="1131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 descr="Large confetti">
            <a:extLst>
              <a:ext uri="{FF2B5EF4-FFF2-40B4-BE49-F238E27FC236}">
                <a16:creationId xmlns:a16="http://schemas.microsoft.com/office/drawing/2014/main" id="{704CF8ED-DA8E-A9F5-EE02-B35A618BA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776522D9-DAEE-D5FF-8147-8702A2E20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7172" name="Rectangle 9">
            <a:extLst>
              <a:ext uri="{FF2B5EF4-FFF2-40B4-BE49-F238E27FC236}">
                <a16:creationId xmlns:a16="http://schemas.microsoft.com/office/drawing/2014/main" id="{2C169822-0F46-CD0D-965C-BC1463324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7173" name="Rectangle 10">
            <a:extLst>
              <a:ext uri="{FF2B5EF4-FFF2-40B4-BE49-F238E27FC236}">
                <a16:creationId xmlns:a16="http://schemas.microsoft.com/office/drawing/2014/main" id="{C676C743-02C2-015A-CFFA-92DBD038C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Ряд Фурье</a:t>
            </a:r>
            <a:endParaRPr lang="ru-RU" altLang="ru-RU" sz="2800" b="1" i="1"/>
          </a:p>
        </p:txBody>
      </p:sp>
      <p:sp>
        <p:nvSpPr>
          <p:cNvPr id="7174" name="Rectangle 2">
            <a:extLst>
              <a:ext uri="{FF2B5EF4-FFF2-40B4-BE49-F238E27FC236}">
                <a16:creationId xmlns:a16="http://schemas.microsoft.com/office/drawing/2014/main" id="{165DDDB9-98DC-66C3-211A-02447A677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7175" name="Object 1">
            <a:extLst>
              <a:ext uri="{FF2B5EF4-FFF2-40B4-BE49-F238E27FC236}">
                <a16:creationId xmlns:a16="http://schemas.microsoft.com/office/drawing/2014/main" id="{B3CE5BBB-6EB8-1A8B-3DAF-7994E5FB88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4063" y="1293813"/>
          <a:ext cx="4594225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7300" imgH="431800" progId="Equation.DSMT4">
                  <p:embed/>
                </p:oleObj>
              </mc:Choice>
              <mc:Fallback>
                <p:oleObj name="Equation" r:id="rId3" imgW="2527300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1293813"/>
                        <a:ext cx="4594225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5">
            <a:extLst>
              <a:ext uri="{FF2B5EF4-FFF2-40B4-BE49-F238E27FC236}">
                <a16:creationId xmlns:a16="http://schemas.microsoft.com/office/drawing/2014/main" id="{A262D1B3-C4D7-0E2F-7BC8-534D918655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071688"/>
          <a:ext cx="2000250" cy="145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71600" imgH="1003300" progId="Equation.DSMT4">
                  <p:embed/>
                </p:oleObj>
              </mc:Choice>
              <mc:Fallback>
                <p:oleObj name="Equation" r:id="rId5" imgW="1371600" imgH="1003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071688"/>
                        <a:ext cx="2000250" cy="1458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4">
            <a:extLst>
              <a:ext uri="{FF2B5EF4-FFF2-40B4-BE49-F238E27FC236}">
                <a16:creationId xmlns:a16="http://schemas.microsoft.com/office/drawing/2014/main" id="{C235F006-AABB-8E26-497C-FE4DCCCAF4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3188" y="2000250"/>
          <a:ext cx="3143250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20900" imgH="1003300" progId="Equation.DSMT4">
                  <p:embed/>
                </p:oleObj>
              </mc:Choice>
              <mc:Fallback>
                <p:oleObj name="Equation" r:id="rId7" imgW="2120900" imgH="1003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2000250"/>
                        <a:ext cx="3143250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3">
            <a:extLst>
              <a:ext uri="{FF2B5EF4-FFF2-40B4-BE49-F238E27FC236}">
                <a16:creationId xmlns:a16="http://schemas.microsoft.com/office/drawing/2014/main" id="{DFE4BA22-DB4E-2A9A-8A8B-C8CC62DC75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15063" y="2071688"/>
          <a:ext cx="2792412" cy="135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57400" imgH="1003300" progId="Equation.DSMT4">
                  <p:embed/>
                </p:oleObj>
              </mc:Choice>
              <mc:Fallback>
                <p:oleObj name="Equation" r:id="rId9" imgW="2057400" imgH="1003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2071688"/>
                        <a:ext cx="2792412" cy="1357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Rectangle 9">
            <a:extLst>
              <a:ext uri="{FF2B5EF4-FFF2-40B4-BE49-F238E27FC236}">
                <a16:creationId xmlns:a16="http://schemas.microsoft.com/office/drawing/2014/main" id="{40FD20FF-A38E-1779-7E84-FD84D8157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7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160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ru-RU" altLang="ru-RU" sz="1600">
                <a:cs typeface="Times New Roman" panose="02020603050405020304" pitchFamily="18" charset="0"/>
              </a:rPr>
              <a:t>.</a:t>
            </a:r>
            <a:r>
              <a:rPr lang="ru-RU" altLang="ru-RU" sz="900"/>
              <a:t> </a:t>
            </a:r>
            <a:endParaRPr lang="ru-RU" altLang="ru-RU" sz="2400"/>
          </a:p>
        </p:txBody>
      </p:sp>
      <p:sp>
        <p:nvSpPr>
          <p:cNvPr id="7180" name="Rectangle 10">
            <a:extLst>
              <a:ext uri="{FF2B5EF4-FFF2-40B4-BE49-F238E27FC236}">
                <a16:creationId xmlns:a16="http://schemas.microsoft.com/office/drawing/2014/main" id="{2B74106C-8B65-55AC-3A9B-C0F1DE5B2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91440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Преобразование Фурье</a:t>
            </a:r>
            <a:endParaRPr lang="ru-RU" altLang="ru-RU" sz="2800" b="1" i="1"/>
          </a:p>
        </p:txBody>
      </p:sp>
      <p:graphicFrame>
        <p:nvGraphicFramePr>
          <p:cNvPr id="7181" name="Object 10">
            <a:extLst>
              <a:ext uri="{FF2B5EF4-FFF2-40B4-BE49-F238E27FC236}">
                <a16:creationId xmlns:a16="http://schemas.microsoft.com/office/drawing/2014/main" id="{3ADD6D9A-EDB3-9DA1-BA41-A195EA9FE9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" y="3786188"/>
          <a:ext cx="3124200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68500" imgH="673100" progId="Equation.DSMT4">
                  <p:embed/>
                </p:oleObj>
              </mc:Choice>
              <mc:Fallback>
                <p:oleObj name="Equation" r:id="rId11" imgW="19685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3786188"/>
                        <a:ext cx="3124200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11">
            <a:extLst>
              <a:ext uri="{FF2B5EF4-FFF2-40B4-BE49-F238E27FC236}">
                <a16:creationId xmlns:a16="http://schemas.microsoft.com/office/drawing/2014/main" id="{FE8530C8-BF56-EFED-0036-BF08325890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786188"/>
          <a:ext cx="3805237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36800" imgH="660400" progId="Equation.DSMT4">
                  <p:embed/>
                </p:oleObj>
              </mc:Choice>
              <mc:Fallback>
                <p:oleObj name="Equation" r:id="rId13" imgW="2336800" imgH="660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786188"/>
                        <a:ext cx="3805237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3" name="Rectangle 17">
            <a:extLst>
              <a:ext uri="{FF2B5EF4-FFF2-40B4-BE49-F238E27FC236}">
                <a16:creationId xmlns:a16="http://schemas.microsoft.com/office/drawing/2014/main" id="{859D2F83-F07D-BA6D-B90B-094E63195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7184" name="Object 16">
            <a:extLst>
              <a:ext uri="{FF2B5EF4-FFF2-40B4-BE49-F238E27FC236}">
                <a16:creationId xmlns:a16="http://schemas.microsoft.com/office/drawing/2014/main" id="{2E2D4458-C23A-FA21-5D79-1FA12FF273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188" y="5143500"/>
          <a:ext cx="221456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20227" imgH="482391" progId="Equation.DSMT4">
                  <p:embed/>
                </p:oleObj>
              </mc:Choice>
              <mc:Fallback>
                <p:oleObj name="Equation" r:id="rId15" imgW="1320227" imgH="48239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5143500"/>
                        <a:ext cx="221456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5" name="Rectangle 10">
            <a:extLst>
              <a:ext uri="{FF2B5EF4-FFF2-40B4-BE49-F238E27FC236}">
                <a16:creationId xmlns:a16="http://schemas.microsoft.com/office/drawing/2014/main" id="{41FB9F9D-DDC7-8921-3EBA-A3C275611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86313"/>
            <a:ext cx="91440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Преобразование Лапласа</a:t>
            </a:r>
            <a:endParaRPr lang="ru-RU" altLang="ru-RU" sz="2800" b="1" i="1"/>
          </a:p>
        </p:txBody>
      </p:sp>
      <p:graphicFrame>
        <p:nvGraphicFramePr>
          <p:cNvPr id="7186" name="Object 18">
            <a:extLst>
              <a:ext uri="{FF2B5EF4-FFF2-40B4-BE49-F238E27FC236}">
                <a16:creationId xmlns:a16="http://schemas.microsoft.com/office/drawing/2014/main" id="{00081367-CE36-FEE2-453A-F6E670D52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7563" y="5357813"/>
          <a:ext cx="136207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23586" imgH="190417" progId="Equation.DSMT4">
                  <p:embed/>
                </p:oleObj>
              </mc:Choice>
              <mc:Fallback>
                <p:oleObj name="Equation" r:id="rId17" imgW="723586" imgH="190417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5357813"/>
                        <a:ext cx="136207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7" name="Rectangle 20">
            <a:extLst>
              <a:ext uri="{FF2B5EF4-FFF2-40B4-BE49-F238E27FC236}">
                <a16:creationId xmlns:a16="http://schemas.microsoft.com/office/drawing/2014/main" id="{0525237B-B59F-5B02-EC1C-7B043CD5F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7188" name="Object 22">
            <a:extLst>
              <a:ext uri="{FF2B5EF4-FFF2-40B4-BE49-F238E27FC236}">
                <a16:creationId xmlns:a16="http://schemas.microsoft.com/office/drawing/2014/main" id="{6BB21797-CD66-AF79-5E96-E6681AC8DA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6375" y="5143500"/>
          <a:ext cx="2789238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77229" imgH="495085" progId="Equation.DSMT4">
                  <p:embed/>
                </p:oleObj>
              </mc:Choice>
              <mc:Fallback>
                <p:oleObj name="Equation" r:id="rId19" imgW="1777229" imgH="49508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5143500"/>
                        <a:ext cx="2789238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9" name="Rectangle 10">
            <a:extLst>
              <a:ext uri="{FF2B5EF4-FFF2-40B4-BE49-F238E27FC236}">
                <a16:creationId xmlns:a16="http://schemas.microsoft.com/office/drawing/2014/main" id="{CF0830CE-4DD0-D9D5-66EA-CF603637E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57875"/>
            <a:ext cx="9144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400"/>
              <a:t>Преобразование Фурье – частный случай преобразования Лапласа при           .</a:t>
            </a:r>
            <a:endParaRPr lang="ru-RU" altLang="ru-RU" sz="2400" i="1"/>
          </a:p>
        </p:txBody>
      </p:sp>
      <p:graphicFrame>
        <p:nvGraphicFramePr>
          <p:cNvPr id="7190" name="Object 23">
            <a:extLst>
              <a:ext uri="{FF2B5EF4-FFF2-40B4-BE49-F238E27FC236}">
                <a16:creationId xmlns:a16="http://schemas.microsoft.com/office/drawing/2014/main" id="{4799FFE7-2671-2740-B633-59CDA2907A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6286500"/>
          <a:ext cx="715963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80670" imgH="177646" progId="Equation.DSMT4">
                  <p:embed/>
                </p:oleObj>
              </mc:Choice>
              <mc:Fallback>
                <p:oleObj name="Equation" r:id="rId21" imgW="380670" imgH="177646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6286500"/>
                        <a:ext cx="715963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1" name="Text Box 15">
            <a:extLst>
              <a:ext uri="{FF2B5EF4-FFF2-40B4-BE49-F238E27FC236}">
                <a16:creationId xmlns:a16="http://schemas.microsoft.com/office/drawing/2014/main" id="{6FCDBE91-5E47-ED95-3622-5B4DF360D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 descr="Large confetti">
            <a:extLst>
              <a:ext uri="{FF2B5EF4-FFF2-40B4-BE49-F238E27FC236}">
                <a16:creationId xmlns:a16="http://schemas.microsoft.com/office/drawing/2014/main" id="{7CAA6AB0-7DAE-E6B1-EB21-D3E69EAEF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FCEC4EFF-5E2F-BDA0-759C-A4D381E1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8196" name="Rectangle 9">
            <a:extLst>
              <a:ext uri="{FF2B5EF4-FFF2-40B4-BE49-F238E27FC236}">
                <a16:creationId xmlns:a16="http://schemas.microsoft.com/office/drawing/2014/main" id="{6BE4089B-58C8-E224-5A72-C219F5B04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8197" name="Rectangle 10">
            <a:extLst>
              <a:ext uri="{FF2B5EF4-FFF2-40B4-BE49-F238E27FC236}">
                <a16:creationId xmlns:a16="http://schemas.microsoft.com/office/drawing/2014/main" id="{9CA8A45B-8BEE-A798-62C3-D36AB670A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928688"/>
            <a:ext cx="4500562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Некоторые разложения в ряд Фурье</a:t>
            </a:r>
            <a:endParaRPr lang="ru-RU" altLang="ru-RU" sz="2800" b="1" i="1"/>
          </a:p>
        </p:txBody>
      </p:sp>
      <p:sp>
        <p:nvSpPr>
          <p:cNvPr id="8198" name="Text Box 15">
            <a:extLst>
              <a:ext uri="{FF2B5EF4-FFF2-40B4-BE49-F238E27FC236}">
                <a16:creationId xmlns:a16="http://schemas.microsoft.com/office/drawing/2014/main" id="{5E086190-54FF-F0FC-531B-0F522FD8F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6400800"/>
            <a:ext cx="6429375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7.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8199" name="Rectangle 2">
            <a:extLst>
              <a:ext uri="{FF2B5EF4-FFF2-40B4-BE49-F238E27FC236}">
                <a16:creationId xmlns:a16="http://schemas.microsoft.com/office/drawing/2014/main" id="{071BC359-B99E-23A6-A534-4A5A7854B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8200" name="Rectangle 9">
            <a:extLst>
              <a:ext uri="{FF2B5EF4-FFF2-40B4-BE49-F238E27FC236}">
                <a16:creationId xmlns:a16="http://schemas.microsoft.com/office/drawing/2014/main" id="{2808DBFE-283B-41CA-1571-6F647FF37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7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160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ru-RU" altLang="ru-RU" sz="1600">
                <a:cs typeface="Times New Roman" panose="02020603050405020304" pitchFamily="18" charset="0"/>
              </a:rPr>
              <a:t>.</a:t>
            </a:r>
            <a:r>
              <a:rPr lang="ru-RU" altLang="ru-RU" sz="900"/>
              <a:t> </a:t>
            </a:r>
            <a:endParaRPr lang="ru-RU" altLang="ru-RU" sz="2400"/>
          </a:p>
        </p:txBody>
      </p:sp>
      <p:sp>
        <p:nvSpPr>
          <p:cNvPr id="8201" name="Rectangle 17">
            <a:extLst>
              <a:ext uri="{FF2B5EF4-FFF2-40B4-BE49-F238E27FC236}">
                <a16:creationId xmlns:a16="http://schemas.microsoft.com/office/drawing/2014/main" id="{082BCBC6-2A52-11B4-D8DC-613B0AA24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8202" name="Rectangle 20">
            <a:extLst>
              <a:ext uri="{FF2B5EF4-FFF2-40B4-BE49-F238E27FC236}">
                <a16:creationId xmlns:a16="http://schemas.microsoft.com/office/drawing/2014/main" id="{1A8698F7-B09B-0E8B-CFC4-CC45D6F71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pic>
        <p:nvPicPr>
          <p:cNvPr id="8203" name="Picture 12">
            <a:extLst>
              <a:ext uri="{FF2B5EF4-FFF2-40B4-BE49-F238E27FC236}">
                <a16:creationId xmlns:a16="http://schemas.microsoft.com/office/drawing/2014/main" id="{E156DADF-A1ED-67D0-78D9-5E79C5523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3138"/>
            <a:ext cx="4643438" cy="589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 descr="Large confetti">
            <a:extLst>
              <a:ext uri="{FF2B5EF4-FFF2-40B4-BE49-F238E27FC236}">
                <a16:creationId xmlns:a16="http://schemas.microsoft.com/office/drawing/2014/main" id="{E4491D97-B85B-3EA1-1CD8-D0242FC44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9219" name="Rectangle 7">
            <a:extLst>
              <a:ext uri="{FF2B5EF4-FFF2-40B4-BE49-F238E27FC236}">
                <a16:creationId xmlns:a16="http://schemas.microsoft.com/office/drawing/2014/main" id="{12C6F21F-097C-FD4F-C775-F2224F60D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9220" name="Rectangle 9">
            <a:extLst>
              <a:ext uri="{FF2B5EF4-FFF2-40B4-BE49-F238E27FC236}">
                <a16:creationId xmlns:a16="http://schemas.microsoft.com/office/drawing/2014/main" id="{3856E705-D315-EF0C-F9AE-09B5079F0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9221" name="Rectangle 10">
            <a:extLst>
              <a:ext uri="{FF2B5EF4-FFF2-40B4-BE49-F238E27FC236}">
                <a16:creationId xmlns:a16="http://schemas.microsoft.com/office/drawing/2014/main" id="{595027FE-92D4-8C3C-F1C4-2E78212B4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Некоторые разложения в ряд Фурье</a:t>
            </a:r>
            <a:endParaRPr lang="ru-RU" altLang="ru-RU" sz="2800" b="1" i="1"/>
          </a:p>
        </p:txBody>
      </p:sp>
      <p:sp>
        <p:nvSpPr>
          <p:cNvPr id="9222" name="Text Box 15">
            <a:extLst>
              <a:ext uri="{FF2B5EF4-FFF2-40B4-BE49-F238E27FC236}">
                <a16:creationId xmlns:a16="http://schemas.microsoft.com/office/drawing/2014/main" id="{A41EC914-3D47-275D-05B5-CBA62B134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6400800"/>
            <a:ext cx="6429375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7.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9223" name="Rectangle 2">
            <a:extLst>
              <a:ext uri="{FF2B5EF4-FFF2-40B4-BE49-F238E27FC236}">
                <a16:creationId xmlns:a16="http://schemas.microsoft.com/office/drawing/2014/main" id="{095E157C-EAAC-88A1-257F-5962672FE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9224" name="Rectangle 9">
            <a:extLst>
              <a:ext uri="{FF2B5EF4-FFF2-40B4-BE49-F238E27FC236}">
                <a16:creationId xmlns:a16="http://schemas.microsoft.com/office/drawing/2014/main" id="{642B8AA5-9788-8BB5-E952-65ACD9DB3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7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160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ru-RU" altLang="ru-RU" sz="1600">
                <a:cs typeface="Times New Roman" panose="02020603050405020304" pitchFamily="18" charset="0"/>
              </a:rPr>
              <a:t>.</a:t>
            </a:r>
            <a:r>
              <a:rPr lang="ru-RU" altLang="ru-RU" sz="900"/>
              <a:t> </a:t>
            </a:r>
            <a:endParaRPr lang="ru-RU" altLang="ru-RU" sz="2400"/>
          </a:p>
        </p:txBody>
      </p:sp>
      <p:sp>
        <p:nvSpPr>
          <p:cNvPr id="9225" name="Rectangle 17">
            <a:extLst>
              <a:ext uri="{FF2B5EF4-FFF2-40B4-BE49-F238E27FC236}">
                <a16:creationId xmlns:a16="http://schemas.microsoft.com/office/drawing/2014/main" id="{1B4345F3-3D24-3633-FC6C-E4BF2A68B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9226" name="Rectangle 20">
            <a:extLst>
              <a:ext uri="{FF2B5EF4-FFF2-40B4-BE49-F238E27FC236}">
                <a16:creationId xmlns:a16="http://schemas.microsoft.com/office/drawing/2014/main" id="{8408C71F-9F11-93DB-0337-847E8D94B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pic>
        <p:nvPicPr>
          <p:cNvPr id="9227" name="Рисунок 2">
            <a:extLst>
              <a:ext uri="{FF2B5EF4-FFF2-40B4-BE49-F238E27FC236}">
                <a16:creationId xmlns:a16="http://schemas.microsoft.com/office/drawing/2014/main" id="{E7EA18E8-5364-1867-F091-BDE5F17D9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408113"/>
            <a:ext cx="8572500" cy="499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 descr="Large confetti">
            <a:extLst>
              <a:ext uri="{FF2B5EF4-FFF2-40B4-BE49-F238E27FC236}">
                <a16:creationId xmlns:a16="http://schemas.microsoft.com/office/drawing/2014/main" id="{1DA7E4E0-3C18-F11E-B84D-84B912029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10243" name="Rectangle 7">
            <a:extLst>
              <a:ext uri="{FF2B5EF4-FFF2-40B4-BE49-F238E27FC236}">
                <a16:creationId xmlns:a16="http://schemas.microsoft.com/office/drawing/2014/main" id="{33360B42-5D2F-F3CE-2120-749244062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0244" name="Rectangle 9">
            <a:extLst>
              <a:ext uri="{FF2B5EF4-FFF2-40B4-BE49-F238E27FC236}">
                <a16:creationId xmlns:a16="http://schemas.microsoft.com/office/drawing/2014/main" id="{1BCA52E7-9E4A-2BB5-0148-57D059992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0245" name="Rectangle 10">
            <a:extLst>
              <a:ext uri="{FF2B5EF4-FFF2-40B4-BE49-F238E27FC236}">
                <a16:creationId xmlns:a16="http://schemas.microsoft.com/office/drawing/2014/main" id="{9D65BC04-6B9F-E985-C2C6-1F1813BE4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Некоторые разложения в ряд Фурье</a:t>
            </a:r>
            <a:endParaRPr lang="ru-RU" altLang="ru-RU" sz="2800" b="1" i="1"/>
          </a:p>
        </p:txBody>
      </p:sp>
      <p:sp>
        <p:nvSpPr>
          <p:cNvPr id="10246" name="Text Box 15">
            <a:extLst>
              <a:ext uri="{FF2B5EF4-FFF2-40B4-BE49-F238E27FC236}">
                <a16:creationId xmlns:a16="http://schemas.microsoft.com/office/drawing/2014/main" id="{302F886A-3013-D99D-71F2-BEC147DC0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6400800"/>
            <a:ext cx="6429375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7.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0247" name="Rectangle 2">
            <a:extLst>
              <a:ext uri="{FF2B5EF4-FFF2-40B4-BE49-F238E27FC236}">
                <a16:creationId xmlns:a16="http://schemas.microsoft.com/office/drawing/2014/main" id="{F7F8C58E-804A-58B3-D5BC-1799ADCAA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0248" name="Rectangle 9">
            <a:extLst>
              <a:ext uri="{FF2B5EF4-FFF2-40B4-BE49-F238E27FC236}">
                <a16:creationId xmlns:a16="http://schemas.microsoft.com/office/drawing/2014/main" id="{90419458-99B3-7A25-D346-7E9ADFA44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7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160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ru-RU" altLang="ru-RU" sz="1600">
                <a:cs typeface="Times New Roman" panose="02020603050405020304" pitchFamily="18" charset="0"/>
              </a:rPr>
              <a:t>.</a:t>
            </a:r>
            <a:r>
              <a:rPr lang="ru-RU" altLang="ru-RU" sz="900"/>
              <a:t> </a:t>
            </a:r>
            <a:endParaRPr lang="ru-RU" altLang="ru-RU" sz="2400"/>
          </a:p>
        </p:txBody>
      </p:sp>
      <p:sp>
        <p:nvSpPr>
          <p:cNvPr id="10249" name="Rectangle 17">
            <a:extLst>
              <a:ext uri="{FF2B5EF4-FFF2-40B4-BE49-F238E27FC236}">
                <a16:creationId xmlns:a16="http://schemas.microsoft.com/office/drawing/2014/main" id="{DE1FA805-9B97-A852-C061-010AF8839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0250" name="Rectangle 20">
            <a:extLst>
              <a:ext uri="{FF2B5EF4-FFF2-40B4-BE49-F238E27FC236}">
                <a16:creationId xmlns:a16="http://schemas.microsoft.com/office/drawing/2014/main" id="{244114C4-8067-D094-8EE0-834427133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pic>
        <p:nvPicPr>
          <p:cNvPr id="10251" name="Рисунок 3">
            <a:extLst>
              <a:ext uri="{FF2B5EF4-FFF2-40B4-BE49-F238E27FC236}">
                <a16:creationId xmlns:a16="http://schemas.microsoft.com/office/drawing/2014/main" id="{04C7CEE7-3DCF-2825-F8D9-282FC1250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473200"/>
            <a:ext cx="8404225" cy="492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 descr="Large confetti">
            <a:extLst>
              <a:ext uri="{FF2B5EF4-FFF2-40B4-BE49-F238E27FC236}">
                <a16:creationId xmlns:a16="http://schemas.microsoft.com/office/drawing/2014/main" id="{5BD2DA7E-55E8-61F1-3BDC-D020E8C6A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11267" name="Rectangle 7">
            <a:extLst>
              <a:ext uri="{FF2B5EF4-FFF2-40B4-BE49-F238E27FC236}">
                <a16:creationId xmlns:a16="http://schemas.microsoft.com/office/drawing/2014/main" id="{056137A7-5B4A-A616-CB33-E7BBA81E3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1268" name="Rectangle 9">
            <a:extLst>
              <a:ext uri="{FF2B5EF4-FFF2-40B4-BE49-F238E27FC236}">
                <a16:creationId xmlns:a16="http://schemas.microsoft.com/office/drawing/2014/main" id="{A82E956B-8D20-06FE-A4E6-03FBF473D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1269" name="Rectangle 10">
            <a:extLst>
              <a:ext uri="{FF2B5EF4-FFF2-40B4-BE49-F238E27FC236}">
                <a16:creationId xmlns:a16="http://schemas.microsoft.com/office/drawing/2014/main" id="{8ADD3118-FE2A-64D8-35FD-5746811E7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Некоторые разложения в ряд Фурье</a:t>
            </a:r>
            <a:endParaRPr lang="ru-RU" altLang="ru-RU" sz="2800" b="1" i="1"/>
          </a:p>
        </p:txBody>
      </p:sp>
      <p:sp>
        <p:nvSpPr>
          <p:cNvPr id="11270" name="Text Box 15">
            <a:extLst>
              <a:ext uri="{FF2B5EF4-FFF2-40B4-BE49-F238E27FC236}">
                <a16:creationId xmlns:a16="http://schemas.microsoft.com/office/drawing/2014/main" id="{3DF56010-1E46-26B0-8D04-28459895A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6400800"/>
            <a:ext cx="6429375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7.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1271" name="Rectangle 2">
            <a:extLst>
              <a:ext uri="{FF2B5EF4-FFF2-40B4-BE49-F238E27FC236}">
                <a16:creationId xmlns:a16="http://schemas.microsoft.com/office/drawing/2014/main" id="{8B415FA3-BE64-464A-D22E-43F95CBEC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1272" name="Rectangle 9">
            <a:extLst>
              <a:ext uri="{FF2B5EF4-FFF2-40B4-BE49-F238E27FC236}">
                <a16:creationId xmlns:a16="http://schemas.microsoft.com/office/drawing/2014/main" id="{61A429E7-EE1F-29BE-F150-71D52A9CB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7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160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ru-RU" altLang="ru-RU" sz="1600">
                <a:cs typeface="Times New Roman" panose="02020603050405020304" pitchFamily="18" charset="0"/>
              </a:rPr>
              <a:t>.</a:t>
            </a:r>
            <a:r>
              <a:rPr lang="ru-RU" altLang="ru-RU" sz="900"/>
              <a:t> </a:t>
            </a:r>
            <a:endParaRPr lang="ru-RU" altLang="ru-RU" sz="2400"/>
          </a:p>
        </p:txBody>
      </p:sp>
      <p:sp>
        <p:nvSpPr>
          <p:cNvPr id="11273" name="Rectangle 17">
            <a:extLst>
              <a:ext uri="{FF2B5EF4-FFF2-40B4-BE49-F238E27FC236}">
                <a16:creationId xmlns:a16="http://schemas.microsoft.com/office/drawing/2014/main" id="{39EFFCCF-71E9-F5A7-4E50-2479A0D5F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1274" name="Rectangle 20">
            <a:extLst>
              <a:ext uri="{FF2B5EF4-FFF2-40B4-BE49-F238E27FC236}">
                <a16:creationId xmlns:a16="http://schemas.microsoft.com/office/drawing/2014/main" id="{0D8FC730-B55C-7516-8191-37D37D0FB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pic>
        <p:nvPicPr>
          <p:cNvPr id="11275" name="Рисунок 2">
            <a:extLst>
              <a:ext uri="{FF2B5EF4-FFF2-40B4-BE49-F238E27FC236}">
                <a16:creationId xmlns:a16="http://schemas.microsoft.com/office/drawing/2014/main" id="{F30D10CB-935A-F034-03D1-8A20529D7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1609725"/>
            <a:ext cx="8559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 descr="Large confetti">
            <a:extLst>
              <a:ext uri="{FF2B5EF4-FFF2-40B4-BE49-F238E27FC236}">
                <a16:creationId xmlns:a16="http://schemas.microsoft.com/office/drawing/2014/main" id="{39186814-CDB2-0D3F-6BD3-DFD841260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12291" name="Rectangle 7">
            <a:extLst>
              <a:ext uri="{FF2B5EF4-FFF2-40B4-BE49-F238E27FC236}">
                <a16:creationId xmlns:a16="http://schemas.microsoft.com/office/drawing/2014/main" id="{3CD62AA7-A32F-3DCC-A687-B11962FD7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2292" name="Rectangle 9">
            <a:extLst>
              <a:ext uri="{FF2B5EF4-FFF2-40B4-BE49-F238E27FC236}">
                <a16:creationId xmlns:a16="http://schemas.microsoft.com/office/drawing/2014/main" id="{A9844B33-A1AE-E38D-C333-134D09237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2293" name="Rectangle 10">
            <a:extLst>
              <a:ext uri="{FF2B5EF4-FFF2-40B4-BE49-F238E27FC236}">
                <a16:creationId xmlns:a16="http://schemas.microsoft.com/office/drawing/2014/main" id="{40AB8443-B66B-43BA-46B9-B23FB9398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Сигналы и их спектры</a:t>
            </a:r>
            <a:endParaRPr lang="ru-RU" altLang="ru-RU" sz="2800" b="1" i="1"/>
          </a:p>
        </p:txBody>
      </p:sp>
      <p:sp>
        <p:nvSpPr>
          <p:cNvPr id="12294" name="Text Box 15">
            <a:extLst>
              <a:ext uri="{FF2B5EF4-FFF2-40B4-BE49-F238E27FC236}">
                <a16:creationId xmlns:a16="http://schemas.microsoft.com/office/drawing/2014/main" id="{A47FE23B-9E75-15C0-BF9A-9FC645002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6400800"/>
            <a:ext cx="6429375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7.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2295" name="Rectangle 2">
            <a:extLst>
              <a:ext uri="{FF2B5EF4-FFF2-40B4-BE49-F238E27FC236}">
                <a16:creationId xmlns:a16="http://schemas.microsoft.com/office/drawing/2014/main" id="{3E332CF0-C48C-2994-9017-E27577B93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2296" name="Rectangle 9">
            <a:extLst>
              <a:ext uri="{FF2B5EF4-FFF2-40B4-BE49-F238E27FC236}">
                <a16:creationId xmlns:a16="http://schemas.microsoft.com/office/drawing/2014/main" id="{D902A85F-F3A4-69D0-A41C-0672F8C32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7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160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ru-RU" altLang="ru-RU" sz="1600">
                <a:cs typeface="Times New Roman" panose="02020603050405020304" pitchFamily="18" charset="0"/>
              </a:rPr>
              <a:t>.</a:t>
            </a:r>
            <a:r>
              <a:rPr lang="ru-RU" altLang="ru-RU" sz="900"/>
              <a:t> </a:t>
            </a:r>
            <a:endParaRPr lang="ru-RU" altLang="ru-RU" sz="2400"/>
          </a:p>
        </p:txBody>
      </p:sp>
      <p:sp>
        <p:nvSpPr>
          <p:cNvPr id="12297" name="Rectangle 17">
            <a:extLst>
              <a:ext uri="{FF2B5EF4-FFF2-40B4-BE49-F238E27FC236}">
                <a16:creationId xmlns:a16="http://schemas.microsoft.com/office/drawing/2014/main" id="{F037918D-46B1-3769-CE06-4288CE258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2298" name="Rectangle 20">
            <a:extLst>
              <a:ext uri="{FF2B5EF4-FFF2-40B4-BE49-F238E27FC236}">
                <a16:creationId xmlns:a16="http://schemas.microsoft.com/office/drawing/2014/main" id="{C7A84575-0C4D-429F-FD6D-EEBDA2676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pic>
        <p:nvPicPr>
          <p:cNvPr id="12299" name="Рисунок 3">
            <a:extLst>
              <a:ext uri="{FF2B5EF4-FFF2-40B4-BE49-F238E27FC236}">
                <a16:creationId xmlns:a16="http://schemas.microsoft.com/office/drawing/2014/main" id="{6C72E4AC-589A-F8CD-A585-0F1499C7D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66838"/>
            <a:ext cx="8077200" cy="503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 descr="Large confetti">
            <a:extLst>
              <a:ext uri="{FF2B5EF4-FFF2-40B4-BE49-F238E27FC236}">
                <a16:creationId xmlns:a16="http://schemas.microsoft.com/office/drawing/2014/main" id="{34ACFF0A-0354-3E87-3773-ED496932A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13315" name="Rectangle 7">
            <a:extLst>
              <a:ext uri="{FF2B5EF4-FFF2-40B4-BE49-F238E27FC236}">
                <a16:creationId xmlns:a16="http://schemas.microsoft.com/office/drawing/2014/main" id="{3A183BDE-F09F-7D6E-CC43-973760A52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3316" name="Rectangle 9">
            <a:extLst>
              <a:ext uri="{FF2B5EF4-FFF2-40B4-BE49-F238E27FC236}">
                <a16:creationId xmlns:a16="http://schemas.microsoft.com/office/drawing/2014/main" id="{1E0AF3C8-E609-D2BA-C2CD-9E32B8BAF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3317" name="Rectangle 10">
            <a:extLst>
              <a:ext uri="{FF2B5EF4-FFF2-40B4-BE49-F238E27FC236}">
                <a16:creationId xmlns:a16="http://schemas.microsoft.com/office/drawing/2014/main" id="{B4942A5A-7569-F8A2-AA96-AD6501116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Сигналы и их спектры</a:t>
            </a:r>
            <a:endParaRPr lang="ru-RU" altLang="ru-RU" sz="2800" b="1" i="1"/>
          </a:p>
        </p:txBody>
      </p:sp>
      <p:sp>
        <p:nvSpPr>
          <p:cNvPr id="13318" name="Text Box 15">
            <a:extLst>
              <a:ext uri="{FF2B5EF4-FFF2-40B4-BE49-F238E27FC236}">
                <a16:creationId xmlns:a16="http://schemas.microsoft.com/office/drawing/2014/main" id="{EF2A384E-9BB9-215B-E2DB-6B1245D40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6400800"/>
            <a:ext cx="6429375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7.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3319" name="Rectangle 2">
            <a:extLst>
              <a:ext uri="{FF2B5EF4-FFF2-40B4-BE49-F238E27FC236}">
                <a16:creationId xmlns:a16="http://schemas.microsoft.com/office/drawing/2014/main" id="{25D629C7-F30B-31D1-B878-3452501CB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3320" name="Rectangle 9">
            <a:extLst>
              <a:ext uri="{FF2B5EF4-FFF2-40B4-BE49-F238E27FC236}">
                <a16:creationId xmlns:a16="http://schemas.microsoft.com/office/drawing/2014/main" id="{5815F2F9-2FCD-14C1-7CAD-442C521F2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7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160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ru-RU" altLang="ru-RU" sz="1600">
                <a:cs typeface="Times New Roman" panose="02020603050405020304" pitchFamily="18" charset="0"/>
              </a:rPr>
              <a:t>.</a:t>
            </a:r>
            <a:r>
              <a:rPr lang="ru-RU" altLang="ru-RU" sz="900"/>
              <a:t> </a:t>
            </a:r>
            <a:endParaRPr lang="ru-RU" altLang="ru-RU" sz="2400"/>
          </a:p>
        </p:txBody>
      </p:sp>
      <p:sp>
        <p:nvSpPr>
          <p:cNvPr id="13321" name="Rectangle 17">
            <a:extLst>
              <a:ext uri="{FF2B5EF4-FFF2-40B4-BE49-F238E27FC236}">
                <a16:creationId xmlns:a16="http://schemas.microsoft.com/office/drawing/2014/main" id="{E9330725-D98B-2508-6127-D228D3287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3322" name="Rectangle 20">
            <a:extLst>
              <a:ext uri="{FF2B5EF4-FFF2-40B4-BE49-F238E27FC236}">
                <a16:creationId xmlns:a16="http://schemas.microsoft.com/office/drawing/2014/main" id="{0D75CFCE-6B82-610E-02D1-6674C7193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pic>
        <p:nvPicPr>
          <p:cNvPr id="13323" name="Рисунок 2">
            <a:extLst>
              <a:ext uri="{FF2B5EF4-FFF2-40B4-BE49-F238E27FC236}">
                <a16:creationId xmlns:a16="http://schemas.microsoft.com/office/drawing/2014/main" id="{559E333A-4967-7EDB-D35C-0DC81C267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700213"/>
            <a:ext cx="8207375" cy="423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 descr="Large confetti">
            <a:extLst>
              <a:ext uri="{FF2B5EF4-FFF2-40B4-BE49-F238E27FC236}">
                <a16:creationId xmlns:a16="http://schemas.microsoft.com/office/drawing/2014/main" id="{B7F47EC0-7234-6562-B2C3-376A1DD6F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14339" name="Rectangle 7">
            <a:extLst>
              <a:ext uri="{FF2B5EF4-FFF2-40B4-BE49-F238E27FC236}">
                <a16:creationId xmlns:a16="http://schemas.microsoft.com/office/drawing/2014/main" id="{1E8AD852-FF8E-1847-5DE1-75F399774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4340" name="Rectangle 9">
            <a:extLst>
              <a:ext uri="{FF2B5EF4-FFF2-40B4-BE49-F238E27FC236}">
                <a16:creationId xmlns:a16="http://schemas.microsoft.com/office/drawing/2014/main" id="{D6DF3FA2-5F08-6B21-F9D2-E259C24AE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4341" name="Text Box 15">
            <a:extLst>
              <a:ext uri="{FF2B5EF4-FFF2-40B4-BE49-F238E27FC236}">
                <a16:creationId xmlns:a16="http://schemas.microsoft.com/office/drawing/2014/main" id="{E5F8F3B8-41EE-AB45-7C52-52E784D3B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6400800"/>
            <a:ext cx="6429375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7.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55A8DB72-F6F2-7CD7-769C-4F4F41FF0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052D765C-155A-E1A4-87F6-F8CF4638D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4344" name="Rectangle 9">
            <a:extLst>
              <a:ext uri="{FF2B5EF4-FFF2-40B4-BE49-F238E27FC236}">
                <a16:creationId xmlns:a16="http://schemas.microsoft.com/office/drawing/2014/main" id="{053088C4-8B09-3DF7-DE19-7970003D2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4345" name="Прямоугольник 16">
            <a:extLst>
              <a:ext uri="{FF2B5EF4-FFF2-40B4-BE49-F238E27FC236}">
                <a16:creationId xmlns:a16="http://schemas.microsoft.com/office/drawing/2014/main" id="{7D11DF74-156A-5C50-1DAF-966FB98BE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Преобразование Фурье для сигналов дискретного времени</a:t>
            </a:r>
          </a:p>
        </p:txBody>
      </p:sp>
      <p:sp>
        <p:nvSpPr>
          <p:cNvPr id="14346" name="Rectangle 11">
            <a:extLst>
              <a:ext uri="{FF2B5EF4-FFF2-40B4-BE49-F238E27FC236}">
                <a16:creationId xmlns:a16="http://schemas.microsoft.com/office/drawing/2014/main" id="{ADDC5981-A1CB-8441-9EED-304319AB0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14347" name="Object 10">
            <a:extLst>
              <a:ext uri="{FF2B5EF4-FFF2-40B4-BE49-F238E27FC236}">
                <a16:creationId xmlns:a16="http://schemas.microsoft.com/office/drawing/2014/main" id="{FFDF7C2C-09E1-2575-FF85-E35310C4A4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" y="2000250"/>
          <a:ext cx="32575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08200" imgH="596900" progId="Equation.DSMT4">
                  <p:embed/>
                </p:oleObj>
              </mc:Choice>
              <mc:Fallback>
                <p:oleObj name="Equation" r:id="rId3" imgW="2108200" imgH="5969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2000250"/>
                        <a:ext cx="32575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Rectangle 13">
            <a:extLst>
              <a:ext uri="{FF2B5EF4-FFF2-40B4-BE49-F238E27FC236}">
                <a16:creationId xmlns:a16="http://schemas.microsoft.com/office/drawing/2014/main" id="{551C0C95-9063-C301-B422-590540C62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14349" name="Object 12">
            <a:extLst>
              <a:ext uri="{FF2B5EF4-FFF2-40B4-BE49-F238E27FC236}">
                <a16:creationId xmlns:a16="http://schemas.microsoft.com/office/drawing/2014/main" id="{EA018FFD-4D8B-2366-0116-634817BD74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4938" y="2071688"/>
          <a:ext cx="33782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03500" imgH="673100" progId="Equation.DSMT4">
                  <p:embed/>
                </p:oleObj>
              </mc:Choice>
              <mc:Fallback>
                <p:oleObj name="Equation" r:id="rId5" imgW="2603500" imgH="6731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2071688"/>
                        <a:ext cx="33782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0" name="Rectangle 22">
            <a:extLst>
              <a:ext uri="{FF2B5EF4-FFF2-40B4-BE49-F238E27FC236}">
                <a16:creationId xmlns:a16="http://schemas.microsoft.com/office/drawing/2014/main" id="{2CD28789-1918-0492-007D-EDBC64D29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4351" name="Rectangle 27">
            <a:extLst>
              <a:ext uri="{FF2B5EF4-FFF2-40B4-BE49-F238E27FC236}">
                <a16:creationId xmlns:a16="http://schemas.microsoft.com/office/drawing/2014/main" id="{D6847073-752D-BECF-DC2E-8F24554BF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4352" name="Rectangle 30">
            <a:extLst>
              <a:ext uri="{FF2B5EF4-FFF2-40B4-BE49-F238E27FC236}">
                <a16:creationId xmlns:a16="http://schemas.microsoft.com/office/drawing/2014/main" id="{19D48ADE-42F7-77C0-B3AB-B5AAEA90E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23975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49263"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4353" name="Rectangle 31">
            <a:extLst>
              <a:ext uri="{FF2B5EF4-FFF2-40B4-BE49-F238E27FC236}">
                <a16:creationId xmlns:a16="http://schemas.microsoft.com/office/drawing/2014/main" id="{5E1B26A4-1B17-0EA0-58B7-78395C6ED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2415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49263"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14354" name="Object 32">
            <a:extLst>
              <a:ext uri="{FF2B5EF4-FFF2-40B4-BE49-F238E27FC236}">
                <a16:creationId xmlns:a16="http://schemas.microsoft.com/office/drawing/2014/main" id="{48BC8F4F-EE62-DCE3-E7CA-BA8D8E20DB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1875" y="2928938"/>
          <a:ext cx="35496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37589" imgH="431613" progId="Equation.DSMT4">
                  <p:embed/>
                </p:oleObj>
              </mc:Choice>
              <mc:Fallback>
                <p:oleObj name="Equation" r:id="rId7" imgW="1637589" imgH="431613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2928938"/>
                        <a:ext cx="354965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5" name="Rectangle 34">
            <a:extLst>
              <a:ext uri="{FF2B5EF4-FFF2-40B4-BE49-F238E27FC236}">
                <a16:creationId xmlns:a16="http://schemas.microsoft.com/office/drawing/2014/main" id="{317DDF21-20F6-EF9C-6970-780419C4F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14356" name="Object 33">
            <a:extLst>
              <a:ext uri="{FF2B5EF4-FFF2-40B4-BE49-F238E27FC236}">
                <a16:creationId xmlns:a16="http://schemas.microsoft.com/office/drawing/2014/main" id="{0C72C131-752B-C3B4-DCC4-5B087EF395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3" y="3071813"/>
          <a:ext cx="214312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63225" imgH="253890" progId="Equation.DSMT4">
                  <p:embed/>
                </p:oleObj>
              </mc:Choice>
              <mc:Fallback>
                <p:oleObj name="Equation" r:id="rId9" imgW="863225" imgH="25389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3071813"/>
                        <a:ext cx="2143125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Rectangle 23">
            <a:extLst>
              <a:ext uri="{FF2B5EF4-FFF2-40B4-BE49-F238E27FC236}">
                <a16:creationId xmlns:a16="http://schemas.microsoft.com/office/drawing/2014/main" id="{6C0153F3-F7D1-59A2-2575-4646ABE66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4358" name="Rectangle 25">
            <a:extLst>
              <a:ext uri="{FF2B5EF4-FFF2-40B4-BE49-F238E27FC236}">
                <a16:creationId xmlns:a16="http://schemas.microsoft.com/office/drawing/2014/main" id="{227DE95B-B614-B411-2437-9E608D453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14359" name="Object 24">
            <a:extLst>
              <a:ext uri="{FF2B5EF4-FFF2-40B4-BE49-F238E27FC236}">
                <a16:creationId xmlns:a16="http://schemas.microsoft.com/office/drawing/2014/main" id="{6B3FA73D-6C2F-7694-7A24-104C946E6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4000500"/>
          <a:ext cx="8848725" cy="164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1" imgW="4927600" imgH="914400" progId="Equation.3">
                  <p:embed/>
                </p:oleObj>
              </mc:Choice>
              <mc:Fallback>
                <p:oleObj name="Формула" r:id="rId11" imgW="4927600" imgH="9144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000500"/>
                        <a:ext cx="8848725" cy="164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 descr="Large confetti">
            <a:extLst>
              <a:ext uri="{FF2B5EF4-FFF2-40B4-BE49-F238E27FC236}">
                <a16:creationId xmlns:a16="http://schemas.microsoft.com/office/drawing/2014/main" id="{825C4046-1D19-ACDA-F89C-0613B9274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15363" name="Rectangle 7">
            <a:extLst>
              <a:ext uri="{FF2B5EF4-FFF2-40B4-BE49-F238E27FC236}">
                <a16:creationId xmlns:a16="http://schemas.microsoft.com/office/drawing/2014/main" id="{2A6015A9-7560-5284-72FA-0DCA2A5A7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5364" name="Rectangle 9">
            <a:extLst>
              <a:ext uri="{FF2B5EF4-FFF2-40B4-BE49-F238E27FC236}">
                <a16:creationId xmlns:a16="http://schemas.microsoft.com/office/drawing/2014/main" id="{CE5E8992-4738-1919-054A-CFD1209A5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5365" name="Rectangle 2">
            <a:extLst>
              <a:ext uri="{FF2B5EF4-FFF2-40B4-BE49-F238E27FC236}">
                <a16:creationId xmlns:a16="http://schemas.microsoft.com/office/drawing/2014/main" id="{2910E0EC-FCFC-C1AC-7331-E534F7F2C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5366" name="Rectangle 7">
            <a:extLst>
              <a:ext uri="{FF2B5EF4-FFF2-40B4-BE49-F238E27FC236}">
                <a16:creationId xmlns:a16="http://schemas.microsoft.com/office/drawing/2014/main" id="{0EDE4610-3E02-9E3F-D82D-A27A884E3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5367" name="Rectangle 9">
            <a:extLst>
              <a:ext uri="{FF2B5EF4-FFF2-40B4-BE49-F238E27FC236}">
                <a16:creationId xmlns:a16="http://schemas.microsoft.com/office/drawing/2014/main" id="{C45CF6EF-0860-D48B-F5C6-79B6E63E2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5368" name="Rectangle 11">
            <a:extLst>
              <a:ext uri="{FF2B5EF4-FFF2-40B4-BE49-F238E27FC236}">
                <a16:creationId xmlns:a16="http://schemas.microsoft.com/office/drawing/2014/main" id="{3C76D288-C69F-C3FE-7EC7-D28D25402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5369" name="Rectangle 13">
            <a:extLst>
              <a:ext uri="{FF2B5EF4-FFF2-40B4-BE49-F238E27FC236}">
                <a16:creationId xmlns:a16="http://schemas.microsoft.com/office/drawing/2014/main" id="{FC6E9385-5FB8-9707-5DC1-3E228E982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5370" name="Rectangle 22">
            <a:extLst>
              <a:ext uri="{FF2B5EF4-FFF2-40B4-BE49-F238E27FC236}">
                <a16:creationId xmlns:a16="http://schemas.microsoft.com/office/drawing/2014/main" id="{91C92F98-30FF-2A3C-D052-9C006DE23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15371" name="Object 5">
            <a:extLst>
              <a:ext uri="{FF2B5EF4-FFF2-40B4-BE49-F238E27FC236}">
                <a16:creationId xmlns:a16="http://schemas.microsoft.com/office/drawing/2014/main" id="{6CA7B748-1978-E1AC-3ED7-E1A7FF37D4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500188"/>
          <a:ext cx="8907463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283200" imgH="1905000" progId="Equation.DSMT4">
                  <p:embed/>
                </p:oleObj>
              </mc:Choice>
              <mc:Fallback>
                <p:oleObj name="Equation" r:id="rId3" imgW="5283200" imgH="1905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00188"/>
                        <a:ext cx="8907463" cy="321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Rectangle 27">
            <a:extLst>
              <a:ext uri="{FF2B5EF4-FFF2-40B4-BE49-F238E27FC236}">
                <a16:creationId xmlns:a16="http://schemas.microsoft.com/office/drawing/2014/main" id="{E6109BFF-26BC-1D44-64F6-07316BF2F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5373" name="Rectangle 30">
            <a:extLst>
              <a:ext uri="{FF2B5EF4-FFF2-40B4-BE49-F238E27FC236}">
                <a16:creationId xmlns:a16="http://schemas.microsoft.com/office/drawing/2014/main" id="{3C4833CA-CEB2-BF91-0A02-6C01037B1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23975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49263"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5374" name="Rectangle 31">
            <a:extLst>
              <a:ext uri="{FF2B5EF4-FFF2-40B4-BE49-F238E27FC236}">
                <a16:creationId xmlns:a16="http://schemas.microsoft.com/office/drawing/2014/main" id="{27B8CA3E-B86D-6E08-2BF7-5DE8C6E6F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2415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49263"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5375" name="Rectangle 8">
            <a:extLst>
              <a:ext uri="{FF2B5EF4-FFF2-40B4-BE49-F238E27FC236}">
                <a16:creationId xmlns:a16="http://schemas.microsoft.com/office/drawing/2014/main" id="{9E493504-F3F3-A8B6-5693-2A7B2358A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15376" name="Object 7">
            <a:extLst>
              <a:ext uri="{FF2B5EF4-FFF2-40B4-BE49-F238E27FC236}">
                <a16:creationId xmlns:a16="http://schemas.microsoft.com/office/drawing/2014/main" id="{4A7E4EA1-A5AE-0014-F1BF-0D37EA9C3E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928688"/>
          <a:ext cx="35972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1500" imgH="215900" progId="Equation.DSMT4">
                  <p:embed/>
                </p:oleObj>
              </mc:Choice>
              <mc:Fallback>
                <p:oleObj name="Equation" r:id="rId5" imgW="1841500" imgH="215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928688"/>
                        <a:ext cx="35972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10">
            <a:extLst>
              <a:ext uri="{FF2B5EF4-FFF2-40B4-BE49-F238E27FC236}">
                <a16:creationId xmlns:a16="http://schemas.microsoft.com/office/drawing/2014/main" id="{C6CBD08A-CDB9-43BC-A4E5-4D70F299D6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1563" y="4857750"/>
          <a:ext cx="115093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2181" imgH="177646" progId="Equation.DSMT4">
                  <p:embed/>
                </p:oleObj>
              </mc:Choice>
              <mc:Fallback>
                <p:oleObj name="Equation" r:id="rId7" imgW="482181" imgH="17764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4857750"/>
                        <a:ext cx="115093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Rectangle 11">
            <a:extLst>
              <a:ext uri="{FF2B5EF4-FFF2-40B4-BE49-F238E27FC236}">
                <a16:creationId xmlns:a16="http://schemas.microsoft.com/office/drawing/2014/main" id="{14552137-8977-8190-91CD-705681394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8625" y="4714875"/>
            <a:ext cx="1571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49263"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SzTx/>
              <a:buFontTx/>
              <a:buNone/>
            </a:pPr>
            <a:r>
              <a:rPr lang="ru-RU" altLang="ru-RU">
                <a:cs typeface="Times New Roman" panose="02020603050405020304" pitchFamily="18" charset="0"/>
              </a:rPr>
              <a:t>Если</a:t>
            </a:r>
            <a:r>
              <a:rPr lang="ru-RU" altLang="ru-RU" sz="1400">
                <a:cs typeface="Times New Roman" panose="02020603050405020304" pitchFamily="18" charset="0"/>
              </a:rPr>
              <a:t> </a:t>
            </a:r>
            <a:endParaRPr lang="ru-RU" altLang="ru-RU" sz="2400"/>
          </a:p>
        </p:txBody>
      </p:sp>
      <p:sp>
        <p:nvSpPr>
          <p:cNvPr id="15379" name="Rectangle 12">
            <a:extLst>
              <a:ext uri="{FF2B5EF4-FFF2-40B4-BE49-F238E27FC236}">
                <a16:creationId xmlns:a16="http://schemas.microsoft.com/office/drawing/2014/main" id="{C4C57C49-24F6-2D41-D29A-008395228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4714875"/>
            <a:ext cx="741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49263"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ru-RU" altLang="ru-RU">
                <a:cs typeface="Times New Roman" panose="02020603050405020304" pitchFamily="18" charset="0"/>
              </a:rPr>
              <a:t>,</a:t>
            </a:r>
            <a:endParaRPr lang="ru-RU" altLang="ru-RU" sz="2400"/>
          </a:p>
        </p:txBody>
      </p:sp>
      <p:sp>
        <p:nvSpPr>
          <p:cNvPr id="15380" name="Text Box 15">
            <a:extLst>
              <a:ext uri="{FF2B5EF4-FFF2-40B4-BE49-F238E27FC236}">
                <a16:creationId xmlns:a16="http://schemas.microsoft.com/office/drawing/2014/main" id="{B7658C08-9285-635D-45CF-52C8AE004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sp>
        <p:nvSpPr>
          <p:cNvPr id="15381" name="Rectangle 23">
            <a:extLst>
              <a:ext uri="{FF2B5EF4-FFF2-40B4-BE49-F238E27FC236}">
                <a16:creationId xmlns:a16="http://schemas.microsoft.com/office/drawing/2014/main" id="{2F08731B-6596-B5A7-5D25-AC9FCDE3C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15382" name="Object 22">
            <a:extLst>
              <a:ext uri="{FF2B5EF4-FFF2-40B4-BE49-F238E27FC236}">
                <a16:creationId xmlns:a16="http://schemas.microsoft.com/office/drawing/2014/main" id="{65D1B850-55AA-05E4-1BB8-709F6C9789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3313" y="4786313"/>
          <a:ext cx="6702425" cy="135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9" imgW="4267200" imgH="863600" progId="Equation.3">
                  <p:embed/>
                </p:oleObj>
              </mc:Choice>
              <mc:Fallback>
                <p:oleObj name="Формула" r:id="rId9" imgW="4267200" imgH="863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313" y="4786313"/>
                        <a:ext cx="6702425" cy="1357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 descr="Large confetti">
            <a:extLst>
              <a:ext uri="{FF2B5EF4-FFF2-40B4-BE49-F238E27FC236}">
                <a16:creationId xmlns:a16="http://schemas.microsoft.com/office/drawing/2014/main" id="{0846D9A3-5228-E8EF-3588-7961FA3E3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16387" name="Rectangle 7">
            <a:extLst>
              <a:ext uri="{FF2B5EF4-FFF2-40B4-BE49-F238E27FC236}">
                <a16:creationId xmlns:a16="http://schemas.microsoft.com/office/drawing/2014/main" id="{40BC1EEB-06CF-3DE7-63A8-9F7BCA31E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6388" name="Rectangle 9">
            <a:extLst>
              <a:ext uri="{FF2B5EF4-FFF2-40B4-BE49-F238E27FC236}">
                <a16:creationId xmlns:a16="http://schemas.microsoft.com/office/drawing/2014/main" id="{A9178A2A-3B58-B35B-DA8E-EB19BD46D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E76E0049-8F05-E642-7F7F-E104C83AA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6390" name="Rectangle 7">
            <a:extLst>
              <a:ext uri="{FF2B5EF4-FFF2-40B4-BE49-F238E27FC236}">
                <a16:creationId xmlns:a16="http://schemas.microsoft.com/office/drawing/2014/main" id="{FD78C39E-6ADD-13CD-DA99-6D89F29D2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6391" name="Rectangle 9">
            <a:extLst>
              <a:ext uri="{FF2B5EF4-FFF2-40B4-BE49-F238E27FC236}">
                <a16:creationId xmlns:a16="http://schemas.microsoft.com/office/drawing/2014/main" id="{3AC2B3B2-6AF8-6B01-24AB-929C704F5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6392" name="Rectangle 11">
            <a:extLst>
              <a:ext uri="{FF2B5EF4-FFF2-40B4-BE49-F238E27FC236}">
                <a16:creationId xmlns:a16="http://schemas.microsoft.com/office/drawing/2014/main" id="{BC065878-1181-7B6F-A60D-823AA25C0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6393" name="Rectangle 13">
            <a:extLst>
              <a:ext uri="{FF2B5EF4-FFF2-40B4-BE49-F238E27FC236}">
                <a16:creationId xmlns:a16="http://schemas.microsoft.com/office/drawing/2014/main" id="{14268A1F-2D0B-4E4F-D475-86420D52D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6394" name="Прямоугольник 21">
            <a:extLst>
              <a:ext uri="{FF2B5EF4-FFF2-40B4-BE49-F238E27FC236}">
                <a16:creationId xmlns:a16="http://schemas.microsoft.com/office/drawing/2014/main" id="{826D685D-7797-1663-9A6E-B4204E19F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Дискретное преобразование Фурье (ДПФ, </a:t>
            </a:r>
            <a:r>
              <a:rPr lang="en-US" altLang="ru-RU" b="1" i="1"/>
              <a:t>DFT</a:t>
            </a:r>
            <a:r>
              <a:rPr lang="ru-RU" altLang="ru-RU" b="1"/>
              <a:t>)</a:t>
            </a:r>
          </a:p>
        </p:txBody>
      </p:sp>
      <p:graphicFrame>
        <p:nvGraphicFramePr>
          <p:cNvPr id="16395" name="Object 16">
            <a:extLst>
              <a:ext uri="{FF2B5EF4-FFF2-40B4-BE49-F238E27FC236}">
                <a16:creationId xmlns:a16="http://schemas.microsoft.com/office/drawing/2014/main" id="{29C77004-B199-A2FF-F0F3-8C887E3D3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571625"/>
          <a:ext cx="492918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1200" imgH="635000" progId="Equation.DSMT4">
                  <p:embed/>
                </p:oleObj>
              </mc:Choice>
              <mc:Fallback>
                <p:oleObj name="Equation" r:id="rId3" imgW="3251200" imgH="635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71625"/>
                        <a:ext cx="492918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14">
            <a:extLst>
              <a:ext uri="{FF2B5EF4-FFF2-40B4-BE49-F238E27FC236}">
                <a16:creationId xmlns:a16="http://schemas.microsoft.com/office/drawing/2014/main" id="{900B480F-E2E4-4F6D-79D7-1080E91CB3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" y="4071938"/>
          <a:ext cx="20002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7000" imgH="482600" progId="Equation.DSMT4">
                  <p:embed/>
                </p:oleObj>
              </mc:Choice>
              <mc:Fallback>
                <p:oleObj name="Equation" r:id="rId5" imgW="1397000" imgH="482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4071938"/>
                        <a:ext cx="200025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Rectangle 17">
            <a:extLst>
              <a:ext uri="{FF2B5EF4-FFF2-40B4-BE49-F238E27FC236}">
                <a16:creationId xmlns:a16="http://schemas.microsoft.com/office/drawing/2014/main" id="{2E6C53FB-F061-BC6B-E2CE-E45DEC9C1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49263"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sz="1600">
                <a:cs typeface="Times New Roman" panose="02020603050405020304" pitchFamily="18" charset="0"/>
              </a:rPr>
              <a:t>:</a:t>
            </a:r>
            <a:endParaRPr lang="ru-RU" altLang="ru-RU" sz="2400"/>
          </a:p>
        </p:txBody>
      </p:sp>
      <p:sp>
        <p:nvSpPr>
          <p:cNvPr id="16398" name="Rectangle 18">
            <a:extLst>
              <a:ext uri="{FF2B5EF4-FFF2-40B4-BE49-F238E27FC236}">
                <a16:creationId xmlns:a16="http://schemas.microsoft.com/office/drawing/2014/main" id="{ADECD3FB-60C1-119C-171F-102972236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688" y="1785938"/>
            <a:ext cx="2922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49263"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sz="2400">
                <a:cs typeface="Times New Roman" panose="02020603050405020304" pitchFamily="18" charset="0"/>
              </a:rPr>
              <a:t>,  </a:t>
            </a:r>
            <a:r>
              <a:rPr lang="en-US" altLang="ru-RU" sz="2400" i="1">
                <a:cs typeface="Times New Roman" panose="02020603050405020304" pitchFamily="18" charset="0"/>
              </a:rPr>
              <a:t>k </a:t>
            </a:r>
            <a:r>
              <a:rPr lang="ru-RU" altLang="ru-RU" sz="2400">
                <a:cs typeface="Times New Roman" panose="02020603050405020304" pitchFamily="18" charset="0"/>
              </a:rPr>
              <a:t>= 0, 1, …</a:t>
            </a:r>
            <a:r>
              <a:rPr lang="en-US" altLang="ru-RU" sz="2400" i="1">
                <a:cs typeface="Times New Roman" panose="02020603050405020304" pitchFamily="18" charset="0"/>
              </a:rPr>
              <a:t>N </a:t>
            </a:r>
            <a:r>
              <a:rPr lang="ru-RU" altLang="ru-RU" sz="2400">
                <a:solidFill>
                  <a:srgbClr val="000000"/>
                </a:solidFill>
                <a:cs typeface="Times New Roman" panose="02020603050405020304" pitchFamily="18" charset="0"/>
              </a:rPr>
              <a:t>– </a:t>
            </a:r>
            <a:r>
              <a:rPr lang="ru-RU" altLang="ru-RU" sz="2400">
                <a:cs typeface="Times New Roman" panose="02020603050405020304" pitchFamily="18" charset="0"/>
              </a:rPr>
              <a:t>1</a:t>
            </a:r>
            <a:endParaRPr lang="ru-RU" altLang="ru-RU" sz="2400"/>
          </a:p>
        </p:txBody>
      </p:sp>
      <p:sp>
        <p:nvSpPr>
          <p:cNvPr id="16399" name="Rectangle 19">
            <a:extLst>
              <a:ext uri="{FF2B5EF4-FFF2-40B4-BE49-F238E27FC236}">
                <a16:creationId xmlns:a16="http://schemas.microsoft.com/office/drawing/2014/main" id="{B0F19A93-AF9D-A880-85A0-4A58A58B0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688" y="2928938"/>
            <a:ext cx="29400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449263"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ru-RU" sz="2400">
                <a:cs typeface="Times New Roman" panose="02020603050405020304" pitchFamily="18" charset="0"/>
              </a:rPr>
              <a:t>,  </a:t>
            </a:r>
            <a:r>
              <a:rPr lang="en-US" altLang="ru-RU" sz="2400" i="1">
                <a:cs typeface="Times New Roman" panose="02020603050405020304" pitchFamily="18" charset="0"/>
              </a:rPr>
              <a:t>n </a:t>
            </a:r>
            <a:r>
              <a:rPr lang="en-US" altLang="ru-RU" sz="2400">
                <a:cs typeface="Times New Roman" panose="02020603050405020304" pitchFamily="18" charset="0"/>
              </a:rPr>
              <a:t>= 0, 1, …</a:t>
            </a:r>
            <a:r>
              <a:rPr lang="en-US" altLang="ru-RU" sz="2400" i="1">
                <a:cs typeface="Times New Roman" panose="02020603050405020304" pitchFamily="18" charset="0"/>
              </a:rPr>
              <a:t>N </a:t>
            </a:r>
            <a:r>
              <a:rPr lang="en-US" altLang="ru-RU" sz="2400">
                <a:solidFill>
                  <a:srgbClr val="000000"/>
                </a:solidFill>
                <a:cs typeface="Times New Roman" panose="02020603050405020304" pitchFamily="18" charset="0"/>
              </a:rPr>
              <a:t>– </a:t>
            </a:r>
            <a:r>
              <a:rPr lang="en-US" altLang="ru-RU" sz="2400">
                <a:cs typeface="Times New Roman" panose="02020603050405020304" pitchFamily="18" charset="0"/>
              </a:rPr>
              <a:t>1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sz="1600">
                <a:cs typeface="Times New Roman" panose="02020603050405020304" pitchFamily="18" charset="0"/>
              </a:rPr>
              <a:t> </a:t>
            </a:r>
            <a:endParaRPr lang="ru-RU" altLang="ru-RU" sz="2400"/>
          </a:p>
        </p:txBody>
      </p:sp>
      <p:sp>
        <p:nvSpPr>
          <p:cNvPr id="16400" name="Rectangle 22">
            <a:extLst>
              <a:ext uri="{FF2B5EF4-FFF2-40B4-BE49-F238E27FC236}">
                <a16:creationId xmlns:a16="http://schemas.microsoft.com/office/drawing/2014/main" id="{EF057896-AA2F-04B7-6219-994C4E090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16401" name="Object 21">
            <a:extLst>
              <a:ext uri="{FF2B5EF4-FFF2-40B4-BE49-F238E27FC236}">
                <a16:creationId xmlns:a16="http://schemas.microsoft.com/office/drawing/2014/main" id="{7772C477-F5A3-F3F0-816C-11C940D58E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786063"/>
          <a:ext cx="492918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65400" imgH="457200" progId="Equation.3">
                  <p:embed/>
                </p:oleObj>
              </mc:Choice>
              <mc:Fallback>
                <p:oleObj name="Equation" r:id="rId7" imgW="2565400" imgH="457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786063"/>
                        <a:ext cx="4929188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Text Box 15">
            <a:extLst>
              <a:ext uri="{FF2B5EF4-FFF2-40B4-BE49-F238E27FC236}">
                <a16:creationId xmlns:a16="http://schemas.microsoft.com/office/drawing/2014/main" id="{744AEEEF-6254-0AC6-C321-D77E2C4B6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graphicFrame>
        <p:nvGraphicFramePr>
          <p:cNvPr id="16403" name="Object 10">
            <a:extLst>
              <a:ext uri="{FF2B5EF4-FFF2-40B4-BE49-F238E27FC236}">
                <a16:creationId xmlns:a16="http://schemas.microsoft.com/office/drawing/2014/main" id="{6BAB00F2-F523-CE7A-D67C-F4544F6444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7625" y="4357688"/>
          <a:ext cx="32575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08200" imgH="596900" progId="Equation.DSMT4">
                  <p:embed/>
                </p:oleObj>
              </mc:Choice>
              <mc:Fallback>
                <p:oleObj name="Equation" r:id="rId9" imgW="2108200" imgH="5969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4357688"/>
                        <a:ext cx="325755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 descr="Large confetti">
            <a:extLst>
              <a:ext uri="{FF2B5EF4-FFF2-40B4-BE49-F238E27FC236}">
                <a16:creationId xmlns:a16="http://schemas.microsoft.com/office/drawing/2014/main" id="{83DC0AEF-04CD-A543-EE99-4B54D764C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2E48541F-99E8-0FB2-7C4E-D990FCFA1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7412" name="Rectangle 9">
            <a:extLst>
              <a:ext uri="{FF2B5EF4-FFF2-40B4-BE49-F238E27FC236}">
                <a16:creationId xmlns:a16="http://schemas.microsoft.com/office/drawing/2014/main" id="{CA9864EE-5EC9-5A22-C500-18079A850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0D9A6F41-87C2-ABC3-457E-D5AFFA9CF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7414" name="Rectangle 7">
            <a:extLst>
              <a:ext uri="{FF2B5EF4-FFF2-40B4-BE49-F238E27FC236}">
                <a16:creationId xmlns:a16="http://schemas.microsoft.com/office/drawing/2014/main" id="{8BC420F3-DA97-DACB-0419-7ECC3B96A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7415" name="Rectangle 9">
            <a:extLst>
              <a:ext uri="{FF2B5EF4-FFF2-40B4-BE49-F238E27FC236}">
                <a16:creationId xmlns:a16="http://schemas.microsoft.com/office/drawing/2014/main" id="{D62203BA-F012-1587-4A3E-83DA8C99B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17416" name="Object 15">
            <a:extLst>
              <a:ext uri="{FF2B5EF4-FFF2-40B4-BE49-F238E27FC236}">
                <a16:creationId xmlns:a16="http://schemas.microsoft.com/office/drawing/2014/main" id="{691F9EE3-DF54-5233-1D5C-614B38BFC7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7400"/>
          <a:ext cx="114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114201" imgH="203024" progId="Equation.3">
                  <p:embed/>
                </p:oleObj>
              </mc:Choice>
              <mc:Fallback>
                <p:oleObj name="Формула" r:id="rId3" imgW="114201" imgH="20302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7400"/>
                        <a:ext cx="114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Прямоугольник 11">
            <a:extLst>
              <a:ext uri="{FF2B5EF4-FFF2-40B4-BE49-F238E27FC236}">
                <a16:creationId xmlns:a16="http://schemas.microsoft.com/office/drawing/2014/main" id="{360AD4C6-B77C-0890-4ECB-CEE56C26F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/>
              <a:t>Задача </a:t>
            </a:r>
            <a:r>
              <a:rPr lang="ru-RU" altLang="ru-RU" sz="2800" b="1"/>
              <a:t>аналитического продолжения функции</a:t>
            </a:r>
            <a:r>
              <a:rPr lang="ru-RU" altLang="ru-RU" sz="2800"/>
              <a:t>, определённой на некотором множестве, заключается в таком распространении определения этой функции на возможно более широкую область, при котором она была бы аналитической и в новой области. </a:t>
            </a:r>
          </a:p>
        </p:txBody>
      </p:sp>
      <p:sp>
        <p:nvSpPr>
          <p:cNvPr id="17418" name="Rectangle 16">
            <a:extLst>
              <a:ext uri="{FF2B5EF4-FFF2-40B4-BE49-F238E27FC236}">
                <a16:creationId xmlns:a16="http://schemas.microsoft.com/office/drawing/2014/main" id="{CAD2D319-840A-A14D-BE64-F7B57FEF9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5553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ru-RU" altLang="ru-RU" sz="2800" b="1">
                <a:cs typeface="Times New Roman" panose="02020603050405020304" pitchFamily="18" charset="0"/>
              </a:rPr>
              <a:t>Прямое преобразование Лапласа</a:t>
            </a:r>
            <a:endParaRPr lang="ru-RU" altLang="ru-RU" sz="2800" b="1"/>
          </a:p>
        </p:txBody>
      </p:sp>
      <p:sp>
        <p:nvSpPr>
          <p:cNvPr id="17419" name="Rectangle 20">
            <a:extLst>
              <a:ext uri="{FF2B5EF4-FFF2-40B4-BE49-F238E27FC236}">
                <a16:creationId xmlns:a16="http://schemas.microsoft.com/office/drawing/2014/main" id="{3658A138-A625-B58F-98F8-8A5A1FBF6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66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7420" name="Rectangle 23">
            <a:extLst>
              <a:ext uri="{FF2B5EF4-FFF2-40B4-BE49-F238E27FC236}">
                <a16:creationId xmlns:a16="http://schemas.microsoft.com/office/drawing/2014/main" id="{106A883F-86CA-95AB-76AA-D06C646FD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86250"/>
            <a:ext cx="9144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ru-RU" altLang="ru-RU" sz="2800" b="1">
                <a:cs typeface="Times New Roman" panose="02020603050405020304" pitchFamily="18" charset="0"/>
              </a:rPr>
              <a:t>Двустороннее преобразование Лапласа -</a:t>
            </a:r>
            <a:r>
              <a:rPr lang="ru-RU" altLang="ru-RU" sz="2800">
                <a:cs typeface="Times New Roman" panose="02020603050405020304" pitchFamily="18" charset="0"/>
              </a:rPr>
              <a:t>обобщение на случай задач, в которых для функции  </a:t>
            </a:r>
            <a:r>
              <a:rPr lang="en-US" altLang="ru-RU" sz="2800" i="1">
                <a:cs typeface="Times New Roman" panose="02020603050405020304" pitchFamily="18" charset="0"/>
              </a:rPr>
              <a:t>f(t)</a:t>
            </a:r>
            <a:r>
              <a:rPr lang="en-US" altLang="ru-RU" sz="2800">
                <a:cs typeface="Times New Roman" panose="02020603050405020304" pitchFamily="18" charset="0"/>
              </a:rPr>
              <a:t> </a:t>
            </a:r>
            <a:r>
              <a:rPr lang="ru-RU" altLang="ru-RU" sz="2800"/>
              <a:t>участвуют значения </a:t>
            </a:r>
            <a:r>
              <a:rPr lang="en-US" altLang="ru-RU" sz="2800" i="1"/>
              <a:t>t</a:t>
            </a:r>
            <a:r>
              <a:rPr lang="ru-RU" altLang="ru-RU" sz="2800"/>
              <a:t> &lt; 0</a:t>
            </a:r>
            <a:r>
              <a:rPr lang="en-US" altLang="ru-RU" sz="2800"/>
              <a:t>:</a:t>
            </a:r>
            <a:r>
              <a:rPr lang="ru-RU" altLang="ru-RU" sz="2800">
                <a:cs typeface="Times New Roman" panose="02020603050405020304" pitchFamily="18" charset="0"/>
              </a:rPr>
              <a:t> </a:t>
            </a:r>
            <a:endParaRPr lang="ru-RU" altLang="ru-RU" sz="2800"/>
          </a:p>
        </p:txBody>
      </p:sp>
      <p:graphicFrame>
        <p:nvGraphicFramePr>
          <p:cNvPr id="17421" name="Object 25">
            <a:extLst>
              <a:ext uri="{FF2B5EF4-FFF2-40B4-BE49-F238E27FC236}">
                <a16:creationId xmlns:a16="http://schemas.microsoft.com/office/drawing/2014/main" id="{B2847CA6-C9A6-7E2E-7311-0AAB327296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6063" y="3571875"/>
          <a:ext cx="221456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227" imgH="482391" progId="Equation.DSMT4">
                  <p:embed/>
                </p:oleObj>
              </mc:Choice>
              <mc:Fallback>
                <p:oleObj name="Equation" r:id="rId5" imgW="1320227" imgH="482391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3571875"/>
                        <a:ext cx="221456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26">
            <a:extLst>
              <a:ext uri="{FF2B5EF4-FFF2-40B4-BE49-F238E27FC236}">
                <a16:creationId xmlns:a16="http://schemas.microsoft.com/office/drawing/2014/main" id="{7ECC22F0-8833-86CB-83E9-74C92CD025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6063" y="5572125"/>
          <a:ext cx="2255837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46200" imgH="457200" progId="Equation.DSMT4">
                  <p:embed/>
                </p:oleObj>
              </mc:Choice>
              <mc:Fallback>
                <p:oleObj name="Equation" r:id="rId7" imgW="1346200" imgH="4572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5572125"/>
                        <a:ext cx="2255837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3" name="Text Box 15">
            <a:extLst>
              <a:ext uri="{FF2B5EF4-FFF2-40B4-BE49-F238E27FC236}">
                <a16:creationId xmlns:a16="http://schemas.microsoft.com/office/drawing/2014/main" id="{A3114748-825E-3A49-3232-34BC5AB41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 descr="Large confetti">
            <a:extLst>
              <a:ext uri="{FF2B5EF4-FFF2-40B4-BE49-F238E27FC236}">
                <a16:creationId xmlns:a16="http://schemas.microsoft.com/office/drawing/2014/main" id="{5724AFA5-1E21-CFA5-C5E9-61735449D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18435" name="Rectangle 7">
            <a:extLst>
              <a:ext uri="{FF2B5EF4-FFF2-40B4-BE49-F238E27FC236}">
                <a16:creationId xmlns:a16="http://schemas.microsoft.com/office/drawing/2014/main" id="{10EB90FF-D08E-EAB2-27EF-B8E98C6C3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8436" name="Rectangle 9">
            <a:extLst>
              <a:ext uri="{FF2B5EF4-FFF2-40B4-BE49-F238E27FC236}">
                <a16:creationId xmlns:a16="http://schemas.microsoft.com/office/drawing/2014/main" id="{5C4266C8-69D6-4DA9-480C-083B9D0ED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63C0F0FD-BA63-FC24-9256-01D5A101F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8438" name="Rectangle 7">
            <a:extLst>
              <a:ext uri="{FF2B5EF4-FFF2-40B4-BE49-F238E27FC236}">
                <a16:creationId xmlns:a16="http://schemas.microsoft.com/office/drawing/2014/main" id="{24545EE1-E305-8D08-5C6E-C29737194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8439" name="Прямоугольник 14">
            <a:extLst>
              <a:ext uri="{FF2B5EF4-FFF2-40B4-BE49-F238E27FC236}">
                <a16:creationId xmlns:a16="http://schemas.microsoft.com/office/drawing/2014/main" id="{20E18A84-B8AF-AEDA-D839-9B813B7C2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0125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Дискретное косинус-преобразование</a:t>
            </a:r>
          </a:p>
        </p:txBody>
      </p:sp>
      <p:sp>
        <p:nvSpPr>
          <p:cNvPr id="18440" name="Rectangle 9">
            <a:extLst>
              <a:ext uri="{FF2B5EF4-FFF2-40B4-BE49-F238E27FC236}">
                <a16:creationId xmlns:a16="http://schemas.microsoft.com/office/drawing/2014/main" id="{8151B810-47B0-0002-013E-5F28FD02B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18441" name="Object 15">
            <a:extLst>
              <a:ext uri="{FF2B5EF4-FFF2-40B4-BE49-F238E27FC236}">
                <a16:creationId xmlns:a16="http://schemas.microsoft.com/office/drawing/2014/main" id="{2A4D8E08-A7C6-8CBB-D61D-4CF40D7B7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7400"/>
          <a:ext cx="114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114201" imgH="203024" progId="Equation.3">
                  <p:embed/>
                </p:oleObj>
              </mc:Choice>
              <mc:Fallback>
                <p:oleObj name="Формула" r:id="rId3" imgW="114201" imgH="20302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7400"/>
                        <a:ext cx="114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6">
            <a:extLst>
              <a:ext uri="{FF2B5EF4-FFF2-40B4-BE49-F238E27FC236}">
                <a16:creationId xmlns:a16="http://schemas.microsoft.com/office/drawing/2014/main" id="{7692B175-896A-0B36-7DB9-BE1F33441E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643063"/>
          <a:ext cx="9144000" cy="489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54600" imgH="2705100" progId="Equation.DSMT4">
                  <p:embed/>
                </p:oleObj>
              </mc:Choice>
              <mc:Fallback>
                <p:oleObj name="Equation" r:id="rId5" imgW="5054600" imgH="27051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643063"/>
                        <a:ext cx="9144000" cy="489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Text Box 15">
            <a:extLst>
              <a:ext uri="{FF2B5EF4-FFF2-40B4-BE49-F238E27FC236}">
                <a16:creationId xmlns:a16="http://schemas.microsoft.com/office/drawing/2014/main" id="{05399943-A99F-3878-0975-BF53A2EE0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 descr="Large confetti">
            <a:extLst>
              <a:ext uri="{FF2B5EF4-FFF2-40B4-BE49-F238E27FC236}">
                <a16:creationId xmlns:a16="http://schemas.microsoft.com/office/drawing/2014/main" id="{E6303213-5746-8DE8-C420-405BCC8F7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19459" name="Rectangle 7">
            <a:extLst>
              <a:ext uri="{FF2B5EF4-FFF2-40B4-BE49-F238E27FC236}">
                <a16:creationId xmlns:a16="http://schemas.microsoft.com/office/drawing/2014/main" id="{9CF9923F-A43F-E1D9-DB93-50B4E8085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9460" name="Rectangle 9">
            <a:extLst>
              <a:ext uri="{FF2B5EF4-FFF2-40B4-BE49-F238E27FC236}">
                <a16:creationId xmlns:a16="http://schemas.microsoft.com/office/drawing/2014/main" id="{307D452C-5B2D-0C8D-A9E2-AEEC427C6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7B08BA69-4F1E-4AE5-981E-6E439BB55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9462" name="Rectangle 7">
            <a:extLst>
              <a:ext uri="{FF2B5EF4-FFF2-40B4-BE49-F238E27FC236}">
                <a16:creationId xmlns:a16="http://schemas.microsoft.com/office/drawing/2014/main" id="{891B293D-D3AC-8187-4C55-1471D7229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9463" name="Rectangle 9">
            <a:extLst>
              <a:ext uri="{FF2B5EF4-FFF2-40B4-BE49-F238E27FC236}">
                <a16:creationId xmlns:a16="http://schemas.microsoft.com/office/drawing/2014/main" id="{3C65BD0E-22D5-3EEA-BA4A-5F6D0AD57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19464" name="Object 15">
            <a:extLst>
              <a:ext uri="{FF2B5EF4-FFF2-40B4-BE49-F238E27FC236}">
                <a16:creationId xmlns:a16="http://schemas.microsoft.com/office/drawing/2014/main" id="{F584B98A-4AB9-64C6-3848-628F6A4A35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7400"/>
          <a:ext cx="114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114201" imgH="203024" progId="Equation.3">
                  <p:embed/>
                </p:oleObj>
              </mc:Choice>
              <mc:Fallback>
                <p:oleObj name="Формула" r:id="rId3" imgW="114201" imgH="20302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7400"/>
                        <a:ext cx="114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Line 63">
            <a:extLst>
              <a:ext uri="{FF2B5EF4-FFF2-40B4-BE49-F238E27FC236}">
                <a16:creationId xmlns:a16="http://schemas.microsoft.com/office/drawing/2014/main" id="{0A3FA421-B884-BC75-8BC3-7C170AB48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603250"/>
            <a:ext cx="66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66" name="Rectangle 73">
            <a:extLst>
              <a:ext uri="{FF2B5EF4-FFF2-40B4-BE49-F238E27FC236}">
                <a16:creationId xmlns:a16="http://schemas.microsoft.com/office/drawing/2014/main" id="{17AF62FC-8CC8-24B5-F868-B8996659F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9467" name="Rectangle 78">
            <a:extLst>
              <a:ext uri="{FF2B5EF4-FFF2-40B4-BE49-F238E27FC236}">
                <a16:creationId xmlns:a16="http://schemas.microsoft.com/office/drawing/2014/main" id="{2FCA8FF8-B262-B0D4-6D6D-194F8A83C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br>
              <a:rPr lang="ru-RU" altLang="ru-RU" sz="2400"/>
            </a:br>
            <a:endParaRPr lang="ru-RU" altLang="ru-RU" sz="2400"/>
          </a:p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9468" name="Rectangle 82">
            <a:extLst>
              <a:ext uri="{FF2B5EF4-FFF2-40B4-BE49-F238E27FC236}">
                <a16:creationId xmlns:a16="http://schemas.microsoft.com/office/drawing/2014/main" id="{E4B17B03-00E4-3577-E91A-F6B4BA922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br>
              <a:rPr lang="ru-RU" altLang="ru-RU" sz="2400"/>
            </a:br>
            <a:endParaRPr lang="ru-RU" altLang="ru-RU" sz="2400"/>
          </a:p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9469" name="Прямоугольник 14">
            <a:extLst>
              <a:ext uri="{FF2B5EF4-FFF2-40B4-BE49-F238E27FC236}">
                <a16:creationId xmlns:a16="http://schemas.microsoft.com/office/drawing/2014/main" id="{B3B7E1C3-7CD9-122F-AF1E-1B8CE02D5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0125"/>
            <a:ext cx="9144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Использование вещественной частотной характеристики в ТАУ</a:t>
            </a:r>
          </a:p>
        </p:txBody>
      </p:sp>
      <p:sp>
        <p:nvSpPr>
          <p:cNvPr id="19470" name="Text Box 15">
            <a:extLst>
              <a:ext uri="{FF2B5EF4-FFF2-40B4-BE49-F238E27FC236}">
                <a16:creationId xmlns:a16="http://schemas.microsoft.com/office/drawing/2014/main" id="{2E8BFAB0-8A6C-5958-2E43-B2220085C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pic>
        <p:nvPicPr>
          <p:cNvPr id="19471" name="Picture 15">
            <a:extLst>
              <a:ext uri="{FF2B5EF4-FFF2-40B4-BE49-F238E27FC236}">
                <a16:creationId xmlns:a16="http://schemas.microsoft.com/office/drawing/2014/main" id="{20BC55B0-5D92-47EE-C1BB-3411D9D54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00250"/>
            <a:ext cx="3397250" cy="296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2" name="Picture 16">
            <a:extLst>
              <a:ext uri="{FF2B5EF4-FFF2-40B4-BE49-F238E27FC236}">
                <a16:creationId xmlns:a16="http://schemas.microsoft.com/office/drawing/2014/main" id="{1183A69E-9348-6811-4577-89EA836D6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8" y="2000250"/>
            <a:ext cx="5643562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 descr="Large confetti">
            <a:extLst>
              <a:ext uri="{FF2B5EF4-FFF2-40B4-BE49-F238E27FC236}">
                <a16:creationId xmlns:a16="http://schemas.microsoft.com/office/drawing/2014/main" id="{EEE57366-76FD-13EB-3660-5E37B6299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20483" name="Rectangle 7">
            <a:extLst>
              <a:ext uri="{FF2B5EF4-FFF2-40B4-BE49-F238E27FC236}">
                <a16:creationId xmlns:a16="http://schemas.microsoft.com/office/drawing/2014/main" id="{6CF0954E-5E9F-F3B2-BCFC-9B5A67915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0484" name="Rectangle 9">
            <a:extLst>
              <a:ext uri="{FF2B5EF4-FFF2-40B4-BE49-F238E27FC236}">
                <a16:creationId xmlns:a16="http://schemas.microsoft.com/office/drawing/2014/main" id="{B31BC0A1-30A4-010E-9CFA-DE5635EA4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F3C666F4-C78A-DAEC-C416-9B51C47B7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0486" name="Rectangle 7">
            <a:extLst>
              <a:ext uri="{FF2B5EF4-FFF2-40B4-BE49-F238E27FC236}">
                <a16:creationId xmlns:a16="http://schemas.microsoft.com/office/drawing/2014/main" id="{C75E23FD-8ACA-522B-E402-B2A2E45B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0487" name="Rectangle 9">
            <a:extLst>
              <a:ext uri="{FF2B5EF4-FFF2-40B4-BE49-F238E27FC236}">
                <a16:creationId xmlns:a16="http://schemas.microsoft.com/office/drawing/2014/main" id="{D514F6D0-1270-7AD4-232E-8193D955B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0488" name="Object 15">
            <a:extLst>
              <a:ext uri="{FF2B5EF4-FFF2-40B4-BE49-F238E27FC236}">
                <a16:creationId xmlns:a16="http://schemas.microsoft.com/office/drawing/2014/main" id="{78776E46-6544-3309-6B25-3DB2DF97C6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7400"/>
          <a:ext cx="114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114201" imgH="203024" progId="Equation.3">
                  <p:embed/>
                </p:oleObj>
              </mc:Choice>
              <mc:Fallback>
                <p:oleObj name="Формула" r:id="rId3" imgW="114201" imgH="20302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7400"/>
                        <a:ext cx="114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Line 63">
            <a:extLst>
              <a:ext uri="{FF2B5EF4-FFF2-40B4-BE49-F238E27FC236}">
                <a16:creationId xmlns:a16="http://schemas.microsoft.com/office/drawing/2014/main" id="{91BA4013-06A2-D40E-8D1F-590786CD0C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603250"/>
            <a:ext cx="66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490" name="Rectangle 73">
            <a:extLst>
              <a:ext uri="{FF2B5EF4-FFF2-40B4-BE49-F238E27FC236}">
                <a16:creationId xmlns:a16="http://schemas.microsoft.com/office/drawing/2014/main" id="{E66DF069-C393-6AE0-62FD-79526E3A7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0491" name="Rectangle 78">
            <a:extLst>
              <a:ext uri="{FF2B5EF4-FFF2-40B4-BE49-F238E27FC236}">
                <a16:creationId xmlns:a16="http://schemas.microsoft.com/office/drawing/2014/main" id="{B80BB4BA-EF19-4979-7299-E71CBCD99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br>
              <a:rPr lang="ru-RU" altLang="ru-RU" sz="2400"/>
            </a:br>
            <a:endParaRPr lang="ru-RU" altLang="ru-RU" sz="2400"/>
          </a:p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0492" name="Rectangle 82">
            <a:extLst>
              <a:ext uri="{FF2B5EF4-FFF2-40B4-BE49-F238E27FC236}">
                <a16:creationId xmlns:a16="http://schemas.microsoft.com/office/drawing/2014/main" id="{1125C528-A850-3272-2DB3-F3A65B87C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br>
              <a:rPr lang="ru-RU" altLang="ru-RU" sz="2400"/>
            </a:br>
            <a:endParaRPr lang="ru-RU" altLang="ru-RU" sz="2400"/>
          </a:p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0493" name="Прямоугольник 14">
            <a:extLst>
              <a:ext uri="{FF2B5EF4-FFF2-40B4-BE49-F238E27FC236}">
                <a16:creationId xmlns:a16="http://schemas.microsoft.com/office/drawing/2014/main" id="{6C0CE068-5360-3A4B-9B46-88F19FAD8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0125"/>
            <a:ext cx="9144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Использование вещественной частотной характеристики в ТАУ</a:t>
            </a:r>
          </a:p>
        </p:txBody>
      </p:sp>
      <p:sp>
        <p:nvSpPr>
          <p:cNvPr id="20494" name="Text Box 15">
            <a:extLst>
              <a:ext uri="{FF2B5EF4-FFF2-40B4-BE49-F238E27FC236}">
                <a16:creationId xmlns:a16="http://schemas.microsoft.com/office/drawing/2014/main" id="{E1E153CC-3AC1-EB3F-39AB-0EBE14DDA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pic>
        <p:nvPicPr>
          <p:cNvPr id="20495" name="Picture 3">
            <a:extLst>
              <a:ext uri="{FF2B5EF4-FFF2-40B4-BE49-F238E27FC236}">
                <a16:creationId xmlns:a16="http://schemas.microsoft.com/office/drawing/2014/main" id="{0EAEA5CE-D4E6-71ED-8080-7E90FC99F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1688"/>
            <a:ext cx="3676650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6" name="Picture 4">
            <a:extLst>
              <a:ext uri="{FF2B5EF4-FFF2-40B4-BE49-F238E27FC236}">
                <a16:creationId xmlns:a16="http://schemas.microsoft.com/office/drawing/2014/main" id="{9779F091-C1F1-6926-9699-05BBC07CB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43438"/>
            <a:ext cx="4352925" cy="173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7" name="Picture 5">
            <a:extLst>
              <a:ext uri="{FF2B5EF4-FFF2-40B4-BE49-F238E27FC236}">
                <a16:creationId xmlns:a16="http://schemas.microsoft.com/office/drawing/2014/main" id="{50EEBC23-186C-8374-3A18-DC3A8809A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325" y="3786188"/>
            <a:ext cx="51450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8" name="Picture 6">
            <a:extLst>
              <a:ext uri="{FF2B5EF4-FFF2-40B4-BE49-F238E27FC236}">
                <a16:creationId xmlns:a16="http://schemas.microsoft.com/office/drawing/2014/main" id="{277AA6A6-4171-67A2-235E-50850E36C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738" y="2071688"/>
            <a:ext cx="514985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 descr="Large confetti">
            <a:extLst>
              <a:ext uri="{FF2B5EF4-FFF2-40B4-BE49-F238E27FC236}">
                <a16:creationId xmlns:a16="http://schemas.microsoft.com/office/drawing/2014/main" id="{36106F11-8794-3CA6-301A-69F73C3F6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21507" name="Rectangle 7">
            <a:extLst>
              <a:ext uri="{FF2B5EF4-FFF2-40B4-BE49-F238E27FC236}">
                <a16:creationId xmlns:a16="http://schemas.microsoft.com/office/drawing/2014/main" id="{825C3C21-BC5A-25D4-DC86-422406840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1508" name="Rectangle 9">
            <a:extLst>
              <a:ext uri="{FF2B5EF4-FFF2-40B4-BE49-F238E27FC236}">
                <a16:creationId xmlns:a16="http://schemas.microsoft.com/office/drawing/2014/main" id="{CC02FD53-3284-EB39-0B77-EF2E1EFAB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111C892E-4349-4F10-0894-25592D04F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1510" name="Rectangle 7">
            <a:extLst>
              <a:ext uri="{FF2B5EF4-FFF2-40B4-BE49-F238E27FC236}">
                <a16:creationId xmlns:a16="http://schemas.microsoft.com/office/drawing/2014/main" id="{CEBBDDD6-FAF7-436E-1E3B-8478025DE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1511" name="Rectangle 9">
            <a:extLst>
              <a:ext uri="{FF2B5EF4-FFF2-40B4-BE49-F238E27FC236}">
                <a16:creationId xmlns:a16="http://schemas.microsoft.com/office/drawing/2014/main" id="{0FB55417-4273-4586-942F-887AAE2C0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1512" name="Object 15">
            <a:extLst>
              <a:ext uri="{FF2B5EF4-FFF2-40B4-BE49-F238E27FC236}">
                <a16:creationId xmlns:a16="http://schemas.microsoft.com/office/drawing/2014/main" id="{72C8033E-423E-8CFF-5C69-877AFD3FDC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7400"/>
          <a:ext cx="114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114201" imgH="203024" progId="Equation.3">
                  <p:embed/>
                </p:oleObj>
              </mc:Choice>
              <mc:Fallback>
                <p:oleObj name="Формула" r:id="rId3" imgW="114201" imgH="20302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7400"/>
                        <a:ext cx="114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Line 63">
            <a:extLst>
              <a:ext uri="{FF2B5EF4-FFF2-40B4-BE49-F238E27FC236}">
                <a16:creationId xmlns:a16="http://schemas.microsoft.com/office/drawing/2014/main" id="{F270F1F0-7711-87BF-50FB-303FD46AB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603250"/>
            <a:ext cx="66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14" name="Rectangle 73">
            <a:extLst>
              <a:ext uri="{FF2B5EF4-FFF2-40B4-BE49-F238E27FC236}">
                <a16:creationId xmlns:a16="http://schemas.microsoft.com/office/drawing/2014/main" id="{87E1272D-AC60-7CA7-6962-6A454A193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1515" name="Rectangle 78">
            <a:extLst>
              <a:ext uri="{FF2B5EF4-FFF2-40B4-BE49-F238E27FC236}">
                <a16:creationId xmlns:a16="http://schemas.microsoft.com/office/drawing/2014/main" id="{2A73CED4-B23A-1CC2-109E-5874C4946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br>
              <a:rPr lang="ru-RU" altLang="ru-RU" sz="2400"/>
            </a:br>
            <a:endParaRPr lang="ru-RU" altLang="ru-RU" sz="2400"/>
          </a:p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1516" name="Rectangle 82">
            <a:extLst>
              <a:ext uri="{FF2B5EF4-FFF2-40B4-BE49-F238E27FC236}">
                <a16:creationId xmlns:a16="http://schemas.microsoft.com/office/drawing/2014/main" id="{21445F8D-6D72-ACCD-2DB5-3EE4FEE51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br>
              <a:rPr lang="ru-RU" altLang="ru-RU" sz="2400"/>
            </a:br>
            <a:endParaRPr lang="ru-RU" altLang="ru-RU" sz="2400"/>
          </a:p>
          <a:p>
            <a:pPr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1517" name="Прямоугольник 14">
            <a:extLst>
              <a:ext uri="{FF2B5EF4-FFF2-40B4-BE49-F238E27FC236}">
                <a16:creationId xmlns:a16="http://schemas.microsoft.com/office/drawing/2014/main" id="{5783564C-BE30-1C25-9174-59B491D95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0125"/>
            <a:ext cx="9144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Использование вещественной частотной характеристики в ТАУ</a:t>
            </a:r>
          </a:p>
        </p:txBody>
      </p:sp>
      <p:sp>
        <p:nvSpPr>
          <p:cNvPr id="21518" name="Text Box 15">
            <a:extLst>
              <a:ext uri="{FF2B5EF4-FFF2-40B4-BE49-F238E27FC236}">
                <a16:creationId xmlns:a16="http://schemas.microsoft.com/office/drawing/2014/main" id="{53AF1FE9-0973-E0D0-D9D5-5DBC024F5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pic>
        <p:nvPicPr>
          <p:cNvPr id="21519" name="Picture 7">
            <a:extLst>
              <a:ext uri="{FF2B5EF4-FFF2-40B4-BE49-F238E27FC236}">
                <a16:creationId xmlns:a16="http://schemas.microsoft.com/office/drawing/2014/main" id="{B07A95C6-2CC8-9153-0E8B-7C0109680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2000250"/>
            <a:ext cx="5016500" cy="316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0" name="Picture 8">
            <a:extLst>
              <a:ext uri="{FF2B5EF4-FFF2-40B4-BE49-F238E27FC236}">
                <a16:creationId xmlns:a16="http://schemas.microsoft.com/office/drawing/2014/main" id="{E60477AE-4D7A-3715-09E6-A8BB29221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5143500"/>
            <a:ext cx="5000625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521" name="Object 16">
            <a:extLst>
              <a:ext uri="{FF2B5EF4-FFF2-40B4-BE49-F238E27FC236}">
                <a16:creationId xmlns:a16="http://schemas.microsoft.com/office/drawing/2014/main" id="{F9637181-9C77-D795-D5E6-00D5732852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7813" y="2000250"/>
          <a:ext cx="3170237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52600" imgH="965200" progId="Equation.DSMT4">
                  <p:embed/>
                </p:oleObj>
              </mc:Choice>
              <mc:Fallback>
                <p:oleObj name="Equation" r:id="rId7" imgW="1752600" imgH="965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2000250"/>
                        <a:ext cx="3170237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2" name="Object 4">
            <a:extLst>
              <a:ext uri="{FF2B5EF4-FFF2-40B4-BE49-F238E27FC236}">
                <a16:creationId xmlns:a16="http://schemas.microsoft.com/office/drawing/2014/main" id="{D39B8AAB-44B5-F1D9-05AF-30A933C142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2125" y="3786188"/>
          <a:ext cx="181451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02865" imgH="253890" progId="Equation.DSMT4">
                  <p:embed/>
                </p:oleObj>
              </mc:Choice>
              <mc:Fallback>
                <p:oleObj name="Equation" r:id="rId9" imgW="1002865" imgH="2538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5" y="3786188"/>
                        <a:ext cx="181451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3" name="Object 5">
            <a:extLst>
              <a:ext uri="{FF2B5EF4-FFF2-40B4-BE49-F238E27FC236}">
                <a16:creationId xmlns:a16="http://schemas.microsoft.com/office/drawing/2014/main" id="{A11DAB1A-1E80-039A-19EE-7E470BA83F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4286250"/>
          <a:ext cx="1033463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71004" imgH="177646" progId="Equation.DSMT4">
                  <p:embed/>
                </p:oleObj>
              </mc:Choice>
              <mc:Fallback>
                <p:oleObj name="Equation" r:id="rId11" imgW="571004" imgH="17764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286250"/>
                        <a:ext cx="1033463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4" name="Object 7">
            <a:extLst>
              <a:ext uri="{FF2B5EF4-FFF2-40B4-BE49-F238E27FC236}">
                <a16:creationId xmlns:a16="http://schemas.microsoft.com/office/drawing/2014/main" id="{F3D60B8D-792A-9F22-C2C2-718AC929C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2125" y="4714875"/>
          <a:ext cx="22510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44600" imgH="254000" progId="Equation.DSMT4">
                  <p:embed/>
                </p:oleObj>
              </mc:Choice>
              <mc:Fallback>
                <p:oleObj name="Equation" r:id="rId13" imgW="1244600" imgH="254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5" y="4714875"/>
                        <a:ext cx="22510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 descr="Large confetti">
            <a:extLst>
              <a:ext uri="{FF2B5EF4-FFF2-40B4-BE49-F238E27FC236}">
                <a16:creationId xmlns:a16="http://schemas.microsoft.com/office/drawing/2014/main" id="{0790C3D9-85B9-8387-955D-8AC79CEAF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22531" name="Rectangle 7">
            <a:extLst>
              <a:ext uri="{FF2B5EF4-FFF2-40B4-BE49-F238E27FC236}">
                <a16:creationId xmlns:a16="http://schemas.microsoft.com/office/drawing/2014/main" id="{D862B27E-58F2-2C6C-EC66-FA147BCE3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2532" name="Rectangle 9">
            <a:extLst>
              <a:ext uri="{FF2B5EF4-FFF2-40B4-BE49-F238E27FC236}">
                <a16:creationId xmlns:a16="http://schemas.microsoft.com/office/drawing/2014/main" id="{C6DDB69D-7E2B-88B8-EDE2-08768ECAA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2533" name="Rectangle 10">
            <a:extLst>
              <a:ext uri="{FF2B5EF4-FFF2-40B4-BE49-F238E27FC236}">
                <a16:creationId xmlns:a16="http://schemas.microsoft.com/office/drawing/2014/main" id="{83B48515-0558-87D2-F753-58BEE949D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57750"/>
            <a:ext cx="914400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Введение в быстрые алгоритмы</a:t>
            </a:r>
            <a:r>
              <a:rPr lang="ru-RU" altLang="ru-RU"/>
              <a:t> </a:t>
            </a:r>
            <a:endParaRPr lang="ru-RU" altLang="ru-RU" b="1" i="1"/>
          </a:p>
        </p:txBody>
      </p:sp>
      <p:sp>
        <p:nvSpPr>
          <p:cNvPr id="22534" name="Rectangle 2">
            <a:extLst>
              <a:ext uri="{FF2B5EF4-FFF2-40B4-BE49-F238E27FC236}">
                <a16:creationId xmlns:a16="http://schemas.microsoft.com/office/drawing/2014/main" id="{25871D34-8640-9E8B-FD89-6CE8B369D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8AD6BCE9-DE45-558D-14C0-97B0F04AF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2536" name="Object 6">
            <a:extLst>
              <a:ext uri="{FF2B5EF4-FFF2-40B4-BE49-F238E27FC236}">
                <a16:creationId xmlns:a16="http://schemas.microsoft.com/office/drawing/2014/main" id="{B04264C7-F243-8C8F-3CD4-02071B7729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7375" y="5572125"/>
          <a:ext cx="556895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73400" imgH="279400" progId="Equation.DSMT4">
                  <p:embed/>
                </p:oleObj>
              </mc:Choice>
              <mc:Fallback>
                <p:oleObj name="Equation" r:id="rId3" imgW="3073400" imgH="279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5572125"/>
                        <a:ext cx="556895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Прямоугольник 14">
            <a:extLst>
              <a:ext uri="{FF2B5EF4-FFF2-40B4-BE49-F238E27FC236}">
                <a16:creationId xmlns:a16="http://schemas.microsoft.com/office/drawing/2014/main" id="{629B5D64-58BA-F458-F7C7-5CED29951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5813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Дискретное косинус-преобразование</a:t>
            </a:r>
          </a:p>
        </p:txBody>
      </p:sp>
      <p:sp>
        <p:nvSpPr>
          <p:cNvPr id="22538" name="Rectangle 9">
            <a:extLst>
              <a:ext uri="{FF2B5EF4-FFF2-40B4-BE49-F238E27FC236}">
                <a16:creationId xmlns:a16="http://schemas.microsoft.com/office/drawing/2014/main" id="{F9FD2AEA-8ADC-5DE3-CACD-48B5E466C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2539" name="Object 8">
            <a:extLst>
              <a:ext uri="{FF2B5EF4-FFF2-40B4-BE49-F238E27FC236}">
                <a16:creationId xmlns:a16="http://schemas.microsoft.com/office/drawing/2014/main" id="{EB08B064-0AC3-A639-D7A2-77BAEBD707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0" y="1285875"/>
          <a:ext cx="40767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30600" imgH="622300" progId="Equation.DSMT4">
                  <p:embed/>
                </p:oleObj>
              </mc:Choice>
              <mc:Fallback>
                <p:oleObj name="Equation" r:id="rId5" imgW="3530600" imgH="622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285875"/>
                        <a:ext cx="40767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Rectangle 10">
            <a:extLst>
              <a:ext uri="{FF2B5EF4-FFF2-40B4-BE49-F238E27FC236}">
                <a16:creationId xmlns:a16="http://schemas.microsoft.com/office/drawing/2014/main" id="{2F212C5A-4782-DBDE-139C-F5F3A80A2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1428750"/>
            <a:ext cx="33575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ru-RU" altLang="ru-RU" sz="2400">
                <a:cs typeface="Times New Roman" panose="02020603050405020304" pitchFamily="18" charset="0"/>
              </a:rPr>
              <a:t>,  </a:t>
            </a:r>
            <a:r>
              <a:rPr lang="en-US" altLang="ru-RU" sz="2400" i="1">
                <a:cs typeface="Times New Roman" panose="02020603050405020304" pitchFamily="18" charset="0"/>
              </a:rPr>
              <a:t>k </a:t>
            </a:r>
            <a:r>
              <a:rPr lang="ru-RU" altLang="ru-RU" sz="2400">
                <a:cs typeface="Times New Roman" panose="02020603050405020304" pitchFamily="18" charset="0"/>
              </a:rPr>
              <a:t>= 0, 1, …</a:t>
            </a:r>
            <a:r>
              <a:rPr lang="en-US" altLang="ru-RU" sz="2400" i="1">
                <a:cs typeface="Times New Roman" panose="02020603050405020304" pitchFamily="18" charset="0"/>
              </a:rPr>
              <a:t>N </a:t>
            </a:r>
            <a:r>
              <a:rPr lang="ru-RU" altLang="ru-RU" sz="2400">
                <a:cs typeface="Times New Roman" panose="02020603050405020304" pitchFamily="18" charset="0"/>
              </a:rPr>
              <a:t>– 1.</a:t>
            </a:r>
            <a:r>
              <a:rPr lang="ru-RU" altLang="ru-RU" sz="1200">
                <a:cs typeface="Times New Roman" panose="02020603050405020304" pitchFamily="18" charset="0"/>
              </a:rPr>
              <a:t>	   </a:t>
            </a:r>
            <a:endParaRPr lang="ru-RU" altLang="ru-RU" sz="2400"/>
          </a:p>
        </p:txBody>
      </p:sp>
      <p:sp>
        <p:nvSpPr>
          <p:cNvPr id="22541" name="Rectangle 11">
            <a:extLst>
              <a:ext uri="{FF2B5EF4-FFF2-40B4-BE49-F238E27FC236}">
                <a16:creationId xmlns:a16="http://schemas.microsoft.com/office/drawing/2014/main" id="{86D42C00-5A33-5801-9F36-862CFD558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28813"/>
            <a:ext cx="9144000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SzTx/>
              <a:buFontTx/>
              <a:buNone/>
            </a:pPr>
            <a:r>
              <a:rPr lang="ru-RU" altLang="ru-RU">
                <a:cs typeface="Times New Roman" panose="02020603050405020304" pitchFamily="18" charset="0"/>
              </a:rPr>
              <a:t>Применяется в следующих приложениях:</a:t>
            </a:r>
            <a:endParaRPr lang="ru-RU" altLang="ru-RU"/>
          </a:p>
          <a:p>
            <a:pPr algn="just"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ru-RU" altLang="ru-RU">
                <a:cs typeface="Times New Roman" panose="02020603050405020304" pitchFamily="18" charset="0"/>
              </a:rPr>
              <a:t>сжатие данных, например, при передаче речи или видеосигналов;</a:t>
            </a:r>
            <a:endParaRPr lang="ru-RU" altLang="ru-RU"/>
          </a:p>
          <a:p>
            <a:pPr algn="just"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ru-RU" altLang="ru-RU">
                <a:cs typeface="Times New Roman" panose="02020603050405020304" pitchFamily="18" charset="0"/>
              </a:rPr>
              <a:t>записи медицинских сигналов (ЭКГ, ЭЭГ);</a:t>
            </a:r>
            <a:endParaRPr lang="ru-RU" altLang="ru-RU"/>
          </a:p>
          <a:p>
            <a:pPr algn="just"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ru-RU" altLang="ru-RU">
                <a:cs typeface="Times New Roman" panose="02020603050405020304" pitchFamily="18" charset="0"/>
              </a:rPr>
              <a:t>распознавание шаблонов;</a:t>
            </a:r>
            <a:endParaRPr lang="ru-RU" altLang="ru-RU"/>
          </a:p>
          <a:p>
            <a:pPr algn="just"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ru-RU" altLang="ru-RU">
                <a:cs typeface="Times New Roman" panose="02020603050405020304" pitchFamily="18" charset="0"/>
              </a:rPr>
              <a:t>фильтрация изображений.</a:t>
            </a:r>
            <a:endParaRPr lang="ru-RU" altLang="ru-RU"/>
          </a:p>
        </p:txBody>
      </p:sp>
      <p:sp>
        <p:nvSpPr>
          <p:cNvPr id="22542" name="Text Box 15">
            <a:extLst>
              <a:ext uri="{FF2B5EF4-FFF2-40B4-BE49-F238E27FC236}">
                <a16:creationId xmlns:a16="http://schemas.microsoft.com/office/drawing/2014/main" id="{F7C741BB-C340-C539-52D7-A3FBC6920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 descr="Large confetti">
            <a:extLst>
              <a:ext uri="{FF2B5EF4-FFF2-40B4-BE49-F238E27FC236}">
                <a16:creationId xmlns:a16="http://schemas.microsoft.com/office/drawing/2014/main" id="{ECCFCF7C-92B4-9B31-44B7-53667ED3C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23555" name="Rectangle 7">
            <a:extLst>
              <a:ext uri="{FF2B5EF4-FFF2-40B4-BE49-F238E27FC236}">
                <a16:creationId xmlns:a16="http://schemas.microsoft.com/office/drawing/2014/main" id="{3EA1FDC0-D2AA-4472-BAEE-DDADEA638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3556" name="Rectangle 9">
            <a:extLst>
              <a:ext uri="{FF2B5EF4-FFF2-40B4-BE49-F238E27FC236}">
                <a16:creationId xmlns:a16="http://schemas.microsoft.com/office/drawing/2014/main" id="{70C30584-D3B4-E630-0742-0BA047D2C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3557" name="Rectangle 10">
            <a:extLst>
              <a:ext uri="{FF2B5EF4-FFF2-40B4-BE49-F238E27FC236}">
                <a16:creationId xmlns:a16="http://schemas.microsoft.com/office/drawing/2014/main" id="{D8D97D4D-456C-D2B0-F2AB-3CA1A1855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Способы реализации быстрого преобразования Фурье (БПФ)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БПФ с прореживанием по времени</a:t>
            </a: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7DA6B580-9FE6-0AD2-9DFA-955DDCE34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798BB9FD-59CC-74D9-7DA6-664EFB411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3560" name="Rectangle 4">
            <a:extLst>
              <a:ext uri="{FF2B5EF4-FFF2-40B4-BE49-F238E27FC236}">
                <a16:creationId xmlns:a16="http://schemas.microsoft.com/office/drawing/2014/main" id="{EF112EBD-DF36-7522-9D1B-788AC6274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3561" name="Object 3">
            <a:extLst>
              <a:ext uri="{FF2B5EF4-FFF2-40B4-BE49-F238E27FC236}">
                <a16:creationId xmlns:a16="http://schemas.microsoft.com/office/drawing/2014/main" id="{91191274-483C-BCFF-5AAC-C2CED92CD6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738" y="2403475"/>
          <a:ext cx="8770937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73600" imgH="546100" progId="Equation.DSMT4">
                  <p:embed/>
                </p:oleObj>
              </mc:Choice>
              <mc:Fallback>
                <p:oleObj name="Equation" r:id="rId3" imgW="4673600" imgH="546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8" y="2403475"/>
                        <a:ext cx="8770937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Rectangle 6">
            <a:extLst>
              <a:ext uri="{FF2B5EF4-FFF2-40B4-BE49-F238E27FC236}">
                <a16:creationId xmlns:a16="http://schemas.microsoft.com/office/drawing/2014/main" id="{D29C5577-484D-24F0-FCD4-DBCFA445A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3563" name="Object 5">
            <a:extLst>
              <a:ext uri="{FF2B5EF4-FFF2-40B4-BE49-F238E27FC236}">
                <a16:creationId xmlns:a16="http://schemas.microsoft.com/office/drawing/2014/main" id="{4F9554E3-B69A-D1DA-EC31-D845E3C934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429000"/>
          <a:ext cx="4857750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68700" imgH="1181100" progId="Equation.DSMT4">
                  <p:embed/>
                </p:oleObj>
              </mc:Choice>
              <mc:Fallback>
                <p:oleObj name="Equation" r:id="rId5" imgW="3568700" imgH="1181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429000"/>
                        <a:ext cx="4857750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4" name="Rectangle 8">
            <a:extLst>
              <a:ext uri="{FF2B5EF4-FFF2-40B4-BE49-F238E27FC236}">
                <a16:creationId xmlns:a16="http://schemas.microsoft.com/office/drawing/2014/main" id="{BF9DEC72-AC87-1AB9-BD7F-0ABE4D04A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3565" name="Object 7">
            <a:extLst>
              <a:ext uri="{FF2B5EF4-FFF2-40B4-BE49-F238E27FC236}">
                <a16:creationId xmlns:a16="http://schemas.microsoft.com/office/drawing/2014/main" id="{6A25FA67-6B74-681C-49BB-E031871186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4953000"/>
          <a:ext cx="5167313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98800" imgH="533400" progId="Equation.DSMT4">
                  <p:embed/>
                </p:oleObj>
              </mc:Choice>
              <mc:Fallback>
                <p:oleObj name="Equation" r:id="rId7" imgW="30988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953000"/>
                        <a:ext cx="5167313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15">
            <a:extLst>
              <a:ext uri="{FF2B5EF4-FFF2-40B4-BE49-F238E27FC236}">
                <a16:creationId xmlns:a16="http://schemas.microsoft.com/office/drawing/2014/main" id="{596970EF-E11E-D987-33E9-4EADC047B3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5751513"/>
          <a:ext cx="826770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87800" imgH="381000" progId="Equation.DSMT4">
                  <p:embed/>
                </p:oleObj>
              </mc:Choice>
              <mc:Fallback>
                <p:oleObj name="Equation" r:id="rId9" imgW="3987800" imgH="381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5751513"/>
                        <a:ext cx="8267700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7" name="Text Box 15">
            <a:extLst>
              <a:ext uri="{FF2B5EF4-FFF2-40B4-BE49-F238E27FC236}">
                <a16:creationId xmlns:a16="http://schemas.microsoft.com/office/drawing/2014/main" id="{34496169-B9CE-DFAC-181F-5E370214B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 descr="Large confetti">
            <a:extLst>
              <a:ext uri="{FF2B5EF4-FFF2-40B4-BE49-F238E27FC236}">
                <a16:creationId xmlns:a16="http://schemas.microsoft.com/office/drawing/2014/main" id="{E2C46723-F751-CFFD-4DAD-F2F21AB8A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24579" name="Rectangle 7">
            <a:extLst>
              <a:ext uri="{FF2B5EF4-FFF2-40B4-BE49-F238E27FC236}">
                <a16:creationId xmlns:a16="http://schemas.microsoft.com/office/drawing/2014/main" id="{E72729DC-CE7B-2FCC-AFC5-370601D75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4580" name="Rectangle 9">
            <a:extLst>
              <a:ext uri="{FF2B5EF4-FFF2-40B4-BE49-F238E27FC236}">
                <a16:creationId xmlns:a16="http://schemas.microsoft.com/office/drawing/2014/main" id="{4D61200C-2202-875B-EED1-392744028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11275" name="Rectangle 10">
            <a:extLst>
              <a:ext uri="{FF2B5EF4-FFF2-40B4-BE49-F238E27FC236}">
                <a16:creationId xmlns:a16="http://schemas.microsoft.com/office/drawing/2014/main" id="{A8AC6258-6825-7839-770D-08A0E62FF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sz="2800" b="1" dirty="0">
                <a:solidFill>
                  <a:schemeClr val="bg2">
                    <a:lumMod val="50000"/>
                  </a:schemeClr>
                </a:solidFill>
              </a:rPr>
              <a:t>БПФ с прореживанием по времени по основанию два</a:t>
            </a:r>
          </a:p>
        </p:txBody>
      </p:sp>
      <p:sp>
        <p:nvSpPr>
          <p:cNvPr id="24582" name="Rectangle 2">
            <a:extLst>
              <a:ext uri="{FF2B5EF4-FFF2-40B4-BE49-F238E27FC236}">
                <a16:creationId xmlns:a16="http://schemas.microsoft.com/office/drawing/2014/main" id="{1135F05A-F712-71FD-FA8F-669295A6F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2687799C-8B94-57C4-4CE6-D7D0AF20C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4584" name="Object 3">
            <a:extLst>
              <a:ext uri="{FF2B5EF4-FFF2-40B4-BE49-F238E27FC236}">
                <a16:creationId xmlns:a16="http://schemas.microsoft.com/office/drawing/2014/main" id="{07F56AFF-3943-6149-9AA2-30A01D8270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447800"/>
          <a:ext cx="671353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43300" imgH="546100" progId="Equation.DSMT4">
                  <p:embed/>
                </p:oleObj>
              </mc:Choice>
              <mc:Fallback>
                <p:oleObj name="Equation" r:id="rId3" imgW="3543300" imgH="546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447800"/>
                        <a:ext cx="6713538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Rectangle 5">
            <a:extLst>
              <a:ext uri="{FF2B5EF4-FFF2-40B4-BE49-F238E27FC236}">
                <a16:creationId xmlns:a16="http://schemas.microsoft.com/office/drawing/2014/main" id="{D463F1F1-ED13-A379-FA20-AC4184166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4586" name="Object 4">
            <a:extLst>
              <a:ext uri="{FF2B5EF4-FFF2-40B4-BE49-F238E27FC236}">
                <a16:creationId xmlns:a16="http://schemas.microsoft.com/office/drawing/2014/main" id="{43805600-122A-10FD-12BB-4FC179DDA8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514600"/>
          <a:ext cx="3886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52700" imgH="381000" progId="Equation.DSMT4">
                  <p:embed/>
                </p:oleObj>
              </mc:Choice>
              <mc:Fallback>
                <p:oleObj name="Equation" r:id="rId5" imgW="2552700" imgH="38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514600"/>
                        <a:ext cx="3886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Rectangle 7">
            <a:extLst>
              <a:ext uri="{FF2B5EF4-FFF2-40B4-BE49-F238E27FC236}">
                <a16:creationId xmlns:a16="http://schemas.microsoft.com/office/drawing/2014/main" id="{E7338719-BDA0-4055-F435-D446F9B48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4588" name="Object 6">
            <a:extLst>
              <a:ext uri="{FF2B5EF4-FFF2-40B4-BE49-F238E27FC236}">
                <a16:creationId xmlns:a16="http://schemas.microsoft.com/office/drawing/2014/main" id="{D3667A3F-4C27-F50A-2696-4243AD082E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3200400"/>
          <a:ext cx="6934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27400" imgH="368300" progId="Equation.DSMT4">
                  <p:embed/>
                </p:oleObj>
              </mc:Choice>
              <mc:Fallback>
                <p:oleObj name="Equation" r:id="rId7" imgW="3327400" imgH="368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00400"/>
                        <a:ext cx="69342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9" name="Rectangle 9">
            <a:extLst>
              <a:ext uri="{FF2B5EF4-FFF2-40B4-BE49-F238E27FC236}">
                <a16:creationId xmlns:a16="http://schemas.microsoft.com/office/drawing/2014/main" id="{D0DA16EC-DCB9-2861-CAA6-54B2E48A1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4590" name="Object 8">
            <a:extLst>
              <a:ext uri="{FF2B5EF4-FFF2-40B4-BE49-F238E27FC236}">
                <a16:creationId xmlns:a16="http://schemas.microsoft.com/office/drawing/2014/main" id="{85F1A596-FDA3-C30B-FD7B-E66A5AC6A5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4786313"/>
          <a:ext cx="6286500" cy="141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029200" imgH="1130300" progId="Equation.DSMT4">
                  <p:embed/>
                </p:oleObj>
              </mc:Choice>
              <mc:Fallback>
                <p:oleObj name="Equation" r:id="rId9" imgW="5029200" imgH="1130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4786313"/>
                        <a:ext cx="6286500" cy="1411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Rectangle 11">
            <a:extLst>
              <a:ext uri="{FF2B5EF4-FFF2-40B4-BE49-F238E27FC236}">
                <a16:creationId xmlns:a16="http://schemas.microsoft.com/office/drawing/2014/main" id="{2BEA4872-F207-481E-BE0B-430085AEB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4592" name="Object 10">
            <a:extLst>
              <a:ext uri="{FF2B5EF4-FFF2-40B4-BE49-F238E27FC236}">
                <a16:creationId xmlns:a16="http://schemas.microsoft.com/office/drawing/2014/main" id="{FA762F18-391D-ADC9-867C-156CA7D7EC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038600"/>
          <a:ext cx="2176463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33500" imgH="444500" progId="Equation.DSMT4">
                  <p:embed/>
                </p:oleObj>
              </mc:Choice>
              <mc:Fallback>
                <p:oleObj name="Equation" r:id="rId11" imgW="1333500" imgH="444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038600"/>
                        <a:ext cx="2176463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3" name="Rectangle 13">
            <a:extLst>
              <a:ext uri="{FF2B5EF4-FFF2-40B4-BE49-F238E27FC236}">
                <a16:creationId xmlns:a16="http://schemas.microsoft.com/office/drawing/2014/main" id="{9816795B-5062-E807-AE68-86B8686EF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4594" name="Object 12">
            <a:extLst>
              <a:ext uri="{FF2B5EF4-FFF2-40B4-BE49-F238E27FC236}">
                <a16:creationId xmlns:a16="http://schemas.microsoft.com/office/drawing/2014/main" id="{C18A5815-FBFA-3C5A-F904-10BF2088CF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4038600"/>
          <a:ext cx="225742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84300" imgH="444500" progId="Equation.DSMT4">
                  <p:embed/>
                </p:oleObj>
              </mc:Choice>
              <mc:Fallback>
                <p:oleObj name="Equation" r:id="rId13" imgW="1384300" imgH="4445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038600"/>
                        <a:ext cx="225742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5" name="Text Box 15">
            <a:extLst>
              <a:ext uri="{FF2B5EF4-FFF2-40B4-BE49-F238E27FC236}">
                <a16:creationId xmlns:a16="http://schemas.microsoft.com/office/drawing/2014/main" id="{B78B5CFE-982D-F351-994C-3186E99A9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21DAA5DA-62CA-9813-C69C-8FD9C4B0E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75" y="5500688"/>
            <a:ext cx="50006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1200" b="1" dirty="0">
                <a:solidFill>
                  <a:schemeClr val="bg2">
                    <a:lumMod val="50000"/>
                  </a:schemeClr>
                </a:solidFill>
              </a:rPr>
              <a:t>-N/2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 descr="Large confetti">
            <a:extLst>
              <a:ext uri="{FF2B5EF4-FFF2-40B4-BE49-F238E27FC236}">
                <a16:creationId xmlns:a16="http://schemas.microsoft.com/office/drawing/2014/main" id="{DA08D54E-25D1-F707-4821-2F6F866AA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25603" name="Rectangle 7">
            <a:extLst>
              <a:ext uri="{FF2B5EF4-FFF2-40B4-BE49-F238E27FC236}">
                <a16:creationId xmlns:a16="http://schemas.microsoft.com/office/drawing/2014/main" id="{D184C3D2-9E1C-E0D8-E51A-34D54E2D7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5604" name="Rectangle 9">
            <a:extLst>
              <a:ext uri="{FF2B5EF4-FFF2-40B4-BE49-F238E27FC236}">
                <a16:creationId xmlns:a16="http://schemas.microsoft.com/office/drawing/2014/main" id="{3D4EF855-39DE-88B5-866D-5C202D8CE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5605" name="Rectangle 10">
            <a:extLst>
              <a:ext uri="{FF2B5EF4-FFF2-40B4-BE49-F238E27FC236}">
                <a16:creationId xmlns:a16="http://schemas.microsoft.com/office/drawing/2014/main" id="{9FE211C7-4FDC-8DD3-6DB9-EB82696FA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b="1">
                <a:solidFill>
                  <a:srgbClr val="000000"/>
                </a:solidFill>
              </a:rPr>
              <a:t>Первое деление алгоритма прореживания по времени БПФ по основанию два</a:t>
            </a:r>
          </a:p>
        </p:txBody>
      </p:sp>
      <p:sp>
        <p:nvSpPr>
          <p:cNvPr id="25606" name="Rectangle 2">
            <a:extLst>
              <a:ext uri="{FF2B5EF4-FFF2-40B4-BE49-F238E27FC236}">
                <a16:creationId xmlns:a16="http://schemas.microsoft.com/office/drawing/2014/main" id="{C3719E69-8E7E-2122-FD28-29A0268A6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3508B5CB-8E7B-7D97-9BC5-5222770B6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5608" name="Rectangle 4">
            <a:extLst>
              <a:ext uri="{FF2B5EF4-FFF2-40B4-BE49-F238E27FC236}">
                <a16:creationId xmlns:a16="http://schemas.microsoft.com/office/drawing/2014/main" id="{745B3C2E-C7FD-9CE5-923B-08AEAD1F0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5609" name="Object 11">
            <a:extLst>
              <a:ext uri="{FF2B5EF4-FFF2-40B4-BE49-F238E27FC236}">
                <a16:creationId xmlns:a16="http://schemas.microsoft.com/office/drawing/2014/main" id="{BEBE48AE-EE16-E18E-8FE5-360EB8FA43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981200"/>
          <a:ext cx="9144000" cy="439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462569" imgH="2146892" progId="Visio.Drawing.6">
                  <p:embed/>
                </p:oleObj>
              </mc:Choice>
              <mc:Fallback>
                <p:oleObj name="Visio" r:id="rId3" imgW="4462569" imgH="2146892" progId="Visio.Drawing.6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81200"/>
                        <a:ext cx="9144000" cy="439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Text Box 15">
            <a:extLst>
              <a:ext uri="{FF2B5EF4-FFF2-40B4-BE49-F238E27FC236}">
                <a16:creationId xmlns:a16="http://schemas.microsoft.com/office/drawing/2014/main" id="{6C859CFA-62CB-0E12-2161-99646DB6D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 descr="Large confetti">
            <a:extLst>
              <a:ext uri="{FF2B5EF4-FFF2-40B4-BE49-F238E27FC236}">
                <a16:creationId xmlns:a16="http://schemas.microsoft.com/office/drawing/2014/main" id="{B323046E-31DC-D5EC-AE53-96B395A4A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26627" name="Rectangle 7">
            <a:extLst>
              <a:ext uri="{FF2B5EF4-FFF2-40B4-BE49-F238E27FC236}">
                <a16:creationId xmlns:a16="http://schemas.microsoft.com/office/drawing/2014/main" id="{7FFCB68E-FAD5-5A09-33B4-48A4B30EE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6628" name="Rectangle 9">
            <a:extLst>
              <a:ext uri="{FF2B5EF4-FFF2-40B4-BE49-F238E27FC236}">
                <a16:creationId xmlns:a16="http://schemas.microsoft.com/office/drawing/2014/main" id="{711F4125-A908-AAEB-D3ED-0B5E67C11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6629" name="Rectangle 10">
            <a:extLst>
              <a:ext uri="{FF2B5EF4-FFF2-40B4-BE49-F238E27FC236}">
                <a16:creationId xmlns:a16="http://schemas.microsoft.com/office/drawing/2014/main" id="{60E146E8-5649-1B56-AD58-E1EFAA868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ru-RU" altLang="ru-RU" sz="2800" b="1">
                <a:solidFill>
                  <a:srgbClr val="000000"/>
                </a:solidFill>
              </a:rPr>
              <a:t>Реализация восьмиточечного алгоритма БПФ методом прореживания по времени</a:t>
            </a:r>
            <a:r>
              <a:rPr lang="ru-RU" altLang="ru-RU" sz="2800" b="1" i="1">
                <a:solidFill>
                  <a:srgbClr val="000000"/>
                </a:solidFill>
              </a:rPr>
              <a:t> </a:t>
            </a:r>
            <a:r>
              <a:rPr lang="ru-RU" altLang="ru-RU" sz="2800" b="1">
                <a:solidFill>
                  <a:srgbClr val="000000"/>
                </a:solidFill>
              </a:rPr>
              <a:t>по основанию два</a:t>
            </a:r>
            <a:endParaRPr lang="ru-RU" altLang="ru-RU" sz="2800" b="1" i="1">
              <a:solidFill>
                <a:srgbClr val="000000"/>
              </a:solidFill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07E6721E-12C6-79D1-6C17-B427EC61C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0A3D44F9-2375-4A5A-93A9-24725D303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6632" name="Object 10">
            <a:extLst>
              <a:ext uri="{FF2B5EF4-FFF2-40B4-BE49-F238E27FC236}">
                <a16:creationId xmlns:a16="http://schemas.microsoft.com/office/drawing/2014/main" id="{16955981-1A02-5153-4730-1D139CCE9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3838" y="1828800"/>
          <a:ext cx="6154737" cy="468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344791" imgH="3314468" progId="Visio.Drawing.6">
                  <p:embed/>
                </p:oleObj>
              </mc:Choice>
              <mc:Fallback>
                <p:oleObj name="Visio" r:id="rId3" imgW="4344791" imgH="3314468" progId="Visio.Drawing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1828800"/>
                        <a:ext cx="6154737" cy="468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15">
            <a:extLst>
              <a:ext uri="{FF2B5EF4-FFF2-40B4-BE49-F238E27FC236}">
                <a16:creationId xmlns:a16="http://schemas.microsoft.com/office/drawing/2014/main" id="{5FBF3C7A-3F7B-B637-C3C9-4ADFA1265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 descr="Large confetti">
            <a:extLst>
              <a:ext uri="{FF2B5EF4-FFF2-40B4-BE49-F238E27FC236}">
                <a16:creationId xmlns:a16="http://schemas.microsoft.com/office/drawing/2014/main" id="{537D06D0-1B6C-DF4C-30B4-21E826D06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27651" name="Rectangle 7">
            <a:extLst>
              <a:ext uri="{FF2B5EF4-FFF2-40B4-BE49-F238E27FC236}">
                <a16:creationId xmlns:a16="http://schemas.microsoft.com/office/drawing/2014/main" id="{E0B809DE-9AD8-83B1-ABAB-24B4A094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7652" name="Rectangle 9">
            <a:extLst>
              <a:ext uri="{FF2B5EF4-FFF2-40B4-BE49-F238E27FC236}">
                <a16:creationId xmlns:a16="http://schemas.microsoft.com/office/drawing/2014/main" id="{691D425C-5E38-408A-1ED9-286BFC5B0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7653" name="Rectangle 10">
            <a:extLst>
              <a:ext uri="{FF2B5EF4-FFF2-40B4-BE49-F238E27FC236}">
                <a16:creationId xmlns:a16="http://schemas.microsoft.com/office/drawing/2014/main" id="{5F199C42-8372-B932-46FE-9F8CD79D7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>
                <a:solidFill>
                  <a:srgbClr val="000000"/>
                </a:solidFill>
              </a:rPr>
              <a:t>Граф вычисления бабочки при использовании прореживания во времени по основанию два</a:t>
            </a:r>
            <a:endParaRPr lang="ru-RU" altLang="ru-RU">
              <a:solidFill>
                <a:schemeClr val="tx2"/>
              </a:solidFill>
            </a:endParaRPr>
          </a:p>
        </p:txBody>
      </p:sp>
      <p:sp>
        <p:nvSpPr>
          <p:cNvPr id="27654" name="Rectangle 2">
            <a:extLst>
              <a:ext uri="{FF2B5EF4-FFF2-40B4-BE49-F238E27FC236}">
                <a16:creationId xmlns:a16="http://schemas.microsoft.com/office/drawing/2014/main" id="{C5A65F5B-013F-449B-C697-3073667B0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A7A2E458-54F5-5262-4AD8-E22B9D252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27656" name="Object 14">
            <a:extLst>
              <a:ext uri="{FF2B5EF4-FFF2-40B4-BE49-F238E27FC236}">
                <a16:creationId xmlns:a16="http://schemas.microsoft.com/office/drawing/2014/main" id="{B96139A6-D746-3857-BC33-AE7AB3E19E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9425" y="2286000"/>
          <a:ext cx="564515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583129" imgH="1859404" progId="Visio.Drawing.6">
                  <p:embed/>
                </p:oleObj>
              </mc:Choice>
              <mc:Fallback>
                <p:oleObj name="Visio" r:id="rId3" imgW="4583129" imgH="1859404" progId="Visio.Drawing.6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2286000"/>
                        <a:ext cx="564515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Text Box 15">
            <a:extLst>
              <a:ext uri="{FF2B5EF4-FFF2-40B4-BE49-F238E27FC236}">
                <a16:creationId xmlns:a16="http://schemas.microsoft.com/office/drawing/2014/main" id="{2B2D1E3C-D5AA-40B1-5027-90627651E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C95F5240-C8EB-B749-ADEC-650DABF69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4286250"/>
            <a:ext cx="2857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-</a:t>
            </a:r>
            <a:endParaRPr lang="ru-RU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 descr="Large confetti">
            <a:extLst>
              <a:ext uri="{FF2B5EF4-FFF2-40B4-BE49-F238E27FC236}">
                <a16:creationId xmlns:a16="http://schemas.microsoft.com/office/drawing/2014/main" id="{1ED201E8-AD48-8C90-F1FD-EB6B50D03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6B474777-DDE3-8618-E8A6-6BC1DB283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8676" name="Rectangle 9">
            <a:extLst>
              <a:ext uri="{FF2B5EF4-FFF2-40B4-BE49-F238E27FC236}">
                <a16:creationId xmlns:a16="http://schemas.microsoft.com/office/drawing/2014/main" id="{1F39B5CB-EDB6-F348-322C-FA56D40E8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8677" name="Rectangle 10">
            <a:extLst>
              <a:ext uri="{FF2B5EF4-FFF2-40B4-BE49-F238E27FC236}">
                <a16:creationId xmlns:a16="http://schemas.microsoft.com/office/drawing/2014/main" id="{6EA3BC60-20E1-95FE-6E55-74B0F4899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>
                <a:solidFill>
                  <a:srgbClr val="000000"/>
                </a:solidFill>
              </a:rPr>
              <a:t>Количество операций, выполняемых при вычислении ДПФ и БПФ</a:t>
            </a:r>
            <a:endParaRPr lang="ru-RU" altLang="ru-RU">
              <a:solidFill>
                <a:schemeClr val="tx2"/>
              </a:solidFill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2A0F5D3E-765C-7DBC-4736-9168905B5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179B9813-1C4B-BD77-C67F-E448F1ACF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9377" name="Group 161">
            <a:extLst>
              <a:ext uri="{FF2B5EF4-FFF2-40B4-BE49-F238E27FC236}">
                <a16:creationId xmlns:a16="http://schemas.microsoft.com/office/drawing/2014/main" id="{F85111A6-3838-DA64-C359-38B2E8F6B5D6}"/>
              </a:ext>
            </a:extLst>
          </p:cNvPr>
          <p:cNvGraphicFramePr>
            <a:graphicFrameLocks noGrp="1"/>
          </p:cNvGraphicFramePr>
          <p:nvPr/>
        </p:nvGraphicFramePr>
        <p:xfrm>
          <a:off x="0" y="2071688"/>
          <a:ext cx="9144000" cy="4675369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0247"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Тип </a:t>
                      </a:r>
                      <a:r>
                        <a:rPr kumimoji="0" lang="ru-RU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пре</a:t>
                      </a: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образова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</a:t>
                      </a:r>
                      <a:r>
                        <a:rPr kumimoji="0" lang="ru-RU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ния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Количество умножений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Количество сложений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80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комплекс-ных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действи-тельных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комп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</a:t>
                      </a: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лексных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действи-тельных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1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 точка ДПФ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endParaRPr kumimoji="0" lang="ru-RU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4N</a:t>
                      </a:r>
                      <a:endParaRPr kumimoji="0" lang="ru-RU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N-1</a:t>
                      </a:r>
                      <a:endParaRPr kumimoji="0" lang="ru-RU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2(N-1)+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+2 N =4N-2</a:t>
                      </a:r>
                      <a:endParaRPr kumimoji="0" lang="ru-RU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8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точек ДПФ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28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sz="2800" b="0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4N</a:t>
                      </a:r>
                      <a:r>
                        <a:rPr kumimoji="0" lang="en-US" sz="28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sz="2800" b="0" i="1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(N-1)N</a:t>
                      </a:r>
                      <a:endParaRPr kumimoji="0" lang="ru-RU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(4N-2)N</a:t>
                      </a:r>
                      <a:endParaRPr kumimoji="0" lang="ru-RU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19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БПФ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8717" name="Object 153">
            <a:extLst>
              <a:ext uri="{FF2B5EF4-FFF2-40B4-BE49-F238E27FC236}">
                <a16:creationId xmlns:a16="http://schemas.microsoft.com/office/drawing/2014/main" id="{3BA5A521-15A8-1D17-753D-D17530B474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762625"/>
          <a:ext cx="12192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596900" imgH="368300" progId="Equation.3">
                  <p:embed/>
                </p:oleObj>
              </mc:Choice>
              <mc:Fallback>
                <p:oleObj name="Формула" r:id="rId3" imgW="596900" imgH="368300" progId="Equation.3">
                  <p:embed/>
                  <p:pic>
                    <p:nvPicPr>
                      <p:cNvPr id="0" name="Object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762625"/>
                        <a:ext cx="12192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8" name="Object 154">
            <a:extLst>
              <a:ext uri="{FF2B5EF4-FFF2-40B4-BE49-F238E27FC236}">
                <a16:creationId xmlns:a16="http://schemas.microsoft.com/office/drawing/2014/main" id="{51CC03F7-1B7E-F174-69E8-213679B308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5843588"/>
          <a:ext cx="1752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4725" imgH="203112" progId="Equation.3">
                  <p:embed/>
                </p:oleObj>
              </mc:Choice>
              <mc:Fallback>
                <p:oleObj name="Equation" r:id="rId5" imgW="634725" imgH="203112" progId="Equation.3">
                  <p:embed/>
                  <p:pic>
                    <p:nvPicPr>
                      <p:cNvPr id="0" name="Object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843588"/>
                        <a:ext cx="17526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9" name="Object 157">
            <a:extLst>
              <a:ext uri="{FF2B5EF4-FFF2-40B4-BE49-F238E27FC236}">
                <a16:creationId xmlns:a16="http://schemas.microsoft.com/office/drawing/2014/main" id="{05B86E3E-1A49-B433-4D64-F524BA62F6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5867400"/>
          <a:ext cx="15811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7" imgW="571252" imgH="203112" progId="Equation.3">
                  <p:embed/>
                </p:oleObj>
              </mc:Choice>
              <mc:Fallback>
                <p:oleObj name="Формула" r:id="rId7" imgW="571252" imgH="203112" progId="Equation.3">
                  <p:embed/>
                  <p:pic>
                    <p:nvPicPr>
                      <p:cNvPr id="0" name="Object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867400"/>
                        <a:ext cx="158115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0" name="Object 158">
            <a:extLst>
              <a:ext uri="{FF2B5EF4-FFF2-40B4-BE49-F238E27FC236}">
                <a16:creationId xmlns:a16="http://schemas.microsoft.com/office/drawing/2014/main" id="{B889A8C0-4CCB-2330-5499-F1B5A71870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5929313"/>
          <a:ext cx="213360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9" imgW="1397000" imgH="419100" progId="Equation.3">
                  <p:embed/>
                </p:oleObj>
              </mc:Choice>
              <mc:Fallback>
                <p:oleObj name="Формула" r:id="rId9" imgW="1397000" imgH="419100" progId="Equation.3">
                  <p:embed/>
                  <p:pic>
                    <p:nvPicPr>
                      <p:cNvPr id="0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5929313"/>
                        <a:ext cx="2133600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21" name="Text Box 15">
            <a:extLst>
              <a:ext uri="{FF2B5EF4-FFF2-40B4-BE49-F238E27FC236}">
                <a16:creationId xmlns:a16="http://schemas.microsoft.com/office/drawing/2014/main" id="{DEA90002-6EA5-6A83-806B-873E4EAA7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 descr="Large confetti">
            <a:extLst>
              <a:ext uri="{FF2B5EF4-FFF2-40B4-BE49-F238E27FC236}">
                <a16:creationId xmlns:a16="http://schemas.microsoft.com/office/drawing/2014/main" id="{E45E4E56-CE9D-18CB-0D61-40064D872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29699" name="Rectangle 7">
            <a:extLst>
              <a:ext uri="{FF2B5EF4-FFF2-40B4-BE49-F238E27FC236}">
                <a16:creationId xmlns:a16="http://schemas.microsoft.com/office/drawing/2014/main" id="{8876A4C0-E6E1-B491-D45E-DF6652043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9700" name="Rectangle 9">
            <a:extLst>
              <a:ext uri="{FF2B5EF4-FFF2-40B4-BE49-F238E27FC236}">
                <a16:creationId xmlns:a16="http://schemas.microsoft.com/office/drawing/2014/main" id="{960E8369-812B-7ACF-EE22-7B501E5D6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9701" name="Rectangle 10">
            <a:extLst>
              <a:ext uri="{FF2B5EF4-FFF2-40B4-BE49-F238E27FC236}">
                <a16:creationId xmlns:a16="http://schemas.microsoft.com/office/drawing/2014/main" id="{FE85E875-1E92-1B27-3F96-DD7EC374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>
                <a:solidFill>
                  <a:srgbClr val="000000"/>
                </a:solidFill>
              </a:rPr>
              <a:t>Задачи программной реализации БПФ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1. Хранение значений тильда-коэффициентов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2. Реверсирование разрядов </a:t>
            </a:r>
            <a:endParaRPr lang="ru-RU" altLang="ru-RU">
              <a:solidFill>
                <a:schemeClr val="tx2"/>
              </a:solidFill>
            </a:endParaRPr>
          </a:p>
        </p:txBody>
      </p:sp>
      <p:sp>
        <p:nvSpPr>
          <p:cNvPr id="29702" name="Rectangle 2">
            <a:extLst>
              <a:ext uri="{FF2B5EF4-FFF2-40B4-BE49-F238E27FC236}">
                <a16:creationId xmlns:a16="http://schemas.microsoft.com/office/drawing/2014/main" id="{9E9E646D-2D49-2D97-96A9-BD9C0205B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03B4BC0A-EB1B-C70C-6934-BD96C50E0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29704" name="Text Box 15">
            <a:extLst>
              <a:ext uri="{FF2B5EF4-FFF2-40B4-BE49-F238E27FC236}">
                <a16:creationId xmlns:a16="http://schemas.microsoft.com/office/drawing/2014/main" id="{A68ACE80-7D11-2015-BA9A-E8277F8F3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0AD96D70-ADF6-CB54-F0C5-3971193FCC87}"/>
              </a:ext>
            </a:extLst>
          </p:cNvPr>
          <p:cNvGraphicFramePr>
            <a:graphicFrameLocks noGrp="1"/>
          </p:cNvGraphicFramePr>
          <p:nvPr/>
        </p:nvGraphicFramePr>
        <p:xfrm>
          <a:off x="0" y="2357438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86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До реверсирования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После реверсирования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86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86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86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86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86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86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753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753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44082A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 descr="Large confetti">
            <a:extLst>
              <a:ext uri="{FF2B5EF4-FFF2-40B4-BE49-F238E27FC236}">
                <a16:creationId xmlns:a16="http://schemas.microsoft.com/office/drawing/2014/main" id="{8AE60E58-8B52-9655-271B-7A57428DE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313"/>
            <a:ext cx="91440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A01BE1D2-CF76-1CA6-2AB2-8D02DEFDE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0724" name="Rectangle 9">
            <a:extLst>
              <a:ext uri="{FF2B5EF4-FFF2-40B4-BE49-F238E27FC236}">
                <a16:creationId xmlns:a16="http://schemas.microsoft.com/office/drawing/2014/main" id="{885705A9-1BAF-8393-908E-E21986038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0725" name="Rectangle 10">
            <a:extLst>
              <a:ext uri="{FF2B5EF4-FFF2-40B4-BE49-F238E27FC236}">
                <a16:creationId xmlns:a16="http://schemas.microsoft.com/office/drawing/2014/main" id="{697FE843-C2D7-9E1E-A22C-23E3220C2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>
                <a:solidFill>
                  <a:srgbClr val="000000"/>
                </a:solidFill>
              </a:rPr>
              <a:t>Задачи программной реализации БПФ.</a:t>
            </a:r>
          </a:p>
          <a:p>
            <a:pPr algn="just"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3. Методы компенсации роста битов в цикле бабочек для предотвращения ошибок, связанных с переполнением:</a:t>
            </a:r>
            <a:endParaRPr lang="ru-RU" altLang="ru-RU"/>
          </a:p>
          <a:p>
            <a:pPr algn="just" eaLnBrk="1" hangingPunct="1">
              <a:spcBef>
                <a:spcPct val="0"/>
              </a:spcBef>
              <a:buSzTx/>
              <a:buFont typeface="Times New Roman" panose="02020603050405020304" pitchFamily="18" charset="0"/>
              <a:buChar char="‒"/>
            </a:pPr>
            <a:r>
              <a:rPr lang="ru-RU" altLang="ru-RU"/>
              <a:t> масштабирование входной последовательности;</a:t>
            </a:r>
          </a:p>
          <a:p>
            <a:pPr algn="just" eaLnBrk="1" hangingPunct="1">
              <a:spcBef>
                <a:spcPct val="0"/>
              </a:spcBef>
              <a:buSzTx/>
              <a:buFont typeface="Times New Roman" panose="02020603050405020304" pitchFamily="18" charset="0"/>
              <a:buChar char="‒"/>
            </a:pPr>
            <a:r>
              <a:rPr lang="ru-RU" altLang="ru-RU"/>
              <a:t> безусловное блочное масштабирование выходных данных с плавающей запятой;</a:t>
            </a:r>
          </a:p>
          <a:p>
            <a:pPr algn="just" eaLnBrk="1" hangingPunct="1">
              <a:spcBef>
                <a:spcPct val="0"/>
              </a:spcBef>
              <a:buSzTx/>
              <a:buFont typeface="Times New Roman" panose="02020603050405020304" pitchFamily="18" charset="0"/>
              <a:buChar char="‒"/>
            </a:pPr>
            <a:r>
              <a:rPr lang="ru-RU" altLang="ru-RU"/>
              <a:t> условное блочное масштабирование выходных данных с плавающей запятой.</a:t>
            </a:r>
          </a:p>
          <a:p>
            <a:pPr algn="just">
              <a:spcBef>
                <a:spcPct val="0"/>
              </a:spcBef>
              <a:buSzTx/>
              <a:buFontTx/>
              <a:buNone/>
            </a:pPr>
            <a:endParaRPr lang="ru-RU" altLang="ru-RU" b="1">
              <a:solidFill>
                <a:srgbClr val="000000"/>
              </a:solidFill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4AA16E94-7515-33B5-7BDA-864A48AFF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8B54D9D4-86B1-DFB5-728D-D8D3EBD09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0728" name="Text Box 15">
            <a:extLst>
              <a:ext uri="{FF2B5EF4-FFF2-40B4-BE49-F238E27FC236}">
                <a16:creationId xmlns:a16="http://schemas.microsoft.com/office/drawing/2014/main" id="{48FE36C9-08CA-7135-A3B1-85C2E4B2D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 descr="Large confetti">
            <a:extLst>
              <a:ext uri="{FF2B5EF4-FFF2-40B4-BE49-F238E27FC236}">
                <a16:creationId xmlns:a16="http://schemas.microsoft.com/office/drawing/2014/main" id="{2B3256C3-FD9C-2620-57A4-1ECF5B492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31747" name="Rectangle 7">
            <a:extLst>
              <a:ext uri="{FF2B5EF4-FFF2-40B4-BE49-F238E27FC236}">
                <a16:creationId xmlns:a16="http://schemas.microsoft.com/office/drawing/2014/main" id="{31D5D6BA-E624-1213-A53F-5585A3699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1748" name="Rectangle 9">
            <a:extLst>
              <a:ext uri="{FF2B5EF4-FFF2-40B4-BE49-F238E27FC236}">
                <a16:creationId xmlns:a16="http://schemas.microsoft.com/office/drawing/2014/main" id="{957936D8-3DE4-2BA8-7E55-0A879B250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1749" name="Rectangle 10">
            <a:extLst>
              <a:ext uri="{FF2B5EF4-FFF2-40B4-BE49-F238E27FC236}">
                <a16:creationId xmlns:a16="http://schemas.microsoft.com/office/drawing/2014/main" id="{FADBAF7A-84B3-8BD1-875E-D25654ABF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>
                <a:solidFill>
                  <a:srgbClr val="000000"/>
                </a:solidFill>
              </a:rPr>
              <a:t>Типы БПФ</a:t>
            </a:r>
            <a:endParaRPr lang="ru-RU" altLang="ru-RU">
              <a:solidFill>
                <a:schemeClr val="tx2"/>
              </a:solidFill>
            </a:endParaRPr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1D1A6B66-75D0-B29A-D61D-D97540AE2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0B1E11CB-C434-94F1-636A-B60F73C8F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1752" name="Text Box 15">
            <a:extLst>
              <a:ext uri="{FF2B5EF4-FFF2-40B4-BE49-F238E27FC236}">
                <a16:creationId xmlns:a16="http://schemas.microsoft.com/office/drawing/2014/main" id="{90C3DADE-6C51-F756-F1B4-60FCD29F1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CBB3FC5C-DAEE-3196-A5BC-674EDAA51459}"/>
              </a:ext>
            </a:extLst>
          </p:cNvPr>
          <p:cNvGraphicFramePr>
            <a:graphicFrameLocks noGrp="1"/>
          </p:cNvGraphicFramePr>
          <p:nvPr/>
        </p:nvGraphicFramePr>
        <p:xfrm>
          <a:off x="0" y="1486630"/>
          <a:ext cx="9144000" cy="5371370"/>
        </p:xfrm>
        <a:graphic>
          <a:graphicData uri="http://schemas.openxmlformats.org/drawingml/2006/table">
            <a:tbl>
              <a:tblPr/>
              <a:tblGrid>
                <a:gridCol w="500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1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1992">
                <a:tc rowSpan="2" gridSpan="2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latin typeface="Times New Roman"/>
                        <a:ea typeface="Times New Roman"/>
                      </a:endParaRPr>
                    </a:p>
                  </a:txBody>
                  <a:tcPr marL="39584" marR="39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Тип преобразования</a:t>
                      </a:r>
                    </a:p>
                  </a:txBody>
                  <a:tcPr marL="39584" marR="39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992"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Прямое</a:t>
                      </a:r>
                    </a:p>
                  </a:txBody>
                  <a:tcPr marL="39584" marR="39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Обратное</a:t>
                      </a:r>
                    </a:p>
                  </a:txBody>
                  <a:tcPr marL="39584" marR="39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925">
                <a:tc rowSpan="2">
                  <a:txBody>
                    <a:bodyPr/>
                    <a:lstStyle/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Тип     прореживания</a:t>
                      </a:r>
                    </a:p>
                  </a:txBody>
                  <a:tcPr marL="39584" marR="39584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</a:rPr>
                        <a:t>По времени</a:t>
                      </a:r>
                    </a:p>
                  </a:txBody>
                  <a:tcPr marL="39584" marR="39584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Входная (временная) 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последовательность </a:t>
                      </a: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смешана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.</a:t>
                      </a:r>
                    </a:p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Выходная (частотная) 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последовательность </a:t>
                      </a: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делится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 на первую и вторую половины.</a:t>
                      </a:r>
                    </a:p>
                  </a:txBody>
                  <a:tcPr marL="39584" marR="39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Входная (частотная) 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последовательность </a:t>
                      </a: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делится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 на первую и вторую половины.</a:t>
                      </a:r>
                    </a:p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Выходная (временная) 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последовательность </a:t>
                      </a: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смешана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.</a:t>
                      </a:r>
                    </a:p>
                  </a:txBody>
                  <a:tcPr marL="39584" marR="39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9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По частоте</a:t>
                      </a:r>
                    </a:p>
                  </a:txBody>
                  <a:tcPr marL="39584" marR="39584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Входная (временная) 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последовательность </a:t>
                      </a: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делится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 на первую и вторую половины.</a:t>
                      </a:r>
                    </a:p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Выходная (частотная) 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последовательность </a:t>
                      </a: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смешана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.</a:t>
                      </a:r>
                    </a:p>
                  </a:txBody>
                  <a:tcPr marL="39584" marR="39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Входная (частотная) 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последовательность </a:t>
                      </a: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смешана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.</a:t>
                      </a:r>
                    </a:p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Выходная (временная) 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последовательность делится на первую и вторую </a:t>
                      </a:r>
                      <a:r>
                        <a:rPr lang="ru-RU" sz="2400" b="1" dirty="0">
                          <a:latin typeface="Times New Roman"/>
                          <a:ea typeface="Times New Roman"/>
                        </a:rPr>
                        <a:t>половины</a:t>
                      </a: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.</a:t>
                      </a:r>
                    </a:p>
                  </a:txBody>
                  <a:tcPr marL="39584" marR="39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 descr="Large confetti">
            <a:extLst>
              <a:ext uri="{FF2B5EF4-FFF2-40B4-BE49-F238E27FC236}">
                <a16:creationId xmlns:a16="http://schemas.microsoft.com/office/drawing/2014/main" id="{5BE8F856-BE84-808A-F951-96A5A3DF7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313"/>
            <a:ext cx="91440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32771" name="Rectangle 7">
            <a:extLst>
              <a:ext uri="{FF2B5EF4-FFF2-40B4-BE49-F238E27FC236}">
                <a16:creationId xmlns:a16="http://schemas.microsoft.com/office/drawing/2014/main" id="{F879E19D-35DE-23E6-7703-11DB129F6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2772" name="Rectangle 9">
            <a:extLst>
              <a:ext uri="{FF2B5EF4-FFF2-40B4-BE49-F238E27FC236}">
                <a16:creationId xmlns:a16="http://schemas.microsoft.com/office/drawing/2014/main" id="{C3D93F52-F2AB-7A4D-31D1-DFBA85A64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2773" name="Rectangle 10">
            <a:extLst>
              <a:ext uri="{FF2B5EF4-FFF2-40B4-BE49-F238E27FC236}">
                <a16:creationId xmlns:a16="http://schemas.microsoft.com/office/drawing/2014/main" id="{5CE8D18F-CADC-9270-AD56-E9E1C846D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Вычисление ДПФ методом прореживания по частоте по основанию два.</a:t>
            </a:r>
            <a:endParaRPr lang="ru-RU" altLang="ru-RU" b="1">
              <a:solidFill>
                <a:srgbClr val="000000"/>
              </a:solidFill>
            </a:endParaRPr>
          </a:p>
        </p:txBody>
      </p:sp>
      <p:sp>
        <p:nvSpPr>
          <p:cNvPr id="32774" name="Rectangle 2">
            <a:extLst>
              <a:ext uri="{FF2B5EF4-FFF2-40B4-BE49-F238E27FC236}">
                <a16:creationId xmlns:a16="http://schemas.microsoft.com/office/drawing/2014/main" id="{3DB778AB-4346-8D3B-E14E-B781C993B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E04F8F06-A88A-158C-337C-2423BEEF8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2776" name="Text Box 15">
            <a:extLst>
              <a:ext uri="{FF2B5EF4-FFF2-40B4-BE49-F238E27FC236}">
                <a16:creationId xmlns:a16="http://schemas.microsoft.com/office/drawing/2014/main" id="{195E2D72-A8E9-5E25-56AC-BDA793D7A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sp>
        <p:nvSpPr>
          <p:cNvPr id="32777" name="Rectangle 10">
            <a:extLst>
              <a:ext uri="{FF2B5EF4-FFF2-40B4-BE49-F238E27FC236}">
                <a16:creationId xmlns:a16="http://schemas.microsoft.com/office/drawing/2014/main" id="{01D3E732-0BBB-F700-063C-BA6B3422F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32778" name="Object 9">
            <a:extLst>
              <a:ext uri="{FF2B5EF4-FFF2-40B4-BE49-F238E27FC236}">
                <a16:creationId xmlns:a16="http://schemas.microsoft.com/office/drawing/2014/main" id="{C2FBAC47-304D-D5E3-E9B5-87C6FBED24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5525" y="1792288"/>
          <a:ext cx="7046913" cy="299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2603500" imgH="1104900" progId="Equation.3">
                  <p:embed/>
                </p:oleObj>
              </mc:Choice>
              <mc:Fallback>
                <p:oleObj name="Формула" r:id="rId3" imgW="2603500" imgH="1104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1792288"/>
                        <a:ext cx="7046913" cy="299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Rectangle 12">
            <a:extLst>
              <a:ext uri="{FF2B5EF4-FFF2-40B4-BE49-F238E27FC236}">
                <a16:creationId xmlns:a16="http://schemas.microsoft.com/office/drawing/2014/main" id="{BA6D9D89-5643-75FF-BCF5-07AD3B574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32780" name="Object 11">
            <a:extLst>
              <a:ext uri="{FF2B5EF4-FFF2-40B4-BE49-F238E27FC236}">
                <a16:creationId xmlns:a16="http://schemas.microsoft.com/office/drawing/2014/main" id="{2D671B02-3588-1E65-FB14-00208369CE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3438" y="4857750"/>
          <a:ext cx="7453312" cy="154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5" imgW="2755900" imgH="571500" progId="Equation.3">
                  <p:embed/>
                </p:oleObj>
              </mc:Choice>
              <mc:Fallback>
                <p:oleObj name="Формула" r:id="rId5" imgW="2755900" imgH="571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4857750"/>
                        <a:ext cx="7453312" cy="154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 descr="Large confetti">
            <a:extLst>
              <a:ext uri="{FF2B5EF4-FFF2-40B4-BE49-F238E27FC236}">
                <a16:creationId xmlns:a16="http://schemas.microsoft.com/office/drawing/2014/main" id="{0AABC122-A675-E715-D3BF-03F9FC38F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313"/>
            <a:ext cx="91440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33795" name="Rectangle 7">
            <a:extLst>
              <a:ext uri="{FF2B5EF4-FFF2-40B4-BE49-F238E27FC236}">
                <a16:creationId xmlns:a16="http://schemas.microsoft.com/office/drawing/2014/main" id="{5895F602-5D7B-7B98-CA7D-9BE02A7C9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3796" name="Rectangle 9">
            <a:extLst>
              <a:ext uri="{FF2B5EF4-FFF2-40B4-BE49-F238E27FC236}">
                <a16:creationId xmlns:a16="http://schemas.microsoft.com/office/drawing/2014/main" id="{0A2021E4-C3EC-5C52-BBD4-901CE64EB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3797" name="Rectangle 10">
            <a:extLst>
              <a:ext uri="{FF2B5EF4-FFF2-40B4-BE49-F238E27FC236}">
                <a16:creationId xmlns:a16="http://schemas.microsoft.com/office/drawing/2014/main" id="{3C24453C-E061-8830-E0D4-35B24D804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Вычисление ДПФ методом прореживания по частоте по основанию два.</a:t>
            </a:r>
            <a:endParaRPr lang="ru-RU" altLang="ru-RU" b="1">
              <a:solidFill>
                <a:srgbClr val="000000"/>
              </a:solidFill>
            </a:endParaRPr>
          </a:p>
        </p:txBody>
      </p:sp>
      <p:sp>
        <p:nvSpPr>
          <p:cNvPr id="33798" name="Rectangle 2">
            <a:extLst>
              <a:ext uri="{FF2B5EF4-FFF2-40B4-BE49-F238E27FC236}">
                <a16:creationId xmlns:a16="http://schemas.microsoft.com/office/drawing/2014/main" id="{343FA094-C14C-16BD-6CFF-C5418D5EF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6EE285EF-DEDC-AE02-4773-DBE4D9559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3800" name="Text Box 15">
            <a:extLst>
              <a:ext uri="{FF2B5EF4-FFF2-40B4-BE49-F238E27FC236}">
                <a16:creationId xmlns:a16="http://schemas.microsoft.com/office/drawing/2014/main" id="{DE39DDD0-325D-02D2-41C3-FEFA7BFE5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sp>
        <p:nvSpPr>
          <p:cNvPr id="33801" name="Rectangle 2">
            <a:extLst>
              <a:ext uri="{FF2B5EF4-FFF2-40B4-BE49-F238E27FC236}">
                <a16:creationId xmlns:a16="http://schemas.microsoft.com/office/drawing/2014/main" id="{77737496-FD14-3470-435E-2984C0C19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33802" name="Object 1">
            <a:extLst>
              <a:ext uri="{FF2B5EF4-FFF2-40B4-BE49-F238E27FC236}">
                <a16:creationId xmlns:a16="http://schemas.microsoft.com/office/drawing/2014/main" id="{6C492394-54E1-5B65-0501-3BC130FEDF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1714500"/>
          <a:ext cx="6586538" cy="266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2425700" imgH="977900" progId="Equation.3">
                  <p:embed/>
                </p:oleObj>
              </mc:Choice>
              <mc:Fallback>
                <p:oleObj name="Формула" r:id="rId3" imgW="2425700" imgH="977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714500"/>
                        <a:ext cx="6586538" cy="266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Rectangle 4">
            <a:extLst>
              <a:ext uri="{FF2B5EF4-FFF2-40B4-BE49-F238E27FC236}">
                <a16:creationId xmlns:a16="http://schemas.microsoft.com/office/drawing/2014/main" id="{91B331F6-19DA-FBDB-2AD1-4ED8F413E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3804" name="Rectangle 6">
            <a:extLst>
              <a:ext uri="{FF2B5EF4-FFF2-40B4-BE49-F238E27FC236}">
                <a16:creationId xmlns:a16="http://schemas.microsoft.com/office/drawing/2014/main" id="{76E418B9-0CC2-9270-131B-FD0C70AB1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 descr="Large confetti">
            <a:extLst>
              <a:ext uri="{FF2B5EF4-FFF2-40B4-BE49-F238E27FC236}">
                <a16:creationId xmlns:a16="http://schemas.microsoft.com/office/drawing/2014/main" id="{2EA14DB9-E93A-19A7-ECBF-918A3666E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313"/>
            <a:ext cx="91440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34819" name="Rectangle 7">
            <a:extLst>
              <a:ext uri="{FF2B5EF4-FFF2-40B4-BE49-F238E27FC236}">
                <a16:creationId xmlns:a16="http://schemas.microsoft.com/office/drawing/2014/main" id="{FC08F9CC-4E1A-678B-05BB-0E6A1D18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4820" name="Rectangle 9">
            <a:extLst>
              <a:ext uri="{FF2B5EF4-FFF2-40B4-BE49-F238E27FC236}">
                <a16:creationId xmlns:a16="http://schemas.microsoft.com/office/drawing/2014/main" id="{600BE9B2-AAA4-1037-0B72-628D79103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4821" name="Rectangle 10">
            <a:extLst>
              <a:ext uri="{FF2B5EF4-FFF2-40B4-BE49-F238E27FC236}">
                <a16:creationId xmlns:a16="http://schemas.microsoft.com/office/drawing/2014/main" id="{BD489DF6-DE5D-7611-39F0-95D5A852A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/>
              <a:t>Вычисление ДПФ методом прореживания по частоте по основанию два.</a:t>
            </a:r>
            <a:endParaRPr lang="ru-RU" altLang="ru-RU" b="1">
              <a:solidFill>
                <a:srgbClr val="000000"/>
              </a:solidFill>
            </a:endParaRPr>
          </a:p>
        </p:txBody>
      </p:sp>
      <p:sp>
        <p:nvSpPr>
          <p:cNvPr id="34822" name="Rectangle 2">
            <a:extLst>
              <a:ext uri="{FF2B5EF4-FFF2-40B4-BE49-F238E27FC236}">
                <a16:creationId xmlns:a16="http://schemas.microsoft.com/office/drawing/2014/main" id="{DA45C9F4-3F2E-655C-E678-D9795BC1A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AFF248DE-6B15-E3B5-5CB6-BDC7C486B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4824" name="Text Box 15">
            <a:extLst>
              <a:ext uri="{FF2B5EF4-FFF2-40B4-BE49-F238E27FC236}">
                <a16:creationId xmlns:a16="http://schemas.microsoft.com/office/drawing/2014/main" id="{5804D5D7-42CA-5474-3C8D-3B435023D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sp>
        <p:nvSpPr>
          <p:cNvPr id="34825" name="Rectangle 2">
            <a:extLst>
              <a:ext uri="{FF2B5EF4-FFF2-40B4-BE49-F238E27FC236}">
                <a16:creationId xmlns:a16="http://schemas.microsoft.com/office/drawing/2014/main" id="{DD13EEF9-C80A-E14A-4E38-88E3D6739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4826" name="Rectangle 4">
            <a:extLst>
              <a:ext uri="{FF2B5EF4-FFF2-40B4-BE49-F238E27FC236}">
                <a16:creationId xmlns:a16="http://schemas.microsoft.com/office/drawing/2014/main" id="{2BA9B1D9-2F0B-7578-CF7F-EBBAD63E4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34827" name="Object 3">
            <a:extLst>
              <a:ext uri="{FF2B5EF4-FFF2-40B4-BE49-F238E27FC236}">
                <a16:creationId xmlns:a16="http://schemas.microsoft.com/office/drawing/2014/main" id="{FC4BD4C6-DC36-E95C-6E8A-36A75F1A26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1785938"/>
          <a:ext cx="5976938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2387600" imgH="990600" progId="Equation.3">
                  <p:embed/>
                </p:oleObj>
              </mc:Choice>
              <mc:Fallback>
                <p:oleObj name="Формула" r:id="rId3" imgW="2387600" imgH="990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1785938"/>
                        <a:ext cx="5976938" cy="247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8" name="Rectangle 6">
            <a:extLst>
              <a:ext uri="{FF2B5EF4-FFF2-40B4-BE49-F238E27FC236}">
                <a16:creationId xmlns:a16="http://schemas.microsoft.com/office/drawing/2014/main" id="{9438F966-E508-89AF-F644-B9904DD61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graphicFrame>
        <p:nvGraphicFramePr>
          <p:cNvPr id="34829" name="Object 4">
            <a:extLst>
              <a:ext uri="{FF2B5EF4-FFF2-40B4-BE49-F238E27FC236}">
                <a16:creationId xmlns:a16="http://schemas.microsoft.com/office/drawing/2014/main" id="{7DC118BD-22E3-D929-5661-D078EF4AC4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0925" y="4214813"/>
          <a:ext cx="6592888" cy="240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5" imgW="2641600" imgH="965200" progId="Equation.3">
                  <p:embed/>
                </p:oleObj>
              </mc:Choice>
              <mc:Fallback>
                <p:oleObj name="Формула" r:id="rId5" imgW="2641600" imgH="965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4214813"/>
                        <a:ext cx="6592888" cy="240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 descr="Large confetti">
            <a:extLst>
              <a:ext uri="{FF2B5EF4-FFF2-40B4-BE49-F238E27FC236}">
                <a16:creationId xmlns:a16="http://schemas.microsoft.com/office/drawing/2014/main" id="{6222F278-4419-B20B-DC66-824581622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35843" name="Rectangle 7">
            <a:extLst>
              <a:ext uri="{FF2B5EF4-FFF2-40B4-BE49-F238E27FC236}">
                <a16:creationId xmlns:a16="http://schemas.microsoft.com/office/drawing/2014/main" id="{6E1B2B9A-B4E1-6049-1280-C731573BD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5844" name="Rectangle 9">
            <a:extLst>
              <a:ext uri="{FF2B5EF4-FFF2-40B4-BE49-F238E27FC236}">
                <a16:creationId xmlns:a16="http://schemas.microsoft.com/office/drawing/2014/main" id="{95259096-DEF2-8616-8060-478952D11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5845" name="Rectangle 10">
            <a:extLst>
              <a:ext uri="{FF2B5EF4-FFF2-40B4-BE49-F238E27FC236}">
                <a16:creationId xmlns:a16="http://schemas.microsoft.com/office/drawing/2014/main" id="{9DDC1567-FB6C-4ED7-E130-8091295E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8688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ru-RU" altLang="ru-RU" b="1">
                <a:solidFill>
                  <a:schemeClr val="tx2"/>
                </a:solidFill>
              </a:rPr>
              <a:t>Индивидуальные задания</a:t>
            </a:r>
          </a:p>
        </p:txBody>
      </p:sp>
      <p:sp>
        <p:nvSpPr>
          <p:cNvPr id="35846" name="Rectangle 2">
            <a:extLst>
              <a:ext uri="{FF2B5EF4-FFF2-40B4-BE49-F238E27FC236}">
                <a16:creationId xmlns:a16="http://schemas.microsoft.com/office/drawing/2014/main" id="{C721EF0B-163A-FC68-98C7-66F439EB9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772E89EE-6A0E-4193-EA81-134AB9525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5848" name="Text Box 15">
            <a:extLst>
              <a:ext uri="{FF2B5EF4-FFF2-40B4-BE49-F238E27FC236}">
                <a16:creationId xmlns:a16="http://schemas.microsoft.com/office/drawing/2014/main" id="{1FB667D6-D2B1-073C-504F-9821940C4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4748A043-A94A-2DFE-EA0E-F83BF5A4095A}"/>
              </a:ext>
            </a:extLst>
          </p:cNvPr>
          <p:cNvGraphicFramePr>
            <a:graphicFrameLocks noGrp="1"/>
          </p:cNvGraphicFramePr>
          <p:nvPr/>
        </p:nvGraphicFramePr>
        <p:xfrm>
          <a:off x="0" y="1397000"/>
          <a:ext cx="9128125" cy="5267325"/>
        </p:xfrm>
        <a:graphic>
          <a:graphicData uri="http://schemas.openxmlformats.org/drawingml/2006/table">
            <a:tbl>
              <a:tblPr/>
              <a:tblGrid>
                <a:gridCol w="107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90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5258">
                <a:tc rowSpan="2"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Прореживание по основанию два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Прореживание по основанию четыре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5775"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Составить граф вычис-ления ба-бочки.* 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Составить схему первого деления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Составить схему 8-точечного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Составить граф вычис-ления ба-бочки.* 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Составить схему первого деления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Составить схему 16-точечного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58"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Проре-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жива-ние по час-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тоте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БПФ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Бонда-рев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8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ОБПФ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58"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Проре-жива-ние по вре-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мени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БПФ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Лазарев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 лекции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 лекции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88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ОБПФ</a:t>
                      </a: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0030" marR="3003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 descr="Large confetti">
            <a:extLst>
              <a:ext uri="{FF2B5EF4-FFF2-40B4-BE49-F238E27FC236}">
                <a16:creationId xmlns:a16="http://schemas.microsoft.com/office/drawing/2014/main" id="{4A00774C-D91D-9603-5ADE-1A7D1FD5A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ru-RU" altLang="ru-RU" sz="2800" b="1"/>
              <a:t>Методы и средства цифровой обработки информации</a:t>
            </a:r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B2C7B6B0-EFCA-804F-FBBF-DF51E7B72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6868" name="Rectangle 9">
            <a:extLst>
              <a:ext uri="{FF2B5EF4-FFF2-40B4-BE49-F238E27FC236}">
                <a16:creationId xmlns:a16="http://schemas.microsoft.com/office/drawing/2014/main" id="{D5FC397A-C171-4CA6-1971-7C8F09C56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6371466C-D606-6252-D56A-C84E98D74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6870" name="Rectangle 7">
            <a:extLst>
              <a:ext uri="{FF2B5EF4-FFF2-40B4-BE49-F238E27FC236}">
                <a16:creationId xmlns:a16="http://schemas.microsoft.com/office/drawing/2014/main" id="{7217BBE5-A8B3-9B2A-8EE7-220840A4A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ru-RU" altLang="ru-RU" sz="2400"/>
          </a:p>
        </p:txBody>
      </p:sp>
      <p:sp>
        <p:nvSpPr>
          <p:cNvPr id="36871" name="Text Box 15">
            <a:extLst>
              <a:ext uri="{FF2B5EF4-FFF2-40B4-BE49-F238E27FC236}">
                <a16:creationId xmlns:a16="http://schemas.microsoft.com/office/drawing/2014/main" id="{695D4442-5458-0EFD-9058-728489A7D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6400800"/>
            <a:ext cx="65008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Tx/>
              <a:buNone/>
            </a:pPr>
            <a:r>
              <a:rPr lang="ru-RU" altLang="ru-RU" sz="2400"/>
              <a:t>Лекция </a:t>
            </a:r>
            <a:r>
              <a:rPr lang="en-US" altLang="ru-RU" sz="2400"/>
              <a:t>10</a:t>
            </a:r>
            <a:r>
              <a:rPr lang="ru-RU" altLang="ru-RU" sz="2400"/>
              <a:t>. </a:t>
            </a:r>
            <a:r>
              <a:rPr lang="ru-RU" altLang="ru-RU" sz="2400" b="1"/>
              <a:t>Дискретное преобразование Фурье</a:t>
            </a:r>
            <a:endParaRPr lang="ru-RU" altLang="ru-RU" sz="2400" b="1" i="1"/>
          </a:p>
        </p:txBody>
      </p:sp>
      <p:pic>
        <p:nvPicPr>
          <p:cNvPr id="36873" name="Picture 3">
            <a:extLst>
              <a:ext uri="{FF2B5EF4-FFF2-40B4-BE49-F238E27FC236}">
                <a16:creationId xmlns:a16="http://schemas.microsoft.com/office/drawing/2014/main" id="{4936465D-0678-FD0B-1412-4530272FC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9475"/>
            <a:ext cx="3214688" cy="597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25DCC1A0-039A-102A-CBA3-B50E228BF9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529276"/>
              </p:ext>
            </p:extLst>
          </p:nvPr>
        </p:nvGraphicFramePr>
        <p:xfrm>
          <a:off x="3000520" y="1118755"/>
          <a:ext cx="6154737" cy="468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344791" imgH="3314468" progId="Visio.Drawing.6">
                  <p:embed/>
                </p:oleObj>
              </mc:Choice>
              <mc:Fallback>
                <p:oleObj name="Visio" r:id="rId4" imgW="4344791" imgH="3314468" progId="Visio.Drawing.6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3978A5A0-1E24-2297-ECF3-91B45FBFDA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520" y="1118755"/>
                        <a:ext cx="6154737" cy="468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Рисовая бумага">
  <a:themeElements>
    <a:clrScheme name="Рисовая бумага 2">
      <a:dk1>
        <a:srgbClr val="00264C"/>
      </a:dk1>
      <a:lt1>
        <a:srgbClr val="FFFFE9"/>
      </a:lt1>
      <a:dk2>
        <a:srgbClr val="333333"/>
      </a:dk2>
      <a:lt2>
        <a:srgbClr val="333333"/>
      </a:lt2>
      <a:accent1>
        <a:srgbClr val="78C0B2"/>
      </a:accent1>
      <a:accent2>
        <a:srgbClr val="262D4C"/>
      </a:accent2>
      <a:accent3>
        <a:srgbClr val="FFFFF2"/>
      </a:accent3>
      <a:accent4>
        <a:srgbClr val="001F40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Рисовая бумага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Рисовая бумага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Рисовая бумага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Рисовая бумага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Рисовая бумага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Рисовая бумага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6380A0290AF84484F859C9FFD97568" ma:contentTypeVersion="12" ma:contentTypeDescription="Create a new document." ma:contentTypeScope="" ma:versionID="cf54314a2294cc51bca07dd21acfd142">
  <xsd:schema xmlns:xsd="http://www.w3.org/2001/XMLSchema" xmlns:xs="http://www.w3.org/2001/XMLSchema" xmlns:p="http://schemas.microsoft.com/office/2006/metadata/properties" xmlns:ns2="bffb7b91-0466-4de0-9379-f5c53c3acedf" xmlns:ns3="b78dbef7-f85b-47b5-8738-6377d50f4027" targetNamespace="http://schemas.microsoft.com/office/2006/metadata/properties" ma:root="true" ma:fieldsID="e7fe3ad7f24e9b7702c01ae7f09f4209" ns2:_="" ns3:_="">
    <xsd:import namespace="bffb7b91-0466-4de0-9379-f5c53c3acedf"/>
    <xsd:import namespace="b78dbef7-f85b-47b5-8738-6377d50f40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fb7b91-0466-4de0-9379-f5c53c3ace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36f47c-10d0-40be-bc11-4282b17364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8dbef7-f85b-47b5-8738-6377d50f402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00abce2-0e1e-4c89-8b2b-0842737d5961}" ma:internalName="TaxCatchAll" ma:showField="CatchAllData" ma:web="b78dbef7-f85b-47b5-8738-6377d50f40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78dbef7-f85b-47b5-8738-6377d50f4027" xsi:nil="true"/>
    <lcf76f155ced4ddcb4097134ff3c332f xmlns="bffb7b91-0466-4de0-9379-f5c53c3acedf">
      <Terms xmlns="http://schemas.microsoft.com/office/infopath/2007/PartnerControls"/>
    </lcf76f155ced4ddcb4097134ff3c332f>
  </documentManagement>
</p:properties>
</file>

<file path=customXml/item4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4D1A93DC-4504-47C1-B8EF-0C3141792ACB}"/>
</file>

<file path=customXml/itemProps2.xml><?xml version="1.0" encoding="utf-8"?>
<ds:datastoreItem xmlns:ds="http://schemas.openxmlformats.org/officeDocument/2006/customXml" ds:itemID="{7771467E-C9BB-470B-8803-47DB2872ED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46929F-3BFE-457E-A3B9-195B4D5BCAC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F9C9A760-926D-46C3-8181-7E4D9B300E5C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Designs\Рисовая бумага.pot</Template>
  <TotalTime>3520</TotalTime>
  <Words>1145</Words>
  <Application>Microsoft Office PowerPoint</Application>
  <PresentationFormat>Экран (4:3)</PresentationFormat>
  <Paragraphs>274</Paragraphs>
  <Slides>33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4" baseType="lpstr">
      <vt:lpstr>Рисовая бумага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МИИТ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СЕМЬЯ СИДОРЕНКО</dc:creator>
  <cp:lastModifiedBy>Валентина</cp:lastModifiedBy>
  <cp:revision>239</cp:revision>
  <dcterms:created xsi:type="dcterms:W3CDTF">2008-09-09T04:05:39Z</dcterms:created>
  <dcterms:modified xsi:type="dcterms:W3CDTF">2022-11-01T11:35:52Z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d_Signature">
    <vt:lpwstr/>
  </property>
  <property fmtid="{D5CDD505-2E9C-101B-9397-08002B2CF9AE}" pid="3" name="display_urn:schemas-microsoft-com:office:office#Editor">
    <vt:lpwstr>Сидоренко Валентина Геннадьевна</vt:lpwstr>
  </property>
  <property fmtid="{D5CDD505-2E9C-101B-9397-08002B2CF9AE}" pid="4" name="Order">
    <vt:r8>3400</vt:r8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display_urn:schemas-microsoft-com:office:office#Author">
    <vt:lpwstr>Сидоренко Валентина Геннадьевна</vt:lpwstr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ContentTypeId">
    <vt:lpwstr>0x0101004F6380A0290AF84484F859C9FFD97568</vt:lpwstr>
  </property>
  <property fmtid="{D5CDD505-2E9C-101B-9397-08002B2CF9AE}" pid="11" name="TriggerFlowInfo">
    <vt:lpwstr/>
  </property>
  <property fmtid="{D5CDD505-2E9C-101B-9397-08002B2CF9AE}" pid="12" name="_SourceUrl">
    <vt:lpwstr/>
  </property>
  <property fmtid="{D5CDD505-2E9C-101B-9397-08002B2CF9AE}" pid="13" name="_SharedFileIndex">
    <vt:lpwstr/>
  </property>
</Properties>
</file>