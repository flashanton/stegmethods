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25"/>
  </p:notesMasterIdLst>
  <p:sldIdLst>
    <p:sldId id="300" r:id="rId3"/>
    <p:sldId id="344" r:id="rId4"/>
    <p:sldId id="336" r:id="rId5"/>
    <p:sldId id="346" r:id="rId6"/>
    <p:sldId id="347" r:id="rId7"/>
    <p:sldId id="337" r:id="rId8"/>
    <p:sldId id="345" r:id="rId9"/>
    <p:sldId id="348" r:id="rId10"/>
    <p:sldId id="349" r:id="rId11"/>
    <p:sldId id="350" r:id="rId12"/>
    <p:sldId id="351" r:id="rId13"/>
    <p:sldId id="352" r:id="rId14"/>
    <p:sldId id="338" r:id="rId15"/>
    <p:sldId id="339" r:id="rId16"/>
    <p:sldId id="340" r:id="rId17"/>
    <p:sldId id="341" r:id="rId18"/>
    <p:sldId id="342" r:id="rId19"/>
    <p:sldId id="343" r:id="rId20"/>
    <p:sldId id="353" r:id="rId21"/>
    <p:sldId id="354" r:id="rId22"/>
    <p:sldId id="355" r:id="rId23"/>
    <p:sldId id="356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D1"/>
    <a:srgbClr val="C06060"/>
    <a:srgbClr val="D8966B"/>
    <a:srgbClr val="D88E6B"/>
    <a:srgbClr val="D0C76B"/>
    <a:srgbClr val="BAC36B"/>
    <a:srgbClr val="74AA6B"/>
    <a:srgbClr val="73AA6B"/>
    <a:srgbClr val="6FA96B"/>
    <a:srgbClr val="6BA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4AC40-A19C-4D39-ABFB-4D1721371D20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33229-F647-4FE0-ACDC-2B1C341ED3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73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90512" y="3907171"/>
            <a:ext cx="5505450" cy="913554"/>
          </a:xfrm>
        </p:spPr>
        <p:txBody>
          <a:bodyPr anchor="b">
            <a:normAutofit/>
          </a:bodyPr>
          <a:lstStyle>
            <a:lvl1pPr algn="l">
              <a:defRPr sz="30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Open Sans Semibold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90512" y="5401896"/>
            <a:ext cx="5505450" cy="443051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ФИО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917FFC3-DAD3-2943-9228-3552C66AEED2}"/>
              </a:ext>
            </a:extLst>
          </p:cNvPr>
          <p:cNvSpPr/>
          <p:nvPr/>
        </p:nvSpPr>
        <p:spPr>
          <a:xfrm>
            <a:off x="10792691" y="0"/>
            <a:ext cx="608797" cy="6858000"/>
          </a:xfrm>
          <a:prstGeom prst="rect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8B69D66-C071-844D-A49B-8ACCF11BF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674" y="3907171"/>
            <a:ext cx="4145996" cy="29894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DBB7CA-93D2-A74B-80DA-F6435519A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12" y="775808"/>
            <a:ext cx="5893419" cy="715546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6767676-BA22-5545-BA62-0116445D557B}"/>
              </a:ext>
            </a:extLst>
          </p:cNvPr>
          <p:cNvCxnSpPr>
            <a:cxnSpLocks/>
          </p:cNvCxnSpPr>
          <p:nvPr/>
        </p:nvCxnSpPr>
        <p:spPr>
          <a:xfrm>
            <a:off x="790512" y="5084955"/>
            <a:ext cx="859868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82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1" y="319731"/>
            <a:ext cx="10180720" cy="506896"/>
          </a:xfrm>
        </p:spPr>
        <p:txBody>
          <a:bodyPr>
            <a:noAutofit/>
          </a:bodyPr>
          <a:lstStyle>
            <a:lvl1pPr algn="l">
              <a:defRPr sz="3600" b="0" i="0">
                <a:solidFill>
                  <a:schemeClr val="accent2"/>
                </a:solidFill>
                <a:latin typeface="+mn-lt"/>
                <a:ea typeface="Open Sans Light" charset="0"/>
                <a:cs typeface="Open Sans Light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7044" y="1193801"/>
            <a:ext cx="10866756" cy="4749800"/>
          </a:xfrm>
        </p:spPr>
        <p:txBody>
          <a:bodyPr/>
          <a:lstStyle>
            <a:lvl1pPr>
              <a:defRPr b="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>
              <a:defRPr b="0" i="0">
                <a:latin typeface="+mn-lt"/>
                <a:ea typeface="Open Sans Light" charset="0"/>
                <a:cs typeface="Open Sans Light" charset="0"/>
              </a:defRPr>
            </a:lvl2pPr>
            <a:lvl3pPr>
              <a:defRPr b="0" i="0">
                <a:latin typeface="+mn-lt"/>
                <a:ea typeface="Open Sans Light" charset="0"/>
                <a:cs typeface="Open Sans Light" charset="0"/>
              </a:defRPr>
            </a:lvl3pPr>
            <a:lvl4pPr>
              <a:defRPr b="0" i="0">
                <a:latin typeface="+mn-lt"/>
                <a:ea typeface="Open Sans Light" charset="0"/>
                <a:cs typeface="Open Sans Light" charset="0"/>
              </a:defRPr>
            </a:lvl4pPr>
            <a:lvl5pPr>
              <a:defRPr b="0" i="0">
                <a:latin typeface="+mn-lt"/>
                <a:ea typeface="Open Sans Light" charset="0"/>
                <a:cs typeface="Open Sans Light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487044" y="345373"/>
            <a:ext cx="0" cy="4556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E54CA7C-5720-E64A-B9FA-E9BEE5119AED}"/>
              </a:ext>
            </a:extLst>
          </p:cNvPr>
          <p:cNvSpPr/>
          <p:nvPr/>
        </p:nvSpPr>
        <p:spPr>
          <a:xfrm>
            <a:off x="11515236" y="6296891"/>
            <a:ext cx="608797" cy="561109"/>
          </a:xfrm>
          <a:prstGeom prst="rect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515235" y="6387440"/>
            <a:ext cx="608797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fld id="{C5DF8F84-8126-4316-AD07-F3B4CA423FFA}" type="slidenum">
              <a:rPr lang="ru-RU" smtClean="0"/>
              <a:t>‹#›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99730B-B6B2-C74B-AD2E-45F2273C5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44" y="6492452"/>
            <a:ext cx="3431813" cy="1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9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77762" y="1752098"/>
            <a:ext cx="5505450" cy="913554"/>
          </a:xfrm>
        </p:spPr>
        <p:txBody>
          <a:bodyPr anchor="b">
            <a:normAutofit/>
          </a:bodyPr>
          <a:lstStyle>
            <a:lvl1pPr algn="l">
              <a:defRPr sz="30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Open Sans Semibold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D86ED0-075B-4820-A9F3-4D527951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44" y="6492452"/>
            <a:ext cx="3431813" cy="1551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F1E1F30-C07B-4586-9366-59A64A4A1E02}"/>
              </a:ext>
            </a:extLst>
          </p:cNvPr>
          <p:cNvSpPr/>
          <p:nvPr/>
        </p:nvSpPr>
        <p:spPr>
          <a:xfrm>
            <a:off x="10792691" y="0"/>
            <a:ext cx="608797" cy="6858000"/>
          </a:xfrm>
          <a:prstGeom prst="rect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40DD1B-BB17-495C-BC9A-515584AFC8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674" y="3907171"/>
            <a:ext cx="4145996" cy="298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7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9A48-02C0-42D1-9F22-71E8B7FDDEA4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8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968B4-D301-4404-8302-E2A7C7A143AA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36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8E099-C42D-460F-B193-0479DFE8637F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85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77C60-FC06-4A86-AD78-9FF83731A299}" type="datetime1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4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7440-9E8E-4EE7-85AA-7BA046B5194A}" type="datetime1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64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23D43-9D6B-40F0-B625-0AF8EA8EB426}" type="datetime1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75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CE28-E800-4724-8BA0-45648E1A5A3D}" type="datetime1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71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2E25-A4D8-4281-BC0F-822AB47CB9FE}" type="datetime1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755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523A-D57A-421D-8F01-BB24545FD156}" type="datetime1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241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1E145-6FD2-400C-8407-483090443E62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924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DBD1B-AECF-45AB-B611-8AFD37586948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255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77762" y="1752098"/>
            <a:ext cx="5505450" cy="913554"/>
          </a:xfrm>
        </p:spPr>
        <p:txBody>
          <a:bodyPr anchor="b">
            <a:normAutofit/>
          </a:bodyPr>
          <a:lstStyle>
            <a:lvl1pPr algn="l">
              <a:defRPr sz="30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Open Sans Semibold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15632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B3519-E0C9-4D85-92EC-A94F142EFCD8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8F84-8126-4316-AD07-F3B4CA423F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96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4A864-040E-4C33-AC2D-B2697C888984}" type="datetime1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7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B14F49D-3423-412C-1749-FB0717988456}"/>
              </a:ext>
            </a:extLst>
          </p:cNvPr>
          <p:cNvSpPr txBox="1">
            <a:spLocks/>
          </p:cNvSpPr>
          <p:nvPr/>
        </p:nvSpPr>
        <p:spPr>
          <a:xfrm>
            <a:off x="0" y="1854679"/>
            <a:ext cx="6228272" cy="17813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Стеганографический анализ файлов изображений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2D4092-CBB9-9C6A-8171-71ADCFEC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72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CD237E-B3F9-38EC-AA48-127DB9BD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3261F31-0EB5-5E6C-1BCF-859D557D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697" y="1094088"/>
            <a:ext cx="7106010" cy="160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/>
              <a:t>Стеганография</a:t>
            </a:r>
            <a:r>
              <a:rPr lang="ru-RU" sz="2400" dirty="0"/>
              <a:t> – это область исследований, посвящённая вопросам скрытной передачи информации: то есть организации канала связи, сам факт передачи данных по которому является скрытым.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BD47FFE-6D72-426B-8CFE-FA13FC0B8AED}"/>
              </a:ext>
            </a:extLst>
          </p:cNvPr>
          <p:cNvSpPr txBox="1">
            <a:spLocks/>
          </p:cNvSpPr>
          <p:nvPr/>
        </p:nvSpPr>
        <p:spPr>
          <a:xfrm>
            <a:off x="243694" y="2777343"/>
            <a:ext cx="7658101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b="1" dirty="0"/>
              <a:t>Цифровая стеганография </a:t>
            </a:r>
            <a:r>
              <a:rPr lang="ru-RU" sz="2400" dirty="0"/>
              <a:t>– раздел стеганографии, связанный со скрытием данных в различных информационных объектах – таких, как цифровые файлы.</a:t>
            </a:r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36760FA5-04DD-0ACD-8438-885D4C68C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94" y="4118386"/>
            <a:ext cx="6795461" cy="260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2E01FB8-18E9-CD4A-ACD4-A637A67B8B18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Цифровая стеганография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044ECA-5651-B88A-5D22-74247621B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707" y="1362075"/>
            <a:ext cx="4494362" cy="37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182638-9BD5-E6EC-9FB5-16E60982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32C832-4E37-513A-0624-535B24C0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51" y="1614488"/>
            <a:ext cx="5257800" cy="5188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1. Доставка или обнаружение скрипта или модуля, способного обеспечить работу </a:t>
            </a:r>
            <a:r>
              <a:rPr lang="ru-RU" dirty="0" err="1"/>
              <a:t>стегоканала</a:t>
            </a:r>
            <a:r>
              <a:rPr lang="ru-RU" dirty="0"/>
              <a:t>:</a:t>
            </a:r>
          </a:p>
          <a:p>
            <a:pPr marL="457200" lvl="1" indent="0">
              <a:buNone/>
            </a:pPr>
            <a:r>
              <a:rPr lang="ru-RU" dirty="0"/>
              <a:t>а. загрузить файл изображения из допустимого источника (сторонний разрешённый сервера или из внутренней сети);</a:t>
            </a:r>
          </a:p>
          <a:p>
            <a:pPr marL="457200" lvl="1" indent="0">
              <a:buNone/>
            </a:pPr>
            <a:r>
              <a:rPr lang="ru-RU" dirty="0"/>
              <a:t>б. выполнить </a:t>
            </a:r>
            <a:r>
              <a:rPr lang="ru-RU" dirty="0" err="1"/>
              <a:t>стегодекодирование</a:t>
            </a:r>
            <a:r>
              <a:rPr lang="ru-RU" dirty="0"/>
              <a:t> изображения (например, исполняемого бинарного файла).</a:t>
            </a:r>
          </a:p>
          <a:p>
            <a:pPr marL="0" indent="0">
              <a:buNone/>
            </a:pPr>
            <a:r>
              <a:rPr lang="ru-RU" dirty="0"/>
              <a:t>2. Запуск на исполнение извлечённого вредоносного кода.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Picture 2" descr="Цепочка заражения">
            <a:extLst>
              <a:ext uri="{FF2B5EF4-FFF2-40B4-BE49-F238E27FC236}">
                <a16:creationId xmlns:a16="http://schemas.microsoft.com/office/drawing/2014/main" id="{D99229A9-1E57-F441-B0E7-CDB436ED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551" y="3313892"/>
            <a:ext cx="6535938" cy="26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FCD8C-27AA-E7B1-5EE1-9E87BBD44CB0}"/>
              </a:ext>
            </a:extLst>
          </p:cNvPr>
          <p:cNvSpPr txBox="1"/>
          <p:nvPr/>
        </p:nvSpPr>
        <p:spPr>
          <a:xfrm>
            <a:off x="6669652" y="2173887"/>
            <a:ext cx="4485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Пример атаки группировкой </a:t>
            </a:r>
            <a:r>
              <a:rPr lang="en-US" sz="2000" dirty="0"/>
              <a:t>TA558</a:t>
            </a:r>
            <a:r>
              <a:rPr lang="ru-RU" sz="2000" dirty="0"/>
              <a:t> (вредоносная кампания 2023 г.) – цепочка заражения: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EBF022E0-84DE-FB26-EBA2-2CF98C6174BE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Типичный сценарий атаки с использованием стеганографии</a:t>
            </a:r>
          </a:p>
        </p:txBody>
      </p:sp>
    </p:spTree>
    <p:extLst>
      <p:ext uri="{BB962C8B-B14F-4D97-AF65-F5344CB8AC3E}">
        <p14:creationId xmlns:p14="http://schemas.microsoft.com/office/powerpoint/2010/main" val="34361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10FE-B9AA-EEAA-4B6D-BDFC662C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7561BD-CA88-71C4-3482-DB40E870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8C4F3FC-0F07-7699-1F1A-E35EE98A95CB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Стеганографический метод НЗБ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613093-B12E-8203-FA0D-55366C802A8F}"/>
              </a:ext>
            </a:extLst>
          </p:cNvPr>
          <p:cNvSpPr/>
          <p:nvPr/>
        </p:nvSpPr>
        <p:spPr>
          <a:xfrm>
            <a:off x="422154" y="1653580"/>
            <a:ext cx="54295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Метод сокрытия в наименее значащих битах </a:t>
            </a:r>
            <a:r>
              <a:rPr lang="ru-RU" sz="2400" dirty="0">
                <a:cs typeface="Times New Roman" panose="02020603050405020304" pitchFamily="18" charset="0"/>
              </a:rPr>
              <a:t>основан на идее заменять один наименее значащий бит (младший бит) бинарного представления каждого пикселя изображения на бит скрываемого сообщения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2D38B7C-A5D8-F3B9-EE12-934E4EF0C0CB}"/>
              </a:ext>
            </a:extLst>
          </p:cNvPr>
          <p:cNvSpPr/>
          <p:nvPr/>
        </p:nvSpPr>
        <p:spPr>
          <a:xfrm>
            <a:off x="6806268" y="1737284"/>
            <a:ext cx="4963578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Метод НЗБ имеет два основных варианта реализации: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+mj-lt"/>
              <a:buAutoNum type="arabicParenR"/>
            </a:pPr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Последовательный метод НЗБ;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+mj-lt"/>
              <a:buAutoNum type="arabicParenR"/>
            </a:pPr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Псевдослучайный метод НЗБ (</a:t>
            </a:r>
            <a:r>
              <a:rPr lang="en-US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Random LSB</a:t>
            </a:r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или </a:t>
            </a:r>
            <a:r>
              <a:rPr lang="en-US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Shuffle Dance</a:t>
            </a:r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F5D9AE4-88A8-3952-4403-A34516C00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582" y="4462943"/>
            <a:ext cx="7603493" cy="169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5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A95B-7B74-14F3-AE44-6794D5FB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0068ED-F472-6245-5B69-5BF61978D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95F1375-D619-468E-CBF5-FDE70C55FA2D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Частотное представление изображения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0F7DE5-60BF-EB1F-CF45-FDEB2277811E}"/>
              </a:ext>
            </a:extLst>
          </p:cNvPr>
          <p:cNvSpPr/>
          <p:nvPr/>
        </p:nvSpPr>
        <p:spPr>
          <a:xfrm>
            <a:off x="627078" y="1335445"/>
            <a:ext cx="49406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</a:rPr>
              <a:t>Представление изображения в частотной области формируется путём вычисления коэффициентов </a:t>
            </a:r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</a:rPr>
              <a:t>дискретного косинусного преобразования (ДКП)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</a:rPr>
              <a:t>.</a:t>
            </a:r>
            <a:endParaRPr lang="ru-RU" sz="20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5E76DB-8C1A-8050-AB17-775B398FFBCC}"/>
              </a:ext>
            </a:extLst>
          </p:cNvPr>
          <p:cNvSpPr/>
          <p:nvPr/>
        </p:nvSpPr>
        <p:spPr>
          <a:xfrm>
            <a:off x="6313550" y="1093254"/>
            <a:ext cx="55648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Коэффициент в левом верхнем углу матрицы ДКП называется «постоянной составляющей» или </a:t>
            </a:r>
            <a:r>
              <a:rPr lang="en-US" sz="20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DC</a:t>
            </a:r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-коэффициентом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он определяет основной цветовой оттенок (среднюю интенсивность цвета) всего блока.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74B57A-D147-04B0-4B89-EE607AA9B0F1}"/>
              </a:ext>
            </a:extLst>
          </p:cNvPr>
          <p:cNvSpPr/>
          <p:nvPr/>
        </p:nvSpPr>
        <p:spPr>
          <a:xfrm>
            <a:off x="2765794" y="3010147"/>
            <a:ext cx="31846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Матрица коэффициентов ДКП делится на 3 группы: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низкочастотные (левый верхний угол матрицы);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среднечастотные (вдоль побочной диагонали);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высокочастотные (правый нижний угол).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A50FE0-28F1-F802-6D08-3FC7B90577E0}"/>
              </a:ext>
            </a:extLst>
          </p:cNvPr>
          <p:cNvSpPr/>
          <p:nvPr/>
        </p:nvSpPr>
        <p:spPr>
          <a:xfrm>
            <a:off x="6313550" y="2729836"/>
            <a:ext cx="55648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Все остальные полученные коэффициенты называются </a:t>
            </a:r>
            <a:r>
              <a:rPr lang="en-US" sz="20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AC</a:t>
            </a:r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-коэффициентами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и выражают частоту изменения интенсивности цвета по разным направлениям выбранного блока (по горизонтали и вертикали).</a:t>
            </a:r>
            <a:endParaRPr lang="ru-RU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2D7AC47-1E17-F45B-E519-E43D4BB8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47" y="3167702"/>
            <a:ext cx="2386700" cy="238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A9713CD-8A03-1DFE-8BA1-35838EF9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573" y="4495992"/>
            <a:ext cx="4696721" cy="20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4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E42A15-8B1F-C436-6B3C-0F71005D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3646611-9EFD-6742-3497-D928C420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12" y="4162469"/>
            <a:ext cx="5903988" cy="269553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Три этапа стегоанализа:</a:t>
            </a:r>
          </a:p>
          <a:p>
            <a:pPr marL="0" indent="0">
              <a:buNone/>
            </a:pPr>
            <a:r>
              <a:rPr lang="ru-RU" b="1" dirty="0"/>
              <a:t>1. Обнаружение встроенного сообщения.</a:t>
            </a:r>
          </a:p>
          <a:p>
            <a:pPr marL="0" indent="0">
              <a:buNone/>
            </a:pPr>
            <a:r>
              <a:rPr lang="ru-RU" dirty="0"/>
              <a:t>2. Извлечение сообщения.</a:t>
            </a:r>
          </a:p>
          <a:p>
            <a:pPr marL="0" indent="0">
              <a:buNone/>
            </a:pPr>
            <a:r>
              <a:rPr lang="ru-RU" dirty="0"/>
              <a:t>3. Модификация сообщения.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F31FFBE-A1F6-8083-E5CE-D5E39ED72CF5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Классификация традиционных методов стегоанализа</a:t>
            </a:r>
          </a:p>
        </p:txBody>
      </p:sp>
      <p:pic>
        <p:nvPicPr>
          <p:cNvPr id="11" name="Рисунок 10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AEAC4C-6234-AAD9-CE89-52AE9DD97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90" y="1200782"/>
            <a:ext cx="9416311" cy="51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4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C8855E-17BA-1A00-334C-DE1D6C8D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5A5E3E6-E51B-CD83-CF6F-E3904F01E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112217"/>
              </p:ext>
            </p:extLst>
          </p:nvPr>
        </p:nvGraphicFramePr>
        <p:xfrm>
          <a:off x="1755527" y="1470314"/>
          <a:ext cx="8680946" cy="506859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97659">
                  <a:extLst>
                    <a:ext uri="{9D8B030D-6E8A-4147-A177-3AD203B41FA5}">
                      <a16:colId xmlns:a16="http://schemas.microsoft.com/office/drawing/2014/main" val="1934348984"/>
                    </a:ext>
                  </a:extLst>
                </a:gridCol>
                <a:gridCol w="1529066">
                  <a:extLst>
                    <a:ext uri="{9D8B030D-6E8A-4147-A177-3AD203B41FA5}">
                      <a16:colId xmlns:a16="http://schemas.microsoft.com/office/drawing/2014/main" val="2723685305"/>
                    </a:ext>
                  </a:extLst>
                </a:gridCol>
                <a:gridCol w="1529066">
                  <a:extLst>
                    <a:ext uri="{9D8B030D-6E8A-4147-A177-3AD203B41FA5}">
                      <a16:colId xmlns:a16="http://schemas.microsoft.com/office/drawing/2014/main" val="892488365"/>
                    </a:ext>
                  </a:extLst>
                </a:gridCol>
                <a:gridCol w="1407283">
                  <a:extLst>
                    <a:ext uri="{9D8B030D-6E8A-4147-A177-3AD203B41FA5}">
                      <a16:colId xmlns:a16="http://schemas.microsoft.com/office/drawing/2014/main" val="4102501413"/>
                    </a:ext>
                  </a:extLst>
                </a:gridCol>
                <a:gridCol w="1028398">
                  <a:extLst>
                    <a:ext uri="{9D8B030D-6E8A-4147-A177-3AD203B41FA5}">
                      <a16:colId xmlns:a16="http://schemas.microsoft.com/office/drawing/2014/main" val="4287816280"/>
                    </a:ext>
                  </a:extLst>
                </a:gridCol>
                <a:gridCol w="889474">
                  <a:extLst>
                    <a:ext uri="{9D8B030D-6E8A-4147-A177-3AD203B41FA5}">
                      <a16:colId xmlns:a16="http://schemas.microsoft.com/office/drawing/2014/main" val="3761201997"/>
                    </a:ext>
                  </a:extLst>
                </a:gridCol>
              </a:tblGrid>
              <a:tr h="307419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Техника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Технические методы стегоанализа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41418"/>
                  </a:ext>
                </a:extLst>
              </a:tr>
              <a:tr h="29215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Форматные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Сравнительные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Алгоритмические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233758"/>
                  </a:ext>
                </a:extLst>
              </a:tr>
              <a:tr h="28660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Реверсивные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Слепые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321501"/>
                  </a:ext>
                </a:extLst>
              </a:tr>
              <a:tr h="39591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Матема-тические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Обучаемые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1619098804"/>
                  </a:ext>
                </a:extLst>
              </a:tr>
              <a:tr h="6106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в пространственной области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+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+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515547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в частотной области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+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+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1315591629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за счёт расширения спектра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183577618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Статистическая стеганография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4110235122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на основе искажения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205656540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на основе файла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2579858153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в цветовой палитре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+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+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2520810537"/>
                  </a:ext>
                </a:extLst>
              </a:tr>
              <a:tr h="433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Стеганография при создании изображений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dirty="0">
                          <a:effectLst/>
                        </a:rPr>
                        <a:t>+</a:t>
                      </a:r>
                      <a:endParaRPr lang="ru-RU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413" marR="66413" marT="0" marB="0" anchor="ctr"/>
                </a:tc>
                <a:extLst>
                  <a:ext uri="{0D108BD9-81ED-4DB2-BD59-A6C34878D82A}">
                    <a16:rowId xmlns:a16="http://schemas.microsoft.com/office/drawing/2014/main" val="1549284483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DF5F393-E3D1-9E75-2501-2C045B0F0152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Соответствие техник методам стегоанализа</a:t>
            </a:r>
          </a:p>
        </p:txBody>
      </p:sp>
    </p:spTree>
    <p:extLst>
      <p:ext uri="{BB962C8B-B14F-4D97-AF65-F5344CB8AC3E}">
        <p14:creationId xmlns:p14="http://schemas.microsoft.com/office/powerpoint/2010/main" val="119102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7A2F9-C625-CBF6-571C-49873CFE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9FC7B3C-76B1-8DF3-A6A2-57E879A11B26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 стегоанализа по критерию Хи-квадрат (</a:t>
            </a:r>
            <a:r>
              <a:rPr lang="en-US" dirty="0"/>
              <a:t>CSA)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47815F-0428-044B-AACF-BE247BB38727}"/>
              </a:ext>
            </a:extLst>
          </p:cNvPr>
          <p:cNvSpPr/>
          <p:nvPr/>
        </p:nvSpPr>
        <p:spPr>
          <a:xfrm>
            <a:off x="1722538" y="1383417"/>
            <a:ext cx="5615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Критерий согласия Пирсона позволяет получить вывод о принадлежности некой полученной при наблюдениях выборки определённому теоретическому закону распределения. </a:t>
            </a:r>
            <a:endParaRPr lang="ru-RU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5EB823A7-FC04-51FC-3ED8-F53C09895F3D}"/>
                  </a:ext>
                </a:extLst>
              </p:cNvPr>
              <p:cNvSpPr/>
              <p:nvPr/>
            </p:nvSpPr>
            <p:spPr>
              <a:xfrm>
                <a:off x="2977201" y="2807117"/>
                <a:ext cx="2973442" cy="1143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 smtClean="0"/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ru-RU" sz="2400"/>
                            <m:t>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400" i="0"/>
                            <m:t>k</m:t>
                          </m:r>
                          <m:r>
                            <a:rPr lang="ru-RU" sz="2400" i="0"/>
                            <m:t>−1</m:t>
                          </m:r>
                        </m:sub>
                        <m:sup>
                          <m:r>
                            <a:rPr lang="ru-RU" sz="2400" i="0"/>
                            <m:t>2</m:t>
                          </m:r>
                        </m:sup>
                      </m:sSubSup>
                      <m:r>
                        <a:rPr lang="ru-RU" sz="2400" i="0"/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/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sz="2400" i="0"/>
                            <m:t>i</m:t>
                          </m:r>
                          <m:r>
                            <a:rPr lang="ru-RU" sz="2400" i="0"/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ru-RU" sz="2400" i="0"/>
                            <m:t>k</m:t>
                          </m:r>
                        </m:sup>
                        <m:e>
                          <m:f>
                            <m:fPr>
                              <m:ctrlPr>
                                <a:rPr lang="ru-RU" sz="2400" i="1"/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ru-RU" sz="2400" i="1"/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2400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2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O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ru-RU" sz="2400" i="0"/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E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 sz="2400" i="0"/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ru-RU" sz="2400" i="1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O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i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5EB823A7-FC04-51FC-3ED8-F53C09895F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201" y="2807117"/>
                <a:ext cx="2973442" cy="11435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6CCEED-A854-FC47-D7AF-66D7F9E5012B}"/>
              </a:ext>
            </a:extLst>
          </p:cNvPr>
          <p:cNvSpPr/>
          <p:nvPr/>
        </p:nvSpPr>
        <p:spPr>
          <a:xfrm>
            <a:off x="527245" y="4590420"/>
            <a:ext cx="344927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</a:rPr>
              <a:t>Пара значений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</a:rPr>
              <a:t> – это пара байт, кодирующих интенсивности цветов и отличающихся лишь на один наименьший значащий бит. </a:t>
            </a:r>
            <a:endParaRPr lang="ru-RU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6ED5F8-9A79-1F13-62A6-F2D3506A45BA}"/>
              </a:ext>
            </a:extLst>
          </p:cNvPr>
          <p:cNvSpPr/>
          <p:nvPr/>
        </p:nvSpPr>
        <p:spPr>
          <a:xfrm>
            <a:off x="4022998" y="4436532"/>
            <a:ext cx="37244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</a:rPr>
              <a:t>Идея метода основывается на предположении, что </a:t>
            </a:r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</a:rPr>
              <a:t>в незаполненном контейнере вероятность одновременного появления обоих значений каждой пары мала.</a:t>
            </a:r>
            <a:endParaRPr lang="ru-RU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02D3B4-B1F0-D881-E976-8ACA8C0AFF13}"/>
              </a:ext>
            </a:extLst>
          </p:cNvPr>
          <p:cNvSpPr/>
          <p:nvPr/>
        </p:nvSpPr>
        <p:spPr>
          <a:xfrm>
            <a:off x="7793920" y="4667364"/>
            <a:ext cx="40223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</a:rPr>
              <a:t>Теоретически ожидаемое распределение</a:t>
            </a:r>
            <a:r>
              <a:rPr lang="ru-RU" sz="2000" dirty="0">
                <a:solidFill>
                  <a:srgbClr val="000000"/>
                </a:solidFill>
                <a:ea typeface="Calibri" panose="020F0502020204030204" pitchFamily="34" charset="0"/>
              </a:rPr>
              <a:t> определяется как последовательность средних арифметических значений частот всех пар.</a:t>
            </a:r>
            <a:endParaRPr lang="ru-RU" sz="2000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9EF6A54-00F6-056A-B10C-1A939B974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285" y="1121355"/>
            <a:ext cx="2369514" cy="302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447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38EC81-8073-E2CA-99FC-3CFBA175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9F9D969-3BEC-5A45-BF94-00B0AD9005F3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 стегоанализа </a:t>
            </a:r>
            <a:r>
              <a:rPr lang="en-US" dirty="0"/>
              <a:t>Regular-Singular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57AC56F3-9157-B493-4293-97515185C381}"/>
                  </a:ext>
                </a:extLst>
              </p:cNvPr>
              <p:cNvSpPr/>
              <p:nvPr/>
            </p:nvSpPr>
            <p:spPr>
              <a:xfrm>
                <a:off x="201718" y="1362075"/>
                <a:ext cx="5511185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0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Метод основывается на анализе непересекающихся групп из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a typeface="Calibri" panose="020F0502020204030204" pitchFamily="34" charset="0"/>
                      </a:rPr>
                      <m:t>n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смежных пикселей. После выделения таких групп вводится так называется </a:t>
                </a:r>
                <a:r>
                  <a:rPr lang="ru-RU" sz="2000" b="1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функция регулярности</a:t>
                </a:r>
                <a:r>
                  <a:rPr lang="ru-RU" sz="20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 – функция, которая сопоставляет одной группе одно действительное число и показывает регулярность пикселей группы.</a:t>
                </a:r>
                <a:endParaRPr lang="ru-RU" sz="2000" dirty="0"/>
              </a:p>
            </p:txBody>
          </p:sp>
        </mc:Choice>
        <mc:Fallback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57AC56F3-9157-B493-4293-97515185C3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18" y="1362075"/>
                <a:ext cx="5511185" cy="2246769"/>
              </a:xfrm>
              <a:prstGeom prst="rect">
                <a:avLst/>
              </a:prstGeom>
              <a:blipFill>
                <a:blip r:embed="rId2"/>
                <a:stretch>
                  <a:fillRect l="-1106" t="-1355" r="-1217" b="-3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0694DE29-5247-E2FF-5CF7-F02340D95962}"/>
                  </a:ext>
                </a:extLst>
              </p:cNvPr>
              <p:cNvSpPr/>
              <p:nvPr/>
            </p:nvSpPr>
            <p:spPr>
              <a:xfrm>
                <a:off x="312323" y="3843526"/>
                <a:ext cx="5289974" cy="11278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400" smtClean="0"/>
                        <m:t>f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2400" i="0"/>
                            <m:t>G</m:t>
                          </m:r>
                        </m:e>
                      </m:d>
                      <m:r>
                        <a:rPr lang="ru-RU" sz="2400" i="0"/>
                        <m:t>=</m:t>
                      </m:r>
                      <m:r>
                        <m:rPr>
                          <m:sty m:val="p"/>
                        </m:rPr>
                        <a:rPr lang="ru-RU" sz="2400" i="0"/>
                        <m:t>f</m:t>
                      </m:r>
                      <m:d>
                        <m:dPr>
                          <m:ctrlPr>
                            <a:rPr lang="ru-RU" sz="2400" i="1"/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/>
                                <m:t>g</m:t>
                              </m:r>
                            </m:e>
                            <m:sub>
                              <m:r>
                                <a:rPr lang="ru-RU" sz="2400" i="0"/>
                                <m:t>1</m:t>
                              </m:r>
                            </m:sub>
                          </m:sSub>
                          <m:r>
                            <a:rPr lang="ru-RU" sz="2400" i="0"/>
                            <m:t>,</m:t>
                          </m:r>
                          <m:sSub>
                            <m:sSubPr>
                              <m:ctrlPr>
                                <a:rPr lang="ru-RU" sz="2400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/>
                                <m:t>g</m:t>
                              </m:r>
                            </m:e>
                            <m:sub>
                              <m:r>
                                <a:rPr lang="ru-RU" sz="2400" i="0"/>
                                <m:t>2</m:t>
                              </m:r>
                            </m:sub>
                          </m:sSub>
                          <m:r>
                            <a:rPr lang="ru-RU" sz="2400" i="0"/>
                            <m:t>,…,</m:t>
                          </m:r>
                          <m:sSub>
                            <m:sSubPr>
                              <m:ctrlPr>
                                <a:rPr lang="ru-RU" sz="2400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400" i="0"/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sz="2400" i="0"/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ru-RU" sz="2400" i="0"/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/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ru-RU" sz="2400" i="0"/>
                            <m:t>i</m:t>
                          </m:r>
                          <m:r>
                            <a:rPr lang="ru-RU" sz="2400" i="0"/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ru-RU" sz="2400" i="0"/>
                            <m:t>n</m:t>
                          </m:r>
                          <m:r>
                            <a:rPr lang="ru-RU" sz="2400" i="0"/>
                            <m:t>−1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u-RU" sz="24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i</m:t>
                                  </m:r>
                                  <m:r>
                                    <a:rPr lang="ru-RU" sz="2400" i="0"/>
                                    <m:t>+1</m:t>
                                  </m:r>
                                </m:sub>
                              </m:sSub>
                              <m:r>
                                <a:rPr lang="ru-RU" sz="2400" i="0"/>
                                <m:t>−</m:t>
                              </m:r>
                              <m:sSub>
                                <m:sSubPr>
                                  <m:ctrlPr>
                                    <a:rPr lang="ru-RU" sz="2400" i="1"/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0694DE29-5247-E2FF-5CF7-F02340D95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23" y="3843526"/>
                <a:ext cx="5289974" cy="1127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612450-0618-1BD7-7A81-8E1833099A2D}"/>
              </a:ext>
            </a:extLst>
          </p:cNvPr>
          <p:cNvSpPr/>
          <p:nvPr/>
        </p:nvSpPr>
        <p:spPr>
          <a:xfrm>
            <a:off x="201718" y="5206082"/>
            <a:ext cx="55111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После подсчёта значений функции регулярности для всех групп анализируемого изображения определяется группа </a:t>
            </a:r>
            <a:r>
              <a:rPr lang="ru-RU" sz="2000" b="1" dirty="0">
                <a:solidFill>
                  <a:srgbClr val="000000"/>
                </a:solidFill>
                <a:ea typeface="Times New Roman" panose="02020603050405020304" pitchFamily="18" charset="0"/>
              </a:rPr>
              <a:t>функций переворота</a:t>
            </a:r>
            <a:r>
              <a:rPr lang="ru-RU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69307A-A3CA-A9DB-974F-EDEEA6524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109" y="1358192"/>
            <a:ext cx="4343400" cy="1181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BF1DE04-4ADF-03F5-5445-27CF8CB5CB9C}"/>
                  </a:ext>
                </a:extLst>
              </p:cNvPr>
              <p:cNvSpPr/>
              <p:nvPr/>
            </p:nvSpPr>
            <p:spPr>
              <a:xfrm>
                <a:off x="6235818" y="2798144"/>
                <a:ext cx="5409468" cy="1877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STIX Two Math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𝐑</m:t>
                        </m:r>
                      </m:e>
                      <m:sub>
                        <m:r>
                          <a:rPr lang="ru-RU" sz="2000" b="1" i="0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М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количество обычных групп для маски </a:t>
                </a:r>
                <a:r>
                  <a:rPr lang="en-US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STIX Two Math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𝐒</m:t>
                        </m:r>
                      </m:e>
                      <m:sub>
                        <m:r>
                          <a:rPr lang="ru-RU" sz="2000" b="1" i="0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М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количество необычных групп для маски </a:t>
                </a:r>
                <a:r>
                  <a:rPr lang="en-US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STIX Two Math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𝐑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 smtClean="0">
                            <a:solidFill>
                              <a:srgbClr val="000000"/>
                            </a:solidFill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2000" b="1" i="0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М</m:t>
                        </m:r>
                      </m:sub>
                    </m:sSub>
                    <m:r>
                      <a:rPr lang="ru-RU" sz="2000" b="0" i="1" smtClean="0">
                        <a:solidFill>
                          <a:srgbClr val="000000"/>
                        </a:solidFill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количество обычных групп для инверсной маски </a:t>
                </a:r>
                <a:r>
                  <a:rPr lang="ru-RU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-</a:t>
                </a:r>
                <a:r>
                  <a:rPr lang="en-US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STIX Two Math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𝐒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 smtClean="0">
                            <a:solidFill>
                              <a:srgbClr val="000000"/>
                            </a:solidFill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2000" b="1" i="0" smtClean="0">
                            <a:solidFill>
                              <a:srgbClr val="000000"/>
                            </a:solidFill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М</m:t>
                        </m:r>
                      </m:sub>
                    </m:sSub>
                    <m:r>
                      <a:rPr lang="ru-RU" sz="2000" b="0" i="1" smtClean="0">
                        <a:solidFill>
                          <a:srgbClr val="000000"/>
                        </a:solidFill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количество необычных групп для инверсной маски </a:t>
                </a:r>
                <a:r>
                  <a:rPr lang="ru-RU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-</a:t>
                </a:r>
                <a:r>
                  <a:rPr lang="en-US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BF1DE04-4ADF-03F5-5445-27CF8CB5CB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818" y="2798144"/>
                <a:ext cx="5409468" cy="1877437"/>
              </a:xfrm>
              <a:prstGeom prst="rect">
                <a:avLst/>
              </a:prstGeom>
              <a:blipFill>
                <a:blip r:embed="rId5"/>
                <a:stretch>
                  <a:fillRect t="-1623" b="-4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CA814B-F1C5-B1F8-19D4-7DE99C68AD3C}"/>
              </a:ext>
            </a:extLst>
          </p:cNvPr>
          <p:cNvSpPr/>
          <p:nvPr/>
        </p:nvSpPr>
        <p:spPr>
          <a:xfrm>
            <a:off x="6537106" y="4998463"/>
            <a:ext cx="48068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2000" b="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Основной гипотезой данного метода является предположение о том, что в незаполненном контейнере количества групп одного класса для обычной и инверсной маски равны.</a:t>
            </a:r>
            <a:endParaRPr lang="ru-RU" sz="1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82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BDF863-8801-6153-44B3-731887CA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917E0BA-9A6F-00CD-D573-58CC56979D6E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RS-</a:t>
            </a:r>
            <a:r>
              <a:rPr lang="ru-RU" dirty="0"/>
              <a:t>диаграмма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9896D9-EFDE-2472-052D-E16A1ED540D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27" y="1123950"/>
            <a:ext cx="7289372" cy="514580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67AA94-9E2C-7A52-5F9D-C40B25A5F5E2}"/>
              </a:ext>
            </a:extLst>
          </p:cNvPr>
          <p:cNvSpPr/>
          <p:nvPr/>
        </p:nvSpPr>
        <p:spPr>
          <a:xfrm>
            <a:off x="7467599" y="2253133"/>
            <a:ext cx="452575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</a:rPr>
              <a:t>На основе информации о данном типичном поведении графиков количественных характеристик групп производятся дальнейшие вычисления, позволяющие оценить относительную длину скрытого сообщения.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820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E130A5-D6B1-47C5-04C5-17652BE2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779C8FE-BF68-19D0-D997-C3A0841A13FF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Стеганографический метод Коха-Жао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6584EDCC-F4BC-410E-DB95-60B7643B7392}"/>
                  </a:ext>
                </a:extLst>
              </p:cNvPr>
              <p:cNvSpPr/>
              <p:nvPr/>
            </p:nvSpPr>
            <p:spPr>
              <a:xfrm>
                <a:off x="152400" y="1362075"/>
                <a:ext cx="5365796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2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Метод Коха-Жао предполагает сокрытие одного бита информации внутри одного блока размером </a:t>
                </a:r>
                <a14:m>
                  <m:oMath xmlns:m="http://schemas.openxmlformats.org/officeDocument/2006/math">
                    <m:r>
                      <a:rPr lang="ru-RU" sz="2000" i="1">
                        <a:ea typeface="Calibri" panose="020F0502020204030204" pitchFamily="34" charset="0"/>
                      </a:rPr>
                      <m:t>8×8</m:t>
                    </m:r>
                  </m:oMath>
                </a14:m>
                <a:r>
                  <a:rPr lang="ru-RU" sz="2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пикселей. Для этого выбираются два среднечастотных коэффициента матрицы ДКП.</a:t>
                </a:r>
                <a:endParaRPr lang="ru-RU" sz="2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6584EDCC-F4BC-410E-DB95-60B7643B73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362075"/>
                <a:ext cx="5365796" cy="1631216"/>
              </a:xfrm>
              <a:prstGeom prst="rect">
                <a:avLst/>
              </a:prstGeom>
              <a:blipFill>
                <a:blip r:embed="rId2"/>
                <a:stretch>
                  <a:fillRect t="-1866" r="-1250" b="-5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0FCB02F-DFBD-6EAC-10E5-299F4F7ACFAA}"/>
              </a:ext>
            </a:extLst>
          </p:cNvPr>
          <p:cNvSpPr/>
          <p:nvPr/>
        </p:nvSpPr>
        <p:spPr>
          <a:xfrm>
            <a:off x="6195871" y="3165240"/>
            <a:ext cx="536579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Суть скрытия в методе Коха-Жао сводится к модификации разницы абсолютных значений двух выбранных коэффициентов.</a:t>
            </a:r>
          </a:p>
          <a:p>
            <a:pPr algn="just"/>
            <a:endParaRPr lang="ru-RU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Для кодирования бита «1» модуль первого должен быть больше модуля второго на величину порога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Для кодирования бита «0» модуль второго должен быть больше модуля первого на величину порога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9AB0C5C4-3A16-CA3B-EDFB-10170963D4A7}"/>
                  </a:ext>
                </a:extLst>
              </p:cNvPr>
              <p:cNvSpPr/>
              <p:nvPr/>
            </p:nvSpPr>
            <p:spPr>
              <a:xfrm>
                <a:off x="6236347" y="1362075"/>
                <a:ext cx="5284845" cy="1459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/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/>
                              </m:ctrlPr>
                            </m:eqArr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400" i="0"/>
                                        <m:t>D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ru-RU" sz="2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i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u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ru-RU" sz="2400" i="0"/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ru-RU" sz="2400" i="0"/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400" i="0"/>
                                        <m:t>D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ru-RU" sz="2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i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u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ru-RU" sz="2400" i="0"/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ru-RU" sz="2400" i="0"/>
                                <m:t>&gt;</m:t>
                              </m:r>
                              <m:r>
                                <m:rPr>
                                  <m:sty m:val="p"/>
                                </m:rPr>
                                <a:rPr lang="ru-RU" sz="2400" i="0"/>
                                <m:t>P</m:t>
                              </m:r>
                              <m:r>
                                <a:rPr lang="ru-RU" sz="2400" i="0"/>
                                <m:t>, </m:t>
                              </m:r>
                              <m:sSub>
                                <m:sSubPr>
                                  <m:ctrlPr>
                                    <a:rPr lang="ru-RU" sz="2400" i="1"/>
                                  </m:ctrlPr>
                                </m:sSubPr>
                                <m:e>
                                  <m:r>
                                    <a:rPr lang="ru-RU" sz="2400" b="0" i="0" smtClean="0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ru-RU" sz="2400" i="0"/>
                                    <m:t>при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i</m:t>
                                  </m:r>
                                </m:sub>
                              </m:sSub>
                              <m:r>
                                <a:rPr lang="ru-RU" sz="2400" i="0"/>
                                <m:t>=</m:t>
                              </m:r>
                              <m:r>
                                <a:rPr lang="ru-RU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400" i="0"/>
                                        <m:t>D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ru-RU" sz="2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i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u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ru-RU" sz="2400" i="0"/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ru-RU" sz="2400" i="0"/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i="1"/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400" i="0"/>
                                        <m:t>D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ru-RU" sz="2400" i="1"/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 i="0"/>
                                            <m:t>i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u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ru-RU" sz="2400" i="0"/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2400" i="1"/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2400" i="0"/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0"/>
                                                <m:t>2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a:rPr lang="ru-RU" sz="2400" i="0"/>
                                <m:t>&gt;−</m:t>
                              </m:r>
                              <m:r>
                                <m:rPr>
                                  <m:sty m:val="p"/>
                                </m:rPr>
                                <a:rPr lang="ru-RU" sz="2400" i="0"/>
                                <m:t>P</m:t>
                              </m:r>
                              <m:r>
                                <a:rPr lang="ru-RU" sz="2400" i="0"/>
                                <m:t>, </m:t>
                              </m:r>
                              <m:sSub>
                                <m:sSubPr>
                                  <m:ctrlPr>
                                    <a:rPr lang="ru-RU" sz="2400" i="1"/>
                                  </m:ctrlPr>
                                </m:sSubPr>
                                <m:e>
                                  <m:r>
                                    <a:rPr lang="ru-RU" sz="2400" i="0"/>
                                    <m:t>при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sz="2400" i="0"/>
                                    <m:t>i</m:t>
                                  </m:r>
                                </m:sub>
                              </m:sSub>
                              <m:r>
                                <a:rPr lang="ru-RU" sz="2400" i="0"/>
                                <m:t>=</m:t>
                              </m:r>
                              <m:r>
                                <a:rPr lang="ru-RU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9AB0C5C4-3A16-CA3B-EDFB-10170963D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347" y="1362075"/>
                <a:ext cx="5284845" cy="1459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08A0C37-698A-77D3-B3EB-9B19D8C45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054" y="3088639"/>
            <a:ext cx="3274372" cy="333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4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6EFE24-8D32-4FCF-B9EE-BCE115F4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86255C-85AA-5D41-A0C3-51A82B287BDC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Стегоанализ алгоритма Коха-Жао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8BA50B-5AF8-AB6D-DC29-5C85077DD3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1303" y="2180109"/>
            <a:ext cx="5940425" cy="42424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87B474-A435-95A9-C13B-296DC510759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61728" y="2180109"/>
            <a:ext cx="5940425" cy="42595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CE71C9-6E88-26B1-956D-626BAF469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346" y="1440563"/>
            <a:ext cx="3457575" cy="4191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D85E43-CAE1-6DD5-121F-540E31D53F06}"/>
              </a:ext>
            </a:extLst>
          </p:cNvPr>
          <p:cNvSpPr/>
          <p:nvPr/>
        </p:nvSpPr>
        <p:spPr>
          <a:xfrm>
            <a:off x="5484963" y="118844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i="1" dirty="0">
                <a:solidFill>
                  <a:srgbClr val="000000"/>
                </a:solidFill>
                <a:ea typeface="Calibri" panose="020F0502020204030204" pitchFamily="34" charset="0"/>
              </a:rPr>
              <a:t>По абсолютной разнице между абсолютными значениями коэффициентов можно обнаружить блоки, в которых, скорее всего, было произведено скрытие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40505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519FAA-2717-C799-390C-5C93CC1C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63E56-23EC-98AE-79F6-FFD1386DA9DB}"/>
              </a:ext>
            </a:extLst>
          </p:cNvPr>
          <p:cNvSpPr txBox="1"/>
          <p:nvPr/>
        </p:nvSpPr>
        <p:spPr>
          <a:xfrm>
            <a:off x="6121400" y="1794933"/>
            <a:ext cx="515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Рассмотрено совместное применение для следующих методов: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 критерию Хи-квадрат </a:t>
            </a:r>
            <a:r>
              <a:rPr lang="en-US" dirty="0"/>
              <a:t>(CSA)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en-US" dirty="0"/>
              <a:t>Regular-Singular</a:t>
            </a:r>
            <a:r>
              <a:rPr lang="ru-RU" dirty="0"/>
              <a:t>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B8AEC85-F736-E951-109B-2FA0D1C3F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42192"/>
              </p:ext>
            </p:extLst>
          </p:nvPr>
        </p:nvGraphicFramePr>
        <p:xfrm>
          <a:off x="5336261" y="4207551"/>
          <a:ext cx="6421866" cy="18602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04981">
                  <a:extLst>
                    <a:ext uri="{9D8B030D-6E8A-4147-A177-3AD203B41FA5}">
                      <a16:colId xmlns:a16="http://schemas.microsoft.com/office/drawing/2014/main" val="4122250693"/>
                    </a:ext>
                  </a:extLst>
                </a:gridCol>
                <a:gridCol w="1384084">
                  <a:extLst>
                    <a:ext uri="{9D8B030D-6E8A-4147-A177-3AD203B41FA5}">
                      <a16:colId xmlns:a16="http://schemas.microsoft.com/office/drawing/2014/main" val="4155788441"/>
                    </a:ext>
                  </a:extLst>
                </a:gridCol>
                <a:gridCol w="1827173">
                  <a:extLst>
                    <a:ext uri="{9D8B030D-6E8A-4147-A177-3AD203B41FA5}">
                      <a16:colId xmlns:a16="http://schemas.microsoft.com/office/drawing/2014/main" val="2924537294"/>
                    </a:ext>
                  </a:extLst>
                </a:gridCol>
                <a:gridCol w="1605628">
                  <a:extLst>
                    <a:ext uri="{9D8B030D-6E8A-4147-A177-3AD203B41FA5}">
                      <a16:colId xmlns:a16="http://schemas.microsoft.com/office/drawing/2014/main" val="361480218"/>
                    </a:ext>
                  </a:extLst>
                </a:gridCol>
              </a:tblGrid>
              <a:tr h="8185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Название метода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Для пустых контейнеров, %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Последовательный НЗБ, %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Псевдослучайный НЗБ, %</a:t>
                      </a:r>
                      <a:endParaRPr lang="ru-RU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extLst>
                  <a:ext uri="{0D108BD9-81ED-4DB2-BD59-A6C34878D82A}">
                    <a16:rowId xmlns:a16="http://schemas.microsoft.com/office/drawing/2014/main" val="2523397362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CSA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0,</a:t>
                      </a:r>
                      <a:r>
                        <a:rPr lang="en-US" sz="1400">
                          <a:effectLst/>
                        </a:rPr>
                        <a:t>105</a:t>
                      </a:r>
                      <a:endParaRPr lang="ru-RU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1,</a:t>
                      </a:r>
                      <a:r>
                        <a:rPr lang="en-US" sz="1400" dirty="0">
                          <a:effectLst/>
                        </a:rPr>
                        <a:t>411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r>
                        <a:rPr lang="en-US" sz="1400">
                          <a:effectLst/>
                        </a:rPr>
                        <a:t>2</a:t>
                      </a:r>
                      <a:r>
                        <a:rPr lang="ru-RU" sz="1400">
                          <a:effectLst/>
                        </a:rPr>
                        <a:t>,</a:t>
                      </a:r>
                      <a:r>
                        <a:rPr lang="en-US" sz="1400">
                          <a:effectLst/>
                        </a:rPr>
                        <a:t>225</a:t>
                      </a:r>
                      <a:endParaRPr lang="ru-RU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extLst>
                  <a:ext uri="{0D108BD9-81ED-4DB2-BD59-A6C34878D82A}">
                    <a16:rowId xmlns:a16="http://schemas.microsoft.com/office/drawing/2014/main" val="4164685159"/>
                  </a:ext>
                </a:extLst>
              </a:tr>
              <a:tr h="5208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RS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r>
                        <a:rPr lang="ru-RU" sz="1400">
                          <a:effectLst/>
                        </a:rPr>
                        <a:t>,0</a:t>
                      </a:r>
                      <a:r>
                        <a:rPr lang="en-US" sz="1400">
                          <a:effectLst/>
                        </a:rPr>
                        <a:t>55</a:t>
                      </a:r>
                      <a:endParaRPr lang="ru-RU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22</a:t>
                      </a:r>
                      <a:r>
                        <a:rPr lang="ru-RU" sz="1400">
                          <a:effectLst/>
                        </a:rPr>
                        <a:t>,99</a:t>
                      </a:r>
                      <a:r>
                        <a:rPr lang="en-US" sz="1400">
                          <a:effectLst/>
                        </a:rPr>
                        <a:t>6</a:t>
                      </a:r>
                      <a:endParaRPr lang="ru-RU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r>
                        <a:rPr lang="ru-RU" sz="1400" dirty="0">
                          <a:effectLst/>
                        </a:rPr>
                        <a:t>,</a:t>
                      </a:r>
                      <a:r>
                        <a:rPr lang="en-US" sz="1400" dirty="0">
                          <a:effectLst/>
                        </a:rPr>
                        <a:t>403</a:t>
                      </a:r>
                      <a:endParaRPr lang="ru-RU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066" marR="81066" marT="0" marB="0" anchor="ctr"/>
                </a:tc>
                <a:extLst>
                  <a:ext uri="{0D108BD9-81ED-4DB2-BD59-A6C34878D82A}">
                    <a16:rowId xmlns:a16="http://schemas.microsoft.com/office/drawing/2014/main" val="11433865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7C8F42-9310-9C87-53EF-6ABF8C4D80FA}"/>
              </a:ext>
            </a:extLst>
          </p:cNvPr>
          <p:cNvSpPr txBox="1"/>
          <p:nvPr/>
        </p:nvSpPr>
        <p:spPr>
          <a:xfrm>
            <a:off x="5189815" y="3283859"/>
            <a:ext cx="6841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effectLst/>
                <a:ea typeface="Calibri" panose="020F0502020204030204" pitchFamily="34" charset="0"/>
              </a:rPr>
              <a:t>Модули средних ошибок в оценке относительного объёма встроенной информации </a:t>
            </a:r>
            <a:endParaRPr lang="ru-RU" sz="2400" dirty="0"/>
          </a:p>
        </p:txBody>
      </p:sp>
      <p:pic>
        <p:nvPicPr>
          <p:cNvPr id="8" name="Рисунок 7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297B30-5884-D71F-C006-2CF498886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86" y="1464571"/>
            <a:ext cx="4357963" cy="5074341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CD34E71-5EDB-0144-056C-B0FC67091713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Методика формирования стегоаналитического вывода на основе совместного анализа методами </a:t>
            </a:r>
            <a:r>
              <a:rPr lang="en-US" dirty="0"/>
              <a:t>CSA</a:t>
            </a:r>
            <a:r>
              <a:rPr lang="ru-RU" dirty="0"/>
              <a:t> и </a:t>
            </a:r>
            <a:r>
              <a:rPr lang="en-US" dirty="0"/>
              <a:t>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381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73B94D-0F39-C225-1084-77EA52D3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C0C2AEA-B64A-6433-6BD9-8B7AF55C0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4465" y="3450646"/>
            <a:ext cx="3906328" cy="207932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зашумлённость;</a:t>
            </a:r>
          </a:p>
          <a:p>
            <a:r>
              <a:rPr lang="ru-RU" dirty="0"/>
              <a:t>резкость;</a:t>
            </a:r>
          </a:p>
          <a:p>
            <a:r>
              <a:rPr lang="ru-RU" dirty="0"/>
              <a:t>размытость;</a:t>
            </a:r>
          </a:p>
          <a:p>
            <a:r>
              <a:rPr lang="ru-RU" dirty="0"/>
              <a:t>контраст;</a:t>
            </a:r>
          </a:p>
          <a:p>
            <a:r>
              <a:rPr lang="ru-RU" dirty="0"/>
              <a:t>энтропия.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32DE96E-2101-9044-60AA-2F5E186C6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221058"/>
              </p:ext>
            </p:extLst>
          </p:nvPr>
        </p:nvGraphicFramePr>
        <p:xfrm>
          <a:off x="153228" y="1598386"/>
          <a:ext cx="7807455" cy="257929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51655">
                  <a:extLst>
                    <a:ext uri="{9D8B030D-6E8A-4147-A177-3AD203B41FA5}">
                      <a16:colId xmlns:a16="http://schemas.microsoft.com/office/drawing/2014/main" val="3076565290"/>
                    </a:ext>
                  </a:extLst>
                </a:gridCol>
                <a:gridCol w="1951655">
                  <a:extLst>
                    <a:ext uri="{9D8B030D-6E8A-4147-A177-3AD203B41FA5}">
                      <a16:colId xmlns:a16="http://schemas.microsoft.com/office/drawing/2014/main" val="3858686290"/>
                    </a:ext>
                  </a:extLst>
                </a:gridCol>
                <a:gridCol w="1951655">
                  <a:extLst>
                    <a:ext uri="{9D8B030D-6E8A-4147-A177-3AD203B41FA5}">
                      <a16:colId xmlns:a16="http://schemas.microsoft.com/office/drawing/2014/main" val="554326031"/>
                    </a:ext>
                  </a:extLst>
                </a:gridCol>
                <a:gridCol w="1952490">
                  <a:extLst>
                    <a:ext uri="{9D8B030D-6E8A-4147-A177-3AD203B41FA5}">
                      <a16:colId xmlns:a16="http://schemas.microsoft.com/office/drawing/2014/main" val="1850529421"/>
                    </a:ext>
                  </a:extLst>
                </a:gridCol>
              </a:tblGrid>
              <a:tr h="18648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Изображение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565010226"/>
                  </a:ext>
                </a:extLst>
              </a:tr>
              <a:tr h="36080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Вид искажения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Отсутствует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Добавлен шум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Усилена резкость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598001565"/>
                  </a:ext>
                </a:extLst>
              </a:tr>
              <a:tr h="35368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Оценка методом </a:t>
                      </a:r>
                      <a:r>
                        <a:rPr lang="en-US" sz="1400" i="0" dirty="0">
                          <a:effectLst/>
                        </a:rPr>
                        <a:t>RS</a:t>
                      </a:r>
                      <a:endParaRPr lang="ru-RU" sz="1400" i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5,68%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100%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31,67%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024726613"/>
                  </a:ext>
                </a:extLst>
              </a:tr>
            </a:tbl>
          </a:graphicData>
        </a:graphic>
      </p:graphicFrame>
      <p:pic>
        <p:nvPicPr>
          <p:cNvPr id="7" name="Рисунок 126">
            <a:extLst>
              <a:ext uri="{FF2B5EF4-FFF2-40B4-BE49-F238E27FC236}">
                <a16:creationId xmlns:a16="http://schemas.microsoft.com/office/drawing/2014/main" id="{28AD5A48-083D-735C-2F43-380879AA2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06110" y="1639252"/>
            <a:ext cx="1770668" cy="177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125">
            <a:extLst>
              <a:ext uri="{FF2B5EF4-FFF2-40B4-BE49-F238E27FC236}">
                <a16:creationId xmlns:a16="http://schemas.microsoft.com/office/drawing/2014/main" id="{5A143406-4E88-F0B5-ABC2-959E92744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67241" y="1639252"/>
            <a:ext cx="1770668" cy="177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124">
            <a:extLst>
              <a:ext uri="{FF2B5EF4-FFF2-40B4-BE49-F238E27FC236}">
                <a16:creationId xmlns:a16="http://schemas.microsoft.com/office/drawing/2014/main" id="{8D5004E4-E22B-5935-C34F-F5FC845CD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8466" y="1635298"/>
            <a:ext cx="1770668" cy="177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B7CA093-E5AC-47B4-6659-682D8FA858D5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Оценки качества изображений</a:t>
            </a:r>
          </a:p>
        </p:txBody>
      </p:sp>
      <p:pic>
        <p:nvPicPr>
          <p:cNvPr id="11" name="Рисунок 10" descr="Изображение выглядит как черный, диаграмма,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C64647-8AA6-6A93-312B-23554AE66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403410"/>
            <a:ext cx="8430883" cy="2253123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A186893A-18FB-2D73-2E8E-65FA3578C1F4}"/>
              </a:ext>
            </a:extLst>
          </p:cNvPr>
          <p:cNvSpPr txBox="1">
            <a:spLocks/>
          </p:cNvSpPr>
          <p:nvPr/>
        </p:nvSpPr>
        <p:spPr>
          <a:xfrm>
            <a:off x="8409939" y="2170299"/>
            <a:ext cx="3906328" cy="1256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Количественные абсолютные оценки качества:</a:t>
            </a:r>
          </a:p>
        </p:txBody>
      </p:sp>
    </p:spTree>
    <p:extLst>
      <p:ext uri="{BB962C8B-B14F-4D97-AF65-F5344CB8AC3E}">
        <p14:creationId xmlns:p14="http://schemas.microsoft.com/office/powerpoint/2010/main" val="2792585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9D6EEE-15DA-A65F-FAE6-77A22B54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47349A-C4F6-703B-081D-349E5ABC5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8749" y="1672515"/>
            <a:ext cx="2274948" cy="22749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B25E0B5-B521-7023-6B65-AF0F38639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214558"/>
              </p:ext>
            </p:extLst>
          </p:nvPr>
        </p:nvGraphicFramePr>
        <p:xfrm>
          <a:off x="292923" y="4062147"/>
          <a:ext cx="2686600" cy="1939128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1807915">
                  <a:extLst>
                    <a:ext uri="{9D8B030D-6E8A-4147-A177-3AD203B41FA5}">
                      <a16:colId xmlns:a16="http://schemas.microsoft.com/office/drawing/2014/main" val="588180386"/>
                    </a:ext>
                  </a:extLst>
                </a:gridCol>
                <a:gridCol w="878685">
                  <a:extLst>
                    <a:ext uri="{9D8B030D-6E8A-4147-A177-3AD203B41FA5}">
                      <a16:colId xmlns:a16="http://schemas.microsoft.com/office/drawing/2014/main" val="3420598398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Оценка уровня шума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9,054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442928"/>
                  </a:ext>
                </a:extLst>
              </a:tr>
              <a:tr h="49901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</a:rPr>
                        <a:t>Оценка уровня резкости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</a:rPr>
                        <a:t>74,685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56177"/>
                  </a:ext>
                </a:extLst>
              </a:tr>
              <a:tr h="547723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</a:rPr>
                        <a:t>Оценка уровня размытости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</a:rPr>
                        <a:t>0,336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633190"/>
                  </a:ext>
                </a:extLst>
              </a:tr>
              <a:tr h="49901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</a:rPr>
                        <a:t>Оценка уровня контраста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</a:rPr>
                        <a:t>0,646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377370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096111-9CE9-231D-DA9C-C35475566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18830" y="1170817"/>
            <a:ext cx="2274948" cy="22749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246FA0F-179F-1D91-EAF0-34081BA2E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058492"/>
              </p:ext>
            </p:extLst>
          </p:nvPr>
        </p:nvGraphicFramePr>
        <p:xfrm>
          <a:off x="5595072" y="1170817"/>
          <a:ext cx="1607985" cy="1321276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978256">
                  <a:extLst>
                    <a:ext uri="{9D8B030D-6E8A-4147-A177-3AD203B41FA5}">
                      <a16:colId xmlns:a16="http://schemas.microsoft.com/office/drawing/2014/main" val="588180386"/>
                    </a:ext>
                  </a:extLst>
                </a:gridCol>
                <a:gridCol w="629729">
                  <a:extLst>
                    <a:ext uri="{9D8B030D-6E8A-4147-A177-3AD203B41FA5}">
                      <a16:colId xmlns:a16="http://schemas.microsoft.com/office/drawing/2014/main" val="3420598398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Шум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25,665</a:t>
                      </a:r>
                      <a:endParaRPr lang="ru-RU" sz="1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442928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Резкость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94,045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2139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Размытость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0,273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1753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Контраст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0,556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026845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7AAB90-3A54-0E25-545C-179FA01E22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18830" y="4263964"/>
            <a:ext cx="2274948" cy="227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87CAE6-B096-F7A9-3FE3-4778BB4144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97469" y="1170817"/>
            <a:ext cx="2274948" cy="2274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5B534B0-1A42-36ED-7CF5-8ABC6ACCF9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97469" y="4263964"/>
            <a:ext cx="2274948" cy="227494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F4FDE38-7221-7996-DE8B-F1191632F2F5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Подсчёт оценок качества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0EC009CB-09A2-2EBC-8671-72F2D0C5C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196862"/>
              </p:ext>
            </p:extLst>
          </p:nvPr>
        </p:nvGraphicFramePr>
        <p:xfrm>
          <a:off x="5595072" y="4263964"/>
          <a:ext cx="1607985" cy="1321276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978256">
                  <a:extLst>
                    <a:ext uri="{9D8B030D-6E8A-4147-A177-3AD203B41FA5}">
                      <a16:colId xmlns:a16="http://schemas.microsoft.com/office/drawing/2014/main" val="588180386"/>
                    </a:ext>
                  </a:extLst>
                </a:gridCol>
                <a:gridCol w="629729">
                  <a:extLst>
                    <a:ext uri="{9D8B030D-6E8A-4147-A177-3AD203B41FA5}">
                      <a16:colId xmlns:a16="http://schemas.microsoft.com/office/drawing/2014/main" val="3420598398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Шум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16,312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442928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Резкость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156,978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2139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Размытость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0,229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1753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Контраст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0,623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026845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0052B23-C8EC-9629-362F-CBB4516A0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43024"/>
              </p:ext>
            </p:extLst>
          </p:nvPr>
        </p:nvGraphicFramePr>
        <p:xfrm>
          <a:off x="9973711" y="1170817"/>
          <a:ext cx="1607985" cy="1321276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978256">
                  <a:extLst>
                    <a:ext uri="{9D8B030D-6E8A-4147-A177-3AD203B41FA5}">
                      <a16:colId xmlns:a16="http://schemas.microsoft.com/office/drawing/2014/main" val="588180386"/>
                    </a:ext>
                  </a:extLst>
                </a:gridCol>
                <a:gridCol w="629729">
                  <a:extLst>
                    <a:ext uri="{9D8B030D-6E8A-4147-A177-3AD203B41FA5}">
                      <a16:colId xmlns:a16="http://schemas.microsoft.com/office/drawing/2014/main" val="3420598398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Шум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6,819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442928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Резкость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33,167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2139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Размытость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0,499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1753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Контраст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0,591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026845"/>
                  </a:ext>
                </a:extLst>
              </a:tr>
            </a:tbl>
          </a:graphicData>
        </a:graphic>
      </p:graphicFrame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F99531AD-ED68-FB44-B26B-7B0606DBD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745068"/>
              </p:ext>
            </p:extLst>
          </p:nvPr>
        </p:nvGraphicFramePr>
        <p:xfrm>
          <a:off x="9973710" y="4263964"/>
          <a:ext cx="1607985" cy="1321276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978256">
                  <a:extLst>
                    <a:ext uri="{9D8B030D-6E8A-4147-A177-3AD203B41FA5}">
                      <a16:colId xmlns:a16="http://schemas.microsoft.com/office/drawing/2014/main" val="588180386"/>
                    </a:ext>
                  </a:extLst>
                </a:gridCol>
                <a:gridCol w="629729">
                  <a:extLst>
                    <a:ext uri="{9D8B030D-6E8A-4147-A177-3AD203B41FA5}">
                      <a16:colId xmlns:a16="http://schemas.microsoft.com/office/drawing/2014/main" val="3420598398"/>
                    </a:ext>
                  </a:extLst>
                </a:gridCol>
              </a:tblGrid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Шум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4,054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442928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Резкость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84,971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2139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Размытость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0,328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17532"/>
                  </a:ext>
                </a:extLst>
              </a:tr>
              <a:tr h="33031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Контраст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0,739</a:t>
                      </a:r>
                    </a:p>
                  </a:txBody>
                  <a:tcPr marL="17780" marR="1778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026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003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2F318D-439D-BA7D-5E8A-5DB30E62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76FCE-AE19-81A7-3F0E-CF4FC82B9676}"/>
              </a:ext>
            </a:extLst>
          </p:cNvPr>
          <p:cNvSpPr txBox="1"/>
          <p:nvPr/>
        </p:nvSpPr>
        <p:spPr>
          <a:xfrm>
            <a:off x="685391" y="1442226"/>
            <a:ext cx="4872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ea typeface="Calibri" panose="020F0502020204030204" pitchFamily="34" charset="0"/>
              </a:rPr>
              <a:t>При последовательном встраивании</a:t>
            </a:r>
            <a:endParaRPr lang="ru-RU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57D7C-4FDC-C605-5636-85A4848434ED}"/>
              </a:ext>
            </a:extLst>
          </p:cNvPr>
          <p:cNvSpPr txBox="1"/>
          <p:nvPr/>
        </p:nvSpPr>
        <p:spPr>
          <a:xfrm>
            <a:off x="6707984" y="1435881"/>
            <a:ext cx="4872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a typeface="Calibri" panose="020F0502020204030204" pitchFamily="34" charset="0"/>
              </a:rPr>
              <a:t>П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ри псевдослучайном встраивании</a:t>
            </a:r>
            <a:endParaRPr lang="ru-RU" sz="2000" b="1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BEEACDD-A2D4-D7D3-273E-8220C8A75E31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Сравнение модулей средних ошибок метода </a:t>
            </a:r>
            <a:r>
              <a:rPr lang="en-US" dirty="0"/>
              <a:t>CSA</a:t>
            </a:r>
            <a:r>
              <a:rPr lang="ru-RU" dirty="0"/>
              <a:t> в определении относительного объёма встроенной информации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233995-F238-FEDE-7DA1-33110AF07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7259" y="2195922"/>
            <a:ext cx="5688300" cy="37755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DEEA3F-01DE-E17F-1D50-68BBA68DA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203520" y="2184414"/>
            <a:ext cx="5722978" cy="37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0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E363E9-BA50-436B-C085-2AB59512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6038B2D-8B1C-A590-358E-3465CE949A3A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Сравнение модулей средних ошибок метода </a:t>
            </a:r>
            <a:r>
              <a:rPr lang="en-US" dirty="0"/>
              <a:t>RS</a:t>
            </a:r>
            <a:r>
              <a:rPr lang="ru-RU" dirty="0"/>
              <a:t> в определении относительного объёма встроенной информации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9ECCF4-92B0-03AE-7003-C3DB5324C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2197" y="2180737"/>
            <a:ext cx="5715683" cy="37937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51EAB9-B8ED-F579-6759-169418A6B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256537" y="2214563"/>
            <a:ext cx="5616944" cy="3719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CF1141-8DFF-278E-2A1A-707BB6287872}"/>
              </a:ext>
            </a:extLst>
          </p:cNvPr>
          <p:cNvSpPr txBox="1"/>
          <p:nvPr/>
        </p:nvSpPr>
        <p:spPr>
          <a:xfrm>
            <a:off x="685391" y="1442226"/>
            <a:ext cx="4872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ffectLst/>
                <a:ea typeface="Calibri" panose="020F0502020204030204" pitchFamily="34" charset="0"/>
              </a:rPr>
              <a:t>При последовательном встраивании</a:t>
            </a:r>
            <a:endParaRPr lang="ru-R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A491E-4246-D7A1-5BBB-140E19D3BEB2}"/>
              </a:ext>
            </a:extLst>
          </p:cNvPr>
          <p:cNvSpPr txBox="1"/>
          <p:nvPr/>
        </p:nvSpPr>
        <p:spPr>
          <a:xfrm>
            <a:off x="6707984" y="1435881"/>
            <a:ext cx="4872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ea typeface="Calibri" panose="020F0502020204030204" pitchFamily="34" charset="0"/>
              </a:rPr>
              <a:t>П</a:t>
            </a:r>
            <a:r>
              <a:rPr lang="ru-RU" sz="2000" b="1" dirty="0">
                <a:effectLst/>
                <a:ea typeface="Calibri" panose="020F0502020204030204" pitchFamily="34" charset="0"/>
              </a:rPr>
              <a:t>ри псевдослучайном встраивании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4645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2F3F03-90D8-78F2-F355-66F4C502A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F65F574-2820-93A1-1D5C-7CAF0B77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75" y="1362075"/>
            <a:ext cx="11576649" cy="510833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Традиционные одиночные методы (статистические – </a:t>
            </a:r>
            <a:r>
              <a:rPr lang="en-US" dirty="0"/>
              <a:t>CSA</a:t>
            </a:r>
            <a:r>
              <a:rPr lang="ru-RU" dirty="0"/>
              <a:t>, </a:t>
            </a:r>
            <a:r>
              <a:rPr lang="en-US" dirty="0"/>
              <a:t>RS</a:t>
            </a:r>
            <a:r>
              <a:rPr lang="ru-RU" dirty="0"/>
              <a:t> и пр.; поведенческие – метод Жилкина и пр.; и т.д.).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Методы на основе бинарной классификации пустых и заполненных контейнеров (например, классификатор «</a:t>
            </a:r>
            <a:r>
              <a:rPr lang="en-US" dirty="0" err="1"/>
              <a:t>stego</a:t>
            </a:r>
            <a:r>
              <a:rPr lang="en-US" dirty="0"/>
              <a:t> </a:t>
            </a:r>
            <a:r>
              <a:rPr lang="ru-RU" dirty="0"/>
              <a:t>против </a:t>
            </a:r>
            <a:r>
              <a:rPr lang="en-US" dirty="0"/>
              <a:t>cover</a:t>
            </a:r>
            <a:r>
              <a:rPr lang="ru-RU" dirty="0"/>
              <a:t>») с использованием «богатых моделей» признаков (множества признаков – вычисляемых характеристик изображения, например, </a:t>
            </a:r>
            <a:r>
              <a:rPr lang="en-US" dirty="0"/>
              <a:t>Spatial Rich Model</a:t>
            </a:r>
            <a:r>
              <a:rPr lang="ru-RU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Ансамблевые методы (использование ансамблевых методов обучения классификатора или использование многоуровневой архитектуры классификаторов – множества локальных и одного </a:t>
            </a:r>
            <a:r>
              <a:rPr lang="ru-RU" dirty="0" err="1"/>
              <a:t>верхнеуровневого</a:t>
            </a:r>
            <a:r>
              <a:rPr lang="ru-RU" dirty="0"/>
              <a:t>;</a:t>
            </a:r>
            <a:r>
              <a:rPr lang="en-US" dirty="0"/>
              <a:t> </a:t>
            </a:r>
            <a:r>
              <a:rPr lang="ru-RU" dirty="0"/>
              <a:t>например, метод Фридрих и </a:t>
            </a:r>
            <a:r>
              <a:rPr lang="ru-RU" dirty="0" err="1"/>
              <a:t>Кодовского</a:t>
            </a:r>
            <a:r>
              <a:rPr lang="ru-RU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Методы на основе классификации контейнеров при помощи свёрточных нейронных сетей и глубокого обучения (архитектуры </a:t>
            </a:r>
            <a:r>
              <a:rPr lang="en-US" dirty="0"/>
              <a:t>Ye-Net</a:t>
            </a:r>
            <a:r>
              <a:rPr lang="ru-RU" dirty="0"/>
              <a:t>, </a:t>
            </a:r>
            <a:r>
              <a:rPr lang="en-US" dirty="0" err="1"/>
              <a:t>SRNet</a:t>
            </a:r>
            <a:r>
              <a:rPr lang="ru-RU" dirty="0"/>
              <a:t> и т.д.).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Методы, интегрирующие применение свёрточных нейронных сетей и методов с «богатыми моделями» в рамках ансамблевых методов, решающих задачи классификации (метод стегоанализа </a:t>
            </a:r>
            <a:r>
              <a:rPr lang="en-US" dirty="0"/>
              <a:t>JPEG </a:t>
            </a:r>
            <a:r>
              <a:rPr lang="ru-RU" dirty="0"/>
              <a:t>Чжана).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B1F035F-7167-2140-B9CC-D02619700036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/>
              <a:t>Стегоаналитические</a:t>
            </a:r>
            <a:r>
              <a:rPr lang="ru-RU" dirty="0"/>
              <a:t> подходы</a:t>
            </a:r>
          </a:p>
        </p:txBody>
      </p:sp>
    </p:spTree>
    <p:extLst>
      <p:ext uri="{BB962C8B-B14F-4D97-AF65-F5344CB8AC3E}">
        <p14:creationId xmlns:p14="http://schemas.microsoft.com/office/powerpoint/2010/main" val="3323512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84CC83-7E80-D38F-C09F-C89EB6BA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B546C20-F743-5BC0-261D-4A4B0FD06EF4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Методика комплексного статистического стегоанализа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8C939CB-0E59-6F85-E28D-785279C63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90" y="1808432"/>
            <a:ext cx="5575541" cy="452976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Осуществление оценки относительного объёма скрытой информации при помощи методов </a:t>
            </a:r>
            <a:r>
              <a:rPr lang="en-US" sz="2000" dirty="0"/>
              <a:t>Chi-Square Attack</a:t>
            </a:r>
            <a:r>
              <a:rPr lang="ru-RU" sz="2000" dirty="0"/>
              <a:t> и </a:t>
            </a:r>
            <a:r>
              <a:rPr lang="en-US" sz="2000" dirty="0"/>
              <a:t>Regular-Singular</a:t>
            </a:r>
            <a:r>
              <a:rPr lang="ru-RU" sz="20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Получение оценок дополнительных присущих изображению параметров (размер) и вычисляемых характеристик (оценки качества).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Использование методов машинного обучения для получения окончательного вывода о детектировании встроенной информации на основе числовых данных, вычисляемых или получаемых после решения подзадач 1 и 2 (представляющих собой набор признаков/значимых параметров методики).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30F22179-A897-B2FB-56A3-08A390FA1E2A}"/>
              </a:ext>
            </a:extLst>
          </p:cNvPr>
          <p:cNvSpPr txBox="1">
            <a:spLocks/>
          </p:cNvSpPr>
          <p:nvPr/>
        </p:nvSpPr>
        <p:spPr>
          <a:xfrm>
            <a:off x="5822831" y="1362075"/>
            <a:ext cx="6083059" cy="52543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объём скрытой информации методом </a:t>
            </a:r>
            <a:r>
              <a:rPr lang="en-US" sz="2000" dirty="0"/>
              <a:t>CSA</a:t>
            </a:r>
            <a:r>
              <a:rPr lang="ru-RU" sz="2000" dirty="0"/>
              <a:t> при горизонтальном обходе матрицы пикселей;</a:t>
            </a:r>
          </a:p>
          <a:p>
            <a:pPr>
              <a:spcAft>
                <a:spcPts val="1000"/>
              </a:spcAft>
            </a:pPr>
            <a:r>
              <a:rPr lang="ru-RU" sz="2000" dirty="0"/>
              <a:t>объём скрытой информации методом </a:t>
            </a:r>
            <a:r>
              <a:rPr lang="en-US" sz="2000" dirty="0"/>
              <a:t>CSA</a:t>
            </a:r>
            <a:r>
              <a:rPr lang="ru-RU" sz="2000" dirty="0"/>
              <a:t> при вертикальном обходе матрицы пикселей;</a:t>
            </a:r>
          </a:p>
          <a:p>
            <a:pPr>
              <a:spcAft>
                <a:spcPts val="1000"/>
              </a:spcAft>
            </a:pPr>
            <a:r>
              <a:rPr lang="ru-RU" sz="2000" dirty="0"/>
              <a:t>объём скрытой информации методом Regular-Singular;</a:t>
            </a:r>
          </a:p>
          <a:p>
            <a:r>
              <a:rPr lang="ru-RU" sz="2000" dirty="0"/>
              <a:t>уровень шума;</a:t>
            </a:r>
          </a:p>
          <a:p>
            <a:r>
              <a:rPr lang="ru-RU" sz="2000" dirty="0"/>
              <a:t>уровень резкости;</a:t>
            </a:r>
          </a:p>
          <a:p>
            <a:r>
              <a:rPr lang="ru-RU" sz="2000" dirty="0"/>
              <a:t>уровень размытости;</a:t>
            </a:r>
          </a:p>
          <a:p>
            <a:r>
              <a:rPr lang="ru-RU" sz="2000" dirty="0"/>
              <a:t>уровень контраста;</a:t>
            </a:r>
          </a:p>
          <a:p>
            <a:r>
              <a:rPr lang="ru-RU" sz="2000" dirty="0"/>
              <a:t>энтропия Шеннона;</a:t>
            </a:r>
          </a:p>
          <a:p>
            <a:pPr>
              <a:spcAft>
                <a:spcPts val="1000"/>
              </a:spcAft>
            </a:pPr>
            <a:r>
              <a:rPr lang="ru-RU" sz="2000" dirty="0"/>
              <a:t>энтропия </a:t>
            </a:r>
            <a:r>
              <a:rPr lang="ru-RU" sz="2000" dirty="0" err="1"/>
              <a:t>Реньи</a:t>
            </a:r>
            <a:r>
              <a:rPr lang="ru-RU" sz="2000" dirty="0"/>
              <a:t> при параметре α=1,1;</a:t>
            </a:r>
          </a:p>
          <a:p>
            <a:r>
              <a:rPr lang="ru-RU" sz="2000" dirty="0"/>
              <a:t>предполагаемый порог встраивания по Коха-Жао при горизонтальном обходе;</a:t>
            </a:r>
          </a:p>
          <a:p>
            <a:r>
              <a:rPr lang="ru-RU" sz="2000" dirty="0"/>
              <a:t>вычисленная битовая длина данных при стегоанализе Коха-Жао при горизонтальном обходе;</a:t>
            </a:r>
          </a:p>
          <a:p>
            <a:r>
              <a:rPr lang="ru-RU" sz="2000" dirty="0"/>
              <a:t>предполагаемый порог встраивания по Коха-Жао при вертикальном обходе;</a:t>
            </a:r>
          </a:p>
          <a:p>
            <a:pPr>
              <a:spcAft>
                <a:spcPts val="1000"/>
              </a:spcAft>
            </a:pPr>
            <a:r>
              <a:rPr lang="ru-RU" sz="2000" dirty="0"/>
              <a:t>вычисленная битовая длина данных при стегоанализе Коха-Жао при вертикальном обходе;</a:t>
            </a:r>
          </a:p>
          <a:p>
            <a:r>
              <a:rPr lang="ru-RU" sz="2000" dirty="0"/>
              <a:t>суммарное количество пикселей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76963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FD1C9F-8708-F09C-C2DA-D9E0B5E2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22D4A08-1896-8F42-1FE0-0CDE032A144A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Параметры методики комплексного статистического стегоанализа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D500398-3F0A-83B9-12D8-15BE2223E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180929"/>
              </p:ext>
            </p:extLst>
          </p:nvPr>
        </p:nvGraphicFramePr>
        <p:xfrm>
          <a:off x="484522" y="1042898"/>
          <a:ext cx="4501548" cy="27749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00516">
                  <a:extLst>
                    <a:ext uri="{9D8B030D-6E8A-4147-A177-3AD203B41FA5}">
                      <a16:colId xmlns:a16="http://schemas.microsoft.com/office/drawing/2014/main" val="696936460"/>
                    </a:ext>
                  </a:extLst>
                </a:gridCol>
                <a:gridCol w="1500516">
                  <a:extLst>
                    <a:ext uri="{9D8B030D-6E8A-4147-A177-3AD203B41FA5}">
                      <a16:colId xmlns:a16="http://schemas.microsoft.com/office/drawing/2014/main" val="831356444"/>
                    </a:ext>
                  </a:extLst>
                </a:gridCol>
                <a:gridCol w="1500516">
                  <a:extLst>
                    <a:ext uri="{9D8B030D-6E8A-4147-A177-3AD203B41FA5}">
                      <a16:colId xmlns:a16="http://schemas.microsoft.com/office/drawing/2014/main" val="2166213468"/>
                    </a:ext>
                  </a:extLst>
                </a:gridCol>
              </a:tblGrid>
              <a:tr h="9249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CSA</a:t>
                      </a:r>
                      <a:r>
                        <a:rPr lang="ru-RU" sz="1600" dirty="0">
                          <a:effectLst/>
                        </a:rPr>
                        <a:t> 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Горизонтальный обход при скрытии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Вертикальный обход при скрытии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2151533190"/>
                  </a:ext>
                </a:extLst>
              </a:tr>
              <a:tr h="9249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Горизонтальный обход при анализе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</a:rPr>
                        <a:t>10,905%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B5D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31,669%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FF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09002"/>
                  </a:ext>
                </a:extLst>
              </a:tr>
              <a:tr h="9249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Вертикальный обход при анализе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30,548%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FF8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13,095%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CEE6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483105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0511181-06AB-277A-A2BA-67AC2CCEA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42643"/>
              </p:ext>
            </p:extLst>
          </p:nvPr>
        </p:nvGraphicFramePr>
        <p:xfrm>
          <a:off x="484522" y="3962929"/>
          <a:ext cx="4501548" cy="27749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00516">
                  <a:extLst>
                    <a:ext uri="{9D8B030D-6E8A-4147-A177-3AD203B41FA5}">
                      <a16:colId xmlns:a16="http://schemas.microsoft.com/office/drawing/2014/main" val="25744332"/>
                    </a:ext>
                  </a:extLst>
                </a:gridCol>
                <a:gridCol w="1500516">
                  <a:extLst>
                    <a:ext uri="{9D8B030D-6E8A-4147-A177-3AD203B41FA5}">
                      <a16:colId xmlns:a16="http://schemas.microsoft.com/office/drawing/2014/main" val="1634420998"/>
                    </a:ext>
                  </a:extLst>
                </a:gridCol>
                <a:gridCol w="1500516">
                  <a:extLst>
                    <a:ext uri="{9D8B030D-6E8A-4147-A177-3AD203B41FA5}">
                      <a16:colId xmlns:a16="http://schemas.microsoft.com/office/drawing/2014/main" val="1359430076"/>
                    </a:ext>
                  </a:extLst>
                </a:gridCol>
              </a:tblGrid>
              <a:tr h="9249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Коха-Жао 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Горизонтальный обход при скрытии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Вертикальный обход при скрытии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510875899"/>
                  </a:ext>
                </a:extLst>
              </a:tr>
              <a:tr h="9249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Горизонтальный обход при анализе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14,974%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DBEC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48,655%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FF6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473047"/>
                  </a:ext>
                </a:extLst>
              </a:tr>
              <a:tr h="92496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>
                          <a:effectLst/>
                        </a:rPr>
                        <a:t>Вертикальный обход при анализе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49,344%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FF53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dirty="0">
                          <a:effectLst/>
                        </a:rPr>
                        <a:t>15,717%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53181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28380AE-CE18-E721-1C8D-9345C998A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242805"/>
              </p:ext>
            </p:extLst>
          </p:nvPr>
        </p:nvGraphicFramePr>
        <p:xfrm>
          <a:off x="6096000" y="1362075"/>
          <a:ext cx="4743448" cy="46836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95255">
                  <a:extLst>
                    <a:ext uri="{9D8B030D-6E8A-4147-A177-3AD203B41FA5}">
                      <a16:colId xmlns:a16="http://schemas.microsoft.com/office/drawing/2014/main" val="2363021200"/>
                    </a:ext>
                  </a:extLst>
                </a:gridCol>
                <a:gridCol w="1702688">
                  <a:extLst>
                    <a:ext uri="{9D8B030D-6E8A-4147-A177-3AD203B41FA5}">
                      <a16:colId xmlns:a16="http://schemas.microsoft.com/office/drawing/2014/main" val="3182292350"/>
                    </a:ext>
                  </a:extLst>
                </a:gridCol>
                <a:gridCol w="1186412">
                  <a:extLst>
                    <a:ext uri="{9D8B030D-6E8A-4147-A177-3AD203B41FA5}">
                      <a16:colId xmlns:a16="http://schemas.microsoft.com/office/drawing/2014/main" val="2356883342"/>
                    </a:ext>
                  </a:extLst>
                </a:gridCol>
                <a:gridCol w="1059093">
                  <a:extLst>
                    <a:ext uri="{9D8B030D-6E8A-4147-A177-3AD203B41FA5}">
                      <a16:colId xmlns:a16="http://schemas.microsoft.com/office/drawing/2014/main" val="2824592846"/>
                    </a:ext>
                  </a:extLst>
                </a:gridCol>
              </a:tblGrid>
              <a:tr h="82934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Выборка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Вариант заполнения контейнеров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Модуль средней ошибки </a:t>
                      </a:r>
                      <a:r>
                        <a:rPr lang="en-US" sz="1400" i="1" dirty="0">
                          <a:effectLst/>
                        </a:rPr>
                        <a:t>CSA</a:t>
                      </a:r>
                      <a:r>
                        <a:rPr lang="ru-RU" sz="1400" dirty="0">
                          <a:effectLst/>
                        </a:rPr>
                        <a:t>, 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Модуль средней ошибки </a:t>
                      </a:r>
                      <a:r>
                        <a:rPr lang="en-US" sz="1400" i="1" dirty="0">
                          <a:effectLst/>
                        </a:rPr>
                        <a:t>RS</a:t>
                      </a:r>
                      <a:r>
                        <a:rPr lang="ru-RU" sz="1400" dirty="0">
                          <a:effectLst/>
                        </a:rPr>
                        <a:t>, 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43751006"/>
                  </a:ext>
                </a:extLst>
              </a:tr>
              <a:tr h="428251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dirty="0">
                          <a:effectLst/>
                        </a:rPr>
                        <a:t>LARGE</a:t>
                      </a:r>
                      <a:endParaRPr lang="ru-RU" sz="14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Пустой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0,</a:t>
                      </a:r>
                      <a:r>
                        <a:rPr lang="ru-RU" sz="1400" dirty="0">
                          <a:effectLst/>
                        </a:rPr>
                        <a:t>14</a:t>
                      </a: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6BA9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51</a:t>
                      </a:r>
                      <a:r>
                        <a:rPr lang="en-US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6FA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903099"/>
                  </a:ext>
                </a:extLst>
              </a:tr>
              <a:tr h="4282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Последовательно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613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7EB2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30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088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D89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602647"/>
                  </a:ext>
                </a:extLst>
              </a:tr>
              <a:tr h="4282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Псевдослучайно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40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01</a:t>
                      </a:r>
                      <a:r>
                        <a:rPr lang="en-US" sz="1400" dirty="0">
                          <a:effectLst/>
                        </a:rPr>
                        <a:t>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C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86</a:t>
                      </a:r>
                      <a:r>
                        <a:rPr lang="en-US" sz="1400" dirty="0">
                          <a:effectLst/>
                        </a:rPr>
                        <a:t>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74A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074954"/>
                  </a:ext>
                </a:extLst>
              </a:tr>
              <a:tr h="428251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dirty="0">
                          <a:effectLst/>
                        </a:rPr>
                        <a:t>MEDIUM</a:t>
                      </a:r>
                      <a:endParaRPr lang="ru-RU" sz="14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Пустой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0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24</a:t>
                      </a:r>
                      <a:r>
                        <a:rPr lang="en-US" sz="1400" dirty="0">
                          <a:effectLst/>
                        </a:rPr>
                        <a:t>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6DA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22</a:t>
                      </a:r>
                      <a:r>
                        <a:rPr lang="en-US" sz="1400" dirty="0">
                          <a:effectLst/>
                        </a:rPr>
                        <a:t>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6BA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026740"/>
                  </a:ext>
                </a:extLst>
              </a:tr>
              <a:tr h="4282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Последовательно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3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712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8CB8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29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59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D88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75559"/>
                  </a:ext>
                </a:extLst>
              </a:tr>
              <a:tr h="4282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Псевдослучайно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35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791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D89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79</a:t>
                      </a:r>
                      <a:r>
                        <a:rPr lang="en-US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73A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363611"/>
                  </a:ext>
                </a:extLst>
              </a:tr>
              <a:tr h="428251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i="1" dirty="0">
                          <a:effectLst/>
                        </a:rPr>
                        <a:t>SMALL</a:t>
                      </a:r>
                      <a:endParaRPr lang="ru-RU" sz="14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Пустой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8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402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A9B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r>
                        <a:rPr lang="ru-RU" sz="1400" dirty="0">
                          <a:effectLst/>
                        </a:rPr>
                        <a:t>7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48</a:t>
                      </a:r>
                      <a:r>
                        <a:rPr lang="en-US" sz="1400" dirty="0">
                          <a:effectLst/>
                        </a:rPr>
                        <a:t>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D0C7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806755"/>
                  </a:ext>
                </a:extLst>
              </a:tr>
              <a:tr h="4282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Последовательно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12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67</a:t>
                      </a:r>
                      <a:r>
                        <a:rPr lang="en-US" sz="1400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C1C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32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77</a:t>
                      </a:r>
                      <a:r>
                        <a:rPr lang="en-US" sz="1400" dirty="0">
                          <a:effectLst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C06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343224"/>
                  </a:ext>
                </a:extLst>
              </a:tr>
              <a:tr h="4282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>
                          <a:effectLst/>
                        </a:rPr>
                        <a:t>Псевдослучайно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23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979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D6C8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</a:rPr>
                        <a:t>11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605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rgbClr val="BAC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057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59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A6B111-C2C1-D441-45CD-CC1D4533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4CE912-1F1D-67F8-0882-69B6B6C9C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170817"/>
            <a:ext cx="10725923" cy="5464323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84F13A0-93F1-8272-8CF6-AC8780BBDEC8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Бинарный классификатор</a:t>
            </a:r>
          </a:p>
        </p:txBody>
      </p:sp>
    </p:spTree>
    <p:extLst>
      <p:ext uri="{BB962C8B-B14F-4D97-AF65-F5344CB8AC3E}">
        <p14:creationId xmlns:p14="http://schemas.microsoft.com/office/powerpoint/2010/main" val="3483745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5ACE5B-3D5A-5996-2BEB-A4D6C40C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22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49F89DB-6EF6-8B5A-AC39-623104263100}"/>
              </a:ext>
            </a:extLst>
          </p:cNvPr>
          <p:cNvSpPr txBox="1">
            <a:spLocks/>
          </p:cNvSpPr>
          <p:nvPr/>
        </p:nvSpPr>
        <p:spPr>
          <a:xfrm>
            <a:off x="152400" y="136525"/>
            <a:ext cx="7343775" cy="1225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Литература и ссылки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683BE-3609-3D0F-F976-2E559E0096F1}"/>
              </a:ext>
            </a:extLst>
          </p:cNvPr>
          <p:cNvSpPr txBox="1"/>
          <p:nvPr/>
        </p:nvSpPr>
        <p:spPr>
          <a:xfrm>
            <a:off x="74764" y="697176"/>
            <a:ext cx="11964836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00" b="1" dirty="0"/>
              <a:t>Стеганография: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 err="1"/>
              <a:t>Конахович</a:t>
            </a:r>
            <a:r>
              <a:rPr lang="ru-RU" sz="1300" dirty="0"/>
              <a:t>, Г. Ф., </a:t>
            </a:r>
            <a:r>
              <a:rPr lang="ru-RU" sz="1300" dirty="0" err="1"/>
              <a:t>Пузыренко</a:t>
            </a:r>
            <a:r>
              <a:rPr lang="ru-RU" sz="1300" dirty="0"/>
              <a:t>, А. Ю. Компьютерная стеганография. Теория и практика. Киев: МК-Пресс, 2006. – 286 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Yahya, A. Steganography Techniques for Digital Images. </a:t>
            </a:r>
            <a:r>
              <a:rPr lang="ru-RU" sz="1300" dirty="0" err="1"/>
              <a:t>Палапье</a:t>
            </a:r>
            <a:r>
              <a:rPr lang="ru-RU" sz="1300" dirty="0"/>
              <a:t>: Springer, 2018. – 131 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Коржик, В. И., Красов, А. В. Цифровая стеганография. Бакалавриат, Магистратура. Учебник. Санкт-Петербург: </a:t>
            </a:r>
            <a:r>
              <a:rPr lang="ru-RU" sz="1300" dirty="0" err="1"/>
              <a:t>КноРус</a:t>
            </a:r>
            <a:r>
              <a:rPr lang="ru-RU" sz="1300" dirty="0"/>
              <a:t>, 2023. – 324 с.</a:t>
            </a:r>
          </a:p>
          <a:p>
            <a:pPr>
              <a:spcBef>
                <a:spcPts val="600"/>
              </a:spcBef>
            </a:pPr>
            <a:r>
              <a:rPr lang="ru-RU" sz="1300" b="1" dirty="0"/>
              <a:t>Стегоанализ: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Fridrich, J. Steganography in Digital Media. Principles, Algorithms, and Applications. Cambridge: Cambridge University Press, 2010. – 431 </a:t>
            </a:r>
            <a:r>
              <a:rPr lang="ru-RU" sz="1300" dirty="0"/>
              <a:t>с</a:t>
            </a:r>
            <a:r>
              <a:rPr lang="en-US" sz="1300" dirty="0"/>
              <a:t>.</a:t>
            </a:r>
            <a:endParaRPr lang="ru-RU" sz="1300" dirty="0"/>
          </a:p>
          <a:p>
            <a:pPr>
              <a:spcBef>
                <a:spcPts val="600"/>
              </a:spcBef>
            </a:pPr>
            <a:r>
              <a:rPr lang="ru-RU" sz="1300" b="1" dirty="0"/>
              <a:t>Метод НЗБ: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/>
              <a:t>Westfeld</a:t>
            </a:r>
            <a:r>
              <a:rPr lang="en-US" sz="1300" dirty="0"/>
              <a:t>, A., </a:t>
            </a:r>
            <a:r>
              <a:rPr lang="en-US" sz="1300" dirty="0" err="1"/>
              <a:t>Pfitzmann</a:t>
            </a:r>
            <a:r>
              <a:rPr lang="en-US" sz="1300" dirty="0"/>
              <a:t>, A. Attacks on Steganographic Systems Breaking the Steganographic Utilities </a:t>
            </a:r>
            <a:r>
              <a:rPr lang="en-US" sz="1300" dirty="0" err="1"/>
              <a:t>EzStego</a:t>
            </a:r>
            <a:r>
              <a:rPr lang="en-US" sz="1300" dirty="0"/>
              <a:t>, </a:t>
            </a:r>
            <a:r>
              <a:rPr lang="en-US" sz="1300" dirty="0" err="1"/>
              <a:t>Jsteg</a:t>
            </a:r>
            <a:r>
              <a:rPr lang="en-US" sz="1300" dirty="0"/>
              <a:t>, </a:t>
            </a:r>
            <a:r>
              <a:rPr lang="en-US" sz="1300" dirty="0" err="1"/>
              <a:t>Steganos</a:t>
            </a:r>
            <a:r>
              <a:rPr lang="en-US" sz="1300" dirty="0"/>
              <a:t>, and S-Tools—and Some Lessons Learned / A. </a:t>
            </a:r>
            <a:r>
              <a:rPr lang="en-US" sz="1300" dirty="0" err="1"/>
              <a:t>Westfeld</a:t>
            </a:r>
            <a:r>
              <a:rPr lang="en-US" sz="1300" dirty="0"/>
              <a:t>, A. </a:t>
            </a:r>
            <a:r>
              <a:rPr lang="en-US" sz="1300" dirty="0" err="1"/>
              <a:t>Pfitzmann</a:t>
            </a:r>
            <a:r>
              <a:rPr lang="en-US" sz="1300" dirty="0"/>
              <a:t> // Lecture Notes in Computer Science. – 2000. – № 1768 – </a:t>
            </a:r>
            <a:r>
              <a:rPr lang="ru-RU" sz="1300" dirty="0"/>
              <a:t>С</a:t>
            </a:r>
            <a:r>
              <a:rPr lang="en-US" sz="1300" dirty="0"/>
              <a:t>. 61–76.</a:t>
            </a:r>
            <a:endParaRPr lang="ru-RU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/>
              <a:t>Westfeld</a:t>
            </a:r>
            <a:r>
              <a:rPr lang="en-US" sz="1300" dirty="0"/>
              <a:t>, A. Detecting Low Embedding Rates / A. </a:t>
            </a:r>
            <a:r>
              <a:rPr lang="en-US" sz="1300" dirty="0" err="1"/>
              <a:t>Westfeld</a:t>
            </a:r>
            <a:r>
              <a:rPr lang="en-US" sz="1300" dirty="0"/>
              <a:t> // Lecture Notes in Computer Science. – 2002. – № 2578 – </a:t>
            </a:r>
            <a:r>
              <a:rPr lang="ru-RU" sz="1300" dirty="0"/>
              <a:t>С</a:t>
            </a:r>
            <a:r>
              <a:rPr lang="en-US" sz="1300" dirty="0"/>
              <a:t>. 324–339.</a:t>
            </a:r>
            <a:endParaRPr lang="ru-RU" sz="1300" dirty="0"/>
          </a:p>
          <a:p>
            <a:pPr>
              <a:spcBef>
                <a:spcPts val="600"/>
              </a:spcBef>
            </a:pPr>
            <a:r>
              <a:rPr lang="ru-RU" sz="1300" b="1" dirty="0"/>
              <a:t>Метод </a:t>
            </a:r>
            <a:r>
              <a:rPr lang="en-US" sz="1300" b="1" dirty="0"/>
              <a:t>RS</a:t>
            </a:r>
            <a:r>
              <a:rPr lang="ru-RU" sz="13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Fridrich, J. Reliable detection of LSB steganography in color and grayscale images / J. Fridrich, M. </a:t>
            </a:r>
            <a:r>
              <a:rPr lang="en-US" sz="1300" dirty="0" err="1"/>
              <a:t>Goljan</a:t>
            </a:r>
            <a:r>
              <a:rPr lang="en-US" sz="1300" dirty="0"/>
              <a:t>, R. Du // ACM International Multimedia Conference and Exhibition: </a:t>
            </a:r>
            <a:r>
              <a:rPr lang="ru-RU" sz="1300" dirty="0"/>
              <a:t>Материалы конференции</a:t>
            </a:r>
            <a:r>
              <a:rPr lang="en-US" sz="1300" dirty="0"/>
              <a:t>, New York, 2001. – New York: ACM Press. – 2001. – </a:t>
            </a:r>
            <a:r>
              <a:rPr lang="ru-RU" sz="1300" dirty="0"/>
              <a:t>С</a:t>
            </a:r>
            <a:r>
              <a:rPr lang="en-US" sz="1300" dirty="0"/>
              <a:t>. 27-30.</a:t>
            </a:r>
            <a:endParaRPr lang="ru-RU" sz="1300" dirty="0"/>
          </a:p>
          <a:p>
            <a:pPr>
              <a:spcBef>
                <a:spcPts val="600"/>
              </a:spcBef>
            </a:pPr>
            <a:r>
              <a:rPr lang="ru-RU" sz="1300" b="1" dirty="0"/>
              <a:t>Стегоанализ последовательного встраивания по Коха-Жао: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Белим, С. В. Стегоанализ алгоритма Коха-Жао / С. В. Белим, Д. Э. </a:t>
            </a:r>
            <a:r>
              <a:rPr lang="ru-RU" sz="1300" dirty="0" err="1"/>
              <a:t>Вильховский</a:t>
            </a:r>
            <a:r>
              <a:rPr lang="ru-RU" sz="1300" dirty="0"/>
              <a:t> // Математические структуры и моделирование. – 2018. – Т. 4, № 48. – С. 113–119.</a:t>
            </a:r>
          </a:p>
          <a:p>
            <a:pPr>
              <a:spcBef>
                <a:spcPts val="600"/>
              </a:spcBef>
            </a:pPr>
            <a:r>
              <a:rPr lang="ru-RU" sz="1300" b="1" dirty="0"/>
              <a:t>Обзор методов стегоанализа: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 err="1"/>
              <a:t>Вильховский</a:t>
            </a:r>
            <a:r>
              <a:rPr lang="ru-RU" sz="1300" dirty="0"/>
              <a:t>, Д. Э. Обзор методов стеганографического анализа изображений в работах зарубежных авторов / Д. Э. </a:t>
            </a:r>
            <a:r>
              <a:rPr lang="ru-RU" sz="1300" dirty="0" err="1"/>
              <a:t>Вильховский</a:t>
            </a:r>
            <a:r>
              <a:rPr lang="ru-RU" sz="1300" dirty="0"/>
              <a:t> // Математические структуры и моделирование. – 2020. – № 4 (56). – С. 75–102.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Грачев, Я. Л. Анализ степени разработанности темы стегоанализа в файлах графических форматов / Я. Л. Грачев, В. Г. Сидоренко // Интеллектуальные транспортные системы: Материалы IV Международной научно-практической конференции, Москва, 22 мая 2025 года. – М.: Российский университет транспорта. – 2025. – С. 502–511.</a:t>
            </a:r>
          </a:p>
          <a:p>
            <a:pPr>
              <a:spcBef>
                <a:spcPts val="600"/>
              </a:spcBef>
            </a:pPr>
            <a:r>
              <a:rPr lang="ru-RU" sz="1300" b="1" dirty="0"/>
              <a:t>Методика формирования вывода на основе совместного анализа и метода комплексного статистического стегоанализа: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Грачев, Я. Л. Стегоанализ методов скрытия информации в графических контейнерах / Я. Л. Грачев, В. Г. Сидоренко // Надежность. – 2021. – Т. 21, № 3. – С. 39–46.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Grachev, Y. L. Methodology of Complex Steganalysis Using Image Quality Characteristics Estimation / Y. L. Grachev, V. G. Sidorenko // Proceedings of the 2025 Conference QM&amp;TIS&amp;IT (15-19 September 2025). – 2025 г. – С. 77–82.</a:t>
            </a:r>
          </a:p>
          <a:p>
            <a:pPr>
              <a:spcBef>
                <a:spcPts val="600"/>
              </a:spcBef>
            </a:pPr>
            <a:r>
              <a:rPr lang="ru-RU" sz="1300" b="1" dirty="0"/>
              <a:t>Анализ корреляции оценок качества изображений с ошибками методов стегоанализа: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/>
              <a:t>Грачев, Я. Л. Использование качественных характеристик изображения для комплексного стегоанализа / Я. Л. Грачев, В. Г. Сидоренко // Надежность. – 2025 г. – Т. 25, № 1. – С. 67–74.</a:t>
            </a:r>
          </a:p>
        </p:txBody>
      </p:sp>
    </p:spTree>
    <p:extLst>
      <p:ext uri="{BB962C8B-B14F-4D97-AF65-F5344CB8AC3E}">
        <p14:creationId xmlns:p14="http://schemas.microsoft.com/office/powerpoint/2010/main" val="3388829225"/>
      </p:ext>
    </p:extLst>
  </p:cSld>
  <p:clrMapOvr>
    <a:masterClrMapping/>
  </p:clrMapOvr>
</p:sld>
</file>

<file path=ppt/theme/theme1.xml><?xml version="1.0" encoding="utf-8"?>
<a:theme xmlns:a="http://schemas.openxmlformats.org/drawingml/2006/main" name="PP. Тема РУТ">
  <a:themeElements>
    <a:clrScheme name="Пользовательские 21">
      <a:dk1>
        <a:srgbClr val="000000"/>
      </a:dk1>
      <a:lt1>
        <a:srgbClr val="FFFFFF"/>
      </a:lt1>
      <a:dk2>
        <a:srgbClr val="3C15C3"/>
      </a:dk2>
      <a:lt2>
        <a:srgbClr val="E7E6E6"/>
      </a:lt2>
      <a:accent1>
        <a:srgbClr val="FF2600"/>
      </a:accent1>
      <a:accent2>
        <a:srgbClr val="1309D9"/>
      </a:accent2>
      <a:accent3>
        <a:srgbClr val="008E00"/>
      </a:accent3>
      <a:accent4>
        <a:srgbClr val="CCA972"/>
      </a:accent4>
      <a:accent5>
        <a:srgbClr val="424242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/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. Тема РУТ" id="{597D5D73-5F1A-49B9-9B43-B64D6925449A}" vid="{3CFD58B0-09A0-4E20-AEAE-AF4238F4C25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F6380A0290AF84484F859C9FFD97568" ma:contentTypeVersion="12" ma:contentTypeDescription="Создание документа." ma:contentTypeScope="" ma:versionID="72bbaed3eb222c7715d382f2174bb339">
  <xsd:schema xmlns:xsd="http://www.w3.org/2001/XMLSchema" xmlns:xs="http://www.w3.org/2001/XMLSchema" xmlns:p="http://schemas.microsoft.com/office/2006/metadata/properties" xmlns:ns2="bffb7b91-0466-4de0-9379-f5c53c3acedf" xmlns:ns3="b78dbef7-f85b-47b5-8738-6377d50f4027" targetNamespace="http://schemas.microsoft.com/office/2006/metadata/properties" ma:root="true" ma:fieldsID="576bdfdb0350c5039d167b95ff74a904" ns2:_="" ns3:_="">
    <xsd:import namespace="bffb7b91-0466-4de0-9379-f5c53c3acedf"/>
    <xsd:import namespace="b78dbef7-f85b-47b5-8738-6377d50f40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fb7b91-0466-4de0-9379-f5c53c3ace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2736f47c-10d0-40be-bc11-4282b17364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dbef7-f85b-47b5-8738-6377d50f402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00abce2-0e1e-4c89-8b2b-0842737d5961}" ma:internalName="TaxCatchAll" ma:showField="CatchAllData" ma:web="b78dbef7-f85b-47b5-8738-6377d50f40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8dbef7-f85b-47b5-8738-6377d50f4027" xsi:nil="true"/>
    <lcf76f155ced4ddcb4097134ff3c332f xmlns="bffb7b91-0466-4de0-9379-f5c53c3aced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B790620-B469-4C95-A364-E6A587632792}"/>
</file>

<file path=customXml/itemProps2.xml><?xml version="1.0" encoding="utf-8"?>
<ds:datastoreItem xmlns:ds="http://schemas.openxmlformats.org/officeDocument/2006/customXml" ds:itemID="{AB028300-F973-4858-A6A8-3CE540F52D42}"/>
</file>

<file path=customXml/itemProps3.xml><?xml version="1.0" encoding="utf-8"?>
<ds:datastoreItem xmlns:ds="http://schemas.openxmlformats.org/officeDocument/2006/customXml" ds:itemID="{E5C3CCCF-18AB-4992-826B-F99F86D6D7A5}"/>
</file>

<file path=docProps/app.xml><?xml version="1.0" encoding="utf-8"?>
<Properties xmlns="http://schemas.openxmlformats.org/officeDocument/2006/extended-properties" xmlns:vt="http://schemas.openxmlformats.org/officeDocument/2006/docPropsVTypes">
  <Template>PP. Тема РУТ</Template>
  <TotalTime>34593</TotalTime>
  <Words>1970</Words>
  <Application>Microsoft Office PowerPoint</Application>
  <PresentationFormat>Широкоэкранный</PresentationFormat>
  <Paragraphs>314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Cambria Math</vt:lpstr>
      <vt:lpstr>Times New Roman</vt:lpstr>
      <vt:lpstr>Wingdings</vt:lpstr>
      <vt:lpstr>PP. Тема РУТ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по итогам первого года обучения в аспирантуре</dc:title>
  <dc:creator>Ярослав Грачев</dc:creator>
  <cp:lastModifiedBy>Ярослав Грачев</cp:lastModifiedBy>
  <cp:revision>691</cp:revision>
  <dcterms:created xsi:type="dcterms:W3CDTF">2022-06-09T17:13:23Z</dcterms:created>
  <dcterms:modified xsi:type="dcterms:W3CDTF">2025-11-17T15:20:14Z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0x0101004F6380A0290AF84484F859C9FFD97568</vt:lpwstr>
  </property>
</Properties>
</file>