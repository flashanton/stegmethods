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413" r:id="rId2"/>
    <p:sldId id="338" r:id="rId3"/>
    <p:sldId id="398" r:id="rId4"/>
    <p:sldId id="365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59" r:id="rId24"/>
    <p:sldId id="460" r:id="rId25"/>
    <p:sldId id="461" r:id="rId26"/>
    <p:sldId id="462" r:id="rId27"/>
    <p:sldId id="463" r:id="rId28"/>
    <p:sldId id="464" r:id="rId29"/>
    <p:sldId id="465" r:id="rId30"/>
    <p:sldId id="466" r:id="rId31"/>
    <p:sldId id="467" r:id="rId32"/>
    <p:sldId id="468" r:id="rId33"/>
    <p:sldId id="469" r:id="rId34"/>
    <p:sldId id="477" r:id="rId35"/>
    <p:sldId id="470" r:id="rId36"/>
    <p:sldId id="480" r:id="rId37"/>
    <p:sldId id="478" r:id="rId38"/>
    <p:sldId id="479" r:id="rId39"/>
    <p:sldId id="481" r:id="rId40"/>
    <p:sldId id="482" r:id="rId41"/>
    <p:sldId id="483" r:id="rId42"/>
    <p:sldId id="484" r:id="rId43"/>
    <p:sldId id="471" r:id="rId44"/>
    <p:sldId id="473" r:id="rId45"/>
    <p:sldId id="474" r:id="rId46"/>
    <p:sldId id="472" r:id="rId47"/>
    <p:sldId id="475" r:id="rId48"/>
    <p:sldId id="476" r:id="rId49"/>
    <p:sldId id="260" r:id="rId50"/>
  </p:sldIdLst>
  <p:sldSz cx="12192000" cy="6858000"/>
  <p:notesSz cx="9947275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идоренко Валентина Геннадьевна" initials="СВГ" lastIdx="1" clrIdx="0">
    <p:extLst>
      <p:ext uri="{19B8F6BF-5375-455C-9EA6-DF929625EA0E}">
        <p15:presenceInfo xmlns:p15="http://schemas.microsoft.com/office/powerpoint/2012/main" userId="S::sidorenko_v@edu.rut-miit.ru::9fd89ba1-258d-4f41-8d6a-6540ac52a2c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8" Type="http://schemas.openxmlformats.org/officeDocument/2006/relationships/customXml" Target="../customXml/item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BDAA8-6AFD-40D7-B2DC-3974A8D79420}" type="datetimeFigureOut">
              <a:rPr lang="ru-RU" smtClean="0"/>
              <a:t>12.11.2023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4D8C9-A3E5-4C02-991D-E2CD65482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1081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C75B8-12E8-4D9F-8F85-5D57A486AD22}" type="datetimeFigureOut">
              <a:rPr lang="ru-RU" smtClean="0"/>
              <a:t>12.11.2023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765FE-06FB-4088-B15A-7CEB200242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02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2765FE-06FB-4088-B15A-7CEB20024292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9456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D2BD5-6C6F-48A0-B518-DD4B2CFEDC3E}" type="datetime1">
              <a:rPr lang="ru-RU" smtClean="0"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D55B-DBAA-40C9-96F1-9AC9D67C8380}" type="datetime1">
              <a:rPr lang="ru-RU" smtClean="0"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D90F-A6B2-49D5-B676-6CAF838D29CE}" type="datetime1">
              <a:rPr lang="ru-RU" smtClean="0"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768FD-C195-4808-88A8-B065091832EB}" type="datetime1">
              <a:rPr lang="ru-RU" smtClean="0"/>
              <a:t>12.11.2023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CC82-F715-4F1B-8A76-50C69FAB6C27}" type="datetime1">
              <a:rPr lang="ru-RU" smtClean="0"/>
              <a:t>12.11.2023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A5486-FB1F-4B1B-9550-BAA854518CF3}" type="datetime1">
              <a:rPr lang="ru-RU" smtClean="0"/>
              <a:t>12.11.2023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0244-3D84-4B3F-AD26-97E5D37E4300}" type="datetime1">
              <a:rPr lang="ru-RU" smtClean="0"/>
              <a:t>12.11.2023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19FC-E126-4CBB-8012-0D9C792BB58C}" type="datetime1">
              <a:rPr lang="ru-RU" smtClean="0"/>
              <a:t>12.11.2023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2F15C-F248-4AA2-8218-2A24266A843F}" type="datetime1">
              <a:rPr lang="ru-RU" smtClean="0"/>
              <a:t>12.11.2023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28CD-96F2-4C53-8864-12B0AB282278}" type="datetime1">
              <a:rPr lang="ru-RU" smtClean="0"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9E3C-136C-4190-B3F4-BF3FA1292472}" type="datetime1">
              <a:rPr lang="ru-RU" smtClean="0"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37925-8FCB-4513-AC74-80672112080C}" type="datetime1">
              <a:rPr lang="ru-RU" smtClean="0"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certsocietegenerale/IRM/tree/main/RU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ecurelist.com/" TargetMode="Externa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ntinelone.com/blog/smoothoperator-ongoing-campaign-trojanizes-3cx-software-in-software-supply-chain-attack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ntinelone.com/blog/smoothoperator-ongoing-campaign-trojanizes-3cx-software-in-software-supply-chain-attack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jp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6.png"/><Relationship Id="rId2" Type="http://schemas.openxmlformats.org/officeDocument/2006/relationships/image" Target="../media/image27.jp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curelist.ru/gopuram-backdoor-deployed-through-3cx-supply-chain-attack/107247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ecurelist.com/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www.sentinelone.com/blog/smoothoperator-ongoing-campaign-trojanizes-3cx-software-in-software-supply-chain-attac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curelist.ru/bad-magic-apt/107020/" TargetMode="External"/><Relationship Id="rId5" Type="http://schemas.openxmlformats.org/officeDocument/2006/relationships/hyperlink" Target="https://securelist.ru/operation-triangulation/107470/" TargetMode="External"/><Relationship Id="rId4" Type="http://schemas.openxmlformats.org/officeDocument/2006/relationships/hyperlink" Target="https://securelist.ru/gopuram-backdoor-deployed-through-3cx-supply-chain-attack/107247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leninka.ru/article/n/metodika-obnaruzheniya-sledov-vredonosnogo-programmnogo-obespecheniya-v-dampah-operativnoy-pamyati" TargetMode="External"/><Relationship Id="rId2" Type="http://schemas.openxmlformats.org/officeDocument/2006/relationships/hyperlink" Target="https://cyberleninka.ru/article/n/metod-avtomatizirovannogo-issledovaniya-struktury-dizassemblirovannogo-predstavleniya-programmnogo-koda-s-uyazvimostyu-n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cyberleninka.ru/article/n/zaschita-programm-ot-dizassemblirovaniya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leninka.ru/article/n/issledovanie-dizassemblirovannogo-predstavleniya-ispolnyaemyh-faylov-sformirovannyh-razlichnymi-kompilyatorami-primer-uyazvimosti" TargetMode="External"/><Relationship Id="rId2" Type="http://schemas.openxmlformats.org/officeDocument/2006/relationships/hyperlink" Target="https://cyberleninka.ru/article/n/teoreticheskoe-obosnovanie-shozhdeniya-dizassemblirovannyh-posledovatelnostey-bay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cyberleninka.ru/article/n/operatsionnye-sistemy-na-baze-nabora-komand-x86-64-v-kontekste-nizkourovnevogo-programmirovaniya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leninka.ru/article/n/vosstanovlenie-upravlyayuschih-konstruktsiy-obrabotki-isklyucheniy-yazyka-si" TargetMode="External"/><Relationship Id="rId2" Type="http://schemas.openxmlformats.org/officeDocument/2006/relationships/hyperlink" Target="https://cyberleninka.ru/article/n/metodika-primeneniya-yazyka-assembler-dlya-stegovlozheniya-informatsii-v-ispolnyaemye-fayl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cyberleninka.ru/article/n/opredelenie-granits-podprogramm-pri-staticheskom-analize-binarnyh-obrazov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leninka.ru/article/n/metodika-avtomatizirovannogo-formirovaniya-struktury-dizassemblirovannogo-listinga" TargetMode="External"/><Relationship Id="rId2" Type="http://schemas.openxmlformats.org/officeDocument/2006/relationships/hyperlink" Target="https://cyberleninka.ru/article/n/primenenie-printsipov-dinamicheskogo-polimorfizma-pri-kompilyatsii-prilozheniya-s-tselyu-povyshenie-ego-kriptostoykost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microsoft/articles/487584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bcdannyboy/CVE-2023-44487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34532" y="1484352"/>
            <a:ext cx="52536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Атаки на цепочки поставок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r>
              <a:rPr lang="ru-RU" sz="32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Гитхабификация</a:t>
            </a: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ИБ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Актуальность задач дизассемблирования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ru-RU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ru-RU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782D0B09-0F58-26A1-8419-5B6B3EBC334C}"/>
              </a:ext>
            </a:extLst>
          </p:cNvPr>
          <p:cNvSpPr txBox="1">
            <a:spLocks/>
          </p:cNvSpPr>
          <p:nvPr/>
        </p:nvSpPr>
        <p:spPr>
          <a:xfrm>
            <a:off x="2004502" y="5919744"/>
            <a:ext cx="3827069" cy="873211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4000">
                <a:latin typeface="Times New Roman" panose="02020603050405020304" pitchFamily="18" charset="0"/>
                <a:cs typeface="Times New Roman" panose="02020603050405020304" pitchFamily="18" charset="0"/>
              </a:rPr>
              <a:t>Д.т.н., профессор,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400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 кафедры «</a:t>
            </a:r>
            <a:r>
              <a:rPr lang="ru-RU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УиЗИ</a:t>
            </a:r>
            <a:r>
              <a:rPr lang="ru-RU" sz="400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4000">
                <a:latin typeface="Times New Roman" panose="02020603050405020304" pitchFamily="18" charset="0"/>
                <a:cs typeface="Times New Roman" panose="02020603050405020304" pitchFamily="18" charset="0"/>
              </a:rPr>
              <a:t>Сидоренко Валентина Геннадьевна</a:t>
            </a: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5E264AE-23E1-2709-CE8D-108B8C159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4518" y="1112876"/>
            <a:ext cx="742950" cy="74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3D2B9D-3E5A-4208-B841-6DCB29E9E0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947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67831"/>
            <a:ext cx="10515600" cy="4345300"/>
          </a:xfrm>
        </p:spPr>
        <p:txBody>
          <a:bodyPr>
            <a:noAutofit/>
          </a:bodyPr>
          <a:lstStyle/>
          <a:p>
            <a:pPr fontAlgn="t">
              <a:spcBef>
                <a:spcPts val="0"/>
              </a:spcBef>
              <a:spcAft>
                <a:spcPts val="1000"/>
              </a:spcAft>
              <a:buSzPts val="1000"/>
              <a:tabLst>
                <a:tab pos="228600" algn="l"/>
                <a:tab pos="540385" algn="l"/>
              </a:tabLst>
            </a:pPr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В презентации использованы материалы 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Training Lab Kaspersky Academy 4-6 July 2023</a:t>
            </a:r>
            <a:endParaRPr lang="ru-RU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>
              <a:spcBef>
                <a:spcPts val="0"/>
              </a:spcBef>
              <a:spcAft>
                <a:spcPts val="1000"/>
              </a:spcAft>
              <a:buSzPts val="1000"/>
              <a:tabLst>
                <a:tab pos="228600" algn="l"/>
                <a:tab pos="540385" algn="l"/>
              </a:tabLst>
            </a:pPr>
            <a:r>
              <a:rPr lang="ru-RU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Плейбуки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CERT </a:t>
            </a:r>
            <a:r>
              <a:rPr lang="en-US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Societe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Generale</a:t>
            </a:r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https://github.com/certsocietegenerale/IRM/tree/main/RU</a:t>
            </a:r>
            <a:endParaRPr lang="ru-RU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>
              <a:spcBef>
                <a:spcPts val="0"/>
              </a:spcBef>
              <a:spcAft>
                <a:spcPts val="1000"/>
              </a:spcAft>
              <a:buSzPts val="1000"/>
              <a:tabLst>
                <a:tab pos="228600" algn="l"/>
                <a:tab pos="540385" algn="l"/>
              </a:tabLst>
            </a:pPr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по IR от Kaspersky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>
              <a:spcBef>
                <a:spcPts val="0"/>
              </a:spcBef>
              <a:spcAft>
                <a:spcPts val="1000"/>
              </a:spcAft>
              <a:buSzPts val="1000"/>
              <a:tabLst>
                <a:tab pos="228600" algn="l"/>
                <a:tab pos="540385" algn="l"/>
              </a:tabLst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MITRE CALDERA</a:t>
            </a:r>
            <a:br>
              <a:rPr lang="en-US" sz="1050" b="0" i="0">
                <a:effectLst/>
                <a:latin typeface="-apple-system"/>
              </a:rPr>
            </a:br>
            <a:endParaRPr lang="ru-RU" sz="1400" b="0" i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19411"/>
            <a:ext cx="10515600" cy="1005201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Ссылки на ресурсы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8375CD-3C33-BAFF-04D1-3A89D7B8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22F1047-74E1-08DA-68DA-97472754F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570" y="3935464"/>
            <a:ext cx="2247900" cy="20764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3FC95B-63C4-D6C8-7987-3BC3E150F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287" y="4030714"/>
            <a:ext cx="2057400" cy="19812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BED937B-05D9-3A06-363D-5BDEE5671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7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67831"/>
            <a:ext cx="10515600" cy="4345300"/>
          </a:xfrm>
        </p:spPr>
        <p:txBody>
          <a:bodyPr>
            <a:noAutofit/>
          </a:bodyPr>
          <a:lstStyle/>
          <a:p>
            <a:pPr lvl="0" fontAlgn="t">
              <a:spcBef>
                <a:spcPts val="0"/>
              </a:spcBef>
              <a:spcAft>
                <a:spcPts val="1000"/>
              </a:spcAft>
              <a:buSzPts val="1000"/>
              <a:tabLst>
                <a:tab pos="228600" algn="l"/>
                <a:tab pos="540385" algn="l"/>
              </a:tabLst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IaaS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(Infrastructure as a Service) –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инфраструктура как услуга</a:t>
            </a:r>
          </a:p>
          <a:p>
            <a:pPr lvl="0" fontAlgn="t">
              <a:spcBef>
                <a:spcPts val="0"/>
              </a:spcBef>
              <a:spcAft>
                <a:spcPts val="1000"/>
              </a:spcAft>
              <a:buSzPts val="1000"/>
              <a:tabLst>
                <a:tab pos="228600" algn="l"/>
                <a:tab pos="540385" algn="l"/>
              </a:tabLst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(Platform as a Service) –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как услуга</a:t>
            </a:r>
          </a:p>
          <a:p>
            <a:pPr lvl="0" fontAlgn="t">
              <a:spcBef>
                <a:spcPts val="0"/>
              </a:spcBef>
              <a:spcAft>
                <a:spcPts val="1000"/>
              </a:spcAft>
              <a:buSzPts val="1000"/>
              <a:tabLst>
                <a:tab pos="228600" algn="l"/>
                <a:tab pos="540385" algn="l"/>
              </a:tabLst>
            </a:pPr>
            <a:r>
              <a:rPr lang="ru-RU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(Software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Service) – программное обеспечение как услуга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>
              <a:spcBef>
                <a:spcPts val="0"/>
              </a:spcBef>
              <a:spcAft>
                <a:spcPts val="1000"/>
              </a:spcAft>
              <a:buSzPts val="1000"/>
              <a:tabLst>
                <a:tab pos="228600" algn="l"/>
                <a:tab pos="540385" algn="l"/>
              </a:tabLst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RaaS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Recovery as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Service ) – восстановление как услуга</a:t>
            </a:r>
          </a:p>
          <a:p>
            <a:pPr marL="0" indent="0" algn="ctr" fontAlgn="base">
              <a:buNone/>
            </a:pPr>
            <a:endParaRPr lang="ru-RU" sz="1400" b="0" i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19411"/>
            <a:ext cx="10515600" cy="1005201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can be as a Service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8375CD-3C33-BAFF-04D1-3A89D7B8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C3BE482-05DF-2843-CCFA-9D99F5FDA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95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A0286-F183-EC88-AE57-E8A268F4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об уязвимостях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F0160-3C10-BB0A-D149-94D438D0D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927"/>
            <a:ext cx="10515600" cy="50889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найти информацию об уязвимостях.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http://bdu.fstec.ru/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http://cve.mitre.org - Common Vulnerability Enumeration https://nvd.nist.gov/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http://cvedetails.com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https://ics-cert.us-cert.gov/advisories/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http://ics-cert.kaspersky.ru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http://exploit-db.org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 производителя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qualified patch lists (QPLs))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Поисковые системы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87FC92-3ED1-1DEB-1E19-ADEF44428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C46BFC6-D8B0-2064-4D5B-C400D6BA6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04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6C7DDB-732C-54FF-63A5-B5A72F6A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927" y="1468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Атака на цепочку поставок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DFB093-3B16-FD17-2EA0-6C029D14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95327" y="6421004"/>
            <a:ext cx="2743200" cy="365125"/>
          </a:xfrm>
        </p:spPr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grpSp>
        <p:nvGrpSpPr>
          <p:cNvPr id="15" name="object 5">
            <a:extLst>
              <a:ext uri="{FF2B5EF4-FFF2-40B4-BE49-F238E27FC236}">
                <a16:creationId xmlns:a16="http://schemas.microsoft.com/office/drawing/2014/main" id="{3C0735B9-961C-DB63-6F2E-5390A72A911D}"/>
              </a:ext>
            </a:extLst>
          </p:cNvPr>
          <p:cNvGrpSpPr/>
          <p:nvPr/>
        </p:nvGrpSpPr>
        <p:grpSpPr>
          <a:xfrm>
            <a:off x="1975658" y="2061233"/>
            <a:ext cx="8388350" cy="3924300"/>
            <a:chOff x="396240" y="915924"/>
            <a:chExt cx="8388350" cy="3924300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0B309A75-7360-6DA3-E087-115FE3C11098}"/>
                </a:ext>
              </a:extLst>
            </p:cNvPr>
            <p:cNvSpPr/>
            <p:nvPr/>
          </p:nvSpPr>
          <p:spPr>
            <a:xfrm>
              <a:off x="396240" y="915924"/>
              <a:ext cx="8388350" cy="3924300"/>
            </a:xfrm>
            <a:custGeom>
              <a:avLst/>
              <a:gdLst/>
              <a:ahLst/>
              <a:cxnLst/>
              <a:rect l="l" t="t" r="r" b="b"/>
              <a:pathLst>
                <a:path w="8388350" h="3924300">
                  <a:moveTo>
                    <a:pt x="7986521" y="0"/>
                  </a:moveTo>
                  <a:lnTo>
                    <a:pt x="401535" y="0"/>
                  </a:lnTo>
                  <a:lnTo>
                    <a:pt x="354707" y="2702"/>
                  </a:lnTo>
                  <a:lnTo>
                    <a:pt x="309465" y="10608"/>
                  </a:lnTo>
                  <a:lnTo>
                    <a:pt x="266112" y="23415"/>
                  </a:lnTo>
                  <a:lnTo>
                    <a:pt x="224948" y="40823"/>
                  </a:lnTo>
                  <a:lnTo>
                    <a:pt x="186274" y="62530"/>
                  </a:lnTo>
                  <a:lnTo>
                    <a:pt x="150393" y="88234"/>
                  </a:lnTo>
                  <a:lnTo>
                    <a:pt x="117605" y="117633"/>
                  </a:lnTo>
                  <a:lnTo>
                    <a:pt x="88211" y="150427"/>
                  </a:lnTo>
                  <a:lnTo>
                    <a:pt x="62513" y="186313"/>
                  </a:lnTo>
                  <a:lnTo>
                    <a:pt x="40811" y="224989"/>
                  </a:lnTo>
                  <a:lnTo>
                    <a:pt x="23408" y="266155"/>
                  </a:lnTo>
                  <a:lnTo>
                    <a:pt x="10604" y="309509"/>
                  </a:lnTo>
                  <a:lnTo>
                    <a:pt x="2701" y="354749"/>
                  </a:lnTo>
                  <a:lnTo>
                    <a:pt x="0" y="401574"/>
                  </a:lnTo>
                  <a:lnTo>
                    <a:pt x="0" y="3522764"/>
                  </a:lnTo>
                  <a:lnTo>
                    <a:pt x="2701" y="3569592"/>
                  </a:lnTo>
                  <a:lnTo>
                    <a:pt x="10604" y="3614834"/>
                  </a:lnTo>
                  <a:lnTo>
                    <a:pt x="23408" y="3658187"/>
                  </a:lnTo>
                  <a:lnTo>
                    <a:pt x="40811" y="3699351"/>
                  </a:lnTo>
                  <a:lnTo>
                    <a:pt x="62513" y="3738025"/>
                  </a:lnTo>
                  <a:lnTo>
                    <a:pt x="88211" y="3773906"/>
                  </a:lnTo>
                  <a:lnTo>
                    <a:pt x="117605" y="3806694"/>
                  </a:lnTo>
                  <a:lnTo>
                    <a:pt x="150393" y="3836088"/>
                  </a:lnTo>
                  <a:lnTo>
                    <a:pt x="186274" y="3861786"/>
                  </a:lnTo>
                  <a:lnTo>
                    <a:pt x="224948" y="3883488"/>
                  </a:lnTo>
                  <a:lnTo>
                    <a:pt x="266112" y="3900891"/>
                  </a:lnTo>
                  <a:lnTo>
                    <a:pt x="309465" y="3913695"/>
                  </a:lnTo>
                  <a:lnTo>
                    <a:pt x="354707" y="3921598"/>
                  </a:lnTo>
                  <a:lnTo>
                    <a:pt x="401535" y="3924300"/>
                  </a:lnTo>
                  <a:lnTo>
                    <a:pt x="7986521" y="3924300"/>
                  </a:lnTo>
                  <a:lnTo>
                    <a:pt x="8033346" y="3921598"/>
                  </a:lnTo>
                  <a:lnTo>
                    <a:pt x="8078586" y="3913695"/>
                  </a:lnTo>
                  <a:lnTo>
                    <a:pt x="8121940" y="3900891"/>
                  </a:lnTo>
                  <a:lnTo>
                    <a:pt x="8163106" y="3883488"/>
                  </a:lnTo>
                  <a:lnTo>
                    <a:pt x="8201782" y="3861786"/>
                  </a:lnTo>
                  <a:lnTo>
                    <a:pt x="8237668" y="3836088"/>
                  </a:lnTo>
                  <a:lnTo>
                    <a:pt x="8270462" y="3806694"/>
                  </a:lnTo>
                  <a:lnTo>
                    <a:pt x="8299861" y="3773906"/>
                  </a:lnTo>
                  <a:lnTo>
                    <a:pt x="8325565" y="3738025"/>
                  </a:lnTo>
                  <a:lnTo>
                    <a:pt x="8347272" y="3699351"/>
                  </a:lnTo>
                  <a:lnTo>
                    <a:pt x="8364680" y="3658187"/>
                  </a:lnTo>
                  <a:lnTo>
                    <a:pt x="8377487" y="3614834"/>
                  </a:lnTo>
                  <a:lnTo>
                    <a:pt x="8385393" y="3569592"/>
                  </a:lnTo>
                  <a:lnTo>
                    <a:pt x="8388095" y="3522764"/>
                  </a:lnTo>
                  <a:lnTo>
                    <a:pt x="8388095" y="401574"/>
                  </a:lnTo>
                  <a:lnTo>
                    <a:pt x="8385393" y="354749"/>
                  </a:lnTo>
                  <a:lnTo>
                    <a:pt x="8377487" y="309509"/>
                  </a:lnTo>
                  <a:lnTo>
                    <a:pt x="8364680" y="266155"/>
                  </a:lnTo>
                  <a:lnTo>
                    <a:pt x="8347272" y="224989"/>
                  </a:lnTo>
                  <a:lnTo>
                    <a:pt x="8325565" y="186313"/>
                  </a:lnTo>
                  <a:lnTo>
                    <a:pt x="8299861" y="150427"/>
                  </a:lnTo>
                  <a:lnTo>
                    <a:pt x="8270462" y="117633"/>
                  </a:lnTo>
                  <a:lnTo>
                    <a:pt x="8237668" y="88234"/>
                  </a:lnTo>
                  <a:lnTo>
                    <a:pt x="8201782" y="62530"/>
                  </a:lnTo>
                  <a:lnTo>
                    <a:pt x="8163106" y="40823"/>
                  </a:lnTo>
                  <a:lnTo>
                    <a:pt x="8121940" y="23415"/>
                  </a:lnTo>
                  <a:lnTo>
                    <a:pt x="8078586" y="10608"/>
                  </a:lnTo>
                  <a:lnTo>
                    <a:pt x="8033346" y="2702"/>
                  </a:lnTo>
                  <a:lnTo>
                    <a:pt x="79865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7">
              <a:extLst>
                <a:ext uri="{FF2B5EF4-FFF2-40B4-BE49-F238E27FC236}">
                  <a16:creationId xmlns:a16="http://schemas.microsoft.com/office/drawing/2014/main" id="{E9DB0FA4-4DBE-B0D6-3F9C-986611BFD5E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072" y="1491996"/>
              <a:ext cx="1152143" cy="1152143"/>
            </a:xfrm>
            <a:prstGeom prst="rect">
              <a:avLst/>
            </a:prstGeom>
          </p:spPr>
        </p:pic>
        <p:pic>
          <p:nvPicPr>
            <p:cNvPr id="18" name="object 8">
              <a:extLst>
                <a:ext uri="{FF2B5EF4-FFF2-40B4-BE49-F238E27FC236}">
                  <a16:creationId xmlns:a16="http://schemas.microsoft.com/office/drawing/2014/main" id="{4590180C-9D01-BD92-2D33-F9A05C9A61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9172" y="1600200"/>
              <a:ext cx="900684" cy="899160"/>
            </a:xfrm>
            <a:prstGeom prst="rect">
              <a:avLst/>
            </a:prstGeom>
          </p:spPr>
        </p:pic>
        <p:pic>
          <p:nvPicPr>
            <p:cNvPr id="19" name="object 9">
              <a:extLst>
                <a:ext uri="{FF2B5EF4-FFF2-40B4-BE49-F238E27FC236}">
                  <a16:creationId xmlns:a16="http://schemas.microsoft.com/office/drawing/2014/main" id="{391C98DC-ED7A-C81E-4C96-F230A421B45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7568" y="1455420"/>
              <a:ext cx="1225295" cy="1223771"/>
            </a:xfrm>
            <a:prstGeom prst="rect">
              <a:avLst/>
            </a:prstGeom>
          </p:spPr>
        </p:pic>
        <p:pic>
          <p:nvPicPr>
            <p:cNvPr id="20" name="object 10">
              <a:extLst>
                <a:ext uri="{FF2B5EF4-FFF2-40B4-BE49-F238E27FC236}">
                  <a16:creationId xmlns:a16="http://schemas.microsoft.com/office/drawing/2014/main" id="{E4C619AB-EE3B-7ED2-D748-986631CDB00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52359" y="1455420"/>
              <a:ext cx="1223772" cy="1223771"/>
            </a:xfrm>
            <a:prstGeom prst="rect">
              <a:avLst/>
            </a:prstGeom>
          </p:spPr>
        </p:pic>
        <p:pic>
          <p:nvPicPr>
            <p:cNvPr id="21" name="object 11">
              <a:extLst>
                <a:ext uri="{FF2B5EF4-FFF2-40B4-BE49-F238E27FC236}">
                  <a16:creationId xmlns:a16="http://schemas.microsoft.com/office/drawing/2014/main" id="{9B55024D-D5CC-A7C3-277A-16AF3BA37F7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0540" y="1563624"/>
              <a:ext cx="935736" cy="935736"/>
            </a:xfrm>
            <a:prstGeom prst="rect">
              <a:avLst/>
            </a:prstGeom>
          </p:spPr>
        </p:pic>
        <p:pic>
          <p:nvPicPr>
            <p:cNvPr id="22" name="object 12">
              <a:extLst>
                <a:ext uri="{FF2B5EF4-FFF2-40B4-BE49-F238E27FC236}">
                  <a16:creationId xmlns:a16="http://schemas.microsoft.com/office/drawing/2014/main" id="{586386B1-8E42-5BC4-B0A8-199BBFB4EA1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19172" y="2752344"/>
              <a:ext cx="1008888" cy="1007363"/>
            </a:xfrm>
            <a:prstGeom prst="rect">
              <a:avLst/>
            </a:prstGeom>
          </p:spPr>
        </p:pic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553F3756-3F59-C2D4-3999-5E6FADDD1B2D}"/>
                </a:ext>
              </a:extLst>
            </p:cNvPr>
            <p:cNvSpPr/>
            <p:nvPr/>
          </p:nvSpPr>
          <p:spPr>
            <a:xfrm>
              <a:off x="1728978" y="1988819"/>
              <a:ext cx="5760085" cy="123825"/>
            </a:xfrm>
            <a:custGeom>
              <a:avLst/>
              <a:gdLst/>
              <a:ahLst/>
              <a:cxnLst/>
              <a:rect l="l" t="t" r="r" b="b"/>
              <a:pathLst>
                <a:path w="5760084" h="123825">
                  <a:moveTo>
                    <a:pt x="720090" y="80010"/>
                  </a:moveTo>
                  <a:lnTo>
                    <a:pt x="691121" y="65532"/>
                  </a:lnTo>
                  <a:lnTo>
                    <a:pt x="633222" y="36576"/>
                  </a:lnTo>
                  <a:lnTo>
                    <a:pt x="633222" y="65532"/>
                  </a:lnTo>
                  <a:lnTo>
                    <a:pt x="0" y="65532"/>
                  </a:lnTo>
                  <a:lnTo>
                    <a:pt x="0" y="94488"/>
                  </a:lnTo>
                  <a:lnTo>
                    <a:pt x="633222" y="94488"/>
                  </a:lnTo>
                  <a:lnTo>
                    <a:pt x="633222" y="123444"/>
                  </a:lnTo>
                  <a:lnTo>
                    <a:pt x="691134" y="94488"/>
                  </a:lnTo>
                  <a:lnTo>
                    <a:pt x="720090" y="80010"/>
                  </a:lnTo>
                  <a:close/>
                </a:path>
                <a:path w="5760084" h="123825">
                  <a:moveTo>
                    <a:pt x="2519934" y="80010"/>
                  </a:moveTo>
                  <a:lnTo>
                    <a:pt x="2490978" y="65532"/>
                  </a:lnTo>
                  <a:lnTo>
                    <a:pt x="2433066" y="36576"/>
                  </a:lnTo>
                  <a:lnTo>
                    <a:pt x="2433066" y="65532"/>
                  </a:lnTo>
                  <a:lnTo>
                    <a:pt x="1799844" y="65532"/>
                  </a:lnTo>
                  <a:lnTo>
                    <a:pt x="1799844" y="94488"/>
                  </a:lnTo>
                  <a:lnTo>
                    <a:pt x="2433066" y="94488"/>
                  </a:lnTo>
                  <a:lnTo>
                    <a:pt x="2433066" y="123444"/>
                  </a:lnTo>
                  <a:lnTo>
                    <a:pt x="2490978" y="94488"/>
                  </a:lnTo>
                  <a:lnTo>
                    <a:pt x="2519934" y="80010"/>
                  </a:lnTo>
                  <a:close/>
                </a:path>
                <a:path w="5760084" h="123825">
                  <a:moveTo>
                    <a:pt x="4176522" y="43434"/>
                  </a:moveTo>
                  <a:lnTo>
                    <a:pt x="4147553" y="28956"/>
                  </a:lnTo>
                  <a:lnTo>
                    <a:pt x="4089654" y="0"/>
                  </a:lnTo>
                  <a:lnTo>
                    <a:pt x="4089654" y="28956"/>
                  </a:lnTo>
                  <a:lnTo>
                    <a:pt x="3456432" y="28956"/>
                  </a:lnTo>
                  <a:lnTo>
                    <a:pt x="3456432" y="57912"/>
                  </a:lnTo>
                  <a:lnTo>
                    <a:pt x="4089654" y="57912"/>
                  </a:lnTo>
                  <a:lnTo>
                    <a:pt x="4089654" y="86868"/>
                  </a:lnTo>
                  <a:lnTo>
                    <a:pt x="4147566" y="57912"/>
                  </a:lnTo>
                  <a:lnTo>
                    <a:pt x="4176522" y="43434"/>
                  </a:lnTo>
                  <a:close/>
                </a:path>
                <a:path w="5760084" h="123825">
                  <a:moveTo>
                    <a:pt x="5759958" y="43434"/>
                  </a:moveTo>
                  <a:lnTo>
                    <a:pt x="5731002" y="28956"/>
                  </a:lnTo>
                  <a:lnTo>
                    <a:pt x="5673090" y="0"/>
                  </a:lnTo>
                  <a:lnTo>
                    <a:pt x="5673090" y="28956"/>
                  </a:lnTo>
                  <a:lnTo>
                    <a:pt x="5039868" y="28956"/>
                  </a:lnTo>
                  <a:lnTo>
                    <a:pt x="5039868" y="57912"/>
                  </a:lnTo>
                  <a:lnTo>
                    <a:pt x="5673090" y="57912"/>
                  </a:lnTo>
                  <a:lnTo>
                    <a:pt x="5673090" y="86868"/>
                  </a:lnTo>
                  <a:lnTo>
                    <a:pt x="5731002" y="57912"/>
                  </a:lnTo>
                  <a:lnTo>
                    <a:pt x="5759958" y="43434"/>
                  </a:lnTo>
                  <a:close/>
                </a:path>
              </a:pathLst>
            </a:custGeom>
            <a:solidFill>
              <a:srgbClr val="00A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4">
            <a:extLst>
              <a:ext uri="{FF2B5EF4-FFF2-40B4-BE49-F238E27FC236}">
                <a16:creationId xmlns:a16="http://schemas.microsoft.com/office/drawing/2014/main" id="{0F8B6E06-864A-733A-49A2-8FA1826B20C4}"/>
              </a:ext>
            </a:extLst>
          </p:cNvPr>
          <p:cNvSpPr txBox="1"/>
          <p:nvPr/>
        </p:nvSpPr>
        <p:spPr>
          <a:xfrm>
            <a:off x="2029709" y="3633746"/>
            <a:ext cx="13309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45">
                <a:solidFill>
                  <a:srgbClr val="1D1D1B"/>
                </a:solidFill>
                <a:latin typeface="Trebuchet MS"/>
                <a:cs typeface="Trebuchet MS"/>
              </a:rPr>
              <a:t>Разработчик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164D768D-643F-5C5F-6500-23BB0E206F83}"/>
              </a:ext>
            </a:extLst>
          </p:cNvPr>
          <p:cNvSpPr txBox="1">
            <a:spLocks/>
          </p:cNvSpPr>
          <p:nvPr/>
        </p:nvSpPr>
        <p:spPr>
          <a:xfrm>
            <a:off x="3852463" y="2121050"/>
            <a:ext cx="1356995" cy="51308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40">
                <a:solidFill>
                  <a:srgbClr val="1D1D1B"/>
                </a:solidFill>
                <a:latin typeface="Trebuchet MS"/>
                <a:cs typeface="Trebuchet MS"/>
              </a:rPr>
              <a:t>Репозиторий</a:t>
            </a:r>
            <a:endParaRPr lang="ru-RU" sz="16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</a:pPr>
            <a:r>
              <a:rPr lang="ru-RU" sz="1600" b="1" spc="35">
                <a:solidFill>
                  <a:srgbClr val="1D1D1B"/>
                </a:solidFill>
                <a:latin typeface="Trebuchet MS"/>
                <a:cs typeface="Trebuchet MS"/>
              </a:rPr>
              <a:t>кода</a:t>
            </a:r>
            <a:endParaRPr lang="ru-RU" sz="1600">
              <a:latin typeface="Trebuchet MS"/>
              <a:cs typeface="Trebuchet MS"/>
            </a:endParaRPr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EC76017F-4116-742E-61F1-40067C9AC57F}"/>
              </a:ext>
            </a:extLst>
          </p:cNvPr>
          <p:cNvSpPr txBox="1"/>
          <p:nvPr/>
        </p:nvSpPr>
        <p:spPr>
          <a:xfrm>
            <a:off x="5940852" y="3597806"/>
            <a:ext cx="7816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45">
                <a:solidFill>
                  <a:srgbClr val="1D1D1B"/>
                </a:solidFill>
                <a:latin typeface="Trebuchet MS"/>
                <a:cs typeface="Trebuchet MS"/>
              </a:rPr>
              <a:t>С</a:t>
            </a:r>
            <a:r>
              <a:rPr sz="1600" b="1" spc="130">
                <a:solidFill>
                  <a:srgbClr val="1D1D1B"/>
                </a:solidFill>
                <a:latin typeface="Trebuchet MS"/>
                <a:cs typeface="Trebuchet MS"/>
              </a:rPr>
              <a:t>б</a:t>
            </a:r>
            <a:r>
              <a:rPr sz="1600" b="1" spc="40">
                <a:solidFill>
                  <a:srgbClr val="1D1D1B"/>
                </a:solidFill>
                <a:latin typeface="Trebuchet MS"/>
                <a:cs typeface="Trebuchet MS"/>
              </a:rPr>
              <a:t>ор</a:t>
            </a:r>
            <a:r>
              <a:rPr sz="1600" b="1" spc="30">
                <a:solidFill>
                  <a:srgbClr val="1D1D1B"/>
                </a:solidFill>
                <a:latin typeface="Trebuchet MS"/>
                <a:cs typeface="Trebuchet MS"/>
              </a:rPr>
              <a:t>к</a:t>
            </a:r>
            <a:r>
              <a:rPr sz="1600" b="1" spc="50">
                <a:solidFill>
                  <a:srgbClr val="1D1D1B"/>
                </a:solidFill>
                <a:latin typeface="Trebuchet MS"/>
                <a:cs typeface="Trebuchet MS"/>
              </a:rPr>
              <a:t>а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09833254-C32C-E2C5-0994-CCD2A24C7BCF}"/>
              </a:ext>
            </a:extLst>
          </p:cNvPr>
          <p:cNvSpPr txBox="1"/>
          <p:nvPr/>
        </p:nvSpPr>
        <p:spPr>
          <a:xfrm>
            <a:off x="7237268" y="2156990"/>
            <a:ext cx="13569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40">
                <a:solidFill>
                  <a:srgbClr val="1D1D1B"/>
                </a:solidFill>
                <a:latin typeface="Trebuchet MS"/>
                <a:cs typeface="Trebuchet MS"/>
              </a:rPr>
              <a:t>Репозиторий</a:t>
            </a:r>
            <a:endParaRPr sz="16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</a:pPr>
            <a:r>
              <a:rPr sz="1600" b="1" spc="20">
                <a:solidFill>
                  <a:srgbClr val="1D1D1B"/>
                </a:solidFill>
                <a:latin typeface="Trebuchet MS"/>
                <a:cs typeface="Trebuchet MS"/>
              </a:rPr>
              <a:t>пакетов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208ED232-712C-7238-5B2A-4C669EC5A505}"/>
              </a:ext>
            </a:extLst>
          </p:cNvPr>
          <p:cNvSpPr txBox="1"/>
          <p:nvPr/>
        </p:nvSpPr>
        <p:spPr>
          <a:xfrm>
            <a:off x="9269013" y="3561306"/>
            <a:ext cx="7531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30">
                <a:solidFill>
                  <a:srgbClr val="00A88E"/>
                </a:solidFill>
                <a:latin typeface="Trebuchet MS"/>
                <a:cs typeface="Trebuchet MS"/>
              </a:rPr>
              <a:t>Кл</a:t>
            </a:r>
            <a:r>
              <a:rPr sz="1600" b="1" spc="15">
                <a:solidFill>
                  <a:srgbClr val="00A88E"/>
                </a:solidFill>
                <a:latin typeface="Trebuchet MS"/>
                <a:cs typeface="Trebuchet MS"/>
              </a:rPr>
              <a:t>иент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6DBE66D1-62C8-AC36-0300-F333E72AC3DD}"/>
              </a:ext>
            </a:extLst>
          </p:cNvPr>
          <p:cNvSpPr/>
          <p:nvPr/>
        </p:nvSpPr>
        <p:spPr>
          <a:xfrm>
            <a:off x="5029500" y="3645431"/>
            <a:ext cx="835660" cy="480695"/>
          </a:xfrm>
          <a:custGeom>
            <a:avLst/>
            <a:gdLst/>
            <a:ahLst/>
            <a:cxnLst/>
            <a:rect l="l" t="t" r="r" b="b"/>
            <a:pathLst>
              <a:path w="835660" h="480694">
                <a:moveTo>
                  <a:pt x="752454" y="30105"/>
                </a:moveTo>
                <a:lnTo>
                  <a:pt x="0" y="455421"/>
                </a:lnTo>
                <a:lnTo>
                  <a:pt x="14223" y="480694"/>
                </a:lnTo>
                <a:lnTo>
                  <a:pt x="766714" y="55357"/>
                </a:lnTo>
                <a:lnTo>
                  <a:pt x="752454" y="30105"/>
                </a:lnTo>
                <a:close/>
              </a:path>
              <a:path w="835660" h="480694">
                <a:moveTo>
                  <a:pt x="819670" y="22986"/>
                </a:moveTo>
                <a:lnTo>
                  <a:pt x="765047" y="22986"/>
                </a:lnTo>
                <a:lnTo>
                  <a:pt x="779271" y="48259"/>
                </a:lnTo>
                <a:lnTo>
                  <a:pt x="766714" y="55357"/>
                </a:lnTo>
                <a:lnTo>
                  <a:pt x="780922" y="80517"/>
                </a:lnTo>
                <a:lnTo>
                  <a:pt x="819670" y="22986"/>
                </a:lnTo>
                <a:close/>
              </a:path>
              <a:path w="835660" h="480694">
                <a:moveTo>
                  <a:pt x="765047" y="22986"/>
                </a:moveTo>
                <a:lnTo>
                  <a:pt x="752454" y="30105"/>
                </a:lnTo>
                <a:lnTo>
                  <a:pt x="766714" y="55357"/>
                </a:lnTo>
                <a:lnTo>
                  <a:pt x="779271" y="48259"/>
                </a:lnTo>
                <a:lnTo>
                  <a:pt x="765047" y="22986"/>
                </a:lnTo>
                <a:close/>
              </a:path>
              <a:path w="835660" h="480694">
                <a:moveTo>
                  <a:pt x="835151" y="0"/>
                </a:moveTo>
                <a:lnTo>
                  <a:pt x="738251" y="4952"/>
                </a:lnTo>
                <a:lnTo>
                  <a:pt x="752454" y="30105"/>
                </a:lnTo>
                <a:lnTo>
                  <a:pt x="765047" y="22986"/>
                </a:lnTo>
                <a:lnTo>
                  <a:pt x="819670" y="22986"/>
                </a:lnTo>
                <a:lnTo>
                  <a:pt x="835151" y="0"/>
                </a:lnTo>
                <a:close/>
              </a:path>
            </a:pathLst>
          </a:custGeom>
          <a:solidFill>
            <a:srgbClr val="00A8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A30EE9B9-C004-6F4C-6247-78A54D5FFE1B}"/>
              </a:ext>
            </a:extLst>
          </p:cNvPr>
          <p:cNvSpPr txBox="1"/>
          <p:nvPr/>
        </p:nvSpPr>
        <p:spPr>
          <a:xfrm>
            <a:off x="3877737" y="4822212"/>
            <a:ext cx="13779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5">
                <a:solidFill>
                  <a:srgbClr val="1D1D1B"/>
                </a:solidFill>
                <a:latin typeface="Trebuchet MS"/>
                <a:cs typeface="Trebuchet MS"/>
              </a:rPr>
              <a:t>Зависимости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1" name="object 21">
            <a:extLst>
              <a:ext uri="{FF2B5EF4-FFF2-40B4-BE49-F238E27FC236}">
                <a16:creationId xmlns:a16="http://schemas.microsoft.com/office/drawing/2014/main" id="{B7B2306C-5C9B-0756-B452-6E4690D9AAE5}"/>
              </a:ext>
            </a:extLst>
          </p:cNvPr>
          <p:cNvGrpSpPr/>
          <p:nvPr/>
        </p:nvGrpSpPr>
        <p:grpSpPr>
          <a:xfrm>
            <a:off x="2298745" y="4041670"/>
            <a:ext cx="829310" cy="1511300"/>
            <a:chOff x="719327" y="2896361"/>
            <a:chExt cx="829310" cy="1511300"/>
          </a:xfrm>
        </p:grpSpPr>
        <p:sp>
          <p:nvSpPr>
            <p:cNvPr id="32" name="object 22">
              <a:extLst>
                <a:ext uri="{FF2B5EF4-FFF2-40B4-BE49-F238E27FC236}">
                  <a16:creationId xmlns:a16="http://schemas.microsoft.com/office/drawing/2014/main" id="{BC567FEC-DB8E-5E66-BD71-388710D0A892}"/>
                </a:ext>
              </a:extLst>
            </p:cNvPr>
            <p:cNvSpPr/>
            <p:nvPr/>
          </p:nvSpPr>
          <p:spPr>
            <a:xfrm>
              <a:off x="1072895" y="2896361"/>
              <a:ext cx="86995" cy="648335"/>
            </a:xfrm>
            <a:custGeom>
              <a:avLst/>
              <a:gdLst/>
              <a:ahLst/>
              <a:cxnLst/>
              <a:rect l="l" t="t" r="r" b="b"/>
              <a:pathLst>
                <a:path w="86994" h="648335">
                  <a:moveTo>
                    <a:pt x="57912" y="72389"/>
                  </a:moveTo>
                  <a:lnTo>
                    <a:pt x="28956" y="72389"/>
                  </a:lnTo>
                  <a:lnTo>
                    <a:pt x="28956" y="648081"/>
                  </a:lnTo>
                  <a:lnTo>
                    <a:pt x="57912" y="648081"/>
                  </a:lnTo>
                  <a:lnTo>
                    <a:pt x="57912" y="72389"/>
                  </a:lnTo>
                  <a:close/>
                </a:path>
                <a:path w="86994" h="648335">
                  <a:moveTo>
                    <a:pt x="43434" y="0"/>
                  </a:moveTo>
                  <a:lnTo>
                    <a:pt x="0" y="86868"/>
                  </a:lnTo>
                  <a:lnTo>
                    <a:pt x="28956" y="86868"/>
                  </a:lnTo>
                  <a:lnTo>
                    <a:pt x="28956" y="72389"/>
                  </a:lnTo>
                  <a:lnTo>
                    <a:pt x="79628" y="72389"/>
                  </a:lnTo>
                  <a:lnTo>
                    <a:pt x="43434" y="0"/>
                  </a:lnTo>
                  <a:close/>
                </a:path>
                <a:path w="86994" h="648335">
                  <a:moveTo>
                    <a:pt x="79628" y="72389"/>
                  </a:moveTo>
                  <a:lnTo>
                    <a:pt x="57912" y="72389"/>
                  </a:lnTo>
                  <a:lnTo>
                    <a:pt x="57912" y="86868"/>
                  </a:lnTo>
                  <a:lnTo>
                    <a:pt x="86867" y="86868"/>
                  </a:lnTo>
                  <a:lnTo>
                    <a:pt x="79628" y="7238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23">
              <a:extLst>
                <a:ext uri="{FF2B5EF4-FFF2-40B4-BE49-F238E27FC236}">
                  <a16:creationId xmlns:a16="http://schemas.microsoft.com/office/drawing/2014/main" id="{0ECAC50E-AA89-DEF6-8C8F-1D5A6970E3E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9327" y="3579875"/>
              <a:ext cx="829056" cy="827532"/>
            </a:xfrm>
            <a:prstGeom prst="rect">
              <a:avLst/>
            </a:prstGeom>
          </p:spPr>
        </p:pic>
      </p:grpSp>
      <p:sp>
        <p:nvSpPr>
          <p:cNvPr id="34" name="object 24">
            <a:extLst>
              <a:ext uri="{FF2B5EF4-FFF2-40B4-BE49-F238E27FC236}">
                <a16:creationId xmlns:a16="http://schemas.microsoft.com/office/drawing/2014/main" id="{0F891F39-DF9E-15B0-5988-FA72012A0C3C}"/>
              </a:ext>
            </a:extLst>
          </p:cNvPr>
          <p:cNvSpPr txBox="1"/>
          <p:nvPr/>
        </p:nvSpPr>
        <p:spPr>
          <a:xfrm>
            <a:off x="2109871" y="5506488"/>
            <a:ext cx="12401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85">
                <a:solidFill>
                  <a:srgbClr val="FF0000"/>
                </a:solidFill>
                <a:latin typeface="Trebuchet MS"/>
                <a:cs typeface="Trebuchet MS"/>
              </a:rPr>
              <a:t>А</a:t>
            </a:r>
            <a:r>
              <a:rPr sz="1600" b="1" spc="5">
                <a:solidFill>
                  <a:srgbClr val="FF0000"/>
                </a:solidFill>
                <a:latin typeface="Trebuchet MS"/>
                <a:cs typeface="Trebuchet MS"/>
              </a:rPr>
              <a:t>т</a:t>
            </a:r>
            <a:r>
              <a:rPr sz="1600" b="1" spc="45">
                <a:solidFill>
                  <a:srgbClr val="FF0000"/>
                </a:solidFill>
                <a:latin typeface="Trebuchet MS"/>
                <a:cs typeface="Trebuchet MS"/>
              </a:rPr>
              <a:t>а</a:t>
            </a:r>
            <a:r>
              <a:rPr sz="1600" b="1" spc="30">
                <a:solidFill>
                  <a:srgbClr val="FF0000"/>
                </a:solidFill>
                <a:latin typeface="Trebuchet MS"/>
                <a:cs typeface="Trebuchet MS"/>
              </a:rPr>
              <a:t>к</a:t>
            </a:r>
            <a:r>
              <a:rPr sz="1600" b="1" spc="95">
                <a:solidFill>
                  <a:srgbClr val="FF0000"/>
                </a:solidFill>
                <a:latin typeface="Trebuchet MS"/>
                <a:cs typeface="Trebuchet MS"/>
              </a:rPr>
              <a:t>ующ</a:t>
            </a:r>
            <a:r>
              <a:rPr sz="1600" b="1" spc="85">
                <a:solidFill>
                  <a:srgbClr val="FF0000"/>
                </a:solidFill>
                <a:latin typeface="Trebuchet MS"/>
                <a:cs typeface="Trebuchet MS"/>
              </a:rPr>
              <a:t>и</a:t>
            </a:r>
            <a:r>
              <a:rPr sz="1600" b="1" spc="40">
                <a:solidFill>
                  <a:srgbClr val="FF0000"/>
                </a:solidFill>
                <a:latin typeface="Trebuchet MS"/>
                <a:cs typeface="Trebuchet MS"/>
              </a:rPr>
              <a:t>й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5" name="object 25">
            <a:extLst>
              <a:ext uri="{FF2B5EF4-FFF2-40B4-BE49-F238E27FC236}">
                <a16:creationId xmlns:a16="http://schemas.microsoft.com/office/drawing/2014/main" id="{5686046F-E267-8A8E-23FE-37C904F7163D}"/>
              </a:ext>
            </a:extLst>
          </p:cNvPr>
          <p:cNvGrpSpPr/>
          <p:nvPr/>
        </p:nvGrpSpPr>
        <p:grpSpPr>
          <a:xfrm>
            <a:off x="3121579" y="3671719"/>
            <a:ext cx="5405755" cy="1646555"/>
            <a:chOff x="1542161" y="2526410"/>
            <a:chExt cx="5405755" cy="1646555"/>
          </a:xfrm>
        </p:grpSpPr>
        <p:sp>
          <p:nvSpPr>
            <p:cNvPr id="36" name="object 26">
              <a:extLst>
                <a:ext uri="{FF2B5EF4-FFF2-40B4-BE49-F238E27FC236}">
                  <a16:creationId xmlns:a16="http://schemas.microsoft.com/office/drawing/2014/main" id="{787142FF-2825-BFAE-B90A-801AADBFCC33}"/>
                </a:ext>
              </a:extLst>
            </p:cNvPr>
            <p:cNvSpPr/>
            <p:nvPr/>
          </p:nvSpPr>
          <p:spPr>
            <a:xfrm>
              <a:off x="1542161" y="3435857"/>
              <a:ext cx="871219" cy="489584"/>
            </a:xfrm>
            <a:custGeom>
              <a:avLst/>
              <a:gdLst/>
              <a:ahLst/>
              <a:cxnLst/>
              <a:rect l="l" t="t" r="r" b="b"/>
              <a:pathLst>
                <a:path w="871219" h="489585">
                  <a:moveTo>
                    <a:pt x="788006" y="29243"/>
                  </a:moveTo>
                  <a:lnTo>
                    <a:pt x="0" y="463753"/>
                  </a:lnTo>
                  <a:lnTo>
                    <a:pt x="13969" y="489115"/>
                  </a:lnTo>
                  <a:lnTo>
                    <a:pt x="801994" y="54633"/>
                  </a:lnTo>
                  <a:lnTo>
                    <a:pt x="788006" y="29243"/>
                  </a:lnTo>
                  <a:close/>
                </a:path>
                <a:path w="871219" h="489585">
                  <a:moveTo>
                    <a:pt x="855782" y="22225"/>
                  </a:moveTo>
                  <a:lnTo>
                    <a:pt x="800734" y="22225"/>
                  </a:lnTo>
                  <a:lnTo>
                    <a:pt x="814705" y="47625"/>
                  </a:lnTo>
                  <a:lnTo>
                    <a:pt x="801994" y="54633"/>
                  </a:lnTo>
                  <a:lnTo>
                    <a:pt x="815975" y="80010"/>
                  </a:lnTo>
                  <a:lnTo>
                    <a:pt x="855782" y="22225"/>
                  </a:lnTo>
                  <a:close/>
                </a:path>
                <a:path w="871219" h="489585">
                  <a:moveTo>
                    <a:pt x="800734" y="22225"/>
                  </a:moveTo>
                  <a:lnTo>
                    <a:pt x="788006" y="29243"/>
                  </a:lnTo>
                  <a:lnTo>
                    <a:pt x="801994" y="54633"/>
                  </a:lnTo>
                  <a:lnTo>
                    <a:pt x="814705" y="47625"/>
                  </a:lnTo>
                  <a:lnTo>
                    <a:pt x="800734" y="22225"/>
                  </a:lnTo>
                  <a:close/>
                </a:path>
                <a:path w="871219" h="489585">
                  <a:moveTo>
                    <a:pt x="871093" y="0"/>
                  </a:moveTo>
                  <a:lnTo>
                    <a:pt x="774064" y="3937"/>
                  </a:lnTo>
                  <a:lnTo>
                    <a:pt x="788006" y="29243"/>
                  </a:lnTo>
                  <a:lnTo>
                    <a:pt x="800734" y="22225"/>
                  </a:lnTo>
                  <a:lnTo>
                    <a:pt x="855782" y="22225"/>
                  </a:lnTo>
                  <a:lnTo>
                    <a:pt x="87109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27">
              <a:extLst>
                <a:ext uri="{FF2B5EF4-FFF2-40B4-BE49-F238E27FC236}">
                  <a16:creationId xmlns:a16="http://schemas.microsoft.com/office/drawing/2014/main" id="{A7FD3100-B979-3AE7-CCA7-D19F2C2584D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4144" y="3040379"/>
              <a:ext cx="1223772" cy="1132332"/>
            </a:xfrm>
            <a:prstGeom prst="rect">
              <a:avLst/>
            </a:prstGeom>
          </p:spPr>
        </p:pic>
        <p:sp>
          <p:nvSpPr>
            <p:cNvPr id="38" name="object 28">
              <a:extLst>
                <a:ext uri="{FF2B5EF4-FFF2-40B4-BE49-F238E27FC236}">
                  <a16:creationId xmlns:a16="http://schemas.microsoft.com/office/drawing/2014/main" id="{105552A0-6109-519A-66F5-8AFBE676D1A5}"/>
                </a:ext>
              </a:extLst>
            </p:cNvPr>
            <p:cNvSpPr/>
            <p:nvPr/>
          </p:nvSpPr>
          <p:spPr>
            <a:xfrm>
              <a:off x="5210175" y="2526410"/>
              <a:ext cx="1242695" cy="729615"/>
            </a:xfrm>
            <a:custGeom>
              <a:avLst/>
              <a:gdLst/>
              <a:ahLst/>
              <a:cxnLst/>
              <a:rect l="l" t="t" r="r" b="b"/>
              <a:pathLst>
                <a:path w="1242695" h="729614">
                  <a:moveTo>
                    <a:pt x="658368" y="658368"/>
                  </a:moveTo>
                  <a:lnTo>
                    <a:pt x="644690" y="617347"/>
                  </a:lnTo>
                  <a:lnTo>
                    <a:pt x="627634" y="566166"/>
                  </a:lnTo>
                  <a:lnTo>
                    <a:pt x="607123" y="586676"/>
                  </a:lnTo>
                  <a:lnTo>
                    <a:pt x="20574" y="0"/>
                  </a:lnTo>
                  <a:lnTo>
                    <a:pt x="0" y="20574"/>
                  </a:lnTo>
                  <a:lnTo>
                    <a:pt x="586663" y="607136"/>
                  </a:lnTo>
                  <a:lnTo>
                    <a:pt x="566166" y="627634"/>
                  </a:lnTo>
                  <a:lnTo>
                    <a:pt x="658368" y="658368"/>
                  </a:lnTo>
                  <a:close/>
                </a:path>
                <a:path w="1242695" h="729614">
                  <a:moveTo>
                    <a:pt x="1242441" y="240411"/>
                  </a:moveTo>
                  <a:lnTo>
                    <a:pt x="1235202" y="225933"/>
                  </a:lnTo>
                  <a:lnTo>
                    <a:pt x="1199007" y="153543"/>
                  </a:lnTo>
                  <a:lnTo>
                    <a:pt x="1155573" y="240411"/>
                  </a:lnTo>
                  <a:lnTo>
                    <a:pt x="1184529" y="240411"/>
                  </a:lnTo>
                  <a:lnTo>
                    <a:pt x="1184529" y="729615"/>
                  </a:lnTo>
                  <a:lnTo>
                    <a:pt x="1213485" y="729615"/>
                  </a:lnTo>
                  <a:lnTo>
                    <a:pt x="1213485" y="240411"/>
                  </a:lnTo>
                  <a:lnTo>
                    <a:pt x="1242441" y="24041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29">
            <a:extLst>
              <a:ext uri="{FF2B5EF4-FFF2-40B4-BE49-F238E27FC236}">
                <a16:creationId xmlns:a16="http://schemas.microsoft.com/office/drawing/2014/main" id="{44FADBC5-3BEB-9113-B56C-8F2FBA2A1401}"/>
              </a:ext>
            </a:extLst>
          </p:cNvPr>
          <p:cNvSpPr txBox="1"/>
          <p:nvPr/>
        </p:nvSpPr>
        <p:spPr>
          <a:xfrm>
            <a:off x="7250983" y="5218453"/>
            <a:ext cx="13303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5080" indent="-368935">
              <a:lnSpc>
                <a:spcPct val="100000"/>
              </a:lnSpc>
              <a:spcBef>
                <a:spcPts val="95"/>
              </a:spcBef>
            </a:pPr>
            <a:r>
              <a:rPr sz="1600" b="1" spc="50">
                <a:solidFill>
                  <a:srgbClr val="FF0000"/>
                </a:solidFill>
                <a:latin typeface="Trebuchet MS"/>
                <a:cs typeface="Trebuchet MS"/>
              </a:rPr>
              <a:t>Зараженн</a:t>
            </a:r>
            <a:r>
              <a:rPr sz="1600" b="1" spc="30">
                <a:solidFill>
                  <a:srgbClr val="FF0000"/>
                </a:solidFill>
                <a:latin typeface="Trebuchet MS"/>
                <a:cs typeface="Trebuchet MS"/>
              </a:rPr>
              <a:t>ый  </a:t>
            </a:r>
            <a:r>
              <a:rPr sz="1600" b="1" spc="15">
                <a:solidFill>
                  <a:srgbClr val="FF0000"/>
                </a:solidFill>
                <a:latin typeface="Trebuchet MS"/>
                <a:cs typeface="Trebuchet MS"/>
              </a:rPr>
              <a:t>пакет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E5F9B-2D31-8B66-37B6-91BF51E7B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683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5045B-5FB1-1EAE-91BF-50D69B9D5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648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Публикация вредоносного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кода в популярном пакете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ipc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6E53B7-13BE-5B90-C244-ABBBD118C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211"/>
            <a:ext cx="10515600" cy="4689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17 марта 2022 – публикация вредоносной версии пакета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ipc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b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(больше миллиона загрузок в неделю)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8ABAF2-06E4-D7BA-C787-36691A62A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grpSp>
        <p:nvGrpSpPr>
          <p:cNvPr id="5" name="object 11">
            <a:extLst>
              <a:ext uri="{FF2B5EF4-FFF2-40B4-BE49-F238E27FC236}">
                <a16:creationId xmlns:a16="http://schemas.microsoft.com/office/drawing/2014/main" id="{ED85C373-8C78-26F9-33C3-388D19AF82ED}"/>
              </a:ext>
            </a:extLst>
          </p:cNvPr>
          <p:cNvGrpSpPr/>
          <p:nvPr/>
        </p:nvGrpSpPr>
        <p:grpSpPr>
          <a:xfrm>
            <a:off x="1136074" y="2293779"/>
            <a:ext cx="9716654" cy="3972877"/>
            <a:chOff x="431291" y="1563624"/>
            <a:chExt cx="8209915" cy="3409315"/>
          </a:xfrm>
        </p:grpSpPr>
        <p:pic>
          <p:nvPicPr>
            <p:cNvPr id="6" name="object 12">
              <a:extLst>
                <a:ext uri="{FF2B5EF4-FFF2-40B4-BE49-F238E27FC236}">
                  <a16:creationId xmlns:a16="http://schemas.microsoft.com/office/drawing/2014/main" id="{718F7BF5-200E-F4F2-949D-A6504C760D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291" y="1563624"/>
              <a:ext cx="6733032" cy="2575560"/>
            </a:xfrm>
            <a:prstGeom prst="rect">
              <a:avLst/>
            </a:prstGeom>
          </p:spPr>
        </p:pic>
        <p:pic>
          <p:nvPicPr>
            <p:cNvPr id="7" name="object 13">
              <a:extLst>
                <a:ext uri="{FF2B5EF4-FFF2-40B4-BE49-F238E27FC236}">
                  <a16:creationId xmlns:a16="http://schemas.microsoft.com/office/drawing/2014/main" id="{64F85C50-5677-29CF-2043-48663877A4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4287" y="3255263"/>
              <a:ext cx="6336792" cy="1717548"/>
            </a:xfrm>
            <a:prstGeom prst="rect">
              <a:avLst/>
            </a:prstGeom>
          </p:spPr>
        </p:pic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34FCD00D-25E0-CEF9-154D-3DD6FD32E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671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554E5-2082-17D6-EA2E-806966B2D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50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«Просто скачай и запусти»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b="1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BC01B1-1275-85D3-45F1-3CE8158B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B263C4DE-D2B1-BFA2-7C30-0C3BEC0E5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864789"/>
              </p:ext>
            </p:extLst>
          </p:nvPr>
        </p:nvGraphicFramePr>
        <p:xfrm>
          <a:off x="2556565" y="1784783"/>
          <a:ext cx="6906259" cy="1452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5986">
                <a:tc>
                  <a:txBody>
                    <a:bodyPr/>
                    <a:lstStyle/>
                    <a:p>
                      <a:pPr marL="318135" indent="-287020">
                        <a:lnSpc>
                          <a:spcPts val="3615"/>
                        </a:lnSpc>
                        <a:buFont typeface="Arial MT"/>
                        <a:buChar char="•"/>
                        <a:tabLst>
                          <a:tab pos="318770" algn="l"/>
                        </a:tabLst>
                      </a:pPr>
                      <a:r>
                        <a:rPr sz="3200" b="1" spc="65">
                          <a:solidFill>
                            <a:srgbClr val="00A88E"/>
                          </a:solidFill>
                          <a:latin typeface="Trebuchet MS"/>
                          <a:cs typeface="Trebuchet MS"/>
                        </a:rPr>
                        <a:t>Node</a:t>
                      </a:r>
                      <a:endParaRPr sz="3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spc="-10">
                          <a:solidFill>
                            <a:schemeClr val="tx1"/>
                          </a:solidFill>
                          <a:latin typeface="Consolas"/>
                          <a:cs typeface="Consolas"/>
                        </a:rPr>
                        <a:t>npm</a:t>
                      </a:r>
                      <a:endParaRPr sz="2800">
                        <a:solidFill>
                          <a:schemeClr val="tx1"/>
                        </a:solidFill>
                        <a:latin typeface="Consolas"/>
                        <a:cs typeface="Consolas"/>
                      </a:endParaRPr>
                    </a:p>
                  </a:txBody>
                  <a:tcPr marL="0" marR="0" marT="2159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spc="-5">
                          <a:solidFill>
                            <a:schemeClr val="tx1"/>
                          </a:solidFill>
                          <a:latin typeface="Consolas"/>
                          <a:cs typeface="Consolas"/>
                        </a:rPr>
                        <a:t>install</a:t>
                      </a:r>
                      <a:endParaRPr sz="2800">
                        <a:solidFill>
                          <a:schemeClr val="tx1"/>
                        </a:solidFill>
                        <a:latin typeface="Consolas"/>
                        <a:cs typeface="Consolas"/>
                      </a:endParaRPr>
                    </a:p>
                  </a:txBody>
                  <a:tcPr marL="0" marR="0" marT="21590" marB="0">
                    <a:noFill/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spc="-5">
                          <a:solidFill>
                            <a:schemeClr val="tx1"/>
                          </a:solidFill>
                          <a:latin typeface="Consolas"/>
                          <a:cs typeface="Consolas"/>
                        </a:rPr>
                        <a:t>%package%</a:t>
                      </a:r>
                      <a:endParaRPr sz="2800">
                        <a:solidFill>
                          <a:schemeClr val="tx1"/>
                        </a:solidFill>
                        <a:latin typeface="Consolas"/>
                        <a:cs typeface="Consolas"/>
                      </a:endParaRPr>
                    </a:p>
                  </a:txBody>
                  <a:tcPr marL="0" marR="0" marT="2159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343">
                <a:tc>
                  <a:txBody>
                    <a:bodyPr/>
                    <a:lstStyle/>
                    <a:p>
                      <a:pPr marL="318135" indent="-287020">
                        <a:lnSpc>
                          <a:spcPct val="100000"/>
                        </a:lnSpc>
                        <a:spcBef>
                          <a:spcPts val="1735"/>
                        </a:spcBef>
                        <a:buFont typeface="Arial MT"/>
                        <a:buChar char="•"/>
                        <a:tabLst>
                          <a:tab pos="318770" algn="l"/>
                        </a:tabLst>
                      </a:pPr>
                      <a:r>
                        <a:rPr sz="3200" b="1" spc="40">
                          <a:solidFill>
                            <a:srgbClr val="00A88E"/>
                          </a:solidFill>
                          <a:latin typeface="Trebuchet MS"/>
                          <a:cs typeface="Trebuchet MS"/>
                        </a:rPr>
                        <a:t>Python</a:t>
                      </a:r>
                      <a:endParaRPr sz="3200">
                        <a:latin typeface="Trebuchet MS"/>
                        <a:cs typeface="Trebuchet MS"/>
                      </a:endParaRPr>
                    </a:p>
                  </a:txBody>
                  <a:tcPr marL="0" marR="0" marT="220345" marB="0">
                    <a:noFill/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2135"/>
                        </a:spcBef>
                      </a:pPr>
                      <a:r>
                        <a:rPr sz="2800" spc="-10">
                          <a:solidFill>
                            <a:schemeClr val="tx1"/>
                          </a:solidFill>
                          <a:latin typeface="Consolas"/>
                          <a:cs typeface="Consolas"/>
                        </a:rPr>
                        <a:t>pip</a:t>
                      </a:r>
                      <a:endParaRPr sz="2800">
                        <a:solidFill>
                          <a:schemeClr val="tx1"/>
                        </a:solidFill>
                        <a:latin typeface="Consolas"/>
                        <a:cs typeface="Consolas"/>
                      </a:endParaRPr>
                    </a:p>
                  </a:txBody>
                  <a:tcPr marL="0" marR="0" marT="271145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35"/>
                        </a:spcBef>
                      </a:pPr>
                      <a:r>
                        <a:rPr sz="2800" spc="-5">
                          <a:solidFill>
                            <a:schemeClr val="tx1"/>
                          </a:solidFill>
                          <a:latin typeface="Consolas"/>
                          <a:cs typeface="Consolas"/>
                        </a:rPr>
                        <a:t>install</a:t>
                      </a:r>
                      <a:endParaRPr sz="2800">
                        <a:solidFill>
                          <a:schemeClr val="tx1"/>
                        </a:solidFill>
                        <a:latin typeface="Consolas"/>
                        <a:cs typeface="Consolas"/>
                      </a:endParaRPr>
                    </a:p>
                  </a:txBody>
                  <a:tcPr marL="0" marR="0" marT="271145" marB="0">
                    <a:noFill/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135"/>
                        </a:spcBef>
                      </a:pPr>
                      <a:r>
                        <a:rPr sz="2800" spc="-5">
                          <a:solidFill>
                            <a:schemeClr val="tx1"/>
                          </a:solidFill>
                          <a:latin typeface="Consolas"/>
                          <a:cs typeface="Consolas"/>
                        </a:rPr>
                        <a:t>%package%</a:t>
                      </a:r>
                      <a:endParaRPr sz="2800">
                        <a:solidFill>
                          <a:schemeClr val="tx1"/>
                        </a:solidFill>
                        <a:latin typeface="Consolas"/>
                        <a:cs typeface="Consolas"/>
                      </a:endParaRPr>
                    </a:p>
                  </a:txBody>
                  <a:tcPr marL="0" marR="0" marT="27114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9">
            <a:extLst>
              <a:ext uri="{FF2B5EF4-FFF2-40B4-BE49-F238E27FC236}">
                <a16:creationId xmlns:a16="http://schemas.microsoft.com/office/drawing/2014/main" id="{27C7533D-D80B-C94D-0B93-2C4D4508F8F5}"/>
              </a:ext>
            </a:extLst>
          </p:cNvPr>
          <p:cNvSpPr txBox="1"/>
          <p:nvPr/>
        </p:nvSpPr>
        <p:spPr>
          <a:xfrm>
            <a:off x="2575615" y="3693455"/>
            <a:ext cx="11696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720" algn="l"/>
              </a:tabLst>
            </a:pPr>
            <a:r>
              <a:rPr sz="3200" b="1" spc="80">
                <a:solidFill>
                  <a:srgbClr val="00A88E"/>
                </a:solidFill>
                <a:latin typeface="Trebuchet MS"/>
                <a:cs typeface="Trebuchet MS"/>
              </a:rPr>
              <a:t>Ru</a:t>
            </a:r>
            <a:r>
              <a:rPr sz="3200" b="1" spc="45">
                <a:solidFill>
                  <a:srgbClr val="00A88E"/>
                </a:solidFill>
                <a:latin typeface="Trebuchet MS"/>
                <a:cs typeface="Trebuchet MS"/>
              </a:rPr>
              <a:t>s</a:t>
            </a:r>
            <a:r>
              <a:rPr sz="3200" b="1" spc="50">
                <a:solidFill>
                  <a:srgbClr val="00A88E"/>
                </a:solidFill>
                <a:latin typeface="Trebuchet MS"/>
                <a:cs typeface="Trebuchet MS"/>
              </a:rPr>
              <a:t>t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8441A34C-60F3-CC59-94AD-4A3DE2B547BD}"/>
              </a:ext>
            </a:extLst>
          </p:cNvPr>
          <p:cNvSpPr txBox="1"/>
          <p:nvPr/>
        </p:nvSpPr>
        <p:spPr>
          <a:xfrm>
            <a:off x="5319476" y="3745271"/>
            <a:ext cx="3541395" cy="88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>
                <a:latin typeface="Consolas"/>
                <a:cs typeface="Consolas"/>
              </a:rPr>
              <a:t>curl</a:t>
            </a:r>
            <a:r>
              <a:rPr sz="2800" spc="-65">
                <a:latin typeface="Consolas"/>
                <a:cs typeface="Consolas"/>
              </a:rPr>
              <a:t> </a:t>
            </a:r>
            <a:r>
              <a:rPr sz="2800" spc="-5">
                <a:latin typeface="Consolas"/>
                <a:cs typeface="Consolas"/>
              </a:rPr>
              <a:t>...rustup.sh|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spc="-5">
                <a:latin typeface="Consolas"/>
                <a:cs typeface="Consolas"/>
              </a:rPr>
              <a:t>/bin/sh;</a:t>
            </a:r>
            <a:r>
              <a:rPr sz="2800" spc="-50">
                <a:latin typeface="Consolas"/>
                <a:cs typeface="Consolas"/>
              </a:rPr>
              <a:t> </a:t>
            </a:r>
            <a:r>
              <a:rPr sz="2800" spc="-5">
                <a:latin typeface="Consolas"/>
                <a:cs typeface="Consolas"/>
              </a:rPr>
              <a:t>cargo</a:t>
            </a:r>
            <a:r>
              <a:rPr sz="2800" spc="-40">
                <a:latin typeface="Consolas"/>
                <a:cs typeface="Consolas"/>
              </a:rPr>
              <a:t> </a:t>
            </a:r>
            <a:r>
              <a:rPr sz="2800" spc="-10">
                <a:latin typeface="Consolas"/>
                <a:cs typeface="Consolas"/>
              </a:rPr>
              <a:t>run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322CA395-6DE5-4693-1E6D-B13D52696ADA}"/>
              </a:ext>
            </a:extLst>
          </p:cNvPr>
          <p:cNvSpPr txBox="1"/>
          <p:nvPr/>
        </p:nvSpPr>
        <p:spPr>
          <a:xfrm>
            <a:off x="2575615" y="5096500"/>
            <a:ext cx="861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720" algn="l"/>
              </a:tabLst>
            </a:pPr>
            <a:r>
              <a:rPr sz="3200" b="1" spc="180">
                <a:solidFill>
                  <a:srgbClr val="00A88E"/>
                </a:solidFill>
                <a:latin typeface="Trebuchet MS"/>
                <a:cs typeface="Trebuchet MS"/>
              </a:rPr>
              <a:t>Go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59644AEB-897C-D93A-A817-814D1FBC3404}"/>
              </a:ext>
            </a:extLst>
          </p:cNvPr>
          <p:cNvSpPr txBox="1"/>
          <p:nvPr/>
        </p:nvSpPr>
        <p:spPr>
          <a:xfrm>
            <a:off x="5319476" y="5148316"/>
            <a:ext cx="41262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>
                <a:latin typeface="Consolas"/>
                <a:cs typeface="Consolas"/>
              </a:rPr>
              <a:t>go</a:t>
            </a:r>
            <a:r>
              <a:rPr sz="2800" spc="-35">
                <a:latin typeface="Consolas"/>
                <a:cs typeface="Consolas"/>
              </a:rPr>
              <a:t> </a:t>
            </a:r>
            <a:r>
              <a:rPr sz="2800" spc="-5">
                <a:latin typeface="Consolas"/>
                <a:cs typeface="Consolas"/>
              </a:rPr>
              <a:t>get</a:t>
            </a:r>
            <a:r>
              <a:rPr sz="2800" spc="-30">
                <a:latin typeface="Consolas"/>
                <a:cs typeface="Consolas"/>
              </a:rPr>
              <a:t> </a:t>
            </a:r>
            <a:r>
              <a:rPr sz="2800" spc="-5">
                <a:latin typeface="Consolas"/>
                <a:cs typeface="Consolas"/>
              </a:rPr>
              <a:t>github.com/...</a:t>
            </a:r>
            <a:endParaRPr sz="2800">
              <a:latin typeface="Consolas"/>
              <a:cs typeface="Consola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D26A1B-6ACA-8EE0-1F7F-FCA8D0E49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66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89AE1-2A57-E514-DCB1-7EB8B849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738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Публикация вредоносного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кода в популярном пакете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ipc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EC7CF7-D56D-457A-68F2-6E9355FB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pic>
        <p:nvPicPr>
          <p:cNvPr id="5" name="object 11">
            <a:extLst>
              <a:ext uri="{FF2B5EF4-FFF2-40B4-BE49-F238E27FC236}">
                <a16:creationId xmlns:a16="http://schemas.microsoft.com/office/drawing/2014/main" id="{B8EC4C95-50C6-A7D8-08B6-D48CC40647B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34837" y="1511301"/>
            <a:ext cx="8525164" cy="50834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6EF090-3A27-C11D-7872-2565299CE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628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E0217-CE1C-11E7-050A-6F97CBB4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Публикация вредоносного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кода в популярном пакете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ipc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00B2DE-1936-346E-4AE9-F854078F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  <p:pic>
        <p:nvPicPr>
          <p:cNvPr id="5" name="object 11">
            <a:extLst>
              <a:ext uri="{FF2B5EF4-FFF2-40B4-BE49-F238E27FC236}">
                <a16:creationId xmlns:a16="http://schemas.microsoft.com/office/drawing/2014/main" id="{3706CCE4-4B5C-1776-F6CB-A18D19EA94E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1592714"/>
            <a:ext cx="11104130" cy="46330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58EA8C-D172-5BA5-613F-841B5EA54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469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BF4F0-07D0-2F7C-099A-2D79C83F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Публикация вредоносного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кода в популярном пакете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ipc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351747-8858-29D6-AD01-47D2B2DB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pic>
        <p:nvPicPr>
          <p:cNvPr id="5" name="object 11">
            <a:extLst>
              <a:ext uri="{FF2B5EF4-FFF2-40B4-BE49-F238E27FC236}">
                <a16:creationId xmlns:a16="http://schemas.microsoft.com/office/drawing/2014/main" id="{1073A8C9-F5A9-8B28-ED11-8D2408BC6D8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17031" y="1575083"/>
            <a:ext cx="7824131" cy="48045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F57DD9-B798-F216-7F69-266651198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850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F9162-5EBB-2C09-7BA6-A0E6E17D2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327" y="62769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открытых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репозиториев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78C99D-1D64-9BC5-9020-8A8648AB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/>
          </a:p>
        </p:txBody>
      </p:sp>
      <p:grpSp>
        <p:nvGrpSpPr>
          <p:cNvPr id="5" name="object 7">
            <a:extLst>
              <a:ext uri="{FF2B5EF4-FFF2-40B4-BE49-F238E27FC236}">
                <a16:creationId xmlns:a16="http://schemas.microsoft.com/office/drawing/2014/main" id="{968AD1F2-F19B-637E-65BA-95A3155E7BE0}"/>
              </a:ext>
            </a:extLst>
          </p:cNvPr>
          <p:cNvGrpSpPr/>
          <p:nvPr/>
        </p:nvGrpSpPr>
        <p:grpSpPr>
          <a:xfrm>
            <a:off x="921327" y="1388332"/>
            <a:ext cx="10515600" cy="4968018"/>
            <a:chOff x="288036" y="771144"/>
            <a:chExt cx="8804275" cy="4264660"/>
          </a:xfrm>
        </p:grpSpPr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6F3952FD-536E-DEAF-5B0C-8AE76144B9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036" y="771144"/>
              <a:ext cx="5641848" cy="3904487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39334D83-E841-9929-B9D4-22903646364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0707" y="1491994"/>
              <a:ext cx="4951476" cy="35433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C3FB60B-5953-5AA8-E499-95B8B11C0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40C94E-348A-12E8-9F99-42C792BF5BA1}"/>
              </a:ext>
            </a:extLst>
          </p:cNvPr>
          <p:cNvSpPr txBox="1"/>
          <p:nvPr/>
        </p:nvSpPr>
        <p:spPr>
          <a:xfrm>
            <a:off x="249382" y="6398309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hlinkClick r:id="rId5"/>
              </a:rPr>
              <a:t>https://securelist.com/</a:t>
            </a:r>
            <a:endParaRPr lang="en-US" sz="800"/>
          </a:p>
          <a:p>
            <a:endParaRPr lang="ru-RU" sz="800"/>
          </a:p>
        </p:txBody>
      </p:sp>
    </p:spTree>
    <p:extLst>
      <p:ext uri="{BB962C8B-B14F-4D97-AF65-F5344CB8AC3E}">
        <p14:creationId xmlns:p14="http://schemas.microsoft.com/office/powerpoint/2010/main" val="3765982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5013B-2D81-5728-8FE9-E898B307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3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Двойная атака через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цепочку поставок на клиентов ЗСХ</a:t>
            </a:r>
            <a:endParaRPr lang="ru-RU" sz="32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4784E0-9290-DC4A-3B38-3F72B5D92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9085" indent="-28702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ru-RU" sz="2400" spc="-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марта</a:t>
            </a:r>
            <a:r>
              <a:rPr lang="ru-RU" sz="2400" spc="-1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ru-RU" sz="2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spc="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обн</a:t>
            </a:r>
            <a:r>
              <a:rPr lang="ru-RU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аружена</a:t>
            </a:r>
            <a:r>
              <a:rPr lang="ru-RU" sz="2400" spc="-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ат</a:t>
            </a:r>
            <a:r>
              <a:rPr lang="ru-RU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ка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ru-RU" sz="24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ц</a:t>
            </a:r>
            <a:r>
              <a:rPr lang="ru-RU" sz="2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епочку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ос</a:t>
            </a:r>
            <a:r>
              <a:rPr lang="ru-RU" sz="2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тавок</a:t>
            </a:r>
            <a:r>
              <a:rPr lang="ru-RU" sz="24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60">
                <a:latin typeface="Times New Roman" panose="02020603050405020304" pitchFamily="18" charset="0"/>
                <a:cs typeface="Times New Roman" panose="02020603050405020304" pitchFamily="18" charset="0"/>
              </a:rPr>
              <a:t>3CX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Вредоносный</a:t>
            </a:r>
            <a:r>
              <a:rPr lang="ru-RU" sz="2400" spc="-20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установочный</a:t>
            </a:r>
            <a:r>
              <a:rPr lang="ru-RU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пакет</a:t>
            </a:r>
            <a:r>
              <a:rPr lang="ru-RU" sz="2400" spc="-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MSI</a:t>
            </a:r>
            <a:r>
              <a:rPr lang="ru-RU" sz="24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был</a:t>
            </a:r>
            <a:r>
              <a:rPr lang="ru-RU" sz="24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подписан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Поле</a:t>
            </a: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зн</a:t>
            </a:r>
            <a:r>
              <a:rPr lang="ru-RU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я</a:t>
            </a:r>
            <a:r>
              <a:rPr lang="ru-RU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грузка</a:t>
            </a:r>
            <a:r>
              <a:rPr lang="ru-RU" sz="2400" spc="-1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под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21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indows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25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1CEB9C-DCE9-2309-20C8-24A9AAAF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F4268E5A-6218-6BEB-BE69-50AF403884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302923"/>
            <a:ext cx="8371332" cy="23622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63AC51D-B9EC-E942-92F5-0A17557D5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FFD843-CF64-02DA-5354-ECDA94287E5F}"/>
              </a:ext>
            </a:extLst>
          </p:cNvPr>
          <p:cNvSpPr txBox="1"/>
          <p:nvPr/>
        </p:nvSpPr>
        <p:spPr>
          <a:xfrm>
            <a:off x="147783" y="6469567"/>
            <a:ext cx="6059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hlinkClick r:id="rId4"/>
              </a:rPr>
              <a:t>https://www.sentinelone.com/blog/smoothoperator-ongoing-campaign-trojanizes-3cx-software-in-software-supply-chain-attack/</a:t>
            </a:r>
            <a:endParaRPr lang="en-US" sz="800"/>
          </a:p>
          <a:p>
            <a:endParaRPr lang="ru-RU" sz="800"/>
          </a:p>
        </p:txBody>
      </p:sp>
    </p:spTree>
    <p:extLst>
      <p:ext uri="{BB962C8B-B14F-4D97-AF65-F5344CB8AC3E}">
        <p14:creationId xmlns:p14="http://schemas.microsoft.com/office/powerpoint/2010/main" val="2240277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AA8482-EEA6-FEB6-9246-5FF86471D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36" y="18061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Двойная атака через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цепочку поставок на клиентов ЗСХ</a:t>
            </a:r>
            <a:endParaRPr lang="ru-RU" sz="32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299CC3-6F27-7D37-FA2D-F4412093F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400" spc="160">
                <a:latin typeface="Times New Roman" panose="02020603050405020304" pitchFamily="18" charset="0"/>
                <a:cs typeface="Times New Roman" panose="02020603050405020304" pitchFamily="18" charset="0"/>
              </a:rPr>
              <a:t>3CX</a:t>
            </a:r>
            <a:r>
              <a:rPr lang="en-US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4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</a:t>
            </a:r>
            <a:r>
              <a:rPr lang="ru-RU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6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шени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lang="ru-RU" sz="2400" spc="-33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FFFF"/>
              </a:buClr>
              <a:buFont typeface="Arial MT"/>
              <a:buChar char="•"/>
            </a:pP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Более</a:t>
            </a:r>
            <a:r>
              <a:rPr lang="ru-RU" sz="24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чем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9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r>
              <a:rPr lang="ru-RU" sz="24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235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r>
              <a:rPr lang="ru-RU" sz="24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комп</a:t>
            </a:r>
            <a:r>
              <a:rPr lang="ru-RU" sz="2400" spc="15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ний  </a:t>
            </a:r>
            <a:b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кли</a:t>
            </a:r>
            <a:r>
              <a:rPr lang="ru-RU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ентов</a:t>
            </a:r>
            <a:r>
              <a:rPr lang="ru-RU" sz="24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ему</a:t>
            </a:r>
            <a:r>
              <a:rPr lang="ru-RU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мир</a:t>
            </a:r>
            <a:r>
              <a:rPr lang="ru-RU" sz="24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у,</a:t>
            </a:r>
            <a:r>
              <a:rPr lang="ru-RU" sz="2400" spc="-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вкл</a:t>
            </a:r>
            <a:r>
              <a:rPr lang="ru-RU" sz="2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ю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ч</a:t>
            </a:r>
            <a: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я  </a:t>
            </a:r>
            <a:br>
              <a:rPr lang="ru-RU" sz="2400" spc="-15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Amer</a:t>
            </a:r>
            <a:r>
              <a:rPr lang="en-US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sz="2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pres</a:t>
            </a:r>
            <a:r>
              <a:rPr lang="en-US" sz="2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spc="-335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65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24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Cola,  </a:t>
            </a:r>
            <a:br>
              <a:rPr lang="ru-RU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McDonald's,</a:t>
            </a:r>
            <a:r>
              <a:rPr lang="en-US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BMW,</a:t>
            </a:r>
            <a:r>
              <a:rPr lang="en-US" sz="2400" spc="-1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Honda,</a:t>
            </a:r>
            <a:r>
              <a:rPr lang="en-US" sz="2400" spc="-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AirFrance</a:t>
            </a:r>
            <a:r>
              <a:rPr lang="en-US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ru-RU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spc="-5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NHS,</a:t>
            </a:r>
            <a:r>
              <a:rPr lang="en-US" sz="2400" spc="-1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2400" spc="6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a,</a:t>
            </a:r>
            <a:r>
              <a:rPr lang="en-US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80">
                <a:latin typeface="Times New Roman" panose="02020603050405020304" pitchFamily="18" charset="0"/>
                <a:cs typeface="Times New Roman" panose="02020603050405020304" pitchFamily="18" charset="0"/>
              </a:rPr>
              <a:t>Mercede</a:t>
            </a:r>
            <a:r>
              <a:rPr lang="en-US" sz="2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nz</a:t>
            </a:r>
            <a:r>
              <a:rPr lang="en-US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IKEA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993248-AE7A-7FA7-5B1C-D29E9E1B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pic>
        <p:nvPicPr>
          <p:cNvPr id="5" name="object 10">
            <a:extLst>
              <a:ext uri="{FF2B5EF4-FFF2-40B4-BE49-F238E27FC236}">
                <a16:creationId xmlns:a16="http://schemas.microsoft.com/office/drawing/2014/main" id="{0BE93D48-C0B9-9132-3496-F64F89B5EA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1709" y="2170544"/>
            <a:ext cx="4901092" cy="3521435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99631EC-907A-BDC1-D730-FDB4951FB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119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E17FB-5591-DD45-3E6A-595CDA3C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4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Двойная атака через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цепочку поставок на клиентов ЗСХ</a:t>
            </a:r>
            <a:endParaRPr lang="ru-RU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3CF8F4-76C0-349E-BC63-E4455F18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02EF53B4-ED0C-C1BF-81DA-F52483C296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291" y="1690688"/>
            <a:ext cx="7269017" cy="42818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58EE68-ABC1-7DDC-1E62-BFFA2FE88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823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68421-6CBB-DF22-B97C-3915620B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1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Двойная атака через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цепочку поставок на клиентов ЗСХ</a:t>
            </a:r>
            <a:endParaRPr lang="ru-RU" sz="3200"/>
          </a:p>
        </p:txBody>
      </p:sp>
      <p:pic>
        <p:nvPicPr>
          <p:cNvPr id="46" name="Объект 45">
            <a:extLst>
              <a:ext uri="{FF2B5EF4-FFF2-40B4-BE49-F238E27FC236}">
                <a16:creationId xmlns:a16="http://schemas.microsoft.com/office/drawing/2014/main" id="{9DA90CDD-1FAE-A1C9-3AD0-2F62C58A6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285" y="1825625"/>
            <a:ext cx="9661933" cy="4351338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709A4D-5717-1EEA-42C9-9A8C515A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AF8FDA-1C00-CD44-3F5B-D5CA211CE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42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1831B-19DD-C99F-5851-9A283A078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Двойная атака через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цепочку поставок на клиентов ЗСХ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032555-C7A7-CC4E-3434-7A502CB2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16</a:t>
            </a:fld>
            <a:endParaRPr lang="ru-RU"/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32EBEDBA-D408-38DD-CD52-C9A55D74DD1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81978" y="1570182"/>
            <a:ext cx="9801658" cy="43896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3F1658-C9FD-62B0-935B-5D492BC44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0D1EEC-CB6D-B24A-EEA9-B5C8CDA564F0}"/>
              </a:ext>
            </a:extLst>
          </p:cNvPr>
          <p:cNvSpPr txBox="1"/>
          <p:nvPr/>
        </p:nvSpPr>
        <p:spPr>
          <a:xfrm>
            <a:off x="86807" y="6431190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hlinkClick r:id="rId4"/>
              </a:rPr>
              <a:t>https://www.sentinelone.com/blog/smoothoperator-ongoing-campaign-trojanizes-3cx-software-in-software-supply-chain-attack/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64068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B2F98-B477-5F93-00F9-2B03591E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Двойная атака через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цепочку поставок на клиентов ЗСХ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0EC197-22F5-18C7-C35C-C5081680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17</a:t>
            </a:fld>
            <a:endParaRPr lang="ru-RU"/>
          </a:p>
        </p:txBody>
      </p:sp>
      <p:grpSp>
        <p:nvGrpSpPr>
          <p:cNvPr id="5" name="object 9">
            <a:extLst>
              <a:ext uri="{FF2B5EF4-FFF2-40B4-BE49-F238E27FC236}">
                <a16:creationId xmlns:a16="http://schemas.microsoft.com/office/drawing/2014/main" id="{22EC41CC-0C4A-9738-56C1-383BFBCBCFA0}"/>
              </a:ext>
            </a:extLst>
          </p:cNvPr>
          <p:cNvGrpSpPr/>
          <p:nvPr/>
        </p:nvGrpSpPr>
        <p:grpSpPr>
          <a:xfrm>
            <a:off x="2331257" y="1433926"/>
            <a:ext cx="7274561" cy="1881929"/>
            <a:chOff x="1152144" y="771144"/>
            <a:chExt cx="6913245" cy="1836420"/>
          </a:xfrm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2697F3C4-4D73-A2D5-759B-19646450CB6E}"/>
                </a:ext>
              </a:extLst>
            </p:cNvPr>
            <p:cNvSpPr/>
            <p:nvPr/>
          </p:nvSpPr>
          <p:spPr>
            <a:xfrm>
              <a:off x="1152144" y="771144"/>
              <a:ext cx="6913245" cy="1836420"/>
            </a:xfrm>
            <a:custGeom>
              <a:avLst/>
              <a:gdLst/>
              <a:ahLst/>
              <a:cxnLst/>
              <a:rect l="l" t="t" r="r" b="b"/>
              <a:pathLst>
                <a:path w="6913245" h="1836420">
                  <a:moveTo>
                    <a:pt x="6912864" y="0"/>
                  </a:moveTo>
                  <a:lnTo>
                    <a:pt x="0" y="0"/>
                  </a:lnTo>
                  <a:lnTo>
                    <a:pt x="0" y="1836419"/>
                  </a:lnTo>
                  <a:lnTo>
                    <a:pt x="6912864" y="1836419"/>
                  </a:lnTo>
                  <a:lnTo>
                    <a:pt x="69128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11">
              <a:extLst>
                <a:ext uri="{FF2B5EF4-FFF2-40B4-BE49-F238E27FC236}">
                  <a16:creationId xmlns:a16="http://schemas.microsoft.com/office/drawing/2014/main" id="{F6E6738E-E47C-B1C0-670E-987F453CED0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180" y="771144"/>
              <a:ext cx="6228588" cy="1812035"/>
            </a:xfrm>
            <a:prstGeom prst="rect">
              <a:avLst/>
            </a:prstGeom>
          </p:spPr>
        </p:pic>
      </p:grpSp>
      <p:grpSp>
        <p:nvGrpSpPr>
          <p:cNvPr id="8" name="object 12">
            <a:extLst>
              <a:ext uri="{FF2B5EF4-FFF2-40B4-BE49-F238E27FC236}">
                <a16:creationId xmlns:a16="http://schemas.microsoft.com/office/drawing/2014/main" id="{40FBCAC3-EB34-0590-197A-C952E13611F5}"/>
              </a:ext>
            </a:extLst>
          </p:cNvPr>
          <p:cNvGrpSpPr/>
          <p:nvPr/>
        </p:nvGrpSpPr>
        <p:grpSpPr>
          <a:xfrm>
            <a:off x="1167454" y="3315855"/>
            <a:ext cx="9214217" cy="3214254"/>
            <a:chOff x="172516" y="2679192"/>
            <a:chExt cx="7900670" cy="2369185"/>
          </a:xfrm>
        </p:grpSpPr>
        <p:pic>
          <p:nvPicPr>
            <p:cNvPr id="9" name="object 13">
              <a:extLst>
                <a:ext uri="{FF2B5EF4-FFF2-40B4-BE49-F238E27FC236}">
                  <a16:creationId xmlns:a16="http://schemas.microsoft.com/office/drawing/2014/main" id="{72840B2B-65B3-D004-27B0-0633468847C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144" y="2679192"/>
              <a:ext cx="6920483" cy="2212848"/>
            </a:xfrm>
            <a:prstGeom prst="rect">
              <a:avLst/>
            </a:prstGeom>
          </p:spPr>
        </p:pic>
        <p:pic>
          <p:nvPicPr>
            <p:cNvPr id="10" name="object 14">
              <a:extLst>
                <a:ext uri="{FF2B5EF4-FFF2-40B4-BE49-F238E27FC236}">
                  <a16:creationId xmlns:a16="http://schemas.microsoft.com/office/drawing/2014/main" id="{694F2C72-1EFA-8F52-9613-D4F6AC6BC7F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516" y="4931968"/>
              <a:ext cx="752246" cy="115823"/>
            </a:xfrm>
            <a:prstGeom prst="rect">
              <a:avLst/>
            </a:prstGeom>
          </p:spPr>
        </p:pic>
        <p:pic>
          <p:nvPicPr>
            <p:cNvPr id="11" name="object 15">
              <a:extLst>
                <a:ext uri="{FF2B5EF4-FFF2-40B4-BE49-F238E27FC236}">
                  <a16:creationId xmlns:a16="http://schemas.microsoft.com/office/drawing/2014/main" id="{545EF46A-DA76-B136-9F98-471BE2C23D0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6909" y="4931968"/>
              <a:ext cx="2097278" cy="115823"/>
            </a:xfrm>
            <a:prstGeom prst="rect">
              <a:avLst/>
            </a:prstGeom>
          </p:spPr>
        </p:pic>
        <p:pic>
          <p:nvPicPr>
            <p:cNvPr id="12" name="object 16">
              <a:extLst>
                <a:ext uri="{FF2B5EF4-FFF2-40B4-BE49-F238E27FC236}">
                  <a16:creationId xmlns:a16="http://schemas.microsoft.com/office/drawing/2014/main" id="{61B6E69F-8F5E-0BA9-44A2-C088145933E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5445" y="4931968"/>
              <a:ext cx="82295" cy="115823"/>
            </a:xfrm>
            <a:prstGeom prst="rect">
              <a:avLst/>
            </a:prstGeom>
          </p:spPr>
        </p:pic>
        <p:pic>
          <p:nvPicPr>
            <p:cNvPr id="13" name="object 17">
              <a:extLst>
                <a:ext uri="{FF2B5EF4-FFF2-40B4-BE49-F238E27FC236}">
                  <a16:creationId xmlns:a16="http://schemas.microsoft.com/office/drawing/2014/main" id="{085362C2-85BE-881B-F8F5-F174677C9D8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66592" y="4931968"/>
              <a:ext cx="391883" cy="115823"/>
            </a:xfrm>
            <a:prstGeom prst="rect">
              <a:avLst/>
            </a:prstGeom>
          </p:spPr>
        </p:pic>
        <p:pic>
          <p:nvPicPr>
            <p:cNvPr id="14" name="object 18">
              <a:extLst>
                <a:ext uri="{FF2B5EF4-FFF2-40B4-BE49-F238E27FC236}">
                  <a16:creationId xmlns:a16="http://schemas.microsoft.com/office/drawing/2014/main" id="{958712EB-B843-513B-A4B6-90BC265ED17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09492" y="4931968"/>
              <a:ext cx="82296" cy="115823"/>
            </a:xfrm>
            <a:prstGeom prst="rect">
              <a:avLst/>
            </a:prstGeom>
          </p:spPr>
        </p:pic>
        <p:pic>
          <p:nvPicPr>
            <p:cNvPr id="15" name="object 19">
              <a:extLst>
                <a:ext uri="{FF2B5EF4-FFF2-40B4-BE49-F238E27FC236}">
                  <a16:creationId xmlns:a16="http://schemas.microsoft.com/office/drawing/2014/main" id="{1753D83C-EF68-8365-FB8B-42A933D6F72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0641" y="4931968"/>
              <a:ext cx="466343" cy="115823"/>
            </a:xfrm>
            <a:prstGeom prst="rect">
              <a:avLst/>
            </a:prstGeom>
          </p:spPr>
        </p:pic>
        <p:pic>
          <p:nvPicPr>
            <p:cNvPr id="16" name="object 20">
              <a:extLst>
                <a:ext uri="{FF2B5EF4-FFF2-40B4-BE49-F238E27FC236}">
                  <a16:creationId xmlns:a16="http://schemas.microsoft.com/office/drawing/2014/main" id="{44B5A7F2-1E48-13E3-CBC2-CFFC8F5E1DB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5168" y="4931968"/>
              <a:ext cx="82296" cy="115823"/>
            </a:xfrm>
            <a:prstGeom prst="rect">
              <a:avLst/>
            </a:prstGeom>
          </p:spPr>
        </p:pic>
        <p:pic>
          <p:nvPicPr>
            <p:cNvPr id="17" name="object 21">
              <a:extLst>
                <a:ext uri="{FF2B5EF4-FFF2-40B4-BE49-F238E27FC236}">
                  <a16:creationId xmlns:a16="http://schemas.microsoft.com/office/drawing/2014/main" id="{037054E2-0933-2B56-A4ED-F1324DB9E6C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06317" y="4931968"/>
              <a:ext cx="467715" cy="115823"/>
            </a:xfrm>
            <a:prstGeom prst="rect">
              <a:avLst/>
            </a:prstGeom>
          </p:spPr>
        </p:pic>
        <p:pic>
          <p:nvPicPr>
            <p:cNvPr id="18" name="object 22">
              <a:extLst>
                <a:ext uri="{FF2B5EF4-FFF2-40B4-BE49-F238E27FC236}">
                  <a16:creationId xmlns:a16="http://schemas.microsoft.com/office/drawing/2014/main" id="{76025435-31A9-0CB4-AC59-A9D6C30D88D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1512" y="4931968"/>
              <a:ext cx="82296" cy="115823"/>
            </a:xfrm>
            <a:prstGeom prst="rect">
              <a:avLst/>
            </a:prstGeom>
          </p:spPr>
        </p:pic>
        <p:pic>
          <p:nvPicPr>
            <p:cNvPr id="19" name="object 23">
              <a:extLst>
                <a:ext uri="{FF2B5EF4-FFF2-40B4-BE49-F238E27FC236}">
                  <a16:creationId xmlns:a16="http://schemas.microsoft.com/office/drawing/2014/main" id="{E08BD675-B7F2-F63D-A839-497767098E70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72661" y="4931968"/>
              <a:ext cx="205638" cy="115823"/>
            </a:xfrm>
            <a:prstGeom prst="rect">
              <a:avLst/>
            </a:prstGeom>
          </p:spPr>
        </p:pic>
        <p:pic>
          <p:nvPicPr>
            <p:cNvPr id="20" name="object 24">
              <a:extLst>
                <a:ext uri="{FF2B5EF4-FFF2-40B4-BE49-F238E27FC236}">
                  <a16:creationId xmlns:a16="http://schemas.microsoft.com/office/drawing/2014/main" id="{A6C8E7ED-A3A0-6400-AADD-9C637A13907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6966" y="4931968"/>
              <a:ext cx="82296" cy="115823"/>
            </a:xfrm>
            <a:prstGeom prst="rect">
              <a:avLst/>
            </a:prstGeom>
          </p:spPr>
        </p:pic>
        <p:pic>
          <p:nvPicPr>
            <p:cNvPr id="21" name="object 25">
              <a:extLst>
                <a:ext uri="{FF2B5EF4-FFF2-40B4-BE49-F238E27FC236}">
                  <a16:creationId xmlns:a16="http://schemas.microsoft.com/office/drawing/2014/main" id="{EC5F3D09-F159-ACE3-C007-542E194EC65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68113" y="4931968"/>
              <a:ext cx="444055" cy="115823"/>
            </a:xfrm>
            <a:prstGeom prst="rect">
              <a:avLst/>
            </a:prstGeom>
          </p:spPr>
        </p:pic>
        <p:pic>
          <p:nvPicPr>
            <p:cNvPr id="22" name="object 26">
              <a:extLst>
                <a:ext uri="{FF2B5EF4-FFF2-40B4-BE49-F238E27FC236}">
                  <a16:creationId xmlns:a16="http://schemas.microsoft.com/office/drawing/2014/main" id="{9203FA5D-E677-14EC-7007-F3D188C2661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62830" y="4931968"/>
              <a:ext cx="82296" cy="115823"/>
            </a:xfrm>
            <a:prstGeom prst="rect">
              <a:avLst/>
            </a:prstGeom>
          </p:spPr>
        </p:pic>
        <p:pic>
          <p:nvPicPr>
            <p:cNvPr id="23" name="object 27">
              <a:extLst>
                <a:ext uri="{FF2B5EF4-FFF2-40B4-BE49-F238E27FC236}">
                  <a16:creationId xmlns:a16="http://schemas.microsoft.com/office/drawing/2014/main" id="{8CEC5ACD-3BD2-65C3-B767-0A9F13D8EADA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03977" y="4931968"/>
              <a:ext cx="156972" cy="115823"/>
            </a:xfrm>
            <a:prstGeom prst="rect">
              <a:avLst/>
            </a:prstGeom>
          </p:spPr>
        </p:pic>
        <p:pic>
          <p:nvPicPr>
            <p:cNvPr id="24" name="object 28">
              <a:extLst>
                <a:ext uri="{FF2B5EF4-FFF2-40B4-BE49-F238E27FC236}">
                  <a16:creationId xmlns:a16="http://schemas.microsoft.com/office/drawing/2014/main" id="{E1932111-D479-9681-7852-73FBA82D298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19801" y="4931968"/>
              <a:ext cx="442340" cy="115823"/>
            </a:xfrm>
            <a:prstGeom prst="rect">
              <a:avLst/>
            </a:prstGeom>
          </p:spPr>
        </p:pic>
        <p:pic>
          <p:nvPicPr>
            <p:cNvPr id="25" name="object 29">
              <a:extLst>
                <a:ext uri="{FF2B5EF4-FFF2-40B4-BE49-F238E27FC236}">
                  <a16:creationId xmlns:a16="http://schemas.microsoft.com/office/drawing/2014/main" id="{887D5A31-0B30-344A-565C-A6DA5FC30C7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2993" y="4931968"/>
              <a:ext cx="82296" cy="115823"/>
            </a:xfrm>
            <a:prstGeom prst="rect">
              <a:avLst/>
            </a:prstGeom>
          </p:spPr>
        </p:pic>
        <p:pic>
          <p:nvPicPr>
            <p:cNvPr id="26" name="object 30">
              <a:extLst>
                <a:ext uri="{FF2B5EF4-FFF2-40B4-BE49-F238E27FC236}">
                  <a16:creationId xmlns:a16="http://schemas.microsoft.com/office/drawing/2014/main" id="{A1B65D72-B32F-A6F9-C0BF-F5A7EACFF323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54142" y="4931968"/>
              <a:ext cx="332486" cy="115823"/>
            </a:xfrm>
            <a:prstGeom prst="rect">
              <a:avLst/>
            </a:prstGeom>
          </p:spPr>
        </p:pic>
        <p:pic>
          <p:nvPicPr>
            <p:cNvPr id="27" name="object 31">
              <a:extLst>
                <a:ext uri="{FF2B5EF4-FFF2-40B4-BE49-F238E27FC236}">
                  <a16:creationId xmlns:a16="http://schemas.microsoft.com/office/drawing/2014/main" id="{831858A0-FF49-FA04-9D0B-47AC32B4B27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9130" y="4931968"/>
              <a:ext cx="82296" cy="115823"/>
            </a:xfrm>
            <a:prstGeom prst="rect">
              <a:avLst/>
            </a:prstGeom>
          </p:spPr>
        </p:pic>
        <p:pic>
          <p:nvPicPr>
            <p:cNvPr id="28" name="object 32">
              <a:extLst>
                <a:ext uri="{FF2B5EF4-FFF2-40B4-BE49-F238E27FC236}">
                  <a16:creationId xmlns:a16="http://schemas.microsoft.com/office/drawing/2014/main" id="{90A79E00-64AA-48DB-EA92-0C80B0C099A3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80277" y="4931968"/>
              <a:ext cx="276148" cy="115823"/>
            </a:xfrm>
            <a:prstGeom prst="rect">
              <a:avLst/>
            </a:prstGeom>
          </p:spPr>
        </p:pic>
        <p:pic>
          <p:nvPicPr>
            <p:cNvPr id="29" name="object 33">
              <a:extLst>
                <a:ext uri="{FF2B5EF4-FFF2-40B4-BE49-F238E27FC236}">
                  <a16:creationId xmlns:a16="http://schemas.microsoft.com/office/drawing/2014/main" id="{133C9953-0407-1578-9DF2-F8F6CA82785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10401" y="4931968"/>
              <a:ext cx="82296" cy="115823"/>
            </a:xfrm>
            <a:prstGeom prst="rect">
              <a:avLst/>
            </a:prstGeom>
          </p:spPr>
        </p:pic>
        <p:pic>
          <p:nvPicPr>
            <p:cNvPr id="30" name="object 34">
              <a:extLst>
                <a:ext uri="{FF2B5EF4-FFF2-40B4-BE49-F238E27FC236}">
                  <a16:creationId xmlns:a16="http://schemas.microsoft.com/office/drawing/2014/main" id="{E53D0D5A-85D7-06F8-3A4D-2D58D7D7950A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51549" y="4931968"/>
              <a:ext cx="376554" cy="11582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7284B04-C18D-8953-2F5A-2A971E27D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589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F7A32-6022-9FE3-6607-CDB579B56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Двойная атака через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цепочку поставок на клиентов ЗСХ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D25F22-F5DF-1EE1-BAC8-CABD5C21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18</a:t>
            </a:fld>
            <a:endParaRPr lang="ru-RU"/>
          </a:p>
        </p:txBody>
      </p:sp>
      <p:pic>
        <p:nvPicPr>
          <p:cNvPr id="5" name="object 25">
            <a:extLst>
              <a:ext uri="{FF2B5EF4-FFF2-40B4-BE49-F238E27FC236}">
                <a16:creationId xmlns:a16="http://schemas.microsoft.com/office/drawing/2014/main" id="{8D1FD86B-12BC-4757-AABD-4C11B2D1FD7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51778" y="1462088"/>
            <a:ext cx="4146695" cy="45138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B8467C-AAD1-DE99-88F0-EA929FD64344}"/>
              </a:ext>
            </a:extLst>
          </p:cNvPr>
          <p:cNvSpPr txBox="1"/>
          <p:nvPr/>
        </p:nvSpPr>
        <p:spPr>
          <a:xfrm>
            <a:off x="6341196" y="1397698"/>
            <a:ext cx="5126182" cy="4642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085" marR="46863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14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sz="2400" spc="114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sz="2400" spc="7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400" spc="5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400" spc="-1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24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ыл</a:t>
            </a:r>
            <a:r>
              <a:rPr lang="ru-RU" sz="2400" spc="-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вне</a:t>
            </a:r>
            <a:r>
              <a:rPr lang="ru-RU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др</a:t>
            </a:r>
            <a:r>
              <a:rPr lang="ru-RU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2400" spc="-1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в  </a:t>
            </a:r>
            <a:r>
              <a:rPr lang="ru-RU" sz="2400" spc="5" err="1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2400" spc="15" err="1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spc="2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ипт</a:t>
            </a:r>
            <a:r>
              <a:rPr lang="ru-RU" sz="2400" spc="95" err="1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400" spc="-1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</a:t>
            </a:r>
            <a:r>
              <a:rPr lang="ru-RU" sz="2400" spc="120" err="1">
                <a:latin typeface="Times New Roman" panose="02020603050405020304" pitchFamily="18" charset="0"/>
                <a:cs typeface="Times New Roman" panose="02020603050405020304" pitchFamily="18" charset="0"/>
              </a:rPr>
              <a:t>ю</a:t>
            </a:r>
            <a:r>
              <a:rPr lang="ru-RU" sz="2400" spc="80" err="1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400" spc="-20" err="1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2400" spc="-35" err="1"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ru-RU" sz="2400" spc="15" err="1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 spc="-20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2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мпании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 MT"/>
              <a:buChar char="•"/>
            </a:pP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marR="126364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80">
                <a:latin typeface="Times New Roman" panose="02020603050405020304" pitchFamily="18" charset="0"/>
                <a:cs typeface="Times New Roman" panose="02020603050405020304" pitchFamily="18" charset="0"/>
              </a:rPr>
              <a:t>Мы</a:t>
            </a:r>
            <a:r>
              <a:rPr lang="ru-RU" sz="2400" spc="-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бнаружи</a:t>
            </a:r>
            <a:r>
              <a:rPr lang="ru-RU" sz="24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5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2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sz="2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кдор  </a:t>
            </a:r>
            <a:r>
              <a:rPr lang="ru-RU" sz="2400" spc="130" err="1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ru-RU" sz="2400" spc="40" err="1">
                <a:latin typeface="Times New Roman" panose="02020603050405020304" pitchFamily="18" charset="0"/>
                <a:cs typeface="Times New Roman" panose="02020603050405020304" pitchFamily="18" charset="0"/>
              </a:rPr>
              <a:t>pu</a:t>
            </a:r>
            <a:r>
              <a:rPr lang="ru-RU" sz="2400" spc="-5" err="1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ru-RU" sz="2400" spc="-1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2400" spc="60">
                <a:latin typeface="Times New Roman" panose="02020603050405020304" pitchFamily="18" charset="0"/>
                <a:cs typeface="Times New Roman" panose="02020603050405020304" pitchFamily="18" charset="0"/>
              </a:rPr>
              <a:t>утри</a:t>
            </a:r>
            <a:r>
              <a:rPr lang="ru-RU" sz="24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65">
                <a:latin typeface="Times New Roman" panose="02020603050405020304" pitchFamily="18" charset="0"/>
                <a:cs typeface="Times New Roman" panose="02020603050405020304" pitchFamily="18" charset="0"/>
              </a:rPr>
              <a:t>3CX</a:t>
            </a:r>
            <a:r>
              <a:rPr lang="ru-RU" sz="2400" spc="-1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4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ru-RU" sz="2400" spc="-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марта  </a:t>
            </a:r>
            <a:r>
              <a:rPr lang="ru-RU" sz="2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Arial MT"/>
              <a:buChar char="•"/>
            </a:pP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14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sz="2400" spc="114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sz="2400" spc="7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400" spc="5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400" spc="-1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24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ыл</a:t>
            </a:r>
            <a:r>
              <a:rPr lang="ru-RU" sz="2400" spc="-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7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азв</a:t>
            </a:r>
            <a:r>
              <a:rPr lang="ru-RU" sz="2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 spc="7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нут</a:t>
            </a:r>
            <a:r>
              <a:rPr lang="ru-RU" sz="24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2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нее 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че</a:t>
            </a:r>
            <a:r>
              <a:rPr lang="ru-RU" sz="2400" spc="6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2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4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де</a:t>
            </a:r>
            <a:r>
              <a:rPr lang="ru-RU" sz="2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ят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2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400" spc="15">
                <a:latin typeface="Times New Roman" panose="02020603050405020304" pitchFamily="18" charset="0"/>
                <a:cs typeface="Times New Roman" panose="02020603050405020304" pitchFamily="18" charset="0"/>
              </a:rPr>
              <a:t>мпь</a:t>
            </a:r>
            <a:r>
              <a:rPr lang="ru-RU" sz="2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ю</a:t>
            </a:r>
            <a:r>
              <a:rPr lang="ru-RU" sz="2400" spc="8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400" spc="15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 spc="7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ах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A0A7D2-1FC0-79E9-FD38-3D0E28FBA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B9A45A-53B5-D590-41B2-9AEAA1C971FE}"/>
              </a:ext>
            </a:extLst>
          </p:cNvPr>
          <p:cNvSpPr txBox="1"/>
          <p:nvPr/>
        </p:nvSpPr>
        <p:spPr>
          <a:xfrm>
            <a:off x="245196" y="632993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hlinkClick r:id="rId4"/>
              </a:rPr>
              <a:t>https://securelist.ru/gopuram-backdoor-deployed-through-3cx-supply-chain-attack/107247/</a:t>
            </a:r>
            <a:endParaRPr lang="ru-RU" sz="800"/>
          </a:p>
        </p:txBody>
      </p:sp>
    </p:spTree>
    <p:extLst>
      <p:ext uri="{BB962C8B-B14F-4D97-AF65-F5344CB8AC3E}">
        <p14:creationId xmlns:p14="http://schemas.microsoft.com/office/powerpoint/2010/main" val="962511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61466-785C-98A3-D843-AE82613D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Двойная атака через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цепочку поставок на клиентов ЗСХ</a:t>
            </a:r>
            <a:endParaRPr lang="ru-RU" sz="320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D8BA6FB-84C7-7BDF-1C30-B1FE419FE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891" y="1462088"/>
            <a:ext cx="10150764" cy="473551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44C539-6532-C8A3-BA01-B94F06E30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19</a:t>
            </a:fld>
            <a:endParaRPr lang="ru-RU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4F8253D-4844-E0EB-CCE9-CCED340338A5}"/>
              </a:ext>
            </a:extLst>
          </p:cNvPr>
          <p:cNvCxnSpPr>
            <a:cxnSpLocks/>
          </p:cNvCxnSpPr>
          <p:nvPr/>
        </p:nvCxnSpPr>
        <p:spPr>
          <a:xfrm>
            <a:off x="3777673" y="1462088"/>
            <a:ext cx="0" cy="48278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892AE39-4361-83DC-E272-9ACA88268FDC}"/>
              </a:ext>
            </a:extLst>
          </p:cNvPr>
          <p:cNvCxnSpPr/>
          <p:nvPr/>
        </p:nvCxnSpPr>
        <p:spPr>
          <a:xfrm>
            <a:off x="951345" y="1462088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6C61073-5A94-9ACB-5544-65663737EF00}"/>
              </a:ext>
            </a:extLst>
          </p:cNvPr>
          <p:cNvCxnSpPr>
            <a:cxnSpLocks/>
          </p:cNvCxnSpPr>
          <p:nvPr/>
        </p:nvCxnSpPr>
        <p:spPr>
          <a:xfrm flipH="1">
            <a:off x="11102109" y="1462088"/>
            <a:ext cx="9236" cy="48278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8C036F5-42A8-05BB-AC4F-0DF96929C094}"/>
              </a:ext>
            </a:extLst>
          </p:cNvPr>
          <p:cNvCxnSpPr>
            <a:cxnSpLocks/>
          </p:cNvCxnSpPr>
          <p:nvPr/>
        </p:nvCxnSpPr>
        <p:spPr>
          <a:xfrm>
            <a:off x="951345" y="1462088"/>
            <a:ext cx="0" cy="48278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2EA9878-809C-CBDA-EF4C-F49DCC2246FC}"/>
              </a:ext>
            </a:extLst>
          </p:cNvPr>
          <p:cNvCxnSpPr/>
          <p:nvPr/>
        </p:nvCxnSpPr>
        <p:spPr>
          <a:xfrm>
            <a:off x="951345" y="6289964"/>
            <a:ext cx="1016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E90A2D12-04C3-90AA-47E9-001C433CDEBC}"/>
              </a:ext>
            </a:extLst>
          </p:cNvPr>
          <p:cNvCxnSpPr/>
          <p:nvPr/>
        </p:nvCxnSpPr>
        <p:spPr>
          <a:xfrm>
            <a:off x="951345" y="1921164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E3F1B0B5-E123-B835-C117-5ED6455E3566}"/>
              </a:ext>
            </a:extLst>
          </p:cNvPr>
          <p:cNvCxnSpPr/>
          <p:nvPr/>
        </p:nvCxnSpPr>
        <p:spPr>
          <a:xfrm>
            <a:off x="960581" y="2396837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760AF0F6-E10A-2B88-FD06-D0E34E014EA8}"/>
              </a:ext>
            </a:extLst>
          </p:cNvPr>
          <p:cNvCxnSpPr/>
          <p:nvPr/>
        </p:nvCxnSpPr>
        <p:spPr>
          <a:xfrm>
            <a:off x="951345" y="2854037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E30F0572-920C-FD06-A5D2-1B6EF5876C63}"/>
              </a:ext>
            </a:extLst>
          </p:cNvPr>
          <p:cNvCxnSpPr/>
          <p:nvPr/>
        </p:nvCxnSpPr>
        <p:spPr>
          <a:xfrm>
            <a:off x="951345" y="3348182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CF592577-5AD3-CB97-6838-ECA5D983D97E}"/>
              </a:ext>
            </a:extLst>
          </p:cNvPr>
          <p:cNvCxnSpPr/>
          <p:nvPr/>
        </p:nvCxnSpPr>
        <p:spPr>
          <a:xfrm>
            <a:off x="960581" y="3870037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0C4DCA79-2F1A-892E-EE90-DC432A248EDD}"/>
              </a:ext>
            </a:extLst>
          </p:cNvPr>
          <p:cNvCxnSpPr/>
          <p:nvPr/>
        </p:nvCxnSpPr>
        <p:spPr>
          <a:xfrm>
            <a:off x="960581" y="4364182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957FA40D-7D58-7350-9AC3-134072A37365}"/>
              </a:ext>
            </a:extLst>
          </p:cNvPr>
          <p:cNvCxnSpPr/>
          <p:nvPr/>
        </p:nvCxnSpPr>
        <p:spPr>
          <a:xfrm>
            <a:off x="960581" y="4812146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2174EE3A-8FA7-B0A7-068A-A9AC442E29C1}"/>
              </a:ext>
            </a:extLst>
          </p:cNvPr>
          <p:cNvCxnSpPr/>
          <p:nvPr/>
        </p:nvCxnSpPr>
        <p:spPr>
          <a:xfrm>
            <a:off x="960581" y="5297055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283F09B6-14BA-9861-5C9B-B7312D88FC27}"/>
              </a:ext>
            </a:extLst>
          </p:cNvPr>
          <p:cNvCxnSpPr/>
          <p:nvPr/>
        </p:nvCxnSpPr>
        <p:spPr>
          <a:xfrm>
            <a:off x="951345" y="5809673"/>
            <a:ext cx="10150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3F4B067-CC59-6E36-ACDC-CEF56F38B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409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2363B-0B1F-7E21-FFB6-2D149AD9F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58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Двойная атака через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цепочку поставок на клиентов ЗСХ</a:t>
            </a:r>
            <a:endParaRPr lang="ru-RU" sz="32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7B41B7-2F1A-3CA9-1C98-856F9ADC4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99085" marR="118110" indent="-287020">
              <a:lnSpc>
                <a:spcPct val="1502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Ин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ц</a:t>
            </a:r>
            <a:r>
              <a:rPr lang="ru-RU" sz="2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иде</a:t>
            </a:r>
            <a:r>
              <a:rPr lang="ru-RU" sz="24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400" spc="-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был</a:t>
            </a:r>
            <a:r>
              <a:rPr lang="ru-RU" sz="2400" spc="-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ыз</a:t>
            </a:r>
            <a:r>
              <a:rPr lang="ru-RU" sz="2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ан</a:t>
            </a:r>
            <a:r>
              <a:rPr lang="ru-RU" sz="2400" spc="-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другой  </a:t>
            </a:r>
            <a:b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ко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пром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ац</a:t>
            </a:r>
            <a:r>
              <a:rPr lang="ru-RU" sz="2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ией</a:t>
            </a:r>
            <a:r>
              <a:rPr lang="ru-RU" sz="2400" spc="-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ц</a:t>
            </a:r>
            <a:r>
              <a:rPr lang="ru-RU" sz="24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епочк</a:t>
            </a:r>
            <a:r>
              <a:rPr lang="ru-RU" sz="2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-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пос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вок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Arial MT"/>
              <a:buChar char="•"/>
            </a:pP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marR="207645" indent="-287020">
              <a:lnSpc>
                <a:spcPct val="1501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</a:t>
            </a:r>
            <a:r>
              <a:rPr lang="ru-RU" sz="2400" spc="-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была</a:t>
            </a:r>
            <a:r>
              <a:rPr lang="ru-RU" sz="2400" spc="-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атако</a:t>
            </a:r>
            <a:r>
              <a:rPr lang="ru-RU" sz="2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ана</a:t>
            </a:r>
            <a:r>
              <a:rPr lang="ru-RU" sz="24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ко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2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пания  </a:t>
            </a:r>
            <a:br>
              <a:rPr lang="ru-RU" sz="2400" spc="-25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spc="-75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400" spc="15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ru-RU" sz="2400" spc="-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Technol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ogie</a:t>
            </a:r>
            <a:r>
              <a:rPr lang="ru-RU" sz="2400" spc="125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Arial MT"/>
              <a:buChar char="•"/>
            </a:pP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marR="5080" indent="-287020">
              <a:lnSpc>
                <a:spcPct val="1501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ru-RU" sz="2400" spc="-120" err="1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400" spc="-15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роян</a:t>
            </a:r>
            <a:r>
              <a:rPr lang="ru-RU" sz="2400" spc="-25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65" err="1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2400" spc="-3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5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</a:t>
            </a:r>
            <a:r>
              <a:rPr lang="ru-RU" sz="2400" spc="-10" err="1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spc="-35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анный</a:t>
            </a:r>
            <a:r>
              <a:rPr lang="ru-RU" sz="2400" spc="-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ус</a:t>
            </a:r>
            <a:r>
              <a:rPr lang="ru-RU" sz="2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ано</a:t>
            </a:r>
            <a:r>
              <a:rPr lang="ru-RU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щик  </a:t>
            </a:r>
            <a:b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программы</a:t>
            </a:r>
            <a:r>
              <a:rPr lang="ru-RU" sz="2400" spc="-1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35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X_Trader</a:t>
            </a:r>
            <a:r>
              <a:rPr lang="ru-RU" sz="24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был</a:t>
            </a:r>
            <a:r>
              <a:rPr lang="ru-RU" sz="24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загружен</a:t>
            </a:r>
            <a:r>
              <a:rPr lang="ru-RU" sz="2400" spc="-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400" spc="-4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2400" spc="-465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</a:t>
            </a:r>
            <a:r>
              <a:rPr lang="ru-RU" sz="2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sz="2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ен</a:t>
            </a:r>
            <a:r>
              <a:rPr lang="ru-RU" sz="24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ru-RU" sz="2400" spc="-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ПК</a:t>
            </a:r>
            <a:r>
              <a:rPr lang="ru-RU" sz="2400" spc="-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сот</a:t>
            </a:r>
            <a:r>
              <a:rPr lang="ru-RU" sz="2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spc="5">
                <a:latin typeface="Times New Roman" panose="02020603050405020304" pitchFamily="18" charset="0"/>
                <a:cs typeface="Times New Roman" panose="02020603050405020304" pitchFamily="18" charset="0"/>
              </a:rPr>
              <a:t>уд</a:t>
            </a:r>
            <a:r>
              <a:rPr lang="ru-RU" sz="24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ника</a:t>
            </a:r>
            <a:r>
              <a:rPr lang="ru-RU" sz="2400" spc="-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3CX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A77498-8F1C-A6EB-FEF7-399BDE39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20</a:t>
            </a:fld>
            <a:endParaRPr lang="ru-RU"/>
          </a:p>
        </p:txBody>
      </p:sp>
      <p:pic>
        <p:nvPicPr>
          <p:cNvPr id="5" name="object 21">
            <a:extLst>
              <a:ext uri="{FF2B5EF4-FFF2-40B4-BE49-F238E27FC236}">
                <a16:creationId xmlns:a16="http://schemas.microsoft.com/office/drawing/2014/main" id="{05E316C4-73C0-DC6C-6FDA-AFC29D9904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0110" y="1646238"/>
            <a:ext cx="4749800" cy="4442257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2CC5C51-7432-4847-BB0F-10CEEA4DA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034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EBCC9-67D6-8505-1A9A-9A4605C7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93" y="9403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АРТ-угроза </a:t>
            </a:r>
            <a:r>
              <a:rPr lang="en-US" sz="3200" b="1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CloudWizard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</a:t>
            </a:r>
            <a:r>
              <a:rPr lang="en-US" sz="3200" b="1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CommonMagic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продолжается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29B685-E90F-0EB8-DED8-EB6AD049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21</a:t>
            </a:fld>
            <a:endParaRPr lang="ru-RU"/>
          </a:p>
        </p:txBody>
      </p:sp>
      <p:pic>
        <p:nvPicPr>
          <p:cNvPr id="5" name="object 44">
            <a:extLst>
              <a:ext uri="{FF2B5EF4-FFF2-40B4-BE49-F238E27FC236}">
                <a16:creationId xmlns:a16="http://schemas.microsoft.com/office/drawing/2014/main" id="{BA94577C-631D-4766-8F19-79CE0543647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52366" y="1419593"/>
            <a:ext cx="5415371" cy="50273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5A5A27-763C-61A4-C795-AC9AA3880ACB}"/>
              </a:ext>
            </a:extLst>
          </p:cNvPr>
          <p:cNvSpPr txBox="1"/>
          <p:nvPr/>
        </p:nvSpPr>
        <p:spPr>
          <a:xfrm>
            <a:off x="6539345" y="1277730"/>
            <a:ext cx="528606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Более сложное вредоносное </a:t>
            </a:r>
            <a:b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обеспечение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Кража файлов и электронной почты,</a:t>
            </a:r>
            <a:b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запись аудио с микрофона, снимки</a:t>
            </a:r>
            <a:b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экрана, </a:t>
            </a:r>
            <a:r>
              <a:rPr lang="ru-RU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кейлоггинг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Цели не только в Крыму, Донецке и </a:t>
            </a:r>
            <a:b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Луганске, но и в центральной и</a:t>
            </a:r>
            <a:b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западной частях Украины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Жертвы: отдельные пользователи,</a:t>
            </a:r>
            <a:b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дипломатические и научно-</a:t>
            </a:r>
            <a:b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исследовательские организации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92F9F06-DFB9-9C7F-A261-C42A5E0F3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756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4F5C4-0ABC-2BC8-45D4-140A500C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Подозрительная служба</a:t>
            </a:r>
            <a:endParaRPr lang="ru-RU" sz="32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563B44-AB11-2364-0666-22ADF6399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581" y="1533236"/>
            <a:ext cx="7012709" cy="4110182"/>
          </a:xfrm>
        </p:spPr>
        <p:txBody>
          <a:bodyPr>
            <a:normAutofit/>
          </a:bodyPr>
          <a:lstStyle/>
          <a:p>
            <a:pPr marL="0" marR="3048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ru-RU" b="1" spc="395">
                <a:latin typeface="Times New Roman" panose="02020603050405020304" pitchFamily="18" charset="0"/>
                <a:cs typeface="Times New Roman" panose="02020603050405020304" pitchFamily="18" charset="0"/>
              </a:rPr>
              <a:t>С: </a:t>
            </a:r>
            <a:r>
              <a:rPr lang="en-US" b="1" spc="48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b="1" spc="395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ProgramDat</a:t>
            </a:r>
            <a:r>
              <a:rPr lang="en-US" b="1" spc="365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spc="48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b="1" spc="580">
                <a:latin typeface="Times New Roman" panose="02020603050405020304" pitchFamily="18" charset="0"/>
                <a:cs typeface="Times New Roman" panose="02020603050405020304" pitchFamily="18" charset="0"/>
              </a:rPr>
              <a:t>Apparition  </a:t>
            </a:r>
            <a:r>
              <a:rPr lang="en-US" b="1" spc="605">
                <a:latin typeface="Times New Roman" panose="02020603050405020304" pitchFamily="18" charset="0"/>
                <a:cs typeface="Times New Roman" panose="02020603050405020304" pitchFamily="18" charset="0"/>
              </a:rPr>
              <a:t>Storage\</a:t>
            </a:r>
            <a:r>
              <a:rPr lang="en-US" b="1" spc="605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syncobjsup.dll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43785" indent="0" algn="ctr">
              <a:lnSpc>
                <a:spcPct val="100000"/>
              </a:lnSpc>
              <a:spcBef>
                <a:spcPts val="2595"/>
              </a:spcBef>
              <a:buNone/>
            </a:pPr>
            <a:r>
              <a:rPr lang="en-US" sz="2800" b="1" spc="220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RC5</a:t>
            </a:r>
            <a:r>
              <a:rPr lang="en-US" sz="2800" b="1" spc="330" baseline="46783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2800" baseline="46783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45055" indent="0" algn="ctr">
              <a:lnSpc>
                <a:spcPct val="100000"/>
              </a:lnSpc>
              <a:buNone/>
            </a:pPr>
            <a:r>
              <a:rPr lang="en-US" sz="2800" b="1" spc="61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30480" indent="0">
              <a:lnSpc>
                <a:spcPct val="100000"/>
              </a:lnSpc>
              <a:spcBef>
                <a:spcPts val="2725"/>
              </a:spcBef>
              <a:buNone/>
            </a:pPr>
            <a:r>
              <a:rPr lang="en-US" b="1" spc="650">
                <a:latin typeface="Times New Roman" panose="02020603050405020304" pitchFamily="18" charset="0"/>
                <a:cs typeface="Times New Roman" panose="02020603050405020304" pitchFamily="18" charset="0"/>
              </a:rPr>
              <a:t>C:</a:t>
            </a:r>
            <a:r>
              <a:rPr lang="en-US" b="1" spc="48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b="1" spc="395">
                <a:latin typeface="Times New Roman" panose="02020603050405020304" pitchFamily="18" charset="0"/>
                <a:cs typeface="Times New Roman" panose="02020603050405020304" pitchFamily="18" charset="0"/>
              </a:rPr>
              <a:t>ProgramDat</a:t>
            </a:r>
            <a:r>
              <a:rPr lang="en-US" b="1" spc="365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spc="48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b="1" spc="580">
                <a:latin typeface="Times New Roman" panose="02020603050405020304" pitchFamily="18" charset="0"/>
                <a:cs typeface="Times New Roman" panose="02020603050405020304" pitchFamily="18" charset="0"/>
              </a:rPr>
              <a:t>Apparition  </a:t>
            </a:r>
            <a:r>
              <a:rPr lang="en-US" b="1" spc="555">
                <a:latin typeface="Times New Roman" panose="02020603050405020304" pitchFamily="18" charset="0"/>
                <a:cs typeface="Times New Roman" panose="02020603050405020304" pitchFamily="18" charset="0"/>
              </a:rPr>
              <a:t>Storage\</a:t>
            </a:r>
            <a:r>
              <a:rPr lang="en-US" b="1" spc="555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mods.lrc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A9CD9C-B81A-610A-1F16-16E68FDAA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22</a:t>
            </a:fld>
            <a:endParaRPr lang="ru-RU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08039DF-8A1F-39FA-6FFA-27839330E75A}"/>
              </a:ext>
            </a:extLst>
          </p:cNvPr>
          <p:cNvSpPr/>
          <p:nvPr/>
        </p:nvSpPr>
        <p:spPr>
          <a:xfrm>
            <a:off x="5751067" y="2543463"/>
            <a:ext cx="173990" cy="1188085"/>
          </a:xfrm>
          <a:custGeom>
            <a:avLst/>
            <a:gdLst/>
            <a:ahLst/>
            <a:cxnLst/>
            <a:rect l="l" t="t" r="r" b="b"/>
            <a:pathLst>
              <a:path w="173989" h="1188085">
                <a:moveTo>
                  <a:pt x="115824" y="0"/>
                </a:moveTo>
                <a:lnTo>
                  <a:pt x="57912" y="0"/>
                </a:lnTo>
                <a:lnTo>
                  <a:pt x="57912" y="173736"/>
                </a:lnTo>
                <a:lnTo>
                  <a:pt x="115824" y="173736"/>
                </a:lnTo>
                <a:lnTo>
                  <a:pt x="115824" y="0"/>
                </a:lnTo>
                <a:close/>
              </a:path>
              <a:path w="173989" h="1188085">
                <a:moveTo>
                  <a:pt x="115824" y="231648"/>
                </a:moveTo>
                <a:lnTo>
                  <a:pt x="57912" y="231648"/>
                </a:lnTo>
                <a:lnTo>
                  <a:pt x="57912" y="405383"/>
                </a:lnTo>
                <a:lnTo>
                  <a:pt x="115824" y="405383"/>
                </a:lnTo>
                <a:lnTo>
                  <a:pt x="115824" y="231648"/>
                </a:lnTo>
                <a:close/>
              </a:path>
              <a:path w="173989" h="1188085">
                <a:moveTo>
                  <a:pt x="115824" y="463295"/>
                </a:moveTo>
                <a:lnTo>
                  <a:pt x="57912" y="463295"/>
                </a:lnTo>
                <a:lnTo>
                  <a:pt x="57912" y="637032"/>
                </a:lnTo>
                <a:lnTo>
                  <a:pt x="115824" y="637032"/>
                </a:lnTo>
                <a:lnTo>
                  <a:pt x="115824" y="463295"/>
                </a:lnTo>
                <a:close/>
              </a:path>
              <a:path w="173989" h="1188085">
                <a:moveTo>
                  <a:pt x="115824" y="694944"/>
                </a:moveTo>
                <a:lnTo>
                  <a:pt x="57912" y="694944"/>
                </a:lnTo>
                <a:lnTo>
                  <a:pt x="57912" y="868680"/>
                </a:lnTo>
                <a:lnTo>
                  <a:pt x="115824" y="868680"/>
                </a:lnTo>
                <a:lnTo>
                  <a:pt x="115824" y="694944"/>
                </a:lnTo>
                <a:close/>
              </a:path>
              <a:path w="173989" h="1188085">
                <a:moveTo>
                  <a:pt x="57912" y="1014349"/>
                </a:moveTo>
                <a:lnTo>
                  <a:pt x="0" y="1014349"/>
                </a:lnTo>
                <a:lnTo>
                  <a:pt x="86868" y="1188085"/>
                </a:lnTo>
                <a:lnTo>
                  <a:pt x="159258" y="1043305"/>
                </a:lnTo>
                <a:lnTo>
                  <a:pt x="57912" y="1043305"/>
                </a:lnTo>
                <a:lnTo>
                  <a:pt x="57912" y="1014349"/>
                </a:lnTo>
                <a:close/>
              </a:path>
              <a:path w="173989" h="1188085">
                <a:moveTo>
                  <a:pt x="115824" y="926592"/>
                </a:moveTo>
                <a:lnTo>
                  <a:pt x="57912" y="926592"/>
                </a:lnTo>
                <a:lnTo>
                  <a:pt x="57912" y="1043305"/>
                </a:lnTo>
                <a:lnTo>
                  <a:pt x="115824" y="1043305"/>
                </a:lnTo>
                <a:lnTo>
                  <a:pt x="115824" y="926592"/>
                </a:lnTo>
                <a:close/>
              </a:path>
              <a:path w="173989" h="1188085">
                <a:moveTo>
                  <a:pt x="173736" y="1014349"/>
                </a:moveTo>
                <a:lnTo>
                  <a:pt x="115824" y="1014349"/>
                </a:lnTo>
                <a:lnTo>
                  <a:pt x="115824" y="1043305"/>
                </a:lnTo>
                <a:lnTo>
                  <a:pt x="159258" y="1043305"/>
                </a:lnTo>
                <a:lnTo>
                  <a:pt x="173736" y="101434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3131C54-A9E3-F69D-0B36-D6F39D18A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714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12749-8FD2-BCE6-CD91-451F8844C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Ошибка в реализации </a:t>
            </a:r>
            <a:b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RC5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E06ED4-5057-FC43-3BA3-EA4F6824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23</a:t>
            </a:fld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DE0EDD1-49BB-8439-E554-CE2B1D63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2088"/>
            <a:ext cx="10919462" cy="4907623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C0306EF7-3E7C-4E58-B4F8-EB887F983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668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25615-C8E0-101C-E3A4-10E4341B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92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Ошибка в реализации </a:t>
            </a:r>
            <a:b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RC5</a:t>
            </a:r>
            <a:endParaRPr lang="ru-RU" sz="320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3C503BC-3AD3-4666-9284-41242B44E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62486"/>
            <a:ext cx="10734225" cy="4781296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27D16E-6BD9-C8CB-1C6B-1E9C6BA3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24</a:t>
            </a:fld>
            <a:endParaRPr lang="ru-RU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FDF5C7B-B41A-2743-6413-12DDD27E3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197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64562-5601-DD87-8746-18DEE7B7F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23969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Ошибка в реализации </a:t>
            </a:r>
            <a:b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RC5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C51660-9197-D76E-D6A8-4495FBB7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25</a:t>
            </a:fld>
            <a:endParaRPr lang="ru-RU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B444F99E-8EB8-3822-0A0E-B7CBDFF9B6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909" y="1191491"/>
            <a:ext cx="10614891" cy="5273963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4522DFD-0D30-E0F5-88FB-DFC2B98F6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213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C649E-BFF8-1E14-FA9A-0992C78F4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096"/>
            <a:ext cx="10515600" cy="1038802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File System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D35369-BE9D-860D-1332-A04D2293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661" y="6859842"/>
            <a:ext cx="2743200" cy="365125"/>
          </a:xfrm>
        </p:spPr>
        <p:txBody>
          <a:bodyPr/>
          <a:lstStyle/>
          <a:p>
            <a:fld id="{A93D2B9D-3E5A-4208-B841-6DCB29E9E020}" type="slidenum">
              <a:rPr lang="ru-RU" smtClean="0"/>
              <a:t>26</a:t>
            </a:fld>
            <a:endParaRPr lang="ru-RU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1B1B74E-39BB-3167-B380-81A73D86F1B9}"/>
              </a:ext>
            </a:extLst>
          </p:cNvPr>
          <p:cNvSpPr/>
          <p:nvPr/>
        </p:nvSpPr>
        <p:spPr>
          <a:xfrm>
            <a:off x="2381166" y="3021012"/>
            <a:ext cx="2376170" cy="3227795"/>
          </a:xfrm>
          <a:custGeom>
            <a:avLst/>
            <a:gdLst/>
            <a:ahLst/>
            <a:cxnLst/>
            <a:rect l="l" t="t" r="r" b="b"/>
            <a:pathLst>
              <a:path w="2376170" h="2832100">
                <a:moveTo>
                  <a:pt x="0" y="170941"/>
                </a:moveTo>
                <a:lnTo>
                  <a:pt x="6106" y="125515"/>
                </a:lnTo>
                <a:lnTo>
                  <a:pt x="23338" y="84685"/>
                </a:lnTo>
                <a:lnTo>
                  <a:pt x="50068" y="50085"/>
                </a:lnTo>
                <a:lnTo>
                  <a:pt x="84666" y="23349"/>
                </a:lnTo>
                <a:lnTo>
                  <a:pt x="125505" y="6109"/>
                </a:lnTo>
                <a:lnTo>
                  <a:pt x="170954" y="0"/>
                </a:lnTo>
                <a:lnTo>
                  <a:pt x="2204974" y="0"/>
                </a:lnTo>
                <a:lnTo>
                  <a:pt x="2250400" y="6109"/>
                </a:lnTo>
                <a:lnTo>
                  <a:pt x="2291230" y="23349"/>
                </a:lnTo>
                <a:lnTo>
                  <a:pt x="2325830" y="50085"/>
                </a:lnTo>
                <a:lnTo>
                  <a:pt x="2352566" y="84685"/>
                </a:lnTo>
                <a:lnTo>
                  <a:pt x="2369806" y="125515"/>
                </a:lnTo>
                <a:lnTo>
                  <a:pt x="2375916" y="170941"/>
                </a:lnTo>
                <a:lnTo>
                  <a:pt x="2375916" y="2660637"/>
                </a:lnTo>
                <a:lnTo>
                  <a:pt x="2369806" y="2706082"/>
                </a:lnTo>
                <a:lnTo>
                  <a:pt x="2352566" y="2746919"/>
                </a:lnTo>
                <a:lnTo>
                  <a:pt x="2325830" y="2781519"/>
                </a:lnTo>
                <a:lnTo>
                  <a:pt x="2291230" y="2808250"/>
                </a:lnTo>
                <a:lnTo>
                  <a:pt x="2250400" y="2825485"/>
                </a:lnTo>
                <a:lnTo>
                  <a:pt x="2204974" y="2831591"/>
                </a:lnTo>
                <a:lnTo>
                  <a:pt x="170954" y="2831591"/>
                </a:lnTo>
                <a:lnTo>
                  <a:pt x="125505" y="2825485"/>
                </a:lnTo>
                <a:lnTo>
                  <a:pt x="84666" y="2808250"/>
                </a:lnTo>
                <a:lnTo>
                  <a:pt x="50068" y="2781519"/>
                </a:lnTo>
                <a:lnTo>
                  <a:pt x="23338" y="2746919"/>
                </a:lnTo>
                <a:lnTo>
                  <a:pt x="6106" y="2706082"/>
                </a:lnTo>
                <a:lnTo>
                  <a:pt x="0" y="2660637"/>
                </a:lnTo>
                <a:lnTo>
                  <a:pt x="0" y="170941"/>
                </a:lnTo>
                <a:close/>
              </a:path>
              <a:path w="2376170" h="2832100">
                <a:moveTo>
                  <a:pt x="91440" y="751077"/>
                </a:moveTo>
                <a:lnTo>
                  <a:pt x="97527" y="720917"/>
                </a:lnTo>
                <a:lnTo>
                  <a:pt x="114130" y="696293"/>
                </a:lnTo>
                <a:lnTo>
                  <a:pt x="138754" y="679694"/>
                </a:lnTo>
                <a:lnTo>
                  <a:pt x="168909" y="673607"/>
                </a:lnTo>
                <a:lnTo>
                  <a:pt x="2207006" y="673607"/>
                </a:lnTo>
                <a:lnTo>
                  <a:pt x="2237166" y="679694"/>
                </a:lnTo>
                <a:lnTo>
                  <a:pt x="2261790" y="696293"/>
                </a:lnTo>
                <a:lnTo>
                  <a:pt x="2278389" y="720917"/>
                </a:lnTo>
                <a:lnTo>
                  <a:pt x="2284476" y="751077"/>
                </a:lnTo>
                <a:lnTo>
                  <a:pt x="2284476" y="1060958"/>
                </a:lnTo>
                <a:lnTo>
                  <a:pt x="2278389" y="1091118"/>
                </a:lnTo>
                <a:lnTo>
                  <a:pt x="2261790" y="1115742"/>
                </a:lnTo>
                <a:lnTo>
                  <a:pt x="2237166" y="1132341"/>
                </a:lnTo>
                <a:lnTo>
                  <a:pt x="2207006" y="1138427"/>
                </a:lnTo>
                <a:lnTo>
                  <a:pt x="168909" y="1138427"/>
                </a:lnTo>
                <a:lnTo>
                  <a:pt x="138754" y="1132341"/>
                </a:lnTo>
                <a:lnTo>
                  <a:pt x="114130" y="1115742"/>
                </a:lnTo>
                <a:lnTo>
                  <a:pt x="97527" y="1091118"/>
                </a:lnTo>
                <a:lnTo>
                  <a:pt x="91440" y="1060958"/>
                </a:lnTo>
                <a:lnTo>
                  <a:pt x="91440" y="751077"/>
                </a:lnTo>
                <a:close/>
              </a:path>
              <a:path w="2376170" h="2832100">
                <a:moveTo>
                  <a:pt x="91440" y="1284477"/>
                </a:moveTo>
                <a:lnTo>
                  <a:pt x="97527" y="1254317"/>
                </a:lnTo>
                <a:lnTo>
                  <a:pt x="114130" y="1229693"/>
                </a:lnTo>
                <a:lnTo>
                  <a:pt x="138754" y="1213094"/>
                </a:lnTo>
                <a:lnTo>
                  <a:pt x="168909" y="1207008"/>
                </a:lnTo>
                <a:lnTo>
                  <a:pt x="2207006" y="1207008"/>
                </a:lnTo>
                <a:lnTo>
                  <a:pt x="2237166" y="1213094"/>
                </a:lnTo>
                <a:lnTo>
                  <a:pt x="2261790" y="1229693"/>
                </a:lnTo>
                <a:lnTo>
                  <a:pt x="2278389" y="1254317"/>
                </a:lnTo>
                <a:lnTo>
                  <a:pt x="2284476" y="1284477"/>
                </a:lnTo>
                <a:lnTo>
                  <a:pt x="2284476" y="1594358"/>
                </a:lnTo>
                <a:lnTo>
                  <a:pt x="2278389" y="1624518"/>
                </a:lnTo>
                <a:lnTo>
                  <a:pt x="2261790" y="1649142"/>
                </a:lnTo>
                <a:lnTo>
                  <a:pt x="2237166" y="1665741"/>
                </a:lnTo>
                <a:lnTo>
                  <a:pt x="2207006" y="1671827"/>
                </a:lnTo>
                <a:lnTo>
                  <a:pt x="168909" y="1671827"/>
                </a:lnTo>
                <a:lnTo>
                  <a:pt x="138754" y="1665741"/>
                </a:lnTo>
                <a:lnTo>
                  <a:pt x="114130" y="1649142"/>
                </a:lnTo>
                <a:lnTo>
                  <a:pt x="97527" y="1624518"/>
                </a:lnTo>
                <a:lnTo>
                  <a:pt x="91440" y="1594358"/>
                </a:lnTo>
                <a:lnTo>
                  <a:pt x="91440" y="1284477"/>
                </a:lnTo>
                <a:close/>
              </a:path>
              <a:path w="2376170" h="2832100">
                <a:moveTo>
                  <a:pt x="91440" y="1816353"/>
                </a:moveTo>
                <a:lnTo>
                  <a:pt x="97527" y="1786193"/>
                </a:lnTo>
                <a:lnTo>
                  <a:pt x="114130" y="1761569"/>
                </a:lnTo>
                <a:lnTo>
                  <a:pt x="138754" y="1744970"/>
                </a:lnTo>
                <a:lnTo>
                  <a:pt x="168909" y="1738883"/>
                </a:lnTo>
                <a:lnTo>
                  <a:pt x="2207006" y="1738883"/>
                </a:lnTo>
                <a:lnTo>
                  <a:pt x="2237166" y="1744970"/>
                </a:lnTo>
                <a:lnTo>
                  <a:pt x="2261790" y="1761569"/>
                </a:lnTo>
                <a:lnTo>
                  <a:pt x="2278389" y="1786193"/>
                </a:lnTo>
                <a:lnTo>
                  <a:pt x="2284476" y="1816353"/>
                </a:lnTo>
                <a:lnTo>
                  <a:pt x="2284476" y="2126234"/>
                </a:lnTo>
                <a:lnTo>
                  <a:pt x="2278389" y="2156389"/>
                </a:lnTo>
                <a:lnTo>
                  <a:pt x="2261790" y="2181013"/>
                </a:lnTo>
                <a:lnTo>
                  <a:pt x="2237166" y="2197616"/>
                </a:lnTo>
                <a:lnTo>
                  <a:pt x="2207006" y="2203704"/>
                </a:lnTo>
                <a:lnTo>
                  <a:pt x="168909" y="2203704"/>
                </a:lnTo>
                <a:lnTo>
                  <a:pt x="138754" y="2197616"/>
                </a:lnTo>
                <a:lnTo>
                  <a:pt x="114130" y="2181013"/>
                </a:lnTo>
                <a:lnTo>
                  <a:pt x="97527" y="2156389"/>
                </a:lnTo>
                <a:lnTo>
                  <a:pt x="91440" y="2126234"/>
                </a:lnTo>
                <a:lnTo>
                  <a:pt x="91440" y="1816353"/>
                </a:lnTo>
                <a:close/>
              </a:path>
              <a:path w="2376170" h="2832100">
                <a:moveTo>
                  <a:pt x="91440" y="2349754"/>
                </a:moveTo>
                <a:lnTo>
                  <a:pt x="97527" y="2319598"/>
                </a:lnTo>
                <a:lnTo>
                  <a:pt x="114130" y="2294974"/>
                </a:lnTo>
                <a:lnTo>
                  <a:pt x="138754" y="2278371"/>
                </a:lnTo>
                <a:lnTo>
                  <a:pt x="168909" y="2272284"/>
                </a:lnTo>
                <a:lnTo>
                  <a:pt x="2207006" y="2272284"/>
                </a:lnTo>
                <a:lnTo>
                  <a:pt x="2237166" y="2278371"/>
                </a:lnTo>
                <a:lnTo>
                  <a:pt x="2261790" y="2294974"/>
                </a:lnTo>
                <a:lnTo>
                  <a:pt x="2278389" y="2319598"/>
                </a:lnTo>
                <a:lnTo>
                  <a:pt x="2284476" y="2349754"/>
                </a:lnTo>
                <a:lnTo>
                  <a:pt x="2284476" y="2659634"/>
                </a:lnTo>
                <a:lnTo>
                  <a:pt x="2278389" y="2689789"/>
                </a:lnTo>
                <a:lnTo>
                  <a:pt x="2261790" y="2714413"/>
                </a:lnTo>
                <a:lnTo>
                  <a:pt x="2237166" y="2731016"/>
                </a:lnTo>
                <a:lnTo>
                  <a:pt x="2207006" y="2737104"/>
                </a:lnTo>
                <a:lnTo>
                  <a:pt x="168909" y="2737104"/>
                </a:lnTo>
                <a:lnTo>
                  <a:pt x="138754" y="2731016"/>
                </a:lnTo>
                <a:lnTo>
                  <a:pt x="114130" y="2714413"/>
                </a:lnTo>
                <a:lnTo>
                  <a:pt x="97527" y="2689789"/>
                </a:lnTo>
                <a:lnTo>
                  <a:pt x="91440" y="2659634"/>
                </a:lnTo>
                <a:lnTo>
                  <a:pt x="91440" y="2349754"/>
                </a:lnTo>
                <a:close/>
              </a:path>
            </a:pathLst>
          </a:custGeom>
          <a:solidFill>
            <a:schemeClr val="tx1"/>
          </a:solidFill>
          <a:ln w="28956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32E7143-FC8C-38D0-54DF-E33466EDCF27}"/>
              </a:ext>
            </a:extLst>
          </p:cNvPr>
          <p:cNvSpPr txBox="1"/>
          <p:nvPr/>
        </p:nvSpPr>
        <p:spPr>
          <a:xfrm>
            <a:off x="2562015" y="3932590"/>
            <a:ext cx="2029534" cy="2022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800100" algn="l"/>
              </a:tabLst>
            </a:pPr>
            <a:r>
              <a:rPr sz="2000" b="1" spc="55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	</a:t>
            </a:r>
            <a:r>
              <a:rPr sz="2000" b="1" spc="29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2095" marR="247015" indent="1270" algn="ctr">
              <a:lnSpc>
                <a:spcPct val="194200"/>
              </a:lnSpc>
              <a:spcBef>
                <a:spcPts val="10"/>
              </a:spcBef>
            </a:pPr>
            <a:r>
              <a:rPr sz="2000" b="1" spc="16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sz="2000" b="1" spc="165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235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Crypton </a:t>
            </a:r>
            <a:r>
              <a:rPr sz="2000" b="1" spc="24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275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</a:t>
            </a:r>
            <a:r>
              <a:rPr sz="2000" b="1" spc="315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b="1" spc="509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45F38A0-1ECF-2A18-4D60-0A82E8EAE2D3}"/>
              </a:ext>
            </a:extLst>
          </p:cNvPr>
          <p:cNvSpPr txBox="1"/>
          <p:nvPr/>
        </p:nvSpPr>
        <p:spPr>
          <a:xfrm>
            <a:off x="3190065" y="3152854"/>
            <a:ext cx="82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33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VFS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81628AE6-E546-3771-EA14-28234B42E59F}"/>
              </a:ext>
            </a:extLst>
          </p:cNvPr>
          <p:cNvSpPr/>
          <p:nvPr/>
        </p:nvSpPr>
        <p:spPr>
          <a:xfrm>
            <a:off x="2488936" y="1837327"/>
            <a:ext cx="2376170" cy="375285"/>
          </a:xfrm>
          <a:custGeom>
            <a:avLst/>
            <a:gdLst/>
            <a:ahLst/>
            <a:cxnLst/>
            <a:rect l="l" t="t" r="r" b="b"/>
            <a:pathLst>
              <a:path w="2376170" h="375284">
                <a:moveTo>
                  <a:pt x="0" y="62484"/>
                </a:moveTo>
                <a:lnTo>
                  <a:pt x="4910" y="38147"/>
                </a:lnTo>
                <a:lnTo>
                  <a:pt x="18302" y="18287"/>
                </a:lnTo>
                <a:lnTo>
                  <a:pt x="38163" y="4905"/>
                </a:lnTo>
                <a:lnTo>
                  <a:pt x="62484" y="0"/>
                </a:lnTo>
                <a:lnTo>
                  <a:pt x="2313432" y="0"/>
                </a:lnTo>
                <a:lnTo>
                  <a:pt x="2337768" y="4905"/>
                </a:lnTo>
                <a:lnTo>
                  <a:pt x="2357628" y="18287"/>
                </a:lnTo>
                <a:lnTo>
                  <a:pt x="2371010" y="38147"/>
                </a:lnTo>
                <a:lnTo>
                  <a:pt x="2375916" y="62484"/>
                </a:lnTo>
                <a:lnTo>
                  <a:pt x="2375916" y="312420"/>
                </a:lnTo>
                <a:lnTo>
                  <a:pt x="2371010" y="336756"/>
                </a:lnTo>
                <a:lnTo>
                  <a:pt x="2357628" y="356615"/>
                </a:lnTo>
                <a:lnTo>
                  <a:pt x="2337768" y="369998"/>
                </a:lnTo>
                <a:lnTo>
                  <a:pt x="2313432" y="374903"/>
                </a:lnTo>
                <a:lnTo>
                  <a:pt x="62484" y="374903"/>
                </a:lnTo>
                <a:lnTo>
                  <a:pt x="38163" y="369998"/>
                </a:lnTo>
                <a:lnTo>
                  <a:pt x="18302" y="356615"/>
                </a:lnTo>
                <a:lnTo>
                  <a:pt x="4910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28956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DEC625F-FE18-0D6C-538F-49BDA4205DA1}"/>
              </a:ext>
            </a:extLst>
          </p:cNvPr>
          <p:cNvSpPr txBox="1"/>
          <p:nvPr/>
        </p:nvSpPr>
        <p:spPr>
          <a:xfrm>
            <a:off x="2578047" y="1872947"/>
            <a:ext cx="2159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370">
                <a:solidFill>
                  <a:srgbClr val="FF0000"/>
                </a:solidFill>
                <a:latin typeface="Tahoma"/>
                <a:cs typeface="Tahoma"/>
              </a:rPr>
              <a:t>syncobjsup.dll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1" name="object 8">
            <a:extLst>
              <a:ext uri="{FF2B5EF4-FFF2-40B4-BE49-F238E27FC236}">
                <a16:creationId xmlns:a16="http://schemas.microsoft.com/office/drawing/2014/main" id="{57404D3F-997C-DE7F-A851-B2207E0494A6}"/>
              </a:ext>
            </a:extLst>
          </p:cNvPr>
          <p:cNvGrpSpPr/>
          <p:nvPr/>
        </p:nvGrpSpPr>
        <p:grpSpPr>
          <a:xfrm>
            <a:off x="1659702" y="1774097"/>
            <a:ext cx="9604253" cy="4588036"/>
            <a:chOff x="223520" y="1074800"/>
            <a:chExt cx="8640445" cy="3616325"/>
          </a:xfrm>
        </p:grpSpPr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B5D0A637-63DA-7041-A35C-C86FD21134FA}"/>
                </a:ext>
              </a:extLst>
            </p:cNvPr>
            <p:cNvSpPr/>
            <p:nvPr/>
          </p:nvSpPr>
          <p:spPr>
            <a:xfrm>
              <a:off x="223520" y="1258823"/>
              <a:ext cx="617855" cy="2232660"/>
            </a:xfrm>
            <a:custGeom>
              <a:avLst/>
              <a:gdLst/>
              <a:ahLst/>
              <a:cxnLst/>
              <a:rect l="l" t="t" r="r" b="b"/>
              <a:pathLst>
                <a:path w="617855" h="2232660">
                  <a:moveTo>
                    <a:pt x="617474" y="0"/>
                  </a:moveTo>
                  <a:lnTo>
                    <a:pt x="530606" y="0"/>
                  </a:lnTo>
                  <a:lnTo>
                    <a:pt x="530606" y="28955"/>
                  </a:lnTo>
                  <a:lnTo>
                    <a:pt x="617474" y="28955"/>
                  </a:lnTo>
                  <a:lnTo>
                    <a:pt x="617474" y="0"/>
                  </a:lnTo>
                  <a:close/>
                </a:path>
                <a:path w="617855" h="2232660">
                  <a:moveTo>
                    <a:pt x="501650" y="0"/>
                  </a:moveTo>
                  <a:lnTo>
                    <a:pt x="414781" y="0"/>
                  </a:lnTo>
                  <a:lnTo>
                    <a:pt x="414781" y="28955"/>
                  </a:lnTo>
                  <a:lnTo>
                    <a:pt x="501650" y="28955"/>
                  </a:lnTo>
                  <a:lnTo>
                    <a:pt x="501650" y="0"/>
                  </a:lnTo>
                  <a:close/>
                </a:path>
                <a:path w="617855" h="2232660">
                  <a:moveTo>
                    <a:pt x="385825" y="0"/>
                  </a:moveTo>
                  <a:lnTo>
                    <a:pt x="298958" y="0"/>
                  </a:lnTo>
                  <a:lnTo>
                    <a:pt x="298958" y="28955"/>
                  </a:lnTo>
                  <a:lnTo>
                    <a:pt x="385825" y="28955"/>
                  </a:lnTo>
                  <a:lnTo>
                    <a:pt x="385825" y="0"/>
                  </a:lnTo>
                  <a:close/>
                </a:path>
                <a:path w="617855" h="2232660">
                  <a:moveTo>
                    <a:pt x="270002" y="0"/>
                  </a:moveTo>
                  <a:lnTo>
                    <a:pt x="183134" y="0"/>
                  </a:lnTo>
                  <a:lnTo>
                    <a:pt x="183134" y="28955"/>
                  </a:lnTo>
                  <a:lnTo>
                    <a:pt x="270002" y="28955"/>
                  </a:lnTo>
                  <a:lnTo>
                    <a:pt x="270002" y="0"/>
                  </a:lnTo>
                  <a:close/>
                </a:path>
                <a:path w="617855" h="2232660">
                  <a:moveTo>
                    <a:pt x="154177" y="0"/>
                  </a:moveTo>
                  <a:lnTo>
                    <a:pt x="67309" y="0"/>
                  </a:lnTo>
                  <a:lnTo>
                    <a:pt x="67309" y="28955"/>
                  </a:lnTo>
                  <a:lnTo>
                    <a:pt x="154177" y="28955"/>
                  </a:lnTo>
                  <a:lnTo>
                    <a:pt x="154177" y="0"/>
                  </a:lnTo>
                  <a:close/>
                </a:path>
                <a:path w="617855" h="2232660">
                  <a:moveTo>
                    <a:pt x="38353" y="0"/>
                  </a:moveTo>
                  <a:lnTo>
                    <a:pt x="0" y="0"/>
                  </a:lnTo>
                  <a:lnTo>
                    <a:pt x="0" y="77470"/>
                  </a:lnTo>
                  <a:lnTo>
                    <a:pt x="28955" y="77470"/>
                  </a:lnTo>
                  <a:lnTo>
                    <a:pt x="28955" y="28955"/>
                  </a:lnTo>
                  <a:lnTo>
                    <a:pt x="14477" y="28955"/>
                  </a:lnTo>
                  <a:lnTo>
                    <a:pt x="28955" y="14477"/>
                  </a:lnTo>
                  <a:lnTo>
                    <a:pt x="38353" y="14477"/>
                  </a:lnTo>
                  <a:lnTo>
                    <a:pt x="38353" y="0"/>
                  </a:lnTo>
                  <a:close/>
                </a:path>
                <a:path w="617855" h="2232660">
                  <a:moveTo>
                    <a:pt x="28955" y="14477"/>
                  </a:moveTo>
                  <a:lnTo>
                    <a:pt x="14477" y="28955"/>
                  </a:lnTo>
                  <a:lnTo>
                    <a:pt x="28955" y="28955"/>
                  </a:lnTo>
                  <a:lnTo>
                    <a:pt x="28955" y="14477"/>
                  </a:lnTo>
                  <a:close/>
                </a:path>
                <a:path w="617855" h="2232660">
                  <a:moveTo>
                    <a:pt x="38353" y="14477"/>
                  </a:moveTo>
                  <a:lnTo>
                    <a:pt x="28955" y="14477"/>
                  </a:lnTo>
                  <a:lnTo>
                    <a:pt x="28955" y="28955"/>
                  </a:lnTo>
                  <a:lnTo>
                    <a:pt x="38353" y="28955"/>
                  </a:lnTo>
                  <a:lnTo>
                    <a:pt x="38353" y="14477"/>
                  </a:lnTo>
                  <a:close/>
                </a:path>
                <a:path w="617855" h="2232660">
                  <a:moveTo>
                    <a:pt x="28955" y="106425"/>
                  </a:moveTo>
                  <a:lnTo>
                    <a:pt x="0" y="106425"/>
                  </a:lnTo>
                  <a:lnTo>
                    <a:pt x="0" y="193293"/>
                  </a:lnTo>
                  <a:lnTo>
                    <a:pt x="28955" y="193293"/>
                  </a:lnTo>
                  <a:lnTo>
                    <a:pt x="28955" y="106425"/>
                  </a:lnTo>
                  <a:close/>
                </a:path>
                <a:path w="617855" h="2232660">
                  <a:moveTo>
                    <a:pt x="28955" y="222250"/>
                  </a:moveTo>
                  <a:lnTo>
                    <a:pt x="0" y="222250"/>
                  </a:lnTo>
                  <a:lnTo>
                    <a:pt x="0" y="309117"/>
                  </a:lnTo>
                  <a:lnTo>
                    <a:pt x="28955" y="309117"/>
                  </a:lnTo>
                  <a:lnTo>
                    <a:pt x="28955" y="222250"/>
                  </a:lnTo>
                  <a:close/>
                </a:path>
                <a:path w="617855" h="2232660">
                  <a:moveTo>
                    <a:pt x="28955" y="338074"/>
                  </a:moveTo>
                  <a:lnTo>
                    <a:pt x="0" y="338074"/>
                  </a:lnTo>
                  <a:lnTo>
                    <a:pt x="0" y="424941"/>
                  </a:lnTo>
                  <a:lnTo>
                    <a:pt x="28955" y="424941"/>
                  </a:lnTo>
                  <a:lnTo>
                    <a:pt x="28955" y="338074"/>
                  </a:lnTo>
                  <a:close/>
                </a:path>
                <a:path w="617855" h="2232660">
                  <a:moveTo>
                    <a:pt x="28955" y="453898"/>
                  </a:moveTo>
                  <a:lnTo>
                    <a:pt x="0" y="453898"/>
                  </a:lnTo>
                  <a:lnTo>
                    <a:pt x="0" y="540765"/>
                  </a:lnTo>
                  <a:lnTo>
                    <a:pt x="28955" y="540765"/>
                  </a:lnTo>
                  <a:lnTo>
                    <a:pt x="28955" y="453898"/>
                  </a:lnTo>
                  <a:close/>
                </a:path>
                <a:path w="617855" h="2232660">
                  <a:moveTo>
                    <a:pt x="28955" y="569722"/>
                  </a:moveTo>
                  <a:lnTo>
                    <a:pt x="0" y="569722"/>
                  </a:lnTo>
                  <a:lnTo>
                    <a:pt x="0" y="656589"/>
                  </a:lnTo>
                  <a:lnTo>
                    <a:pt x="28955" y="656589"/>
                  </a:lnTo>
                  <a:lnTo>
                    <a:pt x="28955" y="569722"/>
                  </a:lnTo>
                  <a:close/>
                </a:path>
                <a:path w="617855" h="2232660">
                  <a:moveTo>
                    <a:pt x="28955" y="685545"/>
                  </a:moveTo>
                  <a:lnTo>
                    <a:pt x="0" y="685545"/>
                  </a:lnTo>
                  <a:lnTo>
                    <a:pt x="0" y="772413"/>
                  </a:lnTo>
                  <a:lnTo>
                    <a:pt x="28955" y="772413"/>
                  </a:lnTo>
                  <a:lnTo>
                    <a:pt x="28955" y="685545"/>
                  </a:lnTo>
                  <a:close/>
                </a:path>
                <a:path w="617855" h="2232660">
                  <a:moveTo>
                    <a:pt x="28955" y="801369"/>
                  </a:moveTo>
                  <a:lnTo>
                    <a:pt x="0" y="801369"/>
                  </a:lnTo>
                  <a:lnTo>
                    <a:pt x="0" y="888238"/>
                  </a:lnTo>
                  <a:lnTo>
                    <a:pt x="28955" y="888238"/>
                  </a:lnTo>
                  <a:lnTo>
                    <a:pt x="28955" y="801369"/>
                  </a:lnTo>
                  <a:close/>
                </a:path>
                <a:path w="617855" h="2232660">
                  <a:moveTo>
                    <a:pt x="28955" y="917194"/>
                  </a:moveTo>
                  <a:lnTo>
                    <a:pt x="0" y="917194"/>
                  </a:lnTo>
                  <a:lnTo>
                    <a:pt x="0" y="1004062"/>
                  </a:lnTo>
                  <a:lnTo>
                    <a:pt x="28955" y="1004062"/>
                  </a:lnTo>
                  <a:lnTo>
                    <a:pt x="28955" y="917194"/>
                  </a:lnTo>
                  <a:close/>
                </a:path>
                <a:path w="617855" h="2232660">
                  <a:moveTo>
                    <a:pt x="28955" y="1033018"/>
                  </a:moveTo>
                  <a:lnTo>
                    <a:pt x="0" y="1033018"/>
                  </a:lnTo>
                  <a:lnTo>
                    <a:pt x="0" y="1119886"/>
                  </a:lnTo>
                  <a:lnTo>
                    <a:pt x="28955" y="1119886"/>
                  </a:lnTo>
                  <a:lnTo>
                    <a:pt x="28955" y="1033018"/>
                  </a:lnTo>
                  <a:close/>
                </a:path>
                <a:path w="617855" h="2232660">
                  <a:moveTo>
                    <a:pt x="28955" y="1148842"/>
                  </a:moveTo>
                  <a:lnTo>
                    <a:pt x="0" y="1148842"/>
                  </a:lnTo>
                  <a:lnTo>
                    <a:pt x="0" y="1235709"/>
                  </a:lnTo>
                  <a:lnTo>
                    <a:pt x="28955" y="1235709"/>
                  </a:lnTo>
                  <a:lnTo>
                    <a:pt x="28955" y="1148842"/>
                  </a:lnTo>
                  <a:close/>
                </a:path>
                <a:path w="617855" h="2232660">
                  <a:moveTo>
                    <a:pt x="28955" y="1264665"/>
                  </a:moveTo>
                  <a:lnTo>
                    <a:pt x="0" y="1264665"/>
                  </a:lnTo>
                  <a:lnTo>
                    <a:pt x="0" y="1351533"/>
                  </a:lnTo>
                  <a:lnTo>
                    <a:pt x="28955" y="1351533"/>
                  </a:lnTo>
                  <a:lnTo>
                    <a:pt x="28955" y="1264665"/>
                  </a:lnTo>
                  <a:close/>
                </a:path>
                <a:path w="617855" h="2232660">
                  <a:moveTo>
                    <a:pt x="28955" y="1380489"/>
                  </a:moveTo>
                  <a:lnTo>
                    <a:pt x="0" y="1380489"/>
                  </a:lnTo>
                  <a:lnTo>
                    <a:pt x="0" y="1467358"/>
                  </a:lnTo>
                  <a:lnTo>
                    <a:pt x="28955" y="1467358"/>
                  </a:lnTo>
                  <a:lnTo>
                    <a:pt x="28955" y="1380489"/>
                  </a:lnTo>
                  <a:close/>
                </a:path>
                <a:path w="617855" h="2232660">
                  <a:moveTo>
                    <a:pt x="28955" y="1496314"/>
                  </a:moveTo>
                  <a:lnTo>
                    <a:pt x="0" y="1496314"/>
                  </a:lnTo>
                  <a:lnTo>
                    <a:pt x="0" y="1583182"/>
                  </a:lnTo>
                  <a:lnTo>
                    <a:pt x="28955" y="1583182"/>
                  </a:lnTo>
                  <a:lnTo>
                    <a:pt x="28955" y="1496314"/>
                  </a:lnTo>
                  <a:close/>
                </a:path>
                <a:path w="617855" h="2232660">
                  <a:moveTo>
                    <a:pt x="28955" y="1612138"/>
                  </a:moveTo>
                  <a:lnTo>
                    <a:pt x="0" y="1612138"/>
                  </a:lnTo>
                  <a:lnTo>
                    <a:pt x="0" y="1699006"/>
                  </a:lnTo>
                  <a:lnTo>
                    <a:pt x="28955" y="1699006"/>
                  </a:lnTo>
                  <a:lnTo>
                    <a:pt x="28955" y="1612138"/>
                  </a:lnTo>
                  <a:close/>
                </a:path>
                <a:path w="617855" h="2232660">
                  <a:moveTo>
                    <a:pt x="28955" y="1727962"/>
                  </a:moveTo>
                  <a:lnTo>
                    <a:pt x="0" y="1727962"/>
                  </a:lnTo>
                  <a:lnTo>
                    <a:pt x="0" y="1814830"/>
                  </a:lnTo>
                  <a:lnTo>
                    <a:pt x="28955" y="1814830"/>
                  </a:lnTo>
                  <a:lnTo>
                    <a:pt x="28955" y="1727962"/>
                  </a:lnTo>
                  <a:close/>
                </a:path>
                <a:path w="617855" h="2232660">
                  <a:moveTo>
                    <a:pt x="28955" y="1843786"/>
                  </a:moveTo>
                  <a:lnTo>
                    <a:pt x="0" y="1843786"/>
                  </a:lnTo>
                  <a:lnTo>
                    <a:pt x="0" y="1930653"/>
                  </a:lnTo>
                  <a:lnTo>
                    <a:pt x="28955" y="1930653"/>
                  </a:lnTo>
                  <a:lnTo>
                    <a:pt x="28955" y="1843786"/>
                  </a:lnTo>
                  <a:close/>
                </a:path>
                <a:path w="617855" h="2232660">
                  <a:moveTo>
                    <a:pt x="28955" y="1959609"/>
                  </a:moveTo>
                  <a:lnTo>
                    <a:pt x="0" y="1959609"/>
                  </a:lnTo>
                  <a:lnTo>
                    <a:pt x="0" y="2046477"/>
                  </a:lnTo>
                  <a:lnTo>
                    <a:pt x="28955" y="2046477"/>
                  </a:lnTo>
                  <a:lnTo>
                    <a:pt x="28955" y="1959609"/>
                  </a:lnTo>
                  <a:close/>
                </a:path>
                <a:path w="617855" h="2232660">
                  <a:moveTo>
                    <a:pt x="28955" y="2075433"/>
                  </a:moveTo>
                  <a:lnTo>
                    <a:pt x="0" y="2075433"/>
                  </a:lnTo>
                  <a:lnTo>
                    <a:pt x="0" y="2162302"/>
                  </a:lnTo>
                  <a:lnTo>
                    <a:pt x="28955" y="2162302"/>
                  </a:lnTo>
                  <a:lnTo>
                    <a:pt x="28955" y="2075433"/>
                  </a:lnTo>
                  <a:close/>
                </a:path>
                <a:path w="617855" h="2232660">
                  <a:moveTo>
                    <a:pt x="103416" y="2174748"/>
                  </a:moveTo>
                  <a:lnTo>
                    <a:pt x="16548" y="2174748"/>
                  </a:lnTo>
                  <a:lnTo>
                    <a:pt x="16548" y="2203704"/>
                  </a:lnTo>
                  <a:lnTo>
                    <a:pt x="103416" y="2203704"/>
                  </a:lnTo>
                  <a:lnTo>
                    <a:pt x="103416" y="2174748"/>
                  </a:lnTo>
                  <a:close/>
                </a:path>
                <a:path w="617855" h="2232660">
                  <a:moveTo>
                    <a:pt x="219240" y="2174748"/>
                  </a:moveTo>
                  <a:lnTo>
                    <a:pt x="132372" y="2174748"/>
                  </a:lnTo>
                  <a:lnTo>
                    <a:pt x="132372" y="2203704"/>
                  </a:lnTo>
                  <a:lnTo>
                    <a:pt x="219240" y="2203704"/>
                  </a:lnTo>
                  <a:lnTo>
                    <a:pt x="219240" y="2174748"/>
                  </a:lnTo>
                  <a:close/>
                </a:path>
                <a:path w="617855" h="2232660">
                  <a:moveTo>
                    <a:pt x="335064" y="2174748"/>
                  </a:moveTo>
                  <a:lnTo>
                    <a:pt x="248196" y="2174748"/>
                  </a:lnTo>
                  <a:lnTo>
                    <a:pt x="248196" y="2203704"/>
                  </a:lnTo>
                  <a:lnTo>
                    <a:pt x="335064" y="2203704"/>
                  </a:lnTo>
                  <a:lnTo>
                    <a:pt x="335064" y="2174748"/>
                  </a:lnTo>
                  <a:close/>
                </a:path>
                <a:path w="617855" h="2232660">
                  <a:moveTo>
                    <a:pt x="450888" y="2174748"/>
                  </a:moveTo>
                  <a:lnTo>
                    <a:pt x="364020" y="2174748"/>
                  </a:lnTo>
                  <a:lnTo>
                    <a:pt x="364020" y="2203704"/>
                  </a:lnTo>
                  <a:lnTo>
                    <a:pt x="450888" y="2203704"/>
                  </a:lnTo>
                  <a:lnTo>
                    <a:pt x="450888" y="2174748"/>
                  </a:lnTo>
                  <a:close/>
                </a:path>
                <a:path w="617855" h="2232660">
                  <a:moveTo>
                    <a:pt x="517906" y="2145792"/>
                  </a:moveTo>
                  <a:lnTo>
                    <a:pt x="517906" y="2232660"/>
                  </a:lnTo>
                  <a:lnTo>
                    <a:pt x="575818" y="2203704"/>
                  </a:lnTo>
                  <a:lnTo>
                    <a:pt x="532384" y="2203704"/>
                  </a:lnTo>
                  <a:lnTo>
                    <a:pt x="532384" y="2174748"/>
                  </a:lnTo>
                  <a:lnTo>
                    <a:pt x="575818" y="2174748"/>
                  </a:lnTo>
                  <a:lnTo>
                    <a:pt x="517906" y="2145792"/>
                  </a:lnTo>
                  <a:close/>
                </a:path>
                <a:path w="617855" h="2232660">
                  <a:moveTo>
                    <a:pt x="517906" y="2174748"/>
                  </a:moveTo>
                  <a:lnTo>
                    <a:pt x="479844" y="2174748"/>
                  </a:lnTo>
                  <a:lnTo>
                    <a:pt x="479844" y="2203704"/>
                  </a:lnTo>
                  <a:lnTo>
                    <a:pt x="517906" y="2203704"/>
                  </a:lnTo>
                  <a:lnTo>
                    <a:pt x="517906" y="2174748"/>
                  </a:lnTo>
                  <a:close/>
                </a:path>
                <a:path w="617855" h="2232660">
                  <a:moveTo>
                    <a:pt x="575818" y="2174748"/>
                  </a:moveTo>
                  <a:lnTo>
                    <a:pt x="532384" y="2174748"/>
                  </a:lnTo>
                  <a:lnTo>
                    <a:pt x="532384" y="2203704"/>
                  </a:lnTo>
                  <a:lnTo>
                    <a:pt x="575818" y="2203704"/>
                  </a:lnTo>
                  <a:lnTo>
                    <a:pt x="604774" y="2189226"/>
                  </a:lnTo>
                  <a:lnTo>
                    <a:pt x="575818" y="2174748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AE20CE52-D241-1A0D-5807-16E93EE45F0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1316" y="1272540"/>
              <a:ext cx="5192267" cy="3403092"/>
            </a:xfrm>
            <a:prstGeom prst="rect">
              <a:avLst/>
            </a:prstGeom>
          </p:spPr>
        </p:pic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4268F0E2-9CA2-FF50-3C23-C52929112EAD}"/>
                </a:ext>
              </a:extLst>
            </p:cNvPr>
            <p:cNvSpPr/>
            <p:nvPr/>
          </p:nvSpPr>
          <p:spPr>
            <a:xfrm>
              <a:off x="3204209" y="1273301"/>
              <a:ext cx="467995" cy="3402965"/>
            </a:xfrm>
            <a:custGeom>
              <a:avLst/>
              <a:gdLst/>
              <a:ahLst/>
              <a:cxnLst/>
              <a:rect l="l" t="t" r="r" b="b"/>
              <a:pathLst>
                <a:path w="467995" h="3402965">
                  <a:moveTo>
                    <a:pt x="0" y="1664843"/>
                  </a:moveTo>
                  <a:lnTo>
                    <a:pt x="467994" y="0"/>
                  </a:lnTo>
                </a:path>
                <a:path w="467995" h="3402965">
                  <a:moveTo>
                    <a:pt x="0" y="1664208"/>
                  </a:moveTo>
                  <a:lnTo>
                    <a:pt x="467994" y="3402926"/>
                  </a:lnTo>
                </a:path>
              </a:pathLst>
            </a:custGeom>
            <a:ln w="28956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BF36D41C-6658-B2DE-8853-1A02B084EDD0}"/>
                </a:ext>
              </a:extLst>
            </p:cNvPr>
            <p:cNvSpPr/>
            <p:nvPr/>
          </p:nvSpPr>
          <p:spPr>
            <a:xfrm>
              <a:off x="5598414" y="1074800"/>
              <a:ext cx="1365885" cy="1900555"/>
            </a:xfrm>
            <a:custGeom>
              <a:avLst/>
              <a:gdLst/>
              <a:ahLst/>
              <a:cxnLst/>
              <a:rect l="l" t="t" r="r" b="b"/>
              <a:pathLst>
                <a:path w="1365884" h="1900555">
                  <a:moveTo>
                    <a:pt x="19938" y="1773936"/>
                  </a:moveTo>
                  <a:lnTo>
                    <a:pt x="0" y="1900174"/>
                  </a:lnTo>
                  <a:lnTo>
                    <a:pt x="112902" y="1840357"/>
                  </a:lnTo>
                  <a:lnTo>
                    <a:pt x="103659" y="1833753"/>
                  </a:lnTo>
                  <a:lnTo>
                    <a:pt x="70865" y="1833753"/>
                  </a:lnTo>
                  <a:lnTo>
                    <a:pt x="39877" y="1811528"/>
                  </a:lnTo>
                  <a:lnTo>
                    <a:pt x="50923" y="1796073"/>
                  </a:lnTo>
                  <a:lnTo>
                    <a:pt x="19938" y="1773936"/>
                  </a:lnTo>
                  <a:close/>
                </a:path>
                <a:path w="1365884" h="1900555">
                  <a:moveTo>
                    <a:pt x="50923" y="1796073"/>
                  </a:moveTo>
                  <a:lnTo>
                    <a:pt x="39877" y="1811528"/>
                  </a:lnTo>
                  <a:lnTo>
                    <a:pt x="70865" y="1833753"/>
                  </a:lnTo>
                  <a:lnTo>
                    <a:pt x="81951" y="1818242"/>
                  </a:lnTo>
                  <a:lnTo>
                    <a:pt x="50923" y="1796073"/>
                  </a:lnTo>
                  <a:close/>
                </a:path>
                <a:path w="1365884" h="1900555">
                  <a:moveTo>
                    <a:pt x="81951" y="1818242"/>
                  </a:moveTo>
                  <a:lnTo>
                    <a:pt x="70865" y="1833753"/>
                  </a:lnTo>
                  <a:lnTo>
                    <a:pt x="103659" y="1833753"/>
                  </a:lnTo>
                  <a:lnTo>
                    <a:pt x="81951" y="1818242"/>
                  </a:lnTo>
                  <a:close/>
                </a:path>
                <a:path w="1365884" h="1900555">
                  <a:moveTo>
                    <a:pt x="1334642" y="0"/>
                  </a:moveTo>
                  <a:lnTo>
                    <a:pt x="50923" y="1796073"/>
                  </a:lnTo>
                  <a:lnTo>
                    <a:pt x="81951" y="1818242"/>
                  </a:lnTo>
                  <a:lnTo>
                    <a:pt x="1365631" y="22098"/>
                  </a:lnTo>
                  <a:lnTo>
                    <a:pt x="13346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579A6F57-3375-1FC1-FDFC-ED4FE6E835CC}"/>
                </a:ext>
              </a:extLst>
            </p:cNvPr>
            <p:cNvSpPr/>
            <p:nvPr/>
          </p:nvSpPr>
          <p:spPr>
            <a:xfrm>
              <a:off x="5184648" y="3003803"/>
              <a:ext cx="828040" cy="108585"/>
            </a:xfrm>
            <a:custGeom>
              <a:avLst/>
              <a:gdLst/>
              <a:ahLst/>
              <a:cxnLst/>
              <a:rect l="l" t="t" r="r" b="b"/>
              <a:pathLst>
                <a:path w="828039" h="108585">
                  <a:moveTo>
                    <a:pt x="0" y="108204"/>
                  </a:moveTo>
                  <a:lnTo>
                    <a:pt x="827531" y="108204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108204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>
            <a:extLst>
              <a:ext uri="{FF2B5EF4-FFF2-40B4-BE49-F238E27FC236}">
                <a16:creationId xmlns:a16="http://schemas.microsoft.com/office/drawing/2014/main" id="{81D5AF69-D26F-9712-48CB-40AAD335FD3B}"/>
              </a:ext>
            </a:extLst>
          </p:cNvPr>
          <p:cNvSpPr txBox="1">
            <a:spLocks/>
          </p:cNvSpPr>
          <p:nvPr/>
        </p:nvSpPr>
        <p:spPr>
          <a:xfrm>
            <a:off x="7817738" y="1407706"/>
            <a:ext cx="2772410" cy="401320"/>
          </a:xfrm>
          <a:prstGeom prst="rect">
            <a:avLst/>
          </a:prstGeom>
          <a:solidFill>
            <a:srgbClr val="1D1D1B"/>
          </a:solidFill>
          <a:ln w="38100">
            <a:solidFill>
              <a:srgbClr val="FF0000"/>
            </a:solidFill>
          </a:ln>
        </p:spPr>
        <p:txBody>
          <a:bodyPr vert="horz" wrap="square" lIns="0" tIns="4635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">
              <a:lnSpc>
                <a:spcPct val="100000"/>
              </a:lnSpc>
              <a:spcBef>
                <a:spcPts val="365"/>
              </a:spcBef>
            </a:pPr>
            <a:r>
              <a:rPr lang="en-US" sz="2000" b="1" spc="254">
                <a:solidFill>
                  <a:srgbClr val="FFFFFF"/>
                </a:solidFill>
                <a:latin typeface="Tahoma"/>
                <a:cs typeface="Tahoma"/>
              </a:rPr>
              <a:t>ROR6(“Config”)</a:t>
            </a:r>
            <a:endParaRPr lang="en-US" sz="2000">
              <a:latin typeface="Tahoma"/>
              <a:cs typeface="Tahoma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BD2CE4E0-4F1D-022F-0B5D-D2AC8CA75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573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5FFD6-CEAE-9208-5A29-9E095287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Оркестратор</a:t>
            </a:r>
            <a:endParaRPr lang="ru-RU" sz="32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6049C-6B7D-E50B-7674-323FD377C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345" y="1343818"/>
            <a:ext cx="10515600" cy="4833145"/>
          </a:xfrm>
        </p:spPr>
        <p:txBody>
          <a:bodyPr/>
          <a:lstStyle/>
          <a:p>
            <a:r>
              <a:rPr lang="ru-RU" sz="3200" b="1" spc="515">
                <a:latin typeface="Times New Roman" panose="02020603050405020304" pitchFamily="18" charset="0"/>
                <a:cs typeface="Times New Roman" panose="02020603050405020304" pitchFamily="18" charset="0"/>
              </a:rPr>
              <a:t>Все </a:t>
            </a:r>
            <a:r>
              <a:rPr lang="ru-RU" sz="3200" b="1" spc="310">
                <a:latin typeface="Times New Roman" panose="02020603050405020304" pitchFamily="18" charset="0"/>
                <a:cs typeface="Times New Roman" panose="02020603050405020304" pitchFamily="18" charset="0"/>
              </a:rPr>
              <a:t>API-функции </a:t>
            </a:r>
            <a:r>
              <a:rPr lang="ru-RU" sz="3200" b="1" spc="405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</a:t>
            </a:r>
            <a:r>
              <a:rPr lang="ru-RU" sz="3200" b="1" spc="415" err="1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3200" b="1" spc="37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лвит</a:t>
            </a:r>
            <a:r>
              <a:rPr lang="ru-RU" sz="3200" b="1" spc="3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spc="350">
                <a:latin typeface="Times New Roman" panose="02020603050405020304" pitchFamily="18" charset="0"/>
                <a:cs typeface="Times New Roman" panose="02020603050405020304" pitchFamily="18" charset="0"/>
              </a:rPr>
              <a:t>чер</a:t>
            </a:r>
            <a:r>
              <a:rPr lang="ru-RU" sz="3200" b="1" spc="495">
                <a:latin typeface="Times New Roman" panose="02020603050405020304" pitchFamily="18" charset="0"/>
                <a:cs typeface="Times New Roman" panose="02020603050405020304" pitchFamily="18" charset="0"/>
              </a:rPr>
              <a:t>ез </a:t>
            </a:r>
            <a:r>
              <a:rPr lang="ru-RU" sz="3200" b="1" spc="5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3200" b="1" spc="100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OR6</a:t>
            </a:r>
            <a:br>
              <a:rPr lang="ru-RU" sz="3200" b="1" spc="100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b="1" spc="100">
              <a:solidFill>
                <a:srgbClr val="00A88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1" spc="65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Инжект</a:t>
            </a:r>
            <a:r>
              <a:rPr lang="ru-RU" sz="3200" b="1" spc="4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spc="37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3200" b="1" spc="-730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     </a:t>
            </a:r>
            <a:r>
              <a:rPr lang="ru-RU" sz="3200" b="1" spc="46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miP</a:t>
            </a:r>
            <a:r>
              <a:rPr lang="ru-RU" sz="3200" b="1" spc="300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3200" b="1" spc="640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vSE</a:t>
            </a:r>
            <a:r>
              <a:rPr lang="ru-RU" sz="3200" b="1" spc="310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3200" b="1" spc="39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br>
              <a:rPr lang="ru-RU" sz="3200" b="1" spc="39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>
              <a:solidFill>
                <a:srgbClr val="00A88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1" spc="36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3200" b="1" spc="32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3200" b="1" spc="43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sz="3200" b="1" spc="53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3200" b="1" spc="4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3200" b="1" spc="50">
                <a:latin typeface="Times New Roman" panose="02020603050405020304" pitchFamily="18" charset="0"/>
                <a:cs typeface="Times New Roman" panose="02020603050405020304" pitchFamily="18" charset="0"/>
              </a:rPr>
              <a:t>ж</a:t>
            </a:r>
            <a:r>
              <a:rPr lang="ru-RU" sz="3200" b="1" spc="405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3200" b="1" spc="385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3200" b="1" spc="600">
                <a:latin typeface="Times New Roman" panose="02020603050405020304" pitchFamily="18" charset="0"/>
                <a:cs typeface="Times New Roman" panose="02020603050405020304" pitchFamily="18" charset="0"/>
              </a:rPr>
              <a:t>т </a:t>
            </a:r>
            <a:r>
              <a:rPr lang="ru-RU" sz="3200" b="1" spc="18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3200" b="1" spc="13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3200" b="1" spc="38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3200" b="1" spc="32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3200" b="1" spc="18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  </a:t>
            </a:r>
            <a:br>
              <a:rPr lang="ru-RU" sz="3200" b="1" spc="18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b="1" spc="185">
              <a:solidFill>
                <a:srgbClr val="00A88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1" spc="300">
                <a:latin typeface="Times New Roman" panose="02020603050405020304" pitchFamily="18" charset="0"/>
                <a:cs typeface="Times New Roman" panose="02020603050405020304" pitchFamily="18" charset="0"/>
              </a:rPr>
              <a:t>Шлет </a:t>
            </a:r>
            <a:r>
              <a:rPr lang="ru-RU" sz="3200" b="1" spc="535" err="1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heartbeats</a:t>
            </a:r>
            <a:r>
              <a:rPr lang="ru-RU" sz="3200" b="1" spc="53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3200" b="1" spc="53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spc="540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3200" b="1" spc="265">
                <a:latin typeface="Times New Roman" panose="02020603050405020304" pitchFamily="18" charset="0"/>
                <a:cs typeface="Times New Roman" panose="02020603050405020304" pitchFamily="18" charset="0"/>
              </a:rPr>
              <a:t>Пол</a:t>
            </a:r>
            <a:r>
              <a:rPr lang="ru-RU" sz="3200" b="1" spc="21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3200" b="1" spc="434">
                <a:latin typeface="Times New Roman" panose="02020603050405020304" pitchFamily="18" charset="0"/>
                <a:cs typeface="Times New Roman" panose="02020603050405020304" pitchFamily="18" charset="0"/>
              </a:rPr>
              <a:t>чает</a:t>
            </a:r>
            <a:r>
              <a:rPr lang="ru-RU" sz="3200" b="1" spc="434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spc="37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3200" b="1" spc="24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ома</a:t>
            </a:r>
            <a:r>
              <a:rPr lang="ru-RU" sz="3200" b="1" spc="229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3200" b="1" spc="10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ды</a:t>
            </a:r>
            <a:endParaRPr lang="ru-RU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9EA68D-E8A8-26AE-A3B5-784C3031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27</a:t>
            </a:fld>
            <a:endParaRPr lang="ru-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A4D85C2-E77B-9EA1-CCF0-1F7F7F106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824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10E89-C7D9-E02D-9D83-7CD01F83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762"/>
            <a:ext cx="10515600" cy="1084984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Команды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773A1F-D1D8-8E02-FA5E-80A98AEC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28</a:t>
            </a:fld>
            <a:endParaRPr lang="ru-RU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A090EA1-EE0A-E3E1-9322-F20A41D2E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746266"/>
              </p:ext>
            </p:extLst>
          </p:nvPr>
        </p:nvGraphicFramePr>
        <p:xfrm>
          <a:off x="914313" y="1549508"/>
          <a:ext cx="4017905" cy="4278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7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7084">
                <a:tc>
                  <a:txBody>
                    <a:bodyPr/>
                    <a:lstStyle/>
                    <a:p>
                      <a:pPr marR="183515" algn="ctr">
                        <a:lnSpc>
                          <a:spcPct val="100000"/>
                        </a:lnSpc>
                        <a:spcBef>
                          <a:spcPts val="1640"/>
                        </a:spcBef>
                      </a:pPr>
                      <a:r>
                        <a:rPr sz="2400" b="1" spc="39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{"Delete":[…]}</a:t>
                      </a:r>
                      <a:endPara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08280" marB="0">
                    <a:lnL w="28575">
                      <a:solidFill>
                        <a:srgbClr val="00A88E"/>
                      </a:solidFill>
                      <a:prstDash val="solid"/>
                    </a:lnL>
                    <a:lnR w="28575">
                      <a:solidFill>
                        <a:srgbClr val="00A88E"/>
                      </a:solidFill>
                      <a:prstDash val="solid"/>
                    </a:lnR>
                    <a:lnT w="28575">
                      <a:solidFill>
                        <a:srgbClr val="00A88E"/>
                      </a:solidFill>
                      <a:prstDash val="solid"/>
                    </a:lnT>
                    <a:lnB w="28575">
                      <a:solidFill>
                        <a:srgbClr val="00A88E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243">
                <a:tc>
                  <a:txBody>
                    <a:bodyPr/>
                    <a:lstStyle/>
                    <a:p>
                      <a:pPr marR="183515" algn="ctr">
                        <a:lnSpc>
                          <a:spcPct val="100000"/>
                        </a:lnSpc>
                        <a:spcBef>
                          <a:spcPts val="1640"/>
                        </a:spcBef>
                      </a:pPr>
                      <a:r>
                        <a:rPr sz="2400" b="1" spc="365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{"Stop":[…]}</a:t>
                      </a:r>
                      <a:endPara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08280" marB="0">
                    <a:lnL w="28575">
                      <a:solidFill>
                        <a:srgbClr val="00A88E"/>
                      </a:solidFill>
                      <a:prstDash val="solid"/>
                    </a:lnL>
                    <a:lnR w="28575">
                      <a:solidFill>
                        <a:srgbClr val="00A88E"/>
                      </a:solidFill>
                      <a:prstDash val="solid"/>
                    </a:lnR>
                    <a:lnT w="28575">
                      <a:solidFill>
                        <a:srgbClr val="00A88E"/>
                      </a:solidFill>
                      <a:prstDash val="solid"/>
                    </a:lnT>
                    <a:lnB w="28575">
                      <a:solidFill>
                        <a:srgbClr val="00A88E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084">
                <a:tc>
                  <a:txBody>
                    <a:bodyPr/>
                    <a:lstStyle/>
                    <a:p>
                      <a:pPr marR="182245" algn="ctr"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r>
                        <a:rPr sz="2400" b="1" spc="434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{"restart":“…"}</a:t>
                      </a:r>
                      <a:endPara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08279" marB="0">
                    <a:lnL w="28575">
                      <a:solidFill>
                        <a:srgbClr val="00A88E"/>
                      </a:solidFill>
                      <a:prstDash val="solid"/>
                    </a:lnL>
                    <a:lnR w="28575">
                      <a:solidFill>
                        <a:srgbClr val="00A88E"/>
                      </a:solidFill>
                      <a:prstDash val="solid"/>
                    </a:lnR>
                    <a:lnT w="28575">
                      <a:solidFill>
                        <a:srgbClr val="00A88E"/>
                      </a:solidFill>
                      <a:prstDash val="solid"/>
                    </a:lnT>
                    <a:lnB w="28575">
                      <a:solidFill>
                        <a:srgbClr val="00A88E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505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{"replaceList":</a:t>
                      </a:r>
                      <a:endPara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b="1" spc="34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"1","Module":{…}}</a:t>
                      </a:r>
                      <a:endPara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A88E"/>
                      </a:solidFill>
                      <a:prstDash val="solid"/>
                    </a:lnL>
                    <a:lnR w="28575">
                      <a:solidFill>
                        <a:srgbClr val="00A88E"/>
                      </a:solidFill>
                      <a:prstDash val="solid"/>
                    </a:lnR>
                    <a:lnT w="28575">
                      <a:solidFill>
                        <a:srgbClr val="00A88E"/>
                      </a:solidFill>
                      <a:prstDash val="solid"/>
                    </a:lnT>
                    <a:lnB w="28575">
                      <a:solidFill>
                        <a:srgbClr val="00A88E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object 3">
            <a:extLst>
              <a:ext uri="{FF2B5EF4-FFF2-40B4-BE49-F238E27FC236}">
                <a16:creationId xmlns:a16="http://schemas.microsoft.com/office/drawing/2014/main" id="{18E57424-DAD4-F9A1-C204-5124BABCD7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4873" y="1458653"/>
            <a:ext cx="6188363" cy="4369491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96004B1-C5FB-A21D-A5C9-C4E91BC23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616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FD40C-AFC2-65F1-4E9E-9B9BC73C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052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Модуль записи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микрофона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ECB42E-16B0-E147-DF1A-090E40A4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611BE-947C-C776-DDBD-8552E460E2D5}"/>
              </a:ext>
            </a:extLst>
          </p:cNvPr>
          <p:cNvSpPr txBox="1"/>
          <p:nvPr/>
        </p:nvSpPr>
        <p:spPr>
          <a:xfrm>
            <a:off x="5386098" y="1857737"/>
            <a:ext cx="24661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000" b="1" spc="-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Иконка </a:t>
            </a:r>
            <a:r>
              <a:rPr lang="ru-RU" sz="3000" b="1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3000" b="1" spc="-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активности  </a:t>
            </a:r>
          </a:p>
          <a:p>
            <a:pPr algn="ctr"/>
            <a:r>
              <a:rPr lang="ru-RU" sz="3000" b="1" spc="-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микрофона</a:t>
            </a:r>
            <a:endParaRPr lang="ru-RU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847B4C1D-1D57-85BF-47AA-85D73CBF1264}"/>
              </a:ext>
            </a:extLst>
          </p:cNvPr>
          <p:cNvGrpSpPr/>
          <p:nvPr/>
        </p:nvGrpSpPr>
        <p:grpSpPr>
          <a:xfrm>
            <a:off x="1519987" y="2646034"/>
            <a:ext cx="8649250" cy="3514332"/>
            <a:chOff x="682857" y="1885188"/>
            <a:chExt cx="7600315" cy="2903220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963AF959-BA0E-C1CC-E32C-09DF557C8C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531" y="3023616"/>
              <a:ext cx="7455408" cy="17647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37C31B94-A3FD-72CC-3FFC-18A1BDD22EE3}"/>
                </a:ext>
              </a:extLst>
            </p:cNvPr>
            <p:cNvSpPr/>
            <p:nvPr/>
          </p:nvSpPr>
          <p:spPr>
            <a:xfrm>
              <a:off x="682857" y="1885188"/>
              <a:ext cx="3397250" cy="2195830"/>
            </a:xfrm>
            <a:custGeom>
              <a:avLst/>
              <a:gdLst/>
              <a:ahLst/>
              <a:cxnLst/>
              <a:rect l="l" t="t" r="r" b="b"/>
              <a:pathLst>
                <a:path w="3397250" h="2195829">
                  <a:moveTo>
                    <a:pt x="3394096" y="0"/>
                  </a:moveTo>
                  <a:lnTo>
                    <a:pt x="3220487" y="7747"/>
                  </a:lnTo>
                  <a:lnTo>
                    <a:pt x="3223027" y="65531"/>
                  </a:lnTo>
                  <a:lnTo>
                    <a:pt x="3396636" y="57912"/>
                  </a:lnTo>
                  <a:lnTo>
                    <a:pt x="3394096" y="0"/>
                  </a:lnTo>
                  <a:close/>
                </a:path>
                <a:path w="3397250" h="2195829">
                  <a:moveTo>
                    <a:pt x="3162702" y="10287"/>
                  </a:moveTo>
                  <a:lnTo>
                    <a:pt x="2989093" y="18287"/>
                  </a:lnTo>
                  <a:lnTo>
                    <a:pt x="2991760" y="76073"/>
                  </a:lnTo>
                  <a:lnTo>
                    <a:pt x="3165242" y="68072"/>
                  </a:lnTo>
                  <a:lnTo>
                    <a:pt x="3162702" y="10287"/>
                  </a:lnTo>
                  <a:close/>
                </a:path>
                <a:path w="3397250" h="2195829">
                  <a:moveTo>
                    <a:pt x="2931181" y="20955"/>
                  </a:moveTo>
                  <a:lnTo>
                    <a:pt x="2757572" y="29337"/>
                  </a:lnTo>
                  <a:lnTo>
                    <a:pt x="2760493" y="87122"/>
                  </a:lnTo>
                  <a:lnTo>
                    <a:pt x="2933848" y="78739"/>
                  </a:lnTo>
                  <a:lnTo>
                    <a:pt x="2931181" y="20955"/>
                  </a:lnTo>
                  <a:close/>
                </a:path>
                <a:path w="3397250" h="2195829">
                  <a:moveTo>
                    <a:pt x="2699787" y="32257"/>
                  </a:moveTo>
                  <a:lnTo>
                    <a:pt x="2526051" y="41148"/>
                  </a:lnTo>
                  <a:lnTo>
                    <a:pt x="2529226" y="98932"/>
                  </a:lnTo>
                  <a:lnTo>
                    <a:pt x="2597171" y="95250"/>
                  </a:lnTo>
                  <a:lnTo>
                    <a:pt x="2702581" y="90043"/>
                  </a:lnTo>
                  <a:lnTo>
                    <a:pt x="2699787" y="32257"/>
                  </a:lnTo>
                  <a:close/>
                </a:path>
                <a:path w="3397250" h="2195829">
                  <a:moveTo>
                    <a:pt x="2468266" y="44323"/>
                  </a:moveTo>
                  <a:lnTo>
                    <a:pt x="2294657" y="54356"/>
                  </a:lnTo>
                  <a:lnTo>
                    <a:pt x="2298086" y="112141"/>
                  </a:lnTo>
                  <a:lnTo>
                    <a:pt x="2338218" y="109728"/>
                  </a:lnTo>
                  <a:lnTo>
                    <a:pt x="2471441" y="102107"/>
                  </a:lnTo>
                  <a:lnTo>
                    <a:pt x="2468266" y="44323"/>
                  </a:lnTo>
                  <a:close/>
                </a:path>
                <a:path w="3397250" h="2195829">
                  <a:moveTo>
                    <a:pt x="2236872" y="57785"/>
                  </a:moveTo>
                  <a:lnTo>
                    <a:pt x="2063263" y="68961"/>
                  </a:lnTo>
                  <a:lnTo>
                    <a:pt x="2067200" y="126745"/>
                  </a:lnTo>
                  <a:lnTo>
                    <a:pt x="2085615" y="125475"/>
                  </a:lnTo>
                  <a:lnTo>
                    <a:pt x="2085488" y="125475"/>
                  </a:lnTo>
                  <a:lnTo>
                    <a:pt x="2210964" y="117348"/>
                  </a:lnTo>
                  <a:lnTo>
                    <a:pt x="2210837" y="117348"/>
                  </a:lnTo>
                  <a:lnTo>
                    <a:pt x="2240301" y="115569"/>
                  </a:lnTo>
                  <a:lnTo>
                    <a:pt x="2236872" y="57785"/>
                  </a:lnTo>
                  <a:close/>
                </a:path>
                <a:path w="3397250" h="2195829">
                  <a:moveTo>
                    <a:pt x="2005478" y="73025"/>
                  </a:moveTo>
                  <a:lnTo>
                    <a:pt x="1836060" y="85343"/>
                  </a:lnTo>
                  <a:lnTo>
                    <a:pt x="1831869" y="85725"/>
                  </a:lnTo>
                  <a:lnTo>
                    <a:pt x="1836441" y="143382"/>
                  </a:lnTo>
                  <a:lnTo>
                    <a:pt x="1840632" y="143129"/>
                  </a:lnTo>
                  <a:lnTo>
                    <a:pt x="1962044" y="133985"/>
                  </a:lnTo>
                  <a:lnTo>
                    <a:pt x="2009415" y="130810"/>
                  </a:lnTo>
                  <a:lnTo>
                    <a:pt x="2005478" y="73025"/>
                  </a:lnTo>
                  <a:close/>
                </a:path>
                <a:path w="3397250" h="2195829">
                  <a:moveTo>
                    <a:pt x="1774084" y="90297"/>
                  </a:moveTo>
                  <a:lnTo>
                    <a:pt x="1600856" y="104901"/>
                  </a:lnTo>
                  <a:lnTo>
                    <a:pt x="1605809" y="162560"/>
                  </a:lnTo>
                  <a:lnTo>
                    <a:pt x="1721506" y="152526"/>
                  </a:lnTo>
                  <a:lnTo>
                    <a:pt x="1722931" y="152526"/>
                  </a:lnTo>
                  <a:lnTo>
                    <a:pt x="1778783" y="147955"/>
                  </a:lnTo>
                  <a:lnTo>
                    <a:pt x="1774084" y="90297"/>
                  </a:lnTo>
                  <a:close/>
                </a:path>
                <a:path w="3397250" h="2195829">
                  <a:moveTo>
                    <a:pt x="1722931" y="152526"/>
                  </a:moveTo>
                  <a:lnTo>
                    <a:pt x="1721506" y="152526"/>
                  </a:lnTo>
                  <a:lnTo>
                    <a:pt x="1721379" y="152654"/>
                  </a:lnTo>
                  <a:lnTo>
                    <a:pt x="1722931" y="152526"/>
                  </a:lnTo>
                  <a:close/>
                </a:path>
                <a:path w="3397250" h="2195829">
                  <a:moveTo>
                    <a:pt x="1542944" y="110362"/>
                  </a:moveTo>
                  <a:lnTo>
                    <a:pt x="1373653" y="127126"/>
                  </a:lnTo>
                  <a:lnTo>
                    <a:pt x="1369589" y="127635"/>
                  </a:lnTo>
                  <a:lnTo>
                    <a:pt x="1375939" y="185166"/>
                  </a:lnTo>
                  <a:lnTo>
                    <a:pt x="1380003" y="184657"/>
                  </a:lnTo>
                  <a:lnTo>
                    <a:pt x="1380860" y="184657"/>
                  </a:lnTo>
                  <a:lnTo>
                    <a:pt x="1491001" y="173355"/>
                  </a:lnTo>
                  <a:lnTo>
                    <a:pt x="1490747" y="173355"/>
                  </a:lnTo>
                  <a:lnTo>
                    <a:pt x="1548405" y="168020"/>
                  </a:lnTo>
                  <a:lnTo>
                    <a:pt x="1542944" y="110362"/>
                  </a:lnTo>
                  <a:close/>
                </a:path>
                <a:path w="3397250" h="2195829">
                  <a:moveTo>
                    <a:pt x="1380860" y="184657"/>
                  </a:moveTo>
                  <a:lnTo>
                    <a:pt x="1380003" y="184657"/>
                  </a:lnTo>
                  <a:lnTo>
                    <a:pt x="1379622" y="184785"/>
                  </a:lnTo>
                  <a:lnTo>
                    <a:pt x="1380860" y="184657"/>
                  </a:lnTo>
                  <a:close/>
                </a:path>
                <a:path w="3397250" h="2195829">
                  <a:moveTo>
                    <a:pt x="1312058" y="133985"/>
                  </a:moveTo>
                  <a:lnTo>
                    <a:pt x="1159531" y="152019"/>
                  </a:lnTo>
                  <a:lnTo>
                    <a:pt x="1138957" y="154812"/>
                  </a:lnTo>
                  <a:lnTo>
                    <a:pt x="1146577" y="212217"/>
                  </a:lnTo>
                  <a:lnTo>
                    <a:pt x="1167024" y="209550"/>
                  </a:lnTo>
                  <a:lnTo>
                    <a:pt x="1166643" y="209550"/>
                  </a:lnTo>
                  <a:lnTo>
                    <a:pt x="1271799" y="196723"/>
                  </a:lnTo>
                  <a:lnTo>
                    <a:pt x="1272661" y="196723"/>
                  </a:lnTo>
                  <a:lnTo>
                    <a:pt x="1318408" y="191516"/>
                  </a:lnTo>
                  <a:lnTo>
                    <a:pt x="1312058" y="133985"/>
                  </a:lnTo>
                  <a:close/>
                </a:path>
                <a:path w="3397250" h="2195829">
                  <a:moveTo>
                    <a:pt x="1272661" y="196723"/>
                  </a:moveTo>
                  <a:lnTo>
                    <a:pt x="1271799" y="196723"/>
                  </a:lnTo>
                  <a:lnTo>
                    <a:pt x="1271545" y="196850"/>
                  </a:lnTo>
                  <a:lnTo>
                    <a:pt x="1272661" y="196723"/>
                  </a:lnTo>
                  <a:close/>
                </a:path>
                <a:path w="3397250" h="2195829">
                  <a:moveTo>
                    <a:pt x="1081553" y="162432"/>
                  </a:moveTo>
                  <a:lnTo>
                    <a:pt x="1057423" y="165607"/>
                  </a:lnTo>
                  <a:lnTo>
                    <a:pt x="958871" y="180086"/>
                  </a:lnTo>
                  <a:lnTo>
                    <a:pt x="908833" y="188087"/>
                  </a:lnTo>
                  <a:lnTo>
                    <a:pt x="918104" y="245237"/>
                  </a:lnTo>
                  <a:lnTo>
                    <a:pt x="967888" y="237236"/>
                  </a:lnTo>
                  <a:lnTo>
                    <a:pt x="968376" y="237236"/>
                  </a:lnTo>
                  <a:lnTo>
                    <a:pt x="1065678" y="223012"/>
                  </a:lnTo>
                  <a:lnTo>
                    <a:pt x="1065297" y="223012"/>
                  </a:lnTo>
                  <a:lnTo>
                    <a:pt x="1089173" y="219837"/>
                  </a:lnTo>
                  <a:lnTo>
                    <a:pt x="1081553" y="162432"/>
                  </a:lnTo>
                  <a:close/>
                </a:path>
                <a:path w="3397250" h="2195829">
                  <a:moveTo>
                    <a:pt x="968376" y="237236"/>
                  </a:moveTo>
                  <a:lnTo>
                    <a:pt x="967888" y="237236"/>
                  </a:lnTo>
                  <a:lnTo>
                    <a:pt x="967507" y="237362"/>
                  </a:lnTo>
                  <a:lnTo>
                    <a:pt x="968376" y="237236"/>
                  </a:lnTo>
                  <a:close/>
                </a:path>
                <a:path w="3397250" h="2195829">
                  <a:moveTo>
                    <a:pt x="851302" y="197485"/>
                  </a:moveTo>
                  <a:lnTo>
                    <a:pt x="772816" y="211455"/>
                  </a:lnTo>
                  <a:lnTo>
                    <a:pt x="685821" y="228473"/>
                  </a:lnTo>
                  <a:lnTo>
                    <a:pt x="679471" y="229997"/>
                  </a:lnTo>
                  <a:lnTo>
                    <a:pt x="691790" y="286512"/>
                  </a:lnTo>
                  <a:lnTo>
                    <a:pt x="697332" y="285242"/>
                  </a:lnTo>
                  <a:lnTo>
                    <a:pt x="783738" y="268350"/>
                  </a:lnTo>
                  <a:lnTo>
                    <a:pt x="783940" y="268350"/>
                  </a:lnTo>
                  <a:lnTo>
                    <a:pt x="861335" y="254507"/>
                  </a:lnTo>
                  <a:lnTo>
                    <a:pt x="851302" y="197485"/>
                  </a:lnTo>
                  <a:close/>
                </a:path>
                <a:path w="3397250" h="2195829">
                  <a:moveTo>
                    <a:pt x="697798" y="285135"/>
                  </a:moveTo>
                  <a:lnTo>
                    <a:pt x="697251" y="285242"/>
                  </a:lnTo>
                  <a:lnTo>
                    <a:pt x="697798" y="285135"/>
                  </a:lnTo>
                  <a:close/>
                </a:path>
                <a:path w="3397250" h="2195829">
                  <a:moveTo>
                    <a:pt x="783940" y="268350"/>
                  </a:moveTo>
                  <a:lnTo>
                    <a:pt x="783738" y="268350"/>
                  </a:lnTo>
                  <a:lnTo>
                    <a:pt x="783230" y="268478"/>
                  </a:lnTo>
                  <a:lnTo>
                    <a:pt x="783940" y="268350"/>
                  </a:lnTo>
                  <a:close/>
                </a:path>
                <a:path w="3397250" h="2195829">
                  <a:moveTo>
                    <a:pt x="622829" y="242316"/>
                  </a:moveTo>
                  <a:lnTo>
                    <a:pt x="603017" y="246634"/>
                  </a:lnTo>
                  <a:lnTo>
                    <a:pt x="524518" y="265811"/>
                  </a:lnTo>
                  <a:lnTo>
                    <a:pt x="453005" y="285369"/>
                  </a:lnTo>
                  <a:lnTo>
                    <a:pt x="468308" y="341249"/>
                  </a:lnTo>
                  <a:lnTo>
                    <a:pt x="538951" y="321944"/>
                  </a:lnTo>
                  <a:lnTo>
                    <a:pt x="538628" y="321944"/>
                  </a:lnTo>
                  <a:lnTo>
                    <a:pt x="615830" y="303149"/>
                  </a:lnTo>
                  <a:lnTo>
                    <a:pt x="635275" y="298957"/>
                  </a:lnTo>
                  <a:lnTo>
                    <a:pt x="622829" y="242316"/>
                  </a:lnTo>
                  <a:close/>
                </a:path>
                <a:path w="3397250" h="2195829">
                  <a:moveTo>
                    <a:pt x="539415" y="321818"/>
                  </a:moveTo>
                  <a:lnTo>
                    <a:pt x="538628" y="321944"/>
                  </a:lnTo>
                  <a:lnTo>
                    <a:pt x="538951" y="321944"/>
                  </a:lnTo>
                  <a:lnTo>
                    <a:pt x="539415" y="321818"/>
                  </a:lnTo>
                  <a:close/>
                </a:path>
                <a:path w="3397250" h="2195829">
                  <a:moveTo>
                    <a:pt x="616352" y="303022"/>
                  </a:moveTo>
                  <a:lnTo>
                    <a:pt x="615717" y="303149"/>
                  </a:lnTo>
                  <a:lnTo>
                    <a:pt x="616352" y="303022"/>
                  </a:lnTo>
                  <a:close/>
                </a:path>
                <a:path w="3397250" h="2195829">
                  <a:moveTo>
                    <a:pt x="396756" y="302641"/>
                  </a:moveTo>
                  <a:lnTo>
                    <a:pt x="381453" y="307339"/>
                  </a:lnTo>
                  <a:lnTo>
                    <a:pt x="317051" y="329945"/>
                  </a:lnTo>
                  <a:lnTo>
                    <a:pt x="257615" y="353949"/>
                  </a:lnTo>
                  <a:lnTo>
                    <a:pt x="231009" y="366394"/>
                  </a:lnTo>
                  <a:lnTo>
                    <a:pt x="255532" y="418845"/>
                  </a:lnTo>
                  <a:lnTo>
                    <a:pt x="280065" y="407416"/>
                  </a:lnTo>
                  <a:lnTo>
                    <a:pt x="281428" y="406781"/>
                  </a:lnTo>
                  <a:lnTo>
                    <a:pt x="281563" y="406781"/>
                  </a:lnTo>
                  <a:lnTo>
                    <a:pt x="338095" y="383920"/>
                  </a:lnTo>
                  <a:lnTo>
                    <a:pt x="338296" y="383920"/>
                  </a:lnTo>
                  <a:lnTo>
                    <a:pt x="400096" y="362204"/>
                  </a:lnTo>
                  <a:lnTo>
                    <a:pt x="400287" y="362204"/>
                  </a:lnTo>
                  <a:lnTo>
                    <a:pt x="413838" y="358013"/>
                  </a:lnTo>
                  <a:lnTo>
                    <a:pt x="396756" y="302641"/>
                  </a:lnTo>
                  <a:close/>
                </a:path>
                <a:path w="3397250" h="2195829">
                  <a:moveTo>
                    <a:pt x="281428" y="406781"/>
                  </a:moveTo>
                  <a:lnTo>
                    <a:pt x="279993" y="407416"/>
                  </a:lnTo>
                  <a:lnTo>
                    <a:pt x="280539" y="407195"/>
                  </a:lnTo>
                  <a:lnTo>
                    <a:pt x="281428" y="406781"/>
                  </a:lnTo>
                  <a:close/>
                </a:path>
                <a:path w="3397250" h="2195829">
                  <a:moveTo>
                    <a:pt x="280539" y="407195"/>
                  </a:moveTo>
                  <a:lnTo>
                    <a:pt x="279993" y="407416"/>
                  </a:lnTo>
                  <a:lnTo>
                    <a:pt x="280539" y="407195"/>
                  </a:lnTo>
                  <a:close/>
                </a:path>
                <a:path w="3397250" h="2195829">
                  <a:moveTo>
                    <a:pt x="281563" y="406781"/>
                  </a:moveTo>
                  <a:lnTo>
                    <a:pt x="281428" y="406781"/>
                  </a:lnTo>
                  <a:lnTo>
                    <a:pt x="280539" y="407195"/>
                  </a:lnTo>
                  <a:lnTo>
                    <a:pt x="281563" y="406781"/>
                  </a:lnTo>
                  <a:close/>
                </a:path>
                <a:path w="3397250" h="2195829">
                  <a:moveTo>
                    <a:pt x="338296" y="383920"/>
                  </a:moveTo>
                  <a:lnTo>
                    <a:pt x="338095" y="383920"/>
                  </a:lnTo>
                  <a:lnTo>
                    <a:pt x="336850" y="384429"/>
                  </a:lnTo>
                  <a:lnTo>
                    <a:pt x="338296" y="383920"/>
                  </a:lnTo>
                  <a:close/>
                </a:path>
                <a:path w="3397250" h="2195829">
                  <a:moveTo>
                    <a:pt x="400287" y="362204"/>
                  </a:moveTo>
                  <a:lnTo>
                    <a:pt x="400096" y="362204"/>
                  </a:lnTo>
                  <a:lnTo>
                    <a:pt x="399055" y="362585"/>
                  </a:lnTo>
                  <a:lnTo>
                    <a:pt x="400287" y="362204"/>
                  </a:lnTo>
                  <a:close/>
                </a:path>
                <a:path w="3397250" h="2195829">
                  <a:moveTo>
                    <a:pt x="177719" y="393319"/>
                  </a:moveTo>
                  <a:lnTo>
                    <a:pt x="111235" y="434339"/>
                  </a:lnTo>
                  <a:lnTo>
                    <a:pt x="73211" y="466598"/>
                  </a:lnTo>
                  <a:lnTo>
                    <a:pt x="43125" y="502412"/>
                  </a:lnTo>
                  <a:lnTo>
                    <a:pt x="35873" y="513969"/>
                  </a:lnTo>
                  <a:lnTo>
                    <a:pt x="84984" y="544703"/>
                  </a:lnTo>
                  <a:lnTo>
                    <a:pt x="90069" y="536575"/>
                  </a:lnTo>
                  <a:lnTo>
                    <a:pt x="89937" y="536575"/>
                  </a:lnTo>
                  <a:lnTo>
                    <a:pt x="91499" y="534288"/>
                  </a:lnTo>
                  <a:lnTo>
                    <a:pt x="91677" y="534288"/>
                  </a:lnTo>
                  <a:lnTo>
                    <a:pt x="100862" y="522224"/>
                  </a:lnTo>
                  <a:lnTo>
                    <a:pt x="100732" y="522224"/>
                  </a:lnTo>
                  <a:lnTo>
                    <a:pt x="102408" y="520192"/>
                  </a:lnTo>
                  <a:lnTo>
                    <a:pt x="102606" y="520192"/>
                  </a:lnTo>
                  <a:lnTo>
                    <a:pt x="113497" y="508381"/>
                  </a:lnTo>
                  <a:lnTo>
                    <a:pt x="113356" y="508381"/>
                  </a:lnTo>
                  <a:lnTo>
                    <a:pt x="115020" y="506730"/>
                  </a:lnTo>
                  <a:lnTo>
                    <a:pt x="127764" y="495045"/>
                  </a:lnTo>
                  <a:lnTo>
                    <a:pt x="129548" y="493394"/>
                  </a:lnTo>
                  <a:lnTo>
                    <a:pt x="129830" y="493394"/>
                  </a:lnTo>
                  <a:lnTo>
                    <a:pt x="144120" y="482219"/>
                  </a:lnTo>
                  <a:lnTo>
                    <a:pt x="143950" y="482219"/>
                  </a:lnTo>
                  <a:lnTo>
                    <a:pt x="145906" y="480822"/>
                  </a:lnTo>
                  <a:lnTo>
                    <a:pt x="146085" y="480822"/>
                  </a:lnTo>
                  <a:lnTo>
                    <a:pt x="183542" y="456311"/>
                  </a:lnTo>
                  <a:lnTo>
                    <a:pt x="183346" y="456311"/>
                  </a:lnTo>
                  <a:lnTo>
                    <a:pt x="185289" y="455168"/>
                  </a:lnTo>
                  <a:lnTo>
                    <a:pt x="185426" y="455168"/>
                  </a:lnTo>
                  <a:lnTo>
                    <a:pt x="205532" y="444119"/>
                  </a:lnTo>
                  <a:lnTo>
                    <a:pt x="177719" y="393319"/>
                  </a:lnTo>
                  <a:close/>
                </a:path>
                <a:path w="3397250" h="2195829">
                  <a:moveTo>
                    <a:pt x="91499" y="534288"/>
                  </a:moveTo>
                  <a:lnTo>
                    <a:pt x="89937" y="536575"/>
                  </a:lnTo>
                  <a:lnTo>
                    <a:pt x="90678" y="535602"/>
                  </a:lnTo>
                  <a:lnTo>
                    <a:pt x="91499" y="534288"/>
                  </a:lnTo>
                  <a:close/>
                </a:path>
                <a:path w="3397250" h="2195829">
                  <a:moveTo>
                    <a:pt x="90678" y="535602"/>
                  </a:moveTo>
                  <a:lnTo>
                    <a:pt x="89937" y="536575"/>
                  </a:lnTo>
                  <a:lnTo>
                    <a:pt x="90069" y="536575"/>
                  </a:lnTo>
                  <a:lnTo>
                    <a:pt x="90678" y="535602"/>
                  </a:lnTo>
                  <a:close/>
                </a:path>
                <a:path w="3397250" h="2195829">
                  <a:moveTo>
                    <a:pt x="91677" y="534288"/>
                  </a:moveTo>
                  <a:lnTo>
                    <a:pt x="91499" y="534288"/>
                  </a:lnTo>
                  <a:lnTo>
                    <a:pt x="90678" y="535602"/>
                  </a:lnTo>
                  <a:lnTo>
                    <a:pt x="91677" y="534288"/>
                  </a:lnTo>
                  <a:close/>
                </a:path>
                <a:path w="3397250" h="2195829">
                  <a:moveTo>
                    <a:pt x="102408" y="520192"/>
                  </a:moveTo>
                  <a:lnTo>
                    <a:pt x="100732" y="522224"/>
                  </a:lnTo>
                  <a:lnTo>
                    <a:pt x="101475" y="521418"/>
                  </a:lnTo>
                  <a:lnTo>
                    <a:pt x="102408" y="520192"/>
                  </a:lnTo>
                  <a:close/>
                </a:path>
                <a:path w="3397250" h="2195829">
                  <a:moveTo>
                    <a:pt x="101475" y="521418"/>
                  </a:moveTo>
                  <a:lnTo>
                    <a:pt x="100732" y="522224"/>
                  </a:lnTo>
                  <a:lnTo>
                    <a:pt x="100862" y="522224"/>
                  </a:lnTo>
                  <a:lnTo>
                    <a:pt x="101475" y="521418"/>
                  </a:lnTo>
                  <a:close/>
                </a:path>
                <a:path w="3397250" h="2195829">
                  <a:moveTo>
                    <a:pt x="102606" y="520192"/>
                  </a:moveTo>
                  <a:lnTo>
                    <a:pt x="102408" y="520192"/>
                  </a:lnTo>
                  <a:lnTo>
                    <a:pt x="101475" y="521418"/>
                  </a:lnTo>
                  <a:lnTo>
                    <a:pt x="102606" y="520192"/>
                  </a:lnTo>
                  <a:close/>
                </a:path>
                <a:path w="3397250" h="2195829">
                  <a:moveTo>
                    <a:pt x="115020" y="506730"/>
                  </a:moveTo>
                  <a:lnTo>
                    <a:pt x="113356" y="508381"/>
                  </a:lnTo>
                  <a:lnTo>
                    <a:pt x="114320" y="507489"/>
                  </a:lnTo>
                  <a:lnTo>
                    <a:pt x="115020" y="506730"/>
                  </a:lnTo>
                  <a:close/>
                </a:path>
                <a:path w="3397250" h="2195829">
                  <a:moveTo>
                    <a:pt x="114320" y="507489"/>
                  </a:moveTo>
                  <a:lnTo>
                    <a:pt x="113356" y="508381"/>
                  </a:lnTo>
                  <a:lnTo>
                    <a:pt x="113497" y="508381"/>
                  </a:lnTo>
                  <a:lnTo>
                    <a:pt x="114320" y="507489"/>
                  </a:lnTo>
                  <a:close/>
                </a:path>
                <a:path w="3397250" h="2195829">
                  <a:moveTo>
                    <a:pt x="115140" y="506730"/>
                  </a:moveTo>
                  <a:lnTo>
                    <a:pt x="114320" y="507489"/>
                  </a:lnTo>
                  <a:lnTo>
                    <a:pt x="115140" y="506730"/>
                  </a:lnTo>
                  <a:close/>
                </a:path>
                <a:path w="3397250" h="2195829">
                  <a:moveTo>
                    <a:pt x="129548" y="493394"/>
                  </a:moveTo>
                  <a:lnTo>
                    <a:pt x="127720" y="495045"/>
                  </a:lnTo>
                  <a:lnTo>
                    <a:pt x="128009" y="494819"/>
                  </a:lnTo>
                  <a:lnTo>
                    <a:pt x="129548" y="493394"/>
                  </a:lnTo>
                  <a:close/>
                </a:path>
                <a:path w="3397250" h="2195829">
                  <a:moveTo>
                    <a:pt x="128009" y="494819"/>
                  </a:moveTo>
                  <a:lnTo>
                    <a:pt x="127720" y="495045"/>
                  </a:lnTo>
                  <a:lnTo>
                    <a:pt x="128009" y="494819"/>
                  </a:lnTo>
                  <a:close/>
                </a:path>
                <a:path w="3397250" h="2195829">
                  <a:moveTo>
                    <a:pt x="129830" y="493394"/>
                  </a:moveTo>
                  <a:lnTo>
                    <a:pt x="129548" y="493394"/>
                  </a:lnTo>
                  <a:lnTo>
                    <a:pt x="128009" y="494819"/>
                  </a:lnTo>
                  <a:lnTo>
                    <a:pt x="129830" y="493394"/>
                  </a:lnTo>
                  <a:close/>
                </a:path>
                <a:path w="3397250" h="2195829">
                  <a:moveTo>
                    <a:pt x="145906" y="480822"/>
                  </a:moveTo>
                  <a:lnTo>
                    <a:pt x="143950" y="482219"/>
                  </a:lnTo>
                  <a:lnTo>
                    <a:pt x="144989" y="481539"/>
                  </a:lnTo>
                  <a:lnTo>
                    <a:pt x="145906" y="480822"/>
                  </a:lnTo>
                  <a:close/>
                </a:path>
                <a:path w="3397250" h="2195829">
                  <a:moveTo>
                    <a:pt x="144989" y="481539"/>
                  </a:moveTo>
                  <a:lnTo>
                    <a:pt x="143950" y="482219"/>
                  </a:lnTo>
                  <a:lnTo>
                    <a:pt x="144120" y="482219"/>
                  </a:lnTo>
                  <a:lnTo>
                    <a:pt x="144989" y="481539"/>
                  </a:lnTo>
                  <a:close/>
                </a:path>
                <a:path w="3397250" h="2195829">
                  <a:moveTo>
                    <a:pt x="146085" y="480822"/>
                  </a:moveTo>
                  <a:lnTo>
                    <a:pt x="145906" y="480822"/>
                  </a:lnTo>
                  <a:lnTo>
                    <a:pt x="144989" y="481539"/>
                  </a:lnTo>
                  <a:lnTo>
                    <a:pt x="146085" y="480822"/>
                  </a:lnTo>
                  <a:close/>
                </a:path>
                <a:path w="3397250" h="2195829">
                  <a:moveTo>
                    <a:pt x="185289" y="455168"/>
                  </a:moveTo>
                  <a:lnTo>
                    <a:pt x="183346" y="456311"/>
                  </a:lnTo>
                  <a:lnTo>
                    <a:pt x="184571" y="455637"/>
                  </a:lnTo>
                  <a:lnTo>
                    <a:pt x="185289" y="455168"/>
                  </a:lnTo>
                  <a:close/>
                </a:path>
                <a:path w="3397250" h="2195829">
                  <a:moveTo>
                    <a:pt x="184571" y="455637"/>
                  </a:moveTo>
                  <a:lnTo>
                    <a:pt x="183346" y="456311"/>
                  </a:lnTo>
                  <a:lnTo>
                    <a:pt x="183542" y="456311"/>
                  </a:lnTo>
                  <a:lnTo>
                    <a:pt x="184571" y="455637"/>
                  </a:lnTo>
                  <a:close/>
                </a:path>
                <a:path w="3397250" h="2195829">
                  <a:moveTo>
                    <a:pt x="185426" y="455168"/>
                  </a:moveTo>
                  <a:lnTo>
                    <a:pt x="185289" y="455168"/>
                  </a:lnTo>
                  <a:lnTo>
                    <a:pt x="184571" y="455637"/>
                  </a:lnTo>
                  <a:lnTo>
                    <a:pt x="185426" y="455168"/>
                  </a:lnTo>
                  <a:close/>
                </a:path>
                <a:path w="3397250" h="2195829">
                  <a:moveTo>
                    <a:pt x="9610" y="574167"/>
                  </a:moveTo>
                  <a:lnTo>
                    <a:pt x="605" y="626363"/>
                  </a:lnTo>
                  <a:lnTo>
                    <a:pt x="0" y="649224"/>
                  </a:lnTo>
                  <a:lnTo>
                    <a:pt x="1012" y="671194"/>
                  </a:lnTo>
                  <a:lnTo>
                    <a:pt x="3602" y="694055"/>
                  </a:lnTo>
                  <a:lnTo>
                    <a:pt x="7616" y="717042"/>
                  </a:lnTo>
                  <a:lnTo>
                    <a:pt x="13127" y="740410"/>
                  </a:lnTo>
                  <a:lnTo>
                    <a:pt x="19287" y="761492"/>
                  </a:lnTo>
                  <a:lnTo>
                    <a:pt x="74862" y="745109"/>
                  </a:lnTo>
                  <a:lnTo>
                    <a:pt x="69367" y="726439"/>
                  </a:lnTo>
                  <a:lnTo>
                    <a:pt x="68919" y="724916"/>
                  </a:lnTo>
                  <a:lnTo>
                    <a:pt x="64570" y="706247"/>
                  </a:lnTo>
                  <a:lnTo>
                    <a:pt x="64181" y="704595"/>
                  </a:lnTo>
                  <a:lnTo>
                    <a:pt x="61113" y="686688"/>
                  </a:lnTo>
                  <a:lnTo>
                    <a:pt x="60892" y="685562"/>
                  </a:lnTo>
                  <a:lnTo>
                    <a:pt x="60843" y="684911"/>
                  </a:lnTo>
                  <a:lnTo>
                    <a:pt x="58886" y="667638"/>
                  </a:lnTo>
                  <a:lnTo>
                    <a:pt x="58746" y="666691"/>
                  </a:lnTo>
                  <a:lnTo>
                    <a:pt x="58734" y="665734"/>
                  </a:lnTo>
                  <a:lnTo>
                    <a:pt x="57970" y="649224"/>
                  </a:lnTo>
                  <a:lnTo>
                    <a:pt x="58401" y="631444"/>
                  </a:lnTo>
                  <a:lnTo>
                    <a:pt x="58466" y="629157"/>
                  </a:lnTo>
                  <a:lnTo>
                    <a:pt x="60153" y="614172"/>
                  </a:lnTo>
                  <a:lnTo>
                    <a:pt x="60410" y="611759"/>
                  </a:lnTo>
                  <a:lnTo>
                    <a:pt x="63167" y="597788"/>
                  </a:lnTo>
                  <a:lnTo>
                    <a:pt x="63026" y="597788"/>
                  </a:lnTo>
                  <a:lnTo>
                    <a:pt x="63673" y="595122"/>
                  </a:lnTo>
                  <a:lnTo>
                    <a:pt x="63812" y="595122"/>
                  </a:lnTo>
                  <a:lnTo>
                    <a:pt x="65197" y="590423"/>
                  </a:lnTo>
                  <a:lnTo>
                    <a:pt x="9610" y="574167"/>
                  </a:lnTo>
                  <a:close/>
                </a:path>
                <a:path w="3397250" h="2195829">
                  <a:moveTo>
                    <a:pt x="68919" y="724916"/>
                  </a:moveTo>
                  <a:lnTo>
                    <a:pt x="69325" y="726439"/>
                  </a:lnTo>
                  <a:lnTo>
                    <a:pt x="69156" y="725723"/>
                  </a:lnTo>
                  <a:lnTo>
                    <a:pt x="68919" y="724916"/>
                  </a:lnTo>
                  <a:close/>
                </a:path>
                <a:path w="3397250" h="2195829">
                  <a:moveTo>
                    <a:pt x="69156" y="725723"/>
                  </a:moveTo>
                  <a:lnTo>
                    <a:pt x="69325" y="726439"/>
                  </a:lnTo>
                  <a:lnTo>
                    <a:pt x="69156" y="725723"/>
                  </a:lnTo>
                  <a:close/>
                </a:path>
                <a:path w="3397250" h="2195829">
                  <a:moveTo>
                    <a:pt x="68966" y="724916"/>
                  </a:moveTo>
                  <a:lnTo>
                    <a:pt x="69156" y="725723"/>
                  </a:lnTo>
                  <a:lnTo>
                    <a:pt x="68966" y="724916"/>
                  </a:lnTo>
                  <a:close/>
                </a:path>
                <a:path w="3397250" h="2195829">
                  <a:moveTo>
                    <a:pt x="64181" y="704595"/>
                  </a:moveTo>
                  <a:lnTo>
                    <a:pt x="64524" y="706247"/>
                  </a:lnTo>
                  <a:lnTo>
                    <a:pt x="64393" y="705496"/>
                  </a:lnTo>
                  <a:lnTo>
                    <a:pt x="64181" y="704595"/>
                  </a:lnTo>
                  <a:close/>
                </a:path>
                <a:path w="3397250" h="2195829">
                  <a:moveTo>
                    <a:pt x="64393" y="705496"/>
                  </a:moveTo>
                  <a:lnTo>
                    <a:pt x="64524" y="706247"/>
                  </a:lnTo>
                  <a:lnTo>
                    <a:pt x="64393" y="705496"/>
                  </a:lnTo>
                  <a:close/>
                </a:path>
                <a:path w="3397250" h="2195829">
                  <a:moveTo>
                    <a:pt x="64236" y="704595"/>
                  </a:moveTo>
                  <a:lnTo>
                    <a:pt x="64393" y="705496"/>
                  </a:lnTo>
                  <a:lnTo>
                    <a:pt x="64236" y="704595"/>
                  </a:lnTo>
                  <a:close/>
                </a:path>
                <a:path w="3397250" h="2195829">
                  <a:moveTo>
                    <a:pt x="60803" y="684911"/>
                  </a:moveTo>
                  <a:lnTo>
                    <a:pt x="61045" y="686688"/>
                  </a:lnTo>
                  <a:lnTo>
                    <a:pt x="60917" y="685562"/>
                  </a:lnTo>
                  <a:lnTo>
                    <a:pt x="60803" y="684911"/>
                  </a:lnTo>
                  <a:close/>
                </a:path>
                <a:path w="3397250" h="2195829">
                  <a:moveTo>
                    <a:pt x="60917" y="685562"/>
                  </a:moveTo>
                  <a:lnTo>
                    <a:pt x="61045" y="686688"/>
                  </a:lnTo>
                  <a:lnTo>
                    <a:pt x="60917" y="685562"/>
                  </a:lnTo>
                  <a:close/>
                </a:path>
                <a:path w="3397250" h="2195829">
                  <a:moveTo>
                    <a:pt x="60843" y="684911"/>
                  </a:moveTo>
                  <a:lnTo>
                    <a:pt x="60917" y="685562"/>
                  </a:lnTo>
                  <a:lnTo>
                    <a:pt x="60843" y="684911"/>
                  </a:lnTo>
                  <a:close/>
                </a:path>
                <a:path w="3397250" h="2195829">
                  <a:moveTo>
                    <a:pt x="58670" y="665734"/>
                  </a:moveTo>
                  <a:lnTo>
                    <a:pt x="58822" y="667638"/>
                  </a:lnTo>
                  <a:lnTo>
                    <a:pt x="58778" y="666691"/>
                  </a:lnTo>
                  <a:lnTo>
                    <a:pt x="58670" y="665734"/>
                  </a:lnTo>
                  <a:close/>
                </a:path>
                <a:path w="3397250" h="2195829">
                  <a:moveTo>
                    <a:pt x="58778" y="666691"/>
                  </a:moveTo>
                  <a:lnTo>
                    <a:pt x="58822" y="667638"/>
                  </a:lnTo>
                  <a:lnTo>
                    <a:pt x="58778" y="666691"/>
                  </a:lnTo>
                  <a:close/>
                </a:path>
                <a:path w="3397250" h="2195829">
                  <a:moveTo>
                    <a:pt x="58734" y="665734"/>
                  </a:moveTo>
                  <a:lnTo>
                    <a:pt x="58778" y="666691"/>
                  </a:lnTo>
                  <a:lnTo>
                    <a:pt x="58734" y="665734"/>
                  </a:lnTo>
                  <a:close/>
                </a:path>
                <a:path w="3397250" h="2195829">
                  <a:moveTo>
                    <a:pt x="57923" y="648226"/>
                  </a:moveTo>
                  <a:lnTo>
                    <a:pt x="57895" y="649224"/>
                  </a:lnTo>
                  <a:lnTo>
                    <a:pt x="57923" y="648226"/>
                  </a:lnTo>
                  <a:close/>
                </a:path>
                <a:path w="3397250" h="2195829">
                  <a:moveTo>
                    <a:pt x="57956" y="647064"/>
                  </a:moveTo>
                  <a:lnTo>
                    <a:pt x="57923" y="648226"/>
                  </a:lnTo>
                  <a:lnTo>
                    <a:pt x="57956" y="647064"/>
                  </a:lnTo>
                  <a:close/>
                </a:path>
                <a:path w="3397250" h="2195829">
                  <a:moveTo>
                    <a:pt x="58466" y="629157"/>
                  </a:moveTo>
                  <a:lnTo>
                    <a:pt x="58314" y="631444"/>
                  </a:lnTo>
                  <a:lnTo>
                    <a:pt x="58433" y="630324"/>
                  </a:lnTo>
                  <a:lnTo>
                    <a:pt x="58466" y="629157"/>
                  </a:lnTo>
                  <a:close/>
                </a:path>
                <a:path w="3397250" h="2195829">
                  <a:moveTo>
                    <a:pt x="58433" y="630324"/>
                  </a:moveTo>
                  <a:lnTo>
                    <a:pt x="58314" y="631444"/>
                  </a:lnTo>
                  <a:lnTo>
                    <a:pt x="58433" y="630324"/>
                  </a:lnTo>
                  <a:close/>
                </a:path>
                <a:path w="3397250" h="2195829">
                  <a:moveTo>
                    <a:pt x="58557" y="629157"/>
                  </a:moveTo>
                  <a:lnTo>
                    <a:pt x="58433" y="630324"/>
                  </a:lnTo>
                  <a:lnTo>
                    <a:pt x="58557" y="629157"/>
                  </a:lnTo>
                  <a:close/>
                </a:path>
                <a:path w="3397250" h="2195829">
                  <a:moveTo>
                    <a:pt x="60410" y="611759"/>
                  </a:moveTo>
                  <a:lnTo>
                    <a:pt x="60054" y="614172"/>
                  </a:lnTo>
                  <a:lnTo>
                    <a:pt x="60278" y="612990"/>
                  </a:lnTo>
                  <a:lnTo>
                    <a:pt x="60410" y="611759"/>
                  </a:lnTo>
                  <a:close/>
                </a:path>
                <a:path w="3397250" h="2195829">
                  <a:moveTo>
                    <a:pt x="60278" y="612990"/>
                  </a:moveTo>
                  <a:lnTo>
                    <a:pt x="60054" y="614172"/>
                  </a:lnTo>
                  <a:lnTo>
                    <a:pt x="60278" y="612990"/>
                  </a:lnTo>
                  <a:close/>
                </a:path>
                <a:path w="3397250" h="2195829">
                  <a:moveTo>
                    <a:pt x="60512" y="611759"/>
                  </a:moveTo>
                  <a:lnTo>
                    <a:pt x="60278" y="612990"/>
                  </a:lnTo>
                  <a:lnTo>
                    <a:pt x="60512" y="611759"/>
                  </a:lnTo>
                  <a:close/>
                </a:path>
                <a:path w="3397250" h="2195829">
                  <a:moveTo>
                    <a:pt x="63673" y="595122"/>
                  </a:moveTo>
                  <a:lnTo>
                    <a:pt x="63026" y="597788"/>
                  </a:lnTo>
                  <a:lnTo>
                    <a:pt x="63422" y="596444"/>
                  </a:lnTo>
                  <a:lnTo>
                    <a:pt x="63673" y="595122"/>
                  </a:lnTo>
                  <a:close/>
                </a:path>
                <a:path w="3397250" h="2195829">
                  <a:moveTo>
                    <a:pt x="63422" y="596444"/>
                  </a:moveTo>
                  <a:lnTo>
                    <a:pt x="63026" y="597788"/>
                  </a:lnTo>
                  <a:lnTo>
                    <a:pt x="63167" y="597788"/>
                  </a:lnTo>
                  <a:lnTo>
                    <a:pt x="63422" y="596444"/>
                  </a:lnTo>
                  <a:close/>
                </a:path>
                <a:path w="3397250" h="2195829">
                  <a:moveTo>
                    <a:pt x="63812" y="595122"/>
                  </a:moveTo>
                  <a:lnTo>
                    <a:pt x="63673" y="595122"/>
                  </a:lnTo>
                  <a:lnTo>
                    <a:pt x="63422" y="596444"/>
                  </a:lnTo>
                  <a:lnTo>
                    <a:pt x="63812" y="595122"/>
                  </a:lnTo>
                  <a:close/>
                </a:path>
                <a:path w="3397250" h="2195829">
                  <a:moveTo>
                    <a:pt x="93836" y="795909"/>
                  </a:moveTo>
                  <a:lnTo>
                    <a:pt x="40763" y="819150"/>
                  </a:lnTo>
                  <a:lnTo>
                    <a:pt x="47938" y="835532"/>
                  </a:lnTo>
                  <a:lnTo>
                    <a:pt x="59495" y="859789"/>
                  </a:lnTo>
                  <a:lnTo>
                    <a:pt x="85733" y="908685"/>
                  </a:lnTo>
                  <a:lnTo>
                    <a:pt x="115807" y="958342"/>
                  </a:lnTo>
                  <a:lnTo>
                    <a:pt x="126958" y="975232"/>
                  </a:lnTo>
                  <a:lnTo>
                    <a:pt x="175370" y="943482"/>
                  </a:lnTo>
                  <a:lnTo>
                    <a:pt x="164410" y="926845"/>
                  </a:lnTo>
                  <a:lnTo>
                    <a:pt x="150023" y="903732"/>
                  </a:lnTo>
                  <a:lnTo>
                    <a:pt x="136183" y="880237"/>
                  </a:lnTo>
                  <a:lnTo>
                    <a:pt x="123424" y="857250"/>
                  </a:lnTo>
                  <a:lnTo>
                    <a:pt x="111159" y="833628"/>
                  </a:lnTo>
                  <a:lnTo>
                    <a:pt x="100838" y="811911"/>
                  </a:lnTo>
                  <a:lnTo>
                    <a:pt x="100415" y="811022"/>
                  </a:lnTo>
                  <a:lnTo>
                    <a:pt x="93836" y="795909"/>
                  </a:lnTo>
                  <a:close/>
                </a:path>
                <a:path w="3397250" h="2195829">
                  <a:moveTo>
                    <a:pt x="164448" y="926845"/>
                  </a:moveTo>
                  <a:lnTo>
                    <a:pt x="164765" y="927354"/>
                  </a:lnTo>
                  <a:lnTo>
                    <a:pt x="164448" y="926845"/>
                  </a:lnTo>
                  <a:close/>
                </a:path>
                <a:path w="3397250" h="2195829">
                  <a:moveTo>
                    <a:pt x="149756" y="903303"/>
                  </a:moveTo>
                  <a:lnTo>
                    <a:pt x="150008" y="903732"/>
                  </a:lnTo>
                  <a:lnTo>
                    <a:pt x="149756" y="903303"/>
                  </a:lnTo>
                  <a:close/>
                </a:path>
                <a:path w="3397250" h="2195829">
                  <a:moveTo>
                    <a:pt x="149634" y="903097"/>
                  </a:moveTo>
                  <a:lnTo>
                    <a:pt x="149756" y="903303"/>
                  </a:lnTo>
                  <a:lnTo>
                    <a:pt x="149634" y="903097"/>
                  </a:lnTo>
                  <a:close/>
                </a:path>
                <a:path w="3397250" h="2195829">
                  <a:moveTo>
                    <a:pt x="135872" y="879708"/>
                  </a:moveTo>
                  <a:lnTo>
                    <a:pt x="136165" y="880237"/>
                  </a:lnTo>
                  <a:lnTo>
                    <a:pt x="135872" y="879708"/>
                  </a:lnTo>
                  <a:close/>
                </a:path>
                <a:path w="3397250" h="2195829">
                  <a:moveTo>
                    <a:pt x="135813" y="879601"/>
                  </a:moveTo>
                  <a:close/>
                </a:path>
                <a:path w="3397250" h="2195829">
                  <a:moveTo>
                    <a:pt x="122932" y="856361"/>
                  </a:moveTo>
                  <a:lnTo>
                    <a:pt x="123351" y="857250"/>
                  </a:lnTo>
                  <a:lnTo>
                    <a:pt x="122932" y="856361"/>
                  </a:lnTo>
                  <a:close/>
                </a:path>
                <a:path w="3397250" h="2195829">
                  <a:moveTo>
                    <a:pt x="111189" y="833628"/>
                  </a:moveTo>
                  <a:lnTo>
                    <a:pt x="111552" y="834389"/>
                  </a:lnTo>
                  <a:lnTo>
                    <a:pt x="111189" y="833628"/>
                  </a:lnTo>
                  <a:close/>
                </a:path>
                <a:path w="3397250" h="2195829">
                  <a:moveTo>
                    <a:pt x="100632" y="811479"/>
                  </a:moveTo>
                  <a:lnTo>
                    <a:pt x="100821" y="811911"/>
                  </a:lnTo>
                  <a:lnTo>
                    <a:pt x="100632" y="811479"/>
                  </a:lnTo>
                  <a:close/>
                </a:path>
                <a:path w="3397250" h="2195829">
                  <a:moveTo>
                    <a:pt x="100433" y="811022"/>
                  </a:moveTo>
                  <a:lnTo>
                    <a:pt x="100632" y="811479"/>
                  </a:lnTo>
                  <a:lnTo>
                    <a:pt x="100433" y="811022"/>
                  </a:lnTo>
                  <a:close/>
                </a:path>
                <a:path w="3397250" h="2195829">
                  <a:moveTo>
                    <a:pt x="207564" y="990345"/>
                  </a:moveTo>
                  <a:lnTo>
                    <a:pt x="160359" y="1023874"/>
                  </a:lnTo>
                  <a:lnTo>
                    <a:pt x="167039" y="1033272"/>
                  </a:lnTo>
                  <a:lnTo>
                    <a:pt x="185619" y="1058418"/>
                  </a:lnTo>
                  <a:lnTo>
                    <a:pt x="224709" y="1108837"/>
                  </a:lnTo>
                  <a:lnTo>
                    <a:pt x="265997" y="1159256"/>
                  </a:lnTo>
                  <a:lnTo>
                    <a:pt x="268994" y="1162812"/>
                  </a:lnTo>
                  <a:lnTo>
                    <a:pt x="312936" y="1125093"/>
                  </a:lnTo>
                  <a:lnTo>
                    <a:pt x="310092" y="1121791"/>
                  </a:lnTo>
                  <a:lnTo>
                    <a:pt x="289721" y="1097280"/>
                  </a:lnTo>
                  <a:lnTo>
                    <a:pt x="270114" y="1072895"/>
                  </a:lnTo>
                  <a:lnTo>
                    <a:pt x="250467" y="1048004"/>
                  </a:lnTo>
                  <a:lnTo>
                    <a:pt x="232099" y="1023874"/>
                  </a:lnTo>
                  <a:lnTo>
                    <a:pt x="213787" y="999109"/>
                  </a:lnTo>
                  <a:lnTo>
                    <a:pt x="207564" y="990345"/>
                  </a:lnTo>
                  <a:close/>
                </a:path>
                <a:path w="3397250" h="2195829">
                  <a:moveTo>
                    <a:pt x="310172" y="1121791"/>
                  </a:moveTo>
                  <a:lnTo>
                    <a:pt x="310384" y="1122045"/>
                  </a:lnTo>
                  <a:lnTo>
                    <a:pt x="310172" y="1121791"/>
                  </a:lnTo>
                  <a:close/>
                </a:path>
                <a:path w="3397250" h="2195829">
                  <a:moveTo>
                    <a:pt x="289795" y="1097280"/>
                  </a:moveTo>
                  <a:lnTo>
                    <a:pt x="290000" y="1097534"/>
                  </a:lnTo>
                  <a:lnTo>
                    <a:pt x="289795" y="1097280"/>
                  </a:lnTo>
                  <a:close/>
                </a:path>
                <a:path w="3397250" h="2195829">
                  <a:moveTo>
                    <a:pt x="269909" y="1072642"/>
                  </a:moveTo>
                  <a:lnTo>
                    <a:pt x="270087" y="1072895"/>
                  </a:lnTo>
                  <a:lnTo>
                    <a:pt x="269909" y="1072642"/>
                  </a:lnTo>
                  <a:close/>
                </a:path>
                <a:path w="3397250" h="2195829">
                  <a:moveTo>
                    <a:pt x="250525" y="1048080"/>
                  </a:moveTo>
                  <a:lnTo>
                    <a:pt x="250757" y="1048385"/>
                  </a:lnTo>
                  <a:lnTo>
                    <a:pt x="250525" y="1048080"/>
                  </a:lnTo>
                  <a:close/>
                </a:path>
                <a:path w="3397250" h="2195829">
                  <a:moveTo>
                    <a:pt x="250467" y="1048004"/>
                  </a:moveTo>
                  <a:close/>
                </a:path>
                <a:path w="3397250" h="2195829">
                  <a:moveTo>
                    <a:pt x="231809" y="1023493"/>
                  </a:moveTo>
                  <a:lnTo>
                    <a:pt x="232075" y="1023874"/>
                  </a:lnTo>
                  <a:lnTo>
                    <a:pt x="231809" y="1023493"/>
                  </a:lnTo>
                  <a:close/>
                </a:path>
                <a:path w="3397250" h="2195829">
                  <a:moveTo>
                    <a:pt x="213820" y="999109"/>
                  </a:moveTo>
                  <a:lnTo>
                    <a:pt x="214092" y="999489"/>
                  </a:lnTo>
                  <a:lnTo>
                    <a:pt x="213820" y="999109"/>
                  </a:lnTo>
                  <a:close/>
                </a:path>
                <a:path w="3397250" h="2195829">
                  <a:moveTo>
                    <a:pt x="350668" y="1169035"/>
                  </a:moveTo>
                  <a:lnTo>
                    <a:pt x="306726" y="1206754"/>
                  </a:lnTo>
                  <a:lnTo>
                    <a:pt x="309101" y="1209548"/>
                  </a:lnTo>
                  <a:lnTo>
                    <a:pt x="353653" y="1259332"/>
                  </a:lnTo>
                  <a:lnTo>
                    <a:pt x="399398" y="1308862"/>
                  </a:lnTo>
                  <a:lnTo>
                    <a:pt x="425166" y="1335913"/>
                  </a:lnTo>
                  <a:lnTo>
                    <a:pt x="467089" y="1295908"/>
                  </a:lnTo>
                  <a:lnTo>
                    <a:pt x="441848" y="1269364"/>
                  </a:lnTo>
                  <a:lnTo>
                    <a:pt x="396702" y="1220597"/>
                  </a:lnTo>
                  <a:lnTo>
                    <a:pt x="352471" y="1171194"/>
                  </a:lnTo>
                  <a:lnTo>
                    <a:pt x="350668" y="1169035"/>
                  </a:lnTo>
                  <a:close/>
                </a:path>
                <a:path w="3397250" h="2195829">
                  <a:moveTo>
                    <a:pt x="441486" y="1268984"/>
                  </a:moveTo>
                  <a:lnTo>
                    <a:pt x="441778" y="1269364"/>
                  </a:lnTo>
                  <a:lnTo>
                    <a:pt x="441486" y="1268984"/>
                  </a:lnTo>
                  <a:close/>
                </a:path>
                <a:path w="3397250" h="2195829">
                  <a:moveTo>
                    <a:pt x="396350" y="1220216"/>
                  </a:moveTo>
                  <a:lnTo>
                    <a:pt x="396667" y="1220597"/>
                  </a:lnTo>
                  <a:lnTo>
                    <a:pt x="396350" y="1220216"/>
                  </a:lnTo>
                  <a:close/>
                </a:path>
                <a:path w="3397250" h="2195829">
                  <a:moveTo>
                    <a:pt x="352525" y="1171194"/>
                  </a:moveTo>
                  <a:lnTo>
                    <a:pt x="352852" y="1171575"/>
                  </a:lnTo>
                  <a:lnTo>
                    <a:pt x="352525" y="1171194"/>
                  </a:lnTo>
                  <a:close/>
                </a:path>
                <a:path w="3397250" h="2195829">
                  <a:moveTo>
                    <a:pt x="507043" y="1337310"/>
                  </a:moveTo>
                  <a:lnTo>
                    <a:pt x="465590" y="1377823"/>
                  </a:lnTo>
                  <a:lnTo>
                    <a:pt x="492476" y="1405382"/>
                  </a:lnTo>
                  <a:lnTo>
                    <a:pt x="539034" y="1452245"/>
                  </a:lnTo>
                  <a:lnTo>
                    <a:pt x="588793" y="1501394"/>
                  </a:lnTo>
                  <a:lnTo>
                    <a:pt x="629179" y="1459864"/>
                  </a:lnTo>
                  <a:lnTo>
                    <a:pt x="625882" y="1456689"/>
                  </a:lnTo>
                  <a:lnTo>
                    <a:pt x="580109" y="1411351"/>
                  </a:lnTo>
                  <a:lnTo>
                    <a:pt x="533763" y="1364742"/>
                  </a:lnTo>
                  <a:lnTo>
                    <a:pt x="533703" y="1364614"/>
                  </a:lnTo>
                  <a:lnTo>
                    <a:pt x="507043" y="1337310"/>
                  </a:lnTo>
                  <a:close/>
                </a:path>
                <a:path w="3397250" h="2195829">
                  <a:moveTo>
                    <a:pt x="625750" y="1456563"/>
                  </a:moveTo>
                  <a:lnTo>
                    <a:pt x="625882" y="1456689"/>
                  </a:lnTo>
                  <a:lnTo>
                    <a:pt x="625750" y="1456563"/>
                  </a:lnTo>
                  <a:close/>
                </a:path>
                <a:path w="3397250" h="2195829">
                  <a:moveTo>
                    <a:pt x="579852" y="1411097"/>
                  </a:moveTo>
                  <a:lnTo>
                    <a:pt x="580030" y="1411351"/>
                  </a:lnTo>
                  <a:lnTo>
                    <a:pt x="579852" y="1411097"/>
                  </a:lnTo>
                  <a:close/>
                </a:path>
                <a:path w="3397250" h="2195829">
                  <a:moveTo>
                    <a:pt x="533703" y="1364614"/>
                  </a:moveTo>
                  <a:lnTo>
                    <a:pt x="533827" y="1364742"/>
                  </a:lnTo>
                  <a:lnTo>
                    <a:pt x="533703" y="1364614"/>
                  </a:lnTo>
                  <a:close/>
                </a:path>
                <a:path w="3397250" h="2195829">
                  <a:moveTo>
                    <a:pt x="791003" y="1625600"/>
                  </a:moveTo>
                  <a:lnTo>
                    <a:pt x="716809" y="1625600"/>
                  </a:lnTo>
                  <a:lnTo>
                    <a:pt x="737256" y="1645539"/>
                  </a:lnTo>
                  <a:lnTo>
                    <a:pt x="755163" y="1662684"/>
                  </a:lnTo>
                  <a:lnTo>
                    <a:pt x="791003" y="1625600"/>
                  </a:lnTo>
                  <a:close/>
                </a:path>
                <a:path w="3397250" h="2195829">
                  <a:moveTo>
                    <a:pt x="670581" y="1500378"/>
                  </a:moveTo>
                  <a:lnTo>
                    <a:pt x="630195" y="1541780"/>
                  </a:lnTo>
                  <a:lnTo>
                    <a:pt x="716936" y="1625727"/>
                  </a:lnTo>
                  <a:lnTo>
                    <a:pt x="716809" y="1625600"/>
                  </a:lnTo>
                  <a:lnTo>
                    <a:pt x="791003" y="1625600"/>
                  </a:lnTo>
                  <a:lnTo>
                    <a:pt x="795422" y="1621028"/>
                  </a:lnTo>
                  <a:lnTo>
                    <a:pt x="777647" y="1603883"/>
                  </a:lnTo>
                  <a:lnTo>
                    <a:pt x="670966" y="1500632"/>
                  </a:lnTo>
                  <a:lnTo>
                    <a:pt x="670835" y="1500632"/>
                  </a:lnTo>
                  <a:lnTo>
                    <a:pt x="670581" y="1500378"/>
                  </a:lnTo>
                  <a:close/>
                </a:path>
                <a:path w="3397250" h="2195829">
                  <a:moveTo>
                    <a:pt x="777515" y="1603756"/>
                  </a:moveTo>
                  <a:lnTo>
                    <a:pt x="777642" y="1603883"/>
                  </a:lnTo>
                  <a:lnTo>
                    <a:pt x="777515" y="1603756"/>
                  </a:lnTo>
                  <a:close/>
                </a:path>
                <a:path w="3397250" h="2195829">
                  <a:moveTo>
                    <a:pt x="670835" y="1500505"/>
                  </a:moveTo>
                  <a:lnTo>
                    <a:pt x="670966" y="1500632"/>
                  </a:lnTo>
                  <a:lnTo>
                    <a:pt x="670835" y="1500505"/>
                  </a:lnTo>
                  <a:close/>
                </a:path>
                <a:path w="3397250" h="2195829">
                  <a:moveTo>
                    <a:pt x="911612" y="1735963"/>
                  </a:moveTo>
                  <a:lnTo>
                    <a:pt x="830220" y="1735963"/>
                  </a:lnTo>
                  <a:lnTo>
                    <a:pt x="846730" y="1752473"/>
                  </a:lnTo>
                  <a:lnTo>
                    <a:pt x="862224" y="1768221"/>
                  </a:lnTo>
                  <a:lnTo>
                    <a:pt x="862095" y="1768221"/>
                  </a:lnTo>
                  <a:lnTo>
                    <a:pt x="876829" y="1783207"/>
                  </a:lnTo>
                  <a:lnTo>
                    <a:pt x="890418" y="1797431"/>
                  </a:lnTo>
                  <a:lnTo>
                    <a:pt x="902864" y="1810893"/>
                  </a:lnTo>
                  <a:lnTo>
                    <a:pt x="914548" y="1823720"/>
                  </a:lnTo>
                  <a:lnTo>
                    <a:pt x="916707" y="1826133"/>
                  </a:lnTo>
                  <a:lnTo>
                    <a:pt x="959379" y="1787017"/>
                  </a:lnTo>
                  <a:lnTo>
                    <a:pt x="957231" y="1784603"/>
                  </a:lnTo>
                  <a:lnTo>
                    <a:pt x="942258" y="1768221"/>
                  </a:lnTo>
                  <a:lnTo>
                    <a:pt x="862224" y="1768221"/>
                  </a:lnTo>
                  <a:lnTo>
                    <a:pt x="861970" y="1768094"/>
                  </a:lnTo>
                  <a:lnTo>
                    <a:pt x="942141" y="1768094"/>
                  </a:lnTo>
                  <a:lnTo>
                    <a:pt x="932455" y="1757552"/>
                  </a:lnTo>
                  <a:lnTo>
                    <a:pt x="918358" y="1742821"/>
                  </a:lnTo>
                  <a:lnTo>
                    <a:pt x="911612" y="1735963"/>
                  </a:lnTo>
                  <a:close/>
                </a:path>
                <a:path w="3397250" h="2195829">
                  <a:moveTo>
                    <a:pt x="902610" y="1810639"/>
                  </a:moveTo>
                  <a:lnTo>
                    <a:pt x="902842" y="1810893"/>
                  </a:lnTo>
                  <a:lnTo>
                    <a:pt x="902610" y="1810639"/>
                  </a:lnTo>
                  <a:close/>
                </a:path>
                <a:path w="3397250" h="2195829">
                  <a:moveTo>
                    <a:pt x="890164" y="1797177"/>
                  </a:moveTo>
                  <a:lnTo>
                    <a:pt x="890399" y="1797431"/>
                  </a:lnTo>
                  <a:lnTo>
                    <a:pt x="890164" y="1797177"/>
                  </a:lnTo>
                  <a:close/>
                </a:path>
                <a:path w="3397250" h="2195829">
                  <a:moveTo>
                    <a:pt x="957231" y="1784603"/>
                  </a:moveTo>
                  <a:lnTo>
                    <a:pt x="957347" y="1784731"/>
                  </a:lnTo>
                  <a:lnTo>
                    <a:pt x="957231" y="1784603"/>
                  </a:lnTo>
                  <a:close/>
                </a:path>
                <a:path w="3397250" h="2195829">
                  <a:moveTo>
                    <a:pt x="876575" y="1782952"/>
                  </a:moveTo>
                  <a:lnTo>
                    <a:pt x="876818" y="1783207"/>
                  </a:lnTo>
                  <a:lnTo>
                    <a:pt x="876575" y="1782952"/>
                  </a:lnTo>
                  <a:close/>
                </a:path>
                <a:path w="3397250" h="2195829">
                  <a:moveTo>
                    <a:pt x="846603" y="1752346"/>
                  </a:moveTo>
                  <a:close/>
                </a:path>
                <a:path w="3397250" h="2195829">
                  <a:moveTo>
                    <a:pt x="894995" y="1719072"/>
                  </a:moveTo>
                  <a:lnTo>
                    <a:pt x="813075" y="1719072"/>
                  </a:lnTo>
                  <a:lnTo>
                    <a:pt x="830347" y="1736089"/>
                  </a:lnTo>
                  <a:lnTo>
                    <a:pt x="830220" y="1735963"/>
                  </a:lnTo>
                  <a:lnTo>
                    <a:pt x="911612" y="1735963"/>
                  </a:lnTo>
                  <a:lnTo>
                    <a:pt x="894995" y="1719072"/>
                  </a:lnTo>
                  <a:close/>
                </a:path>
                <a:path w="3397250" h="2195829">
                  <a:moveTo>
                    <a:pt x="837078" y="1661540"/>
                  </a:moveTo>
                  <a:lnTo>
                    <a:pt x="796565" y="1702943"/>
                  </a:lnTo>
                  <a:lnTo>
                    <a:pt x="813202" y="1719199"/>
                  </a:lnTo>
                  <a:lnTo>
                    <a:pt x="894995" y="1719072"/>
                  </a:lnTo>
                  <a:lnTo>
                    <a:pt x="887624" y="1711578"/>
                  </a:lnTo>
                  <a:lnTo>
                    <a:pt x="853715" y="1677797"/>
                  </a:lnTo>
                  <a:lnTo>
                    <a:pt x="837078" y="1661540"/>
                  </a:lnTo>
                  <a:close/>
                </a:path>
                <a:path w="3397250" h="2195829">
                  <a:moveTo>
                    <a:pt x="998495" y="1828673"/>
                  </a:moveTo>
                  <a:lnTo>
                    <a:pt x="956966" y="1868932"/>
                  </a:lnTo>
                  <a:lnTo>
                    <a:pt x="960522" y="1872614"/>
                  </a:lnTo>
                  <a:lnTo>
                    <a:pt x="983255" y="1894839"/>
                  </a:lnTo>
                  <a:lnTo>
                    <a:pt x="1028340" y="1934972"/>
                  </a:lnTo>
                  <a:lnTo>
                    <a:pt x="1073044" y="1970024"/>
                  </a:lnTo>
                  <a:lnTo>
                    <a:pt x="1093491" y="1984502"/>
                  </a:lnTo>
                  <a:lnTo>
                    <a:pt x="1126892" y="1937131"/>
                  </a:lnTo>
                  <a:lnTo>
                    <a:pt x="1106826" y="1923034"/>
                  </a:lnTo>
                  <a:lnTo>
                    <a:pt x="1086835" y="1907794"/>
                  </a:lnTo>
                  <a:lnTo>
                    <a:pt x="1065170" y="1890268"/>
                  </a:lnTo>
                  <a:lnTo>
                    <a:pt x="1044699" y="1872614"/>
                  </a:lnTo>
                  <a:lnTo>
                    <a:pt x="1023443" y="1853184"/>
                  </a:lnTo>
                  <a:lnTo>
                    <a:pt x="1001289" y="1831594"/>
                  </a:lnTo>
                  <a:lnTo>
                    <a:pt x="998495" y="1828673"/>
                  </a:lnTo>
                  <a:close/>
                </a:path>
                <a:path w="3397250" h="2195829">
                  <a:moveTo>
                    <a:pt x="1106919" y="1923034"/>
                  </a:moveTo>
                  <a:lnTo>
                    <a:pt x="1107588" y="1923542"/>
                  </a:lnTo>
                  <a:lnTo>
                    <a:pt x="1106919" y="1923034"/>
                  </a:lnTo>
                  <a:close/>
                </a:path>
                <a:path w="3397250" h="2195829">
                  <a:moveTo>
                    <a:pt x="1085998" y="1907159"/>
                  </a:moveTo>
                  <a:lnTo>
                    <a:pt x="1086760" y="1907794"/>
                  </a:lnTo>
                  <a:lnTo>
                    <a:pt x="1085998" y="1907159"/>
                  </a:lnTo>
                  <a:close/>
                </a:path>
                <a:path w="3397250" h="2195829">
                  <a:moveTo>
                    <a:pt x="1065215" y="1890268"/>
                  </a:moveTo>
                  <a:lnTo>
                    <a:pt x="1065805" y="1890776"/>
                  </a:lnTo>
                  <a:lnTo>
                    <a:pt x="1065215" y="1890268"/>
                  </a:lnTo>
                  <a:close/>
                </a:path>
                <a:path w="3397250" h="2195829">
                  <a:moveTo>
                    <a:pt x="1043961" y="1871980"/>
                  </a:moveTo>
                  <a:lnTo>
                    <a:pt x="1044596" y="1872614"/>
                  </a:lnTo>
                  <a:lnTo>
                    <a:pt x="1043961" y="1871980"/>
                  </a:lnTo>
                  <a:close/>
                </a:path>
                <a:path w="3397250" h="2195829">
                  <a:moveTo>
                    <a:pt x="1022752" y="1852549"/>
                  </a:moveTo>
                  <a:lnTo>
                    <a:pt x="1023387" y="1853184"/>
                  </a:lnTo>
                  <a:lnTo>
                    <a:pt x="1022752" y="1852549"/>
                  </a:lnTo>
                  <a:close/>
                </a:path>
                <a:path w="3397250" h="2195829">
                  <a:moveTo>
                    <a:pt x="1001416" y="1831594"/>
                  </a:moveTo>
                  <a:lnTo>
                    <a:pt x="1001924" y="1832102"/>
                  </a:lnTo>
                  <a:lnTo>
                    <a:pt x="1001416" y="1831594"/>
                  </a:lnTo>
                  <a:close/>
                </a:path>
                <a:path w="3397250" h="2195829">
                  <a:moveTo>
                    <a:pt x="1173501" y="1966468"/>
                  </a:moveTo>
                  <a:lnTo>
                    <a:pt x="1144926" y="2016887"/>
                  </a:lnTo>
                  <a:lnTo>
                    <a:pt x="1161817" y="2026488"/>
                  </a:lnTo>
                  <a:lnTo>
                    <a:pt x="1183915" y="2038223"/>
                  </a:lnTo>
                  <a:lnTo>
                    <a:pt x="1227984" y="2059203"/>
                  </a:lnTo>
                  <a:lnTo>
                    <a:pt x="1272434" y="2077440"/>
                  </a:lnTo>
                  <a:lnTo>
                    <a:pt x="1307486" y="2090140"/>
                  </a:lnTo>
                  <a:lnTo>
                    <a:pt x="1327171" y="2035683"/>
                  </a:lnTo>
                  <a:lnTo>
                    <a:pt x="1292500" y="2023122"/>
                  </a:lnTo>
                  <a:lnTo>
                    <a:pt x="1271672" y="2014931"/>
                  </a:lnTo>
                  <a:lnTo>
                    <a:pt x="1251225" y="2006117"/>
                  </a:lnTo>
                  <a:lnTo>
                    <a:pt x="1230397" y="1996592"/>
                  </a:lnTo>
                  <a:lnTo>
                    <a:pt x="1209950" y="1986534"/>
                  </a:lnTo>
                  <a:lnTo>
                    <a:pt x="1190087" y="1975865"/>
                  </a:lnTo>
                  <a:lnTo>
                    <a:pt x="1173501" y="1966468"/>
                  </a:lnTo>
                  <a:close/>
                </a:path>
                <a:path w="3397250" h="2195829">
                  <a:moveTo>
                    <a:pt x="1293151" y="2023358"/>
                  </a:moveTo>
                  <a:close/>
                </a:path>
                <a:path w="3397250" h="2195829">
                  <a:moveTo>
                    <a:pt x="1292550" y="2023122"/>
                  </a:moveTo>
                  <a:lnTo>
                    <a:pt x="1293151" y="2023358"/>
                  </a:lnTo>
                  <a:lnTo>
                    <a:pt x="1292550" y="2023122"/>
                  </a:lnTo>
                  <a:close/>
                </a:path>
                <a:path w="3397250" h="2195829">
                  <a:moveTo>
                    <a:pt x="1271791" y="2014931"/>
                  </a:moveTo>
                  <a:lnTo>
                    <a:pt x="1272561" y="2015261"/>
                  </a:lnTo>
                  <a:lnTo>
                    <a:pt x="1271791" y="2014931"/>
                  </a:lnTo>
                  <a:close/>
                </a:path>
                <a:path w="3397250" h="2195829">
                  <a:moveTo>
                    <a:pt x="1251603" y="2006279"/>
                  </a:moveTo>
                  <a:lnTo>
                    <a:pt x="1251860" y="2006396"/>
                  </a:lnTo>
                  <a:lnTo>
                    <a:pt x="1251603" y="2006279"/>
                  </a:lnTo>
                  <a:close/>
                </a:path>
                <a:path w="3397250" h="2195829">
                  <a:moveTo>
                    <a:pt x="1251248" y="2006117"/>
                  </a:moveTo>
                  <a:lnTo>
                    <a:pt x="1251603" y="2006279"/>
                  </a:lnTo>
                  <a:lnTo>
                    <a:pt x="1251248" y="2006117"/>
                  </a:lnTo>
                  <a:close/>
                </a:path>
                <a:path w="3397250" h="2195829">
                  <a:moveTo>
                    <a:pt x="1230939" y="1996840"/>
                  </a:moveTo>
                  <a:lnTo>
                    <a:pt x="1231159" y="1996948"/>
                  </a:lnTo>
                  <a:lnTo>
                    <a:pt x="1230939" y="1996840"/>
                  </a:lnTo>
                  <a:close/>
                </a:path>
                <a:path w="3397250" h="2195829">
                  <a:moveTo>
                    <a:pt x="1230435" y="1996592"/>
                  </a:moveTo>
                  <a:lnTo>
                    <a:pt x="1230939" y="1996840"/>
                  </a:lnTo>
                  <a:lnTo>
                    <a:pt x="1230435" y="1996592"/>
                  </a:lnTo>
                  <a:close/>
                </a:path>
                <a:path w="3397250" h="2195829">
                  <a:moveTo>
                    <a:pt x="1210559" y="1986832"/>
                  </a:moveTo>
                  <a:lnTo>
                    <a:pt x="1210712" y="1986914"/>
                  </a:lnTo>
                  <a:lnTo>
                    <a:pt x="1210559" y="1986832"/>
                  </a:lnTo>
                  <a:close/>
                </a:path>
                <a:path w="3397250" h="2195829">
                  <a:moveTo>
                    <a:pt x="1210001" y="1986534"/>
                  </a:moveTo>
                  <a:lnTo>
                    <a:pt x="1210559" y="1986832"/>
                  </a:lnTo>
                  <a:lnTo>
                    <a:pt x="1210001" y="1986534"/>
                  </a:lnTo>
                  <a:close/>
                </a:path>
                <a:path w="3397250" h="2195829">
                  <a:moveTo>
                    <a:pt x="1189376" y="1975485"/>
                  </a:moveTo>
                  <a:lnTo>
                    <a:pt x="1190011" y="1975865"/>
                  </a:lnTo>
                  <a:lnTo>
                    <a:pt x="1189376" y="1975485"/>
                  </a:lnTo>
                  <a:close/>
                </a:path>
                <a:path w="3397250" h="2195829">
                  <a:moveTo>
                    <a:pt x="1474906" y="2140400"/>
                  </a:moveTo>
                  <a:lnTo>
                    <a:pt x="1458235" y="2195537"/>
                  </a:lnTo>
                  <a:lnTo>
                    <a:pt x="1649751" y="2162556"/>
                  </a:lnTo>
                  <a:lnTo>
                    <a:pt x="1634916" y="2148547"/>
                  </a:lnTo>
                  <a:lnTo>
                    <a:pt x="1503066" y="2148547"/>
                  </a:lnTo>
                  <a:lnTo>
                    <a:pt x="1474906" y="2140400"/>
                  </a:lnTo>
                  <a:close/>
                </a:path>
                <a:path w="3397250" h="2195829">
                  <a:moveTo>
                    <a:pt x="1491670" y="2084957"/>
                  </a:moveTo>
                  <a:lnTo>
                    <a:pt x="1474906" y="2140400"/>
                  </a:lnTo>
                  <a:lnTo>
                    <a:pt x="1503066" y="2148547"/>
                  </a:lnTo>
                  <a:lnTo>
                    <a:pt x="1519195" y="2092921"/>
                  </a:lnTo>
                  <a:lnTo>
                    <a:pt x="1491670" y="2084957"/>
                  </a:lnTo>
                  <a:close/>
                </a:path>
                <a:path w="3397250" h="2195829">
                  <a:moveTo>
                    <a:pt x="1508527" y="2029206"/>
                  </a:moveTo>
                  <a:lnTo>
                    <a:pt x="1491670" y="2084957"/>
                  </a:lnTo>
                  <a:lnTo>
                    <a:pt x="1519195" y="2092921"/>
                  </a:lnTo>
                  <a:lnTo>
                    <a:pt x="1503066" y="2148547"/>
                  </a:lnTo>
                  <a:lnTo>
                    <a:pt x="1634916" y="2148547"/>
                  </a:lnTo>
                  <a:lnTo>
                    <a:pt x="1508527" y="2029206"/>
                  </a:lnTo>
                  <a:close/>
                </a:path>
                <a:path w="3397250" h="2195829">
                  <a:moveTo>
                    <a:pt x="1477020" y="2133409"/>
                  </a:moveTo>
                  <a:lnTo>
                    <a:pt x="1450742" y="2133409"/>
                  </a:lnTo>
                  <a:lnTo>
                    <a:pt x="1474906" y="2140400"/>
                  </a:lnTo>
                  <a:lnTo>
                    <a:pt x="1477020" y="2133409"/>
                  </a:lnTo>
                  <a:close/>
                </a:path>
                <a:path w="3397250" h="2195829">
                  <a:moveTo>
                    <a:pt x="1380511" y="2053056"/>
                  </a:moveTo>
                  <a:lnTo>
                    <a:pt x="1364255" y="2108606"/>
                  </a:lnTo>
                  <a:lnTo>
                    <a:pt x="1405784" y="2120861"/>
                  </a:lnTo>
                  <a:lnTo>
                    <a:pt x="1450996" y="2133485"/>
                  </a:lnTo>
                  <a:lnTo>
                    <a:pt x="1450742" y="2133409"/>
                  </a:lnTo>
                  <a:lnTo>
                    <a:pt x="1477020" y="2133409"/>
                  </a:lnTo>
                  <a:lnTo>
                    <a:pt x="1491670" y="2084957"/>
                  </a:lnTo>
                  <a:lnTo>
                    <a:pt x="1466744" y="2077745"/>
                  </a:lnTo>
                  <a:lnTo>
                    <a:pt x="1421942" y="2065248"/>
                  </a:lnTo>
                  <a:lnTo>
                    <a:pt x="1380511" y="2053056"/>
                  </a:lnTo>
                  <a:close/>
                </a:path>
                <a:path w="3397250" h="2195829">
                  <a:moveTo>
                    <a:pt x="1421532" y="2065134"/>
                  </a:moveTo>
                  <a:lnTo>
                    <a:pt x="1421913" y="2065248"/>
                  </a:lnTo>
                  <a:lnTo>
                    <a:pt x="1421532" y="2065134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Picture 2">
            <a:extLst>
              <a:ext uri="{FF2B5EF4-FFF2-40B4-BE49-F238E27FC236}">
                <a16:creationId xmlns:a16="http://schemas.microsoft.com/office/drawing/2014/main" id="{A92CCF57-87DB-C33F-0143-85C56638F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8326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7F258-BF1F-FB01-ABA4-E5FA34BE7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Модуль записи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микрофона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37C397-D657-48B9-587D-EEEC2511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30</a:t>
            </a:fld>
            <a:endParaRPr lang="ru-RU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0CEE3DAF-2757-6619-9E00-525FE0DBBFF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38683" y="1615136"/>
            <a:ext cx="9530917" cy="32801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8C8D47-2736-DBC1-885E-6A7BD574CF67}"/>
              </a:ext>
            </a:extLst>
          </p:cNvPr>
          <p:cNvSpPr txBox="1"/>
          <p:nvPr/>
        </p:nvSpPr>
        <p:spPr>
          <a:xfrm>
            <a:off x="2733963" y="5080790"/>
            <a:ext cx="6096000" cy="1090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365" marR="5080" indent="-1257300" algn="ctr">
              <a:lnSpc>
                <a:spcPct val="100000"/>
              </a:lnSpc>
              <a:spcBef>
                <a:spcPts val="100"/>
              </a:spcBef>
            </a:pPr>
            <a:r>
              <a:rPr lang="ru-RU" sz="32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</a:t>
            </a:r>
            <a:r>
              <a:rPr lang="ru-RU" sz="3200" b="1" spc="-5">
                <a:solidFill>
                  <a:srgbClr val="00A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отключает </a:t>
            </a:r>
            <a:r>
              <a:rPr lang="ru-RU" sz="32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иконку </a:t>
            </a:r>
          </a:p>
          <a:p>
            <a:pPr marL="1269365" marR="5080" indent="-1257300" algn="ctr">
              <a:lnSpc>
                <a:spcPct val="100000"/>
              </a:lnSpc>
              <a:spcBef>
                <a:spcPts val="100"/>
              </a:spcBef>
            </a:pPr>
            <a:r>
              <a:rPr lang="ru-RU" sz="3200" b="1" spc="-1789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lang="ru-RU" sz="3200" b="1" spc="-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реестр</a:t>
            </a:r>
            <a:endParaRPr lang="ru-RU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B09ADC7-FC69-BF1C-9F1D-9C06D5075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494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D7C7B-78CB-7270-CDA5-95A71F2D3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2" y="198159"/>
            <a:ext cx="10515600" cy="1057275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Другие модули </a:t>
            </a:r>
            <a:endParaRPr lang="ru-RU" sz="320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0CD6B023-315A-682E-A0C2-C0D7BEE5EA44}"/>
              </a:ext>
            </a:extLst>
          </p:cNvPr>
          <p:cNvSpPr txBox="1">
            <a:spLocks/>
          </p:cNvSpPr>
          <p:nvPr/>
        </p:nvSpPr>
        <p:spPr>
          <a:xfrm>
            <a:off x="379293" y="1684220"/>
            <a:ext cx="2072708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2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3200" spc="-65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32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3200" spc="-65">
                <a:latin typeface="Times New Roman" panose="02020603050405020304" pitchFamily="18" charset="0"/>
                <a:cs typeface="Times New Roman" panose="02020603050405020304" pitchFamily="18" charset="0"/>
              </a:rPr>
              <a:t>ин</a:t>
            </a:r>
            <a:r>
              <a:rPr lang="ru-RU" sz="32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ш</a:t>
            </a:r>
            <a:r>
              <a:rPr lang="ru-RU" sz="3200" spc="-65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32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3200" spc="-5"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endParaRPr lang="ru-RU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9E75044B-2E40-E5A4-626E-F11DDF11761F}"/>
              </a:ext>
            </a:extLst>
          </p:cNvPr>
          <p:cNvSpPr txBox="1">
            <a:spLocks/>
          </p:cNvSpPr>
          <p:nvPr/>
        </p:nvSpPr>
        <p:spPr>
          <a:xfrm>
            <a:off x="1677273" y="2206732"/>
            <a:ext cx="9932836" cy="3386120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595"/>
              </a:spcBef>
              <a:buNone/>
            </a:pPr>
            <a:r>
              <a:rPr lang="ru-RU" sz="32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Нажатия</a:t>
            </a:r>
            <a:r>
              <a:rPr lang="ru-RU" sz="3200" spc="-1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клавиш</a:t>
            </a:r>
          </a:p>
          <a:p>
            <a:pPr marL="936625" marR="2433955" indent="0">
              <a:lnSpc>
                <a:spcPct val="143200"/>
              </a:lnSpc>
              <a:spcBef>
                <a:spcPts val="45"/>
              </a:spcBef>
              <a:buNone/>
            </a:pPr>
            <a:r>
              <a:rPr lang="ru-RU" sz="32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Файлы </a:t>
            </a:r>
            <a:r>
              <a:rPr lang="ru-RU" sz="3200" spc="-5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32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машины </a:t>
            </a:r>
          </a:p>
          <a:p>
            <a:pPr marL="936625" marR="2433955" indent="0">
              <a:lnSpc>
                <a:spcPct val="143200"/>
              </a:lnSpc>
              <a:spcBef>
                <a:spcPts val="45"/>
              </a:spcBef>
              <a:buNone/>
            </a:pPr>
            <a:endParaRPr lang="ru-RU" spc="-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6625" marR="2433955" indent="0">
              <a:lnSpc>
                <a:spcPct val="143200"/>
              </a:lnSpc>
              <a:spcBef>
                <a:spcPts val="45"/>
              </a:spcBef>
              <a:buNone/>
            </a:pPr>
            <a:r>
              <a:rPr lang="ru-RU" spc="-55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endParaRPr lang="ru-RU" spc="-4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11120" marR="5080" indent="0">
              <a:lnSpc>
                <a:spcPct val="143300"/>
              </a:lnSpc>
              <a:buNone/>
            </a:pPr>
            <a:r>
              <a:rPr lang="ru-RU" spc="-5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ru-RU" sz="32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Листинги</a:t>
            </a:r>
            <a:r>
              <a:rPr lang="ru-RU" sz="32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директорий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D821855-E09F-95E1-D436-F8135CD95968}"/>
              </a:ext>
            </a:extLst>
          </p:cNvPr>
          <p:cNvSpPr/>
          <p:nvPr/>
        </p:nvSpPr>
        <p:spPr>
          <a:xfrm>
            <a:off x="379293" y="2253950"/>
            <a:ext cx="2072708" cy="45719"/>
          </a:xfrm>
          <a:custGeom>
            <a:avLst/>
            <a:gdLst/>
            <a:ahLst/>
            <a:cxnLst/>
            <a:rect l="l" t="t" r="r" b="b"/>
            <a:pathLst>
              <a:path w="1819910">
                <a:moveTo>
                  <a:pt x="0" y="0"/>
                </a:moveTo>
                <a:lnTo>
                  <a:pt x="1819783" y="0"/>
                </a:lnTo>
              </a:path>
            </a:pathLst>
          </a:custGeom>
          <a:ln w="38100">
            <a:solidFill>
              <a:srgbClr val="00A8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27DF83FB-8B63-4B9B-FE6E-C5C238932068}"/>
              </a:ext>
            </a:extLst>
          </p:cNvPr>
          <p:cNvSpPr/>
          <p:nvPr/>
        </p:nvSpPr>
        <p:spPr>
          <a:xfrm>
            <a:off x="2694807" y="3611580"/>
            <a:ext cx="2880360" cy="0"/>
          </a:xfrm>
          <a:custGeom>
            <a:avLst/>
            <a:gdLst/>
            <a:ahLst/>
            <a:cxnLst/>
            <a:rect l="l" t="t" r="r" b="b"/>
            <a:pathLst>
              <a:path w="2880360">
                <a:moveTo>
                  <a:pt x="0" y="0"/>
                </a:moveTo>
                <a:lnTo>
                  <a:pt x="2880360" y="0"/>
                </a:lnTo>
              </a:path>
            </a:pathLst>
          </a:custGeom>
          <a:ln w="38100">
            <a:solidFill>
              <a:srgbClr val="00A8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DA9E0DD8-3BFF-ED67-284A-866EA1E989AA}"/>
              </a:ext>
            </a:extLst>
          </p:cNvPr>
          <p:cNvSpPr/>
          <p:nvPr/>
        </p:nvSpPr>
        <p:spPr>
          <a:xfrm>
            <a:off x="4134987" y="4356585"/>
            <a:ext cx="3276600" cy="0"/>
          </a:xfrm>
          <a:custGeom>
            <a:avLst/>
            <a:gdLst/>
            <a:ahLst/>
            <a:cxnLst/>
            <a:rect l="l" t="t" r="r" b="b"/>
            <a:pathLst>
              <a:path w="3276600">
                <a:moveTo>
                  <a:pt x="0" y="0"/>
                </a:moveTo>
                <a:lnTo>
                  <a:pt x="3276346" y="0"/>
                </a:lnTo>
              </a:path>
            </a:pathLst>
          </a:custGeom>
          <a:ln w="38100">
            <a:solidFill>
              <a:srgbClr val="00A8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20A3CFDD-A005-D06B-B935-06BD765C9E87}"/>
              </a:ext>
            </a:extLst>
          </p:cNvPr>
          <p:cNvSpPr/>
          <p:nvPr/>
        </p:nvSpPr>
        <p:spPr>
          <a:xfrm>
            <a:off x="5925606" y="4987613"/>
            <a:ext cx="3456940" cy="0"/>
          </a:xfrm>
          <a:custGeom>
            <a:avLst/>
            <a:gdLst/>
            <a:ahLst/>
            <a:cxnLst/>
            <a:rect l="l" t="t" r="r" b="b"/>
            <a:pathLst>
              <a:path w="3456940">
                <a:moveTo>
                  <a:pt x="0" y="0"/>
                </a:moveTo>
                <a:lnTo>
                  <a:pt x="3456432" y="0"/>
                </a:lnTo>
              </a:path>
            </a:pathLst>
          </a:custGeom>
          <a:ln w="38100">
            <a:solidFill>
              <a:srgbClr val="00A8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3FE5F976-432F-2DCE-E1D8-70F6A68F2F73}"/>
              </a:ext>
            </a:extLst>
          </p:cNvPr>
          <p:cNvSpPr/>
          <p:nvPr/>
        </p:nvSpPr>
        <p:spPr>
          <a:xfrm flipV="1">
            <a:off x="7464135" y="5592852"/>
            <a:ext cx="3794991" cy="75942"/>
          </a:xfrm>
          <a:custGeom>
            <a:avLst/>
            <a:gdLst/>
            <a:ahLst/>
            <a:cxnLst/>
            <a:rect l="l" t="t" r="r" b="b"/>
            <a:pathLst>
              <a:path w="3924934">
                <a:moveTo>
                  <a:pt x="0" y="0"/>
                </a:moveTo>
                <a:lnTo>
                  <a:pt x="3924427" y="0"/>
                </a:lnTo>
              </a:path>
            </a:pathLst>
          </a:custGeom>
          <a:ln w="38100">
            <a:solidFill>
              <a:srgbClr val="00A8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457EB195-AD66-50CB-DC42-839C215CAC46}"/>
              </a:ext>
            </a:extLst>
          </p:cNvPr>
          <p:cNvSpPr/>
          <p:nvPr/>
        </p:nvSpPr>
        <p:spPr>
          <a:xfrm flipV="1">
            <a:off x="1742247" y="2923704"/>
            <a:ext cx="2880360" cy="45719"/>
          </a:xfrm>
          <a:custGeom>
            <a:avLst/>
            <a:gdLst/>
            <a:ahLst/>
            <a:cxnLst/>
            <a:rect l="l" t="t" r="r" b="b"/>
            <a:pathLst>
              <a:path w="1819910">
                <a:moveTo>
                  <a:pt x="0" y="0"/>
                </a:moveTo>
                <a:lnTo>
                  <a:pt x="1819783" y="0"/>
                </a:lnTo>
              </a:path>
            </a:pathLst>
          </a:custGeom>
          <a:ln w="38100">
            <a:solidFill>
              <a:srgbClr val="00A8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AC72-611D-76C7-D58C-65BEF59546D9}"/>
              </a:ext>
            </a:extLst>
          </p:cNvPr>
          <p:cNvSpPr txBox="1"/>
          <p:nvPr/>
        </p:nvSpPr>
        <p:spPr>
          <a:xfrm flipH="1">
            <a:off x="4134986" y="3723673"/>
            <a:ext cx="3817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об ОС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28ED0C-E6D3-83F3-34F4-E48C07811528}"/>
              </a:ext>
            </a:extLst>
          </p:cNvPr>
          <p:cNvSpPr txBox="1"/>
          <p:nvPr/>
        </p:nvSpPr>
        <p:spPr>
          <a:xfrm>
            <a:off x="5773287" y="4355643"/>
            <a:ext cx="655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Браузерные пароли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6F965FA6-55B8-23D1-171F-8641C29A0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109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D81AF-86DE-52D5-9F4F-3ECB9849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36" y="189587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Связь с другими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кампаниями</a:t>
            </a:r>
            <a:endParaRPr lang="ru-RU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7E4FF1D-410B-A4E8-C68D-70B8A66FD411}"/>
              </a:ext>
            </a:extLst>
          </p:cNvPr>
          <p:cNvSpPr/>
          <p:nvPr/>
        </p:nvSpPr>
        <p:spPr>
          <a:xfrm>
            <a:off x="6985000" y="2139095"/>
            <a:ext cx="2633980" cy="753110"/>
          </a:xfrm>
          <a:custGeom>
            <a:avLst/>
            <a:gdLst/>
            <a:ahLst/>
            <a:cxnLst/>
            <a:rect l="l" t="t" r="r" b="b"/>
            <a:pathLst>
              <a:path w="2633979" h="753110">
                <a:moveTo>
                  <a:pt x="0" y="125475"/>
                </a:moveTo>
                <a:lnTo>
                  <a:pt x="9854" y="76616"/>
                </a:lnTo>
                <a:lnTo>
                  <a:pt x="36734" y="36734"/>
                </a:lnTo>
                <a:lnTo>
                  <a:pt x="76616" y="9854"/>
                </a:lnTo>
                <a:lnTo>
                  <a:pt x="125475" y="0"/>
                </a:lnTo>
                <a:lnTo>
                  <a:pt x="2507996" y="0"/>
                </a:lnTo>
                <a:lnTo>
                  <a:pt x="2556855" y="9854"/>
                </a:lnTo>
                <a:lnTo>
                  <a:pt x="2596737" y="36734"/>
                </a:lnTo>
                <a:lnTo>
                  <a:pt x="2623617" y="76616"/>
                </a:lnTo>
                <a:lnTo>
                  <a:pt x="2633472" y="125475"/>
                </a:lnTo>
                <a:lnTo>
                  <a:pt x="2633472" y="627379"/>
                </a:lnTo>
                <a:lnTo>
                  <a:pt x="2623617" y="676239"/>
                </a:lnTo>
                <a:lnTo>
                  <a:pt x="2596737" y="716121"/>
                </a:lnTo>
                <a:lnTo>
                  <a:pt x="2556855" y="743001"/>
                </a:lnTo>
                <a:lnTo>
                  <a:pt x="2507996" y="752855"/>
                </a:lnTo>
                <a:lnTo>
                  <a:pt x="125475" y="752855"/>
                </a:lnTo>
                <a:lnTo>
                  <a:pt x="76616" y="743001"/>
                </a:lnTo>
                <a:lnTo>
                  <a:pt x="36734" y="716121"/>
                </a:lnTo>
                <a:lnTo>
                  <a:pt x="9854" y="676239"/>
                </a:lnTo>
                <a:lnTo>
                  <a:pt x="0" y="627379"/>
                </a:lnTo>
                <a:lnTo>
                  <a:pt x="0" y="125475"/>
                </a:lnTo>
                <a:close/>
              </a:path>
            </a:pathLst>
          </a:custGeom>
          <a:ln w="57912">
            <a:solidFill>
              <a:srgbClr val="00A88E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D281DF28-A431-62AA-0202-C7D14067D907}"/>
              </a:ext>
            </a:extLst>
          </p:cNvPr>
          <p:cNvSpPr txBox="1">
            <a:spLocks/>
          </p:cNvSpPr>
          <p:nvPr/>
        </p:nvSpPr>
        <p:spPr>
          <a:xfrm>
            <a:off x="7260082" y="2232516"/>
            <a:ext cx="1947545" cy="57467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BugDrop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037B06F3-CECD-FCA9-520D-18D74864B22E}"/>
              </a:ext>
            </a:extLst>
          </p:cNvPr>
          <p:cNvSpPr/>
          <p:nvPr/>
        </p:nvSpPr>
        <p:spPr>
          <a:xfrm>
            <a:off x="1844548" y="2142143"/>
            <a:ext cx="2632075" cy="753110"/>
          </a:xfrm>
          <a:custGeom>
            <a:avLst/>
            <a:gdLst/>
            <a:ahLst/>
            <a:cxnLst/>
            <a:rect l="l" t="t" r="r" b="b"/>
            <a:pathLst>
              <a:path w="2632075" h="753110">
                <a:moveTo>
                  <a:pt x="0" y="125475"/>
                </a:moveTo>
                <a:lnTo>
                  <a:pt x="9859" y="76616"/>
                </a:lnTo>
                <a:lnTo>
                  <a:pt x="36749" y="36734"/>
                </a:lnTo>
                <a:lnTo>
                  <a:pt x="76632" y="9854"/>
                </a:lnTo>
                <a:lnTo>
                  <a:pt x="125476" y="0"/>
                </a:lnTo>
                <a:lnTo>
                  <a:pt x="2506472" y="0"/>
                </a:lnTo>
                <a:lnTo>
                  <a:pt x="2555331" y="9854"/>
                </a:lnTo>
                <a:lnTo>
                  <a:pt x="2595213" y="36734"/>
                </a:lnTo>
                <a:lnTo>
                  <a:pt x="2622093" y="76616"/>
                </a:lnTo>
                <a:lnTo>
                  <a:pt x="2631948" y="125475"/>
                </a:lnTo>
                <a:lnTo>
                  <a:pt x="2631948" y="627380"/>
                </a:lnTo>
                <a:lnTo>
                  <a:pt x="2622093" y="676239"/>
                </a:lnTo>
                <a:lnTo>
                  <a:pt x="2595213" y="716121"/>
                </a:lnTo>
                <a:lnTo>
                  <a:pt x="2555331" y="743001"/>
                </a:lnTo>
                <a:lnTo>
                  <a:pt x="2506472" y="752856"/>
                </a:lnTo>
                <a:lnTo>
                  <a:pt x="125476" y="752856"/>
                </a:lnTo>
                <a:lnTo>
                  <a:pt x="76632" y="743001"/>
                </a:lnTo>
                <a:lnTo>
                  <a:pt x="36749" y="716121"/>
                </a:lnTo>
                <a:lnTo>
                  <a:pt x="9859" y="676239"/>
                </a:lnTo>
                <a:lnTo>
                  <a:pt x="0" y="627380"/>
                </a:lnTo>
                <a:lnTo>
                  <a:pt x="0" y="125475"/>
                </a:lnTo>
                <a:close/>
              </a:path>
            </a:pathLst>
          </a:custGeom>
          <a:ln w="57911">
            <a:solidFill>
              <a:srgbClr val="00A88E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F3271559-1272-D4E0-53B6-1BC9C730DDDF}"/>
              </a:ext>
            </a:extLst>
          </p:cNvPr>
          <p:cNvSpPr txBox="1"/>
          <p:nvPr/>
        </p:nvSpPr>
        <p:spPr>
          <a:xfrm>
            <a:off x="1923287" y="2251312"/>
            <a:ext cx="24961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Prikormka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05FBF1A9-5D1C-8860-25EC-85DCD32E976D}"/>
              </a:ext>
            </a:extLst>
          </p:cNvPr>
          <p:cNvSpPr/>
          <p:nvPr/>
        </p:nvSpPr>
        <p:spPr>
          <a:xfrm>
            <a:off x="4115307" y="3355246"/>
            <a:ext cx="3237230" cy="2359660"/>
          </a:xfrm>
          <a:custGeom>
            <a:avLst/>
            <a:gdLst/>
            <a:ahLst/>
            <a:cxnLst/>
            <a:rect l="l" t="t" r="r" b="b"/>
            <a:pathLst>
              <a:path w="3237229" h="2359660">
                <a:moveTo>
                  <a:pt x="6096" y="125476"/>
                </a:moveTo>
                <a:lnTo>
                  <a:pt x="15950" y="76616"/>
                </a:lnTo>
                <a:lnTo>
                  <a:pt x="42830" y="36734"/>
                </a:lnTo>
                <a:lnTo>
                  <a:pt x="82712" y="9854"/>
                </a:lnTo>
                <a:lnTo>
                  <a:pt x="131572" y="0"/>
                </a:lnTo>
                <a:lnTo>
                  <a:pt x="3096260" y="0"/>
                </a:lnTo>
                <a:lnTo>
                  <a:pt x="3145119" y="9854"/>
                </a:lnTo>
                <a:lnTo>
                  <a:pt x="3185001" y="36734"/>
                </a:lnTo>
                <a:lnTo>
                  <a:pt x="3211881" y="76616"/>
                </a:lnTo>
                <a:lnTo>
                  <a:pt x="3221736" y="125476"/>
                </a:lnTo>
                <a:lnTo>
                  <a:pt x="3221736" y="627380"/>
                </a:lnTo>
                <a:lnTo>
                  <a:pt x="3211881" y="676239"/>
                </a:lnTo>
                <a:lnTo>
                  <a:pt x="3185001" y="716121"/>
                </a:lnTo>
                <a:lnTo>
                  <a:pt x="3145119" y="743001"/>
                </a:lnTo>
                <a:lnTo>
                  <a:pt x="3096260" y="752856"/>
                </a:lnTo>
                <a:lnTo>
                  <a:pt x="131572" y="752856"/>
                </a:lnTo>
                <a:lnTo>
                  <a:pt x="82712" y="743001"/>
                </a:lnTo>
                <a:lnTo>
                  <a:pt x="42830" y="716121"/>
                </a:lnTo>
                <a:lnTo>
                  <a:pt x="15950" y="676239"/>
                </a:lnTo>
                <a:lnTo>
                  <a:pt x="6096" y="627380"/>
                </a:lnTo>
                <a:lnTo>
                  <a:pt x="6096" y="125476"/>
                </a:lnTo>
                <a:close/>
              </a:path>
              <a:path w="3237229" h="2359660">
                <a:moveTo>
                  <a:pt x="0" y="1731772"/>
                </a:moveTo>
                <a:lnTo>
                  <a:pt x="9854" y="1682928"/>
                </a:lnTo>
                <a:lnTo>
                  <a:pt x="36734" y="1643045"/>
                </a:lnTo>
                <a:lnTo>
                  <a:pt x="76616" y="1616155"/>
                </a:lnTo>
                <a:lnTo>
                  <a:pt x="125475" y="1606296"/>
                </a:lnTo>
                <a:lnTo>
                  <a:pt x="3111500" y="1606296"/>
                </a:lnTo>
                <a:lnTo>
                  <a:pt x="3160359" y="1616155"/>
                </a:lnTo>
                <a:lnTo>
                  <a:pt x="3200241" y="1643045"/>
                </a:lnTo>
                <a:lnTo>
                  <a:pt x="3227121" y="1682928"/>
                </a:lnTo>
                <a:lnTo>
                  <a:pt x="3236976" y="1731772"/>
                </a:lnTo>
                <a:lnTo>
                  <a:pt x="3236976" y="2233676"/>
                </a:lnTo>
                <a:lnTo>
                  <a:pt x="3227121" y="2282513"/>
                </a:lnTo>
                <a:lnTo>
                  <a:pt x="3200241" y="2322398"/>
                </a:lnTo>
                <a:lnTo>
                  <a:pt x="3160359" y="2349290"/>
                </a:lnTo>
                <a:lnTo>
                  <a:pt x="3111500" y="2359152"/>
                </a:lnTo>
                <a:lnTo>
                  <a:pt x="125475" y="2359152"/>
                </a:lnTo>
                <a:lnTo>
                  <a:pt x="76616" y="2349290"/>
                </a:lnTo>
                <a:lnTo>
                  <a:pt x="36734" y="2322398"/>
                </a:lnTo>
                <a:lnTo>
                  <a:pt x="9854" y="2282513"/>
                </a:lnTo>
                <a:lnTo>
                  <a:pt x="0" y="2233676"/>
                </a:lnTo>
                <a:lnTo>
                  <a:pt x="0" y="1731772"/>
                </a:lnTo>
                <a:close/>
              </a:path>
            </a:pathLst>
          </a:custGeom>
          <a:ln w="57912">
            <a:solidFill>
              <a:srgbClr val="00A88E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76FFA300-614D-B407-524A-840ADA38D355}"/>
              </a:ext>
            </a:extLst>
          </p:cNvPr>
          <p:cNvSpPr txBox="1"/>
          <p:nvPr/>
        </p:nvSpPr>
        <p:spPr>
          <a:xfrm>
            <a:off x="4178807" y="3428856"/>
            <a:ext cx="3098800" cy="22698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CloudWizard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4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">
              <a:lnSpc>
                <a:spcPct val="100000"/>
              </a:lnSpc>
              <a:spcBef>
                <a:spcPts val="3825"/>
              </a:spcBef>
            </a:pPr>
            <a:r>
              <a:rPr sz="36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Comm</a:t>
            </a:r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6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nMag</a:t>
            </a:r>
            <a:r>
              <a:rPr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6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42464B23-192A-12D3-FDE0-16046D1EA28A}"/>
              </a:ext>
            </a:extLst>
          </p:cNvPr>
          <p:cNvSpPr/>
          <p:nvPr/>
        </p:nvSpPr>
        <p:spPr>
          <a:xfrm>
            <a:off x="3028696" y="2434242"/>
            <a:ext cx="5412740" cy="2475230"/>
          </a:xfrm>
          <a:custGeom>
            <a:avLst/>
            <a:gdLst/>
            <a:ahLst/>
            <a:cxnLst/>
            <a:rect l="l" t="t" r="r" b="b"/>
            <a:pathLst>
              <a:path w="5412740" h="2475229">
                <a:moveTo>
                  <a:pt x="1048258" y="1340231"/>
                </a:moveTo>
                <a:lnTo>
                  <a:pt x="990346" y="1311275"/>
                </a:lnTo>
                <a:lnTo>
                  <a:pt x="874522" y="1253363"/>
                </a:lnTo>
                <a:lnTo>
                  <a:pt x="874522" y="1311275"/>
                </a:lnTo>
                <a:lnTo>
                  <a:pt x="115824" y="1311275"/>
                </a:lnTo>
                <a:lnTo>
                  <a:pt x="115824" y="677164"/>
                </a:lnTo>
                <a:lnTo>
                  <a:pt x="173736" y="677164"/>
                </a:lnTo>
                <a:lnTo>
                  <a:pt x="159245" y="648208"/>
                </a:lnTo>
                <a:lnTo>
                  <a:pt x="86868" y="503428"/>
                </a:lnTo>
                <a:lnTo>
                  <a:pt x="0" y="677164"/>
                </a:lnTo>
                <a:lnTo>
                  <a:pt x="57912" y="677164"/>
                </a:lnTo>
                <a:lnTo>
                  <a:pt x="57912" y="1369187"/>
                </a:lnTo>
                <a:lnTo>
                  <a:pt x="874522" y="1369187"/>
                </a:lnTo>
                <a:lnTo>
                  <a:pt x="874522" y="1427099"/>
                </a:lnTo>
                <a:lnTo>
                  <a:pt x="990346" y="1369187"/>
                </a:lnTo>
                <a:lnTo>
                  <a:pt x="1048258" y="1340231"/>
                </a:lnTo>
                <a:close/>
              </a:path>
              <a:path w="5412740" h="2475229">
                <a:moveTo>
                  <a:pt x="2791714" y="2300859"/>
                </a:moveTo>
                <a:lnTo>
                  <a:pt x="2733827" y="2301290"/>
                </a:lnTo>
                <a:lnTo>
                  <a:pt x="2730716" y="1887016"/>
                </a:lnTo>
                <a:lnTo>
                  <a:pt x="2788666" y="1886585"/>
                </a:lnTo>
                <a:lnTo>
                  <a:pt x="2774111" y="1858010"/>
                </a:lnTo>
                <a:lnTo>
                  <a:pt x="2700528" y="1713484"/>
                </a:lnTo>
                <a:lnTo>
                  <a:pt x="2614930" y="1887855"/>
                </a:lnTo>
                <a:lnTo>
                  <a:pt x="2672804" y="1887435"/>
                </a:lnTo>
                <a:lnTo>
                  <a:pt x="2675915" y="2301710"/>
                </a:lnTo>
                <a:lnTo>
                  <a:pt x="2617978" y="2302129"/>
                </a:lnTo>
                <a:lnTo>
                  <a:pt x="2706116" y="2475204"/>
                </a:lnTo>
                <a:lnTo>
                  <a:pt x="2777058" y="2330704"/>
                </a:lnTo>
                <a:lnTo>
                  <a:pt x="2791498" y="2301290"/>
                </a:lnTo>
                <a:lnTo>
                  <a:pt x="2791714" y="2300859"/>
                </a:lnTo>
                <a:close/>
              </a:path>
              <a:path w="5412740" h="2475229">
                <a:moveTo>
                  <a:pt x="3927602" y="85852"/>
                </a:moveTo>
                <a:lnTo>
                  <a:pt x="3870375" y="57658"/>
                </a:lnTo>
                <a:lnTo>
                  <a:pt x="3753358" y="0"/>
                </a:lnTo>
                <a:lnTo>
                  <a:pt x="3753688" y="57835"/>
                </a:lnTo>
                <a:lnTo>
                  <a:pt x="1668602" y="69811"/>
                </a:lnTo>
                <a:lnTo>
                  <a:pt x="1668272" y="11811"/>
                </a:lnTo>
                <a:lnTo>
                  <a:pt x="1495044" y="99695"/>
                </a:lnTo>
                <a:lnTo>
                  <a:pt x="1669288" y="185547"/>
                </a:lnTo>
                <a:lnTo>
                  <a:pt x="1668945" y="127889"/>
                </a:lnTo>
                <a:lnTo>
                  <a:pt x="1668945" y="127723"/>
                </a:lnTo>
                <a:lnTo>
                  <a:pt x="3754031" y="115747"/>
                </a:lnTo>
                <a:lnTo>
                  <a:pt x="3754374" y="173736"/>
                </a:lnTo>
                <a:lnTo>
                  <a:pt x="3927602" y="85852"/>
                </a:lnTo>
                <a:close/>
              </a:path>
              <a:path w="5412740" h="2475229">
                <a:moveTo>
                  <a:pt x="5412613" y="678688"/>
                </a:moveTo>
                <a:lnTo>
                  <a:pt x="5398135" y="649732"/>
                </a:lnTo>
                <a:lnTo>
                  <a:pt x="5325745" y="504952"/>
                </a:lnTo>
                <a:lnTo>
                  <a:pt x="5238877" y="678688"/>
                </a:lnTo>
                <a:lnTo>
                  <a:pt x="5296789" y="678688"/>
                </a:lnTo>
                <a:lnTo>
                  <a:pt x="5296789" y="1316228"/>
                </a:lnTo>
                <a:lnTo>
                  <a:pt x="4533900" y="1316228"/>
                </a:lnTo>
                <a:lnTo>
                  <a:pt x="4533900" y="1258316"/>
                </a:lnTo>
                <a:lnTo>
                  <a:pt x="4360164" y="1345184"/>
                </a:lnTo>
                <a:lnTo>
                  <a:pt x="4533900" y="1432052"/>
                </a:lnTo>
                <a:lnTo>
                  <a:pt x="4533900" y="1374140"/>
                </a:lnTo>
                <a:lnTo>
                  <a:pt x="5354701" y="1374140"/>
                </a:lnTo>
                <a:lnTo>
                  <a:pt x="5354701" y="1345184"/>
                </a:lnTo>
                <a:lnTo>
                  <a:pt x="5354701" y="1316228"/>
                </a:lnTo>
                <a:lnTo>
                  <a:pt x="5354701" y="678688"/>
                </a:lnTo>
                <a:lnTo>
                  <a:pt x="5412613" y="678688"/>
                </a:lnTo>
                <a:close/>
              </a:path>
            </a:pathLst>
          </a:custGeom>
          <a:solidFill>
            <a:srgbClr val="00A88E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C94021CE-A879-5D12-BA11-C2DC792FC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593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1EE04-52CD-6D02-04F0-8573A31A9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Кейс </a:t>
            </a: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Связь с другими </a:t>
            </a:r>
            <a:b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кампаниями</a:t>
            </a:r>
            <a:endParaRPr lang="ru-RU" sz="32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9DB6AA-E107-EBA9-70AE-86E00A93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33</a:t>
            </a:fld>
            <a:endParaRPr lang="ru-RU"/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5D086215-A422-A3A7-9221-5CC48C825B2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08941" y="1462088"/>
            <a:ext cx="10002404" cy="4680094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1F0368A-4050-A4FE-FDE5-A6F7CB376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3221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атак с использованием </a:t>
            </a:r>
            <a:b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замаскированных задержек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hlinkClick r:id="rId2"/>
              </a:rPr>
              <a:t>https://www.sentinelone.com/blog/smoothoperator-ongoing-campaign-trojanizes-3cx-software-in-software-supply-chain-attack/</a:t>
            </a:r>
            <a:endParaRPr lang="en-US" dirty="0"/>
          </a:p>
          <a:p>
            <a:r>
              <a:rPr lang="en-US" dirty="0">
                <a:hlinkClick r:id="rId3"/>
              </a:rPr>
              <a:t>https://securelist.com/</a:t>
            </a:r>
            <a:endParaRPr lang="en-US" dirty="0"/>
          </a:p>
          <a:p>
            <a:r>
              <a:rPr lang="en-US" dirty="0">
                <a:hlinkClick r:id="rId4"/>
              </a:rPr>
              <a:t>https://securelist.ru/gopuram-backdoor-deployed-through-3cx-supply-chain-attack/107247/</a:t>
            </a:r>
            <a:endParaRPr lang="ru-RU" dirty="0"/>
          </a:p>
          <a:p>
            <a:r>
              <a:rPr lang="en-US" dirty="0">
                <a:hlinkClick r:id="rId5"/>
              </a:rPr>
              <a:t>https://securelist.ru/operation-triangulation/107470/</a:t>
            </a:r>
            <a:endParaRPr lang="ru-RU" dirty="0"/>
          </a:p>
          <a:p>
            <a:r>
              <a:rPr lang="en-US" dirty="0">
                <a:hlinkClick r:id="rId6"/>
              </a:rPr>
              <a:t>https://securelist.ru/bad-magic-apt/107020/</a:t>
            </a:r>
            <a:endParaRPr lang="ru-RU" dirty="0"/>
          </a:p>
          <a:p>
            <a:pPr>
              <a:spcAft>
                <a:spcPts val="800"/>
              </a:spcAft>
            </a:pPr>
            <a:r>
              <a:rPr lang="ru-RU" dirty="0"/>
              <a:t>02_Разбор российских и международных кейсов в области </a:t>
            </a:r>
            <a:r>
              <a:rPr lang="ru-RU" dirty="0" err="1"/>
              <a:t>киберинцидентов</a:t>
            </a:r>
            <a:r>
              <a:rPr lang="ru-RU" dirty="0"/>
              <a:t> - Леонид </a:t>
            </a:r>
            <a:r>
              <a:rPr lang="ru-RU" dirty="0" err="1"/>
              <a:t>Безвершенко</a:t>
            </a:r>
            <a:r>
              <a:rPr lang="ru-RU" dirty="0"/>
              <a:t>, слайды 10-25, 39-51</a:t>
            </a:r>
          </a:p>
          <a:p>
            <a:pPr>
              <a:spcAft>
                <a:spcPts val="800"/>
              </a:spcAft>
            </a:pPr>
            <a:r>
              <a:rPr lang="ru-RU" dirty="0"/>
              <a:t>https://www.kaspersky.ru/blog/supply-chain-attack-on-3cx/34955/</a:t>
            </a:r>
          </a:p>
          <a:p>
            <a:pPr>
              <a:spcAft>
                <a:spcPts val="800"/>
              </a:spcAft>
            </a:pPr>
            <a:r>
              <a:rPr lang="ru-RU" dirty="0"/>
              <a:t>https://objective-see.org/blog/blog_0x73.html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34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273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атак с использованием </a:t>
            </a:r>
            <a:b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замаскированных задержек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35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80BE1A-6F4B-1890-61D1-01D800464A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09" y="1780699"/>
            <a:ext cx="5937885" cy="444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BFDF755-C2C9-ADFE-1ED6-5AC011124C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806" y="1780699"/>
            <a:ext cx="5937885" cy="4441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628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атак с использованием </a:t>
            </a:r>
            <a:b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замаскированных задержек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36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148148-23B4-E1A4-C747-F90D774A91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937885" cy="444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1DC4EA-E894-5D41-08D8-D0AF466F6D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319" y="1825467"/>
            <a:ext cx="5937885" cy="4441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7338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атак с использованием </a:t>
            </a:r>
            <a:b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замаскированных задержек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37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2E8E2C-D6B3-FF3F-AB10-CBAE43B857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937885" cy="444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5785B8-2437-84A6-D7E6-20A98A7EEA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915" y="1825625"/>
            <a:ext cx="5937885" cy="4441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3926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атак с использованием </a:t>
            </a:r>
            <a:b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замаскированных задержек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38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87CEE4-2F54-64C1-E666-441E91417A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937885" cy="444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092A6B-CA5B-6BB7-837A-97B2341046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915" y="1825467"/>
            <a:ext cx="5937885" cy="4441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472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атак с использованием </a:t>
            </a:r>
            <a:b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замаскированных задержек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39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65F460-1009-E3A7-07E9-1E7AC63EE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915" y="1825625"/>
            <a:ext cx="5937885" cy="444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878D49-28D7-04C4-C2BA-AB759E57D1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937885" cy="4441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96824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атак с использованием </a:t>
            </a:r>
            <a:b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замаскированных задержек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40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3EA3AC-CB43-3542-DC26-1D3281803D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937885" cy="444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8F9F50-AED1-0186-9CFB-02419FF74F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915" y="1780699"/>
            <a:ext cx="5937885" cy="4441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147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атак с использованием </a:t>
            </a:r>
            <a:b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замаскированных задержек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41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AFBF8F-07E2-6AC9-80D4-367870BDFC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937885" cy="444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482507-BDCB-EC57-0A5E-416A014452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358" y="1825467"/>
            <a:ext cx="5937885" cy="4441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6278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атак с использованием </a:t>
            </a:r>
            <a:b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замаскированных задержек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42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66F4D2-EBC4-1C38-2FA8-C9BADD4AE7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937885" cy="444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7DED83-B9CA-9C0D-4C72-250A425472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915" y="1780699"/>
            <a:ext cx="5937885" cy="4441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69233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pPr marL="457200" lvl="1" algn="l" rt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ru-RU" sz="3200" b="1" kern="100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задач </a:t>
            </a:r>
            <a:br>
              <a:rPr lang="ru-RU" sz="3200" b="1" kern="100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kern="100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fontAlgn="t">
              <a:tabLst>
                <a:tab pos="630555" algn="l"/>
              </a:tabLst>
            </a:pPr>
            <a:r>
              <a:rPr lang="ru-RU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Метод автоматизированного исследования структуры дизассемблированного представления программного кода с уязвимостью на переполнение буфера с использованием матричного подхода 2018 / Ревнивых Александр Владимирович, </a:t>
            </a:r>
            <a:r>
              <a:rPr lang="ru-RU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Велижанин</a:t>
            </a:r>
            <a:r>
              <a:rPr lang="ru-RU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Анатолий Сергеевич</a:t>
            </a:r>
            <a:endParaRPr lang="ru-RU" dirty="0"/>
          </a:p>
          <a:p>
            <a:pPr lvl="0" fontAlgn="t">
              <a:tabLst>
                <a:tab pos="630555" algn="l"/>
              </a:tabLst>
            </a:pPr>
            <a:r>
              <a:rPr lang="ru-R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Методика обнаружения следов вредоносного программного обеспечения в дампах оперативной памяти 2018 / Иванов В.Ю., Жигалов К.Ю., </a:t>
            </a:r>
            <a:r>
              <a:rPr lang="ru-RU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Алчинов</a:t>
            </a:r>
            <a:r>
              <a:rPr lang="ru-R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А.И., Павенский Ю.А.</a:t>
            </a:r>
            <a:endParaRPr lang="ru-RU" dirty="0"/>
          </a:p>
          <a:p>
            <a:pPr lvl="0" fontAlgn="t">
              <a:tabLst>
                <a:tab pos="630555" algn="l"/>
              </a:tabLst>
            </a:pPr>
            <a:r>
              <a:rPr lang="ru-RU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Защита программ от дизассемблирования 2006 / Алейников С. И., Богатов А. О.</a:t>
            </a:r>
            <a:endParaRPr lang="ru-RU" dirty="0"/>
          </a:p>
          <a:p>
            <a:pPr lvl="0" fontAlgn="t">
              <a:tabLst>
                <a:tab pos="630555" algn="l"/>
              </a:tabLst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43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914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pPr marL="457200" lvl="1" algn="l" rtl="0">
              <a:lnSpc>
                <a:spcPct val="90000"/>
              </a:lnSpc>
              <a:spcBef>
                <a:spcPct val="0"/>
              </a:spcBef>
            </a:pPr>
            <a:r>
              <a:rPr lang="ru-RU" sz="3200" b="1" kern="100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задач </a:t>
            </a:r>
            <a:br>
              <a:rPr lang="ru-RU" sz="3200" b="1" kern="100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kern="100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fontAlgn="t">
              <a:tabLst>
                <a:tab pos="630555" algn="l"/>
              </a:tabLst>
            </a:pPr>
            <a:r>
              <a:rPr lang="ru-RU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Теоретическое обоснование схождения дизассемблированных последовательностей байт 2012 / </a:t>
            </a:r>
            <a:r>
              <a:rPr lang="ru-RU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Эдель</a:t>
            </a:r>
            <a:r>
              <a:rPr lang="ru-RU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Дмитрий Александрович</a:t>
            </a:r>
            <a:endParaRPr lang="ru-RU" dirty="0"/>
          </a:p>
          <a:p>
            <a:pPr lvl="0" fontAlgn="t">
              <a:tabLst>
                <a:tab pos="630555" algn="l"/>
              </a:tabLst>
            </a:pPr>
            <a:r>
              <a:rPr lang="ru-R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Исследование дизассемблированного представления исполняемых файлов, сформированных различными компиляторами. Пример уязвимости на переполнение буфера 2019 / Ревнивых Александр Владимирович, </a:t>
            </a:r>
            <a:r>
              <a:rPr lang="ru-RU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Велижанин</a:t>
            </a:r>
            <a:r>
              <a:rPr lang="ru-R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Анатолий Сергеевич</a:t>
            </a:r>
            <a:endParaRPr lang="ru-RU" dirty="0"/>
          </a:p>
          <a:p>
            <a:pPr lvl="0" fontAlgn="t">
              <a:tabLst>
                <a:tab pos="630555" algn="l"/>
              </a:tabLst>
            </a:pPr>
            <a:r>
              <a:rPr lang="ru-RU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Операционные системы на базе набора команд x86-64 в контексте низкоуровневого программирования 2015 / Пирогов В.Ю.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44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5039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pPr marL="457200" lvl="1" algn="l" rt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ru-RU" sz="3200" b="1" kern="100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задач</a:t>
            </a:r>
            <a:br>
              <a:rPr lang="ru-RU" sz="3200" b="1" kern="100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kern="100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8600" lvl="1" fontAlgn="t">
              <a:spcBef>
                <a:spcPts val="1000"/>
              </a:spcBef>
              <a:tabLst>
                <a:tab pos="630555" algn="l"/>
              </a:tabLst>
            </a:pPr>
            <a:r>
              <a:rPr lang="ru-RU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Методика применения языка Ассемблер для </a:t>
            </a:r>
            <a:r>
              <a:rPr lang="ru-RU" sz="28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стеговложения</a:t>
            </a:r>
            <a:r>
              <a:rPr lang="ru-RU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информации в исполняемые файлы 2016 / </a:t>
            </a:r>
            <a:r>
              <a:rPr lang="ru-RU" sz="28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Штеренберг</a:t>
            </a:r>
            <a:r>
              <a:rPr lang="ru-RU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Станислав Игоревич</a:t>
            </a:r>
            <a:endParaRPr lang="ru-RU" sz="2800" dirty="0"/>
          </a:p>
          <a:p>
            <a:pPr lvl="0" fontAlgn="t">
              <a:tabLst>
                <a:tab pos="630555" algn="l"/>
              </a:tabLst>
            </a:pPr>
            <a:r>
              <a:rPr lang="ru-R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Восстановление управляющих конструкций обработки исключений языка Си++ 2010 / </a:t>
            </a:r>
            <a:r>
              <a:rPr lang="ru-RU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Деревенец</a:t>
            </a:r>
            <a:r>
              <a:rPr lang="ru-R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Егор, Трошина Екатерина, Чернов Александр</a:t>
            </a:r>
            <a:endParaRPr lang="ru-RU" dirty="0"/>
          </a:p>
          <a:p>
            <a:pPr lvl="0" fontAlgn="t">
              <a:tabLst>
                <a:tab pos="630555" algn="l"/>
              </a:tabLst>
            </a:pPr>
            <a:r>
              <a:rPr lang="ru-RU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Определение границ подпрограмм при статическом анализе бинарных образов 2016 / Александров Ярослав Алексеевич, Сафин Ленар </a:t>
            </a:r>
            <a:r>
              <a:rPr lang="ru-RU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Камилевич</a:t>
            </a:r>
            <a:r>
              <a:rPr lang="ru-RU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Чернов Александр Владимирович, Трошина Катерина Николаевна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45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6991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kern="1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Актуальность задач </a:t>
            </a:r>
            <a:br>
              <a:rPr lang="ru-RU" sz="3200" b="1" kern="1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kern="1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дизассемблирования</a:t>
            </a:r>
            <a:endParaRPr lang="ru-RU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46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0E2F6CB-A7AD-E8B7-039B-B7582CBB7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330" y="1862138"/>
            <a:ext cx="59436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Рисунок 1">
            <a:extLst>
              <a:ext uri="{FF2B5EF4-FFF2-40B4-BE49-F238E27FC236}">
                <a16:creationId xmlns:a16="http://schemas.microsoft.com/office/drawing/2014/main" id="{D7C1B150-8F22-55E4-A5CD-34F7668A3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89" y="3489326"/>
            <a:ext cx="5934075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C56ED0C-BBBC-301D-66A9-9B119628A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7AEFE58-7D78-9F03-F808-7C1D6289F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767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4685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kern="1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Актуальность задач </a:t>
            </a:r>
            <a:br>
              <a:rPr lang="ru-RU" sz="3200" b="1" kern="1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kern="1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дизассемблирования</a:t>
            </a:r>
            <a:endParaRPr lang="ru-RU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82324-03E8-A17E-0470-93F50775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marR="0" indent="-228600" eaLnBrk="1" fontAlgn="t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>
                <a:tab pos="630555" algn="l"/>
              </a:tabLst>
            </a:pPr>
            <a:r>
              <a:rPr lang="ru-RU" altLang="ru-RU" sz="2800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Применение принципов динамического полиморфизма при компиляции приложения с целью повышение его криптостойкости 2016 / Аветисян Карэн </a:t>
            </a:r>
            <a:r>
              <a:rPr lang="ru-RU" altLang="ru-RU" sz="2800" dirty="0" err="1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Рафаелович</a:t>
            </a:r>
            <a:r>
              <a:rPr lang="ru-RU" altLang="ru-RU" sz="2800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lang="ru-RU" altLang="ru-RU" sz="2800" dirty="0" err="1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Видру</a:t>
            </a:r>
            <a:r>
              <a:rPr lang="ru-RU" altLang="ru-RU" sz="2800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Артур Васильевич</a:t>
            </a:r>
            <a:endParaRPr lang="ru-RU" altLang="ru-RU" sz="2800" dirty="0">
              <a:latin typeface="+mn-lt"/>
            </a:endParaRPr>
          </a:p>
          <a:p>
            <a:pPr marL="228600" marR="0" indent="-228600" eaLnBrk="1" fontAlgn="t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>
                <a:tab pos="630555" algn="l"/>
              </a:tabLst>
            </a:pPr>
            <a:r>
              <a:rPr lang="ru-RU" altLang="ru-RU" sz="2800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Методика автоматизированного формирования структуры дизассемблированного листинга 2019 / Ревнивых Александр Владимирович, </a:t>
            </a:r>
            <a:r>
              <a:rPr lang="ru-RU" altLang="ru-RU" sz="2800" dirty="0" err="1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Велижанин</a:t>
            </a:r>
            <a:r>
              <a:rPr lang="ru-RU" altLang="ru-RU" sz="2800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Анатолий Сергеевич</a:t>
            </a:r>
            <a:endParaRPr lang="ru-RU" altLang="ru-RU" sz="2800" dirty="0">
              <a:latin typeface="+mn-lt"/>
            </a:endParaRPr>
          </a:p>
          <a:p>
            <a:pPr marL="228600" marR="0" indent="-228600" eaLnBrk="1" fontAlgn="t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>
                <a:tab pos="630555" algn="l"/>
              </a:tabLst>
            </a:pPr>
            <a:r>
              <a:rPr lang="ru-RU" altLang="ru-RU" sz="2800" dirty="0">
                <a:latin typeface="+mn-lt"/>
              </a:rPr>
              <a:t>Проектирование методики обучения основам вирусного анализа Стремоухов Всеволод Дмитриевич Клеймёнов Алексей Владимирович Калашникова Алиса Александровна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47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C56ED0C-BBBC-301D-66A9-9B119628A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7AEFE58-7D78-9F03-F808-7C1D6289F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767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5856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CFDE2-03BF-B32D-37F6-9A783ED3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Гитхабификация</a:t>
            </a:r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ИБ</a:t>
            </a:r>
            <a:endParaRPr lang="ru-RU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8BA2-746B-6667-78FA-71E816B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48</a:t>
            </a:fld>
            <a:endParaRPr lang="ru-RU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24C0A09-5050-05CD-DEA9-E9390E86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C56ED0C-BBBC-301D-66A9-9B119628A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7AEFE58-7D78-9F03-F808-7C1D6289F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767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3F6DC1B4-AD01-78AE-5213-361599E9887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  <a:hlinkClick r:id="rId3" tooltip="https://habr.com/ru/companies/microsoft/articles/487584"/>
              </a:rPr>
              <a:t>https://habr.com/ru/companies/microsoft/articles/487584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/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Когда недавно вышла уязвимость CVE-2023-44487 (HTTP2), то к ней рядышком на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github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 (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  <a:hlinkClick r:id="rId4" tooltip="https://github.com/bcdannyboy/cve-2023-44487"/>
              </a:rPr>
              <a:t>https://github.com/bcdannyboy/CVE-2023-44487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) был размещен как раз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python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 скрипт, который позволял провести сканирование и проверить наличие уязвимости в ваших системах.</a:t>
            </a:r>
          </a:p>
        </p:txBody>
      </p:sp>
    </p:spTree>
    <p:extLst>
      <p:ext uri="{BB962C8B-B14F-4D97-AF65-F5344CB8AC3E}">
        <p14:creationId xmlns:p14="http://schemas.microsoft.com/office/powerpoint/2010/main" val="41136748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8EF0A1-21AE-4DA7-674B-5FF35255F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70560"/>
            <a:ext cx="4299884" cy="381381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39850"/>
            <a:ext cx="10515600" cy="52895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ru-RU" sz="3200" b="1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3200" b="1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3200" b="1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3200" b="1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              </a:t>
            </a:r>
            <a:r>
              <a:rPr lang="ru-RU" sz="3200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Спасибо за внимание! </a:t>
            </a:r>
          </a:p>
          <a:p>
            <a:pPr marL="0" indent="0" algn="ctr">
              <a:buNone/>
            </a:pPr>
            <a:endParaRPr lang="ru-RU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Д.т.н., профессор кафедры «</a:t>
            </a:r>
            <a:r>
              <a:rPr lang="ru-RU" sz="280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УиЗИ</a:t>
            </a:r>
            <a:r>
              <a:rPr lang="ru-RU" sz="2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» РУТ (МИИТ)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Сидоренко Валентина Г</a:t>
            </a:r>
            <a:r>
              <a:rPr lang="ru-RU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еннадьевна</a:t>
            </a:r>
            <a:r>
              <a:rPr lang="ru-RU" sz="2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B6EBC7-2752-5BAB-355B-D6C2F1D2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dirty="0" smtClean="0"/>
              <a:t>49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31DB7-DFCA-66EB-DC32-D20459A07883}"/>
              </a:ext>
            </a:extLst>
          </p:cNvPr>
          <p:cNvSpPr txBox="1"/>
          <p:nvPr/>
        </p:nvSpPr>
        <p:spPr>
          <a:xfrm>
            <a:off x="838200" y="3961150"/>
            <a:ext cx="4299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https://taplink.cc/uizirut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9D7B68B-A6DF-0761-8E05-42F22AD76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65125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5686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59C381F157584E847F40BF3D5760D4" ma:contentTypeVersion="9" ma:contentTypeDescription="Create a new document." ma:contentTypeScope="" ma:versionID="fd26fee34c9c8218b5cb1bf289d78cdd">
  <xsd:schema xmlns:xsd="http://www.w3.org/2001/XMLSchema" xmlns:xs="http://www.w3.org/2001/XMLSchema" xmlns:p="http://schemas.microsoft.com/office/2006/metadata/properties" xmlns:ns2="aa959d31-8759-406f-8f75-7497590a0733" targetNamespace="http://schemas.microsoft.com/office/2006/metadata/properties" ma:root="true" ma:fieldsID="ee670ed7e5664678a7d1c529808757ff" ns2:_="">
    <xsd:import namespace="aa959d31-8759-406f-8f75-7497590a073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959d31-8759-406f-8f75-7497590a073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aa959d31-8759-406f-8f75-7497590a0733" xsi:nil="true"/>
    <MediaLengthInSeconds xmlns="aa959d31-8759-406f-8f75-7497590a0733" xsi:nil="true"/>
  </documentManagement>
</p:properties>
</file>

<file path=customXml/itemProps1.xml><?xml version="1.0" encoding="utf-8"?>
<ds:datastoreItem xmlns:ds="http://schemas.openxmlformats.org/officeDocument/2006/customXml" ds:itemID="{0D35FF85-FDD6-4365-ACFD-2F52F683E201}"/>
</file>

<file path=customXml/itemProps2.xml><?xml version="1.0" encoding="utf-8"?>
<ds:datastoreItem xmlns:ds="http://schemas.openxmlformats.org/officeDocument/2006/customXml" ds:itemID="{4C87A09E-DF40-4711-A085-E48A40BB0CA6}"/>
</file>

<file path=customXml/itemProps3.xml><?xml version="1.0" encoding="utf-8"?>
<ds:datastoreItem xmlns:ds="http://schemas.openxmlformats.org/officeDocument/2006/customXml" ds:itemID="{90FFB7A1-DA1E-48F7-8F5F-F0F6A1588BB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1447</Words>
  <Application>Microsoft Office PowerPoint</Application>
  <PresentationFormat>Широкоэкранный</PresentationFormat>
  <Paragraphs>230</Paragraphs>
  <Slides>49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9" baseType="lpstr">
      <vt:lpstr>-apple-system</vt:lpstr>
      <vt:lpstr>Arial</vt:lpstr>
      <vt:lpstr>Arial MT</vt:lpstr>
      <vt:lpstr>Calibri</vt:lpstr>
      <vt:lpstr>Calibri Light</vt:lpstr>
      <vt:lpstr>Consolas</vt:lpstr>
      <vt:lpstr>Tahoma</vt:lpstr>
      <vt:lpstr>Times New Roman</vt:lpstr>
      <vt:lpstr>Trebuchet MS</vt:lpstr>
      <vt:lpstr>Тема Office</vt:lpstr>
      <vt:lpstr>Презентация PowerPoint</vt:lpstr>
      <vt:lpstr>Ссылки на ресурсы</vt:lpstr>
      <vt:lpstr>What can be as a Service?</vt:lpstr>
      <vt:lpstr>Информация об уязвимостях</vt:lpstr>
      <vt:lpstr>Атака на цепочку поставок </vt:lpstr>
      <vt:lpstr>Кейс #1. Публикация вредоносного  кода в популярном пакете node-ipc </vt:lpstr>
      <vt:lpstr>«Просто скачай и запусти» </vt:lpstr>
      <vt:lpstr>Кейс #1. Публикация вредоносного  кода в популярном пакете node-ipc </vt:lpstr>
      <vt:lpstr>Кейс #1. Публикация вредоносного  кода в популярном пакете node-ipc </vt:lpstr>
      <vt:lpstr>Кейс #1. Публикация вредоносного  кода в популярном пакете node-ipc </vt:lpstr>
      <vt:lpstr>Мониторинг открытых  репозиториев</vt:lpstr>
      <vt:lpstr>Кейс #2. Двойная атака через  цепочку поставок на клиентов ЗСХ</vt:lpstr>
      <vt:lpstr>Кейс #2. Двойная атака через  цепочку поставок на клиентов ЗСХ</vt:lpstr>
      <vt:lpstr>Кейс #2. Двойная атака через  цепочку поставок на клиентов ЗСХ</vt:lpstr>
      <vt:lpstr>Кейс #2. Двойная атака через  цепочку поставок на клиентов ЗСХ</vt:lpstr>
      <vt:lpstr>Кейс #2. Двойная атака через  цепочку поставок на клиентов ЗСХ</vt:lpstr>
      <vt:lpstr>Кейс #2. Двойная атака через  цепочку поставок на клиентов ЗСХ</vt:lpstr>
      <vt:lpstr>Кейс #2. Двойная атака через  цепочку поставок на клиентов ЗСХ</vt:lpstr>
      <vt:lpstr>Кейс #2. Двойная атака через  цепочку поставок на клиентов ЗСХ</vt:lpstr>
      <vt:lpstr>Кейс #2. Двойная атака через  цепочку поставок на клиентов ЗСХ</vt:lpstr>
      <vt:lpstr>Кейс #3.2. АРТ-угроза CloudWizard: история CommonMagic продолжается</vt:lpstr>
      <vt:lpstr>Кейс #3.2. Подозрительная служба</vt:lpstr>
      <vt:lpstr>Кейс #3.2. Ошибка в реализации  алгоритма RC5</vt:lpstr>
      <vt:lpstr>Кейс #3.2. Ошибка в реализации  алгоритма RC5</vt:lpstr>
      <vt:lpstr>Кейс #3.2. Ошибка в реализации  алгоритма RC5</vt:lpstr>
      <vt:lpstr>Кейс #3.2. Virtual File System</vt:lpstr>
      <vt:lpstr>Кейс #3.2. Оркестратор</vt:lpstr>
      <vt:lpstr>Кейс #3.2. Команды</vt:lpstr>
      <vt:lpstr>Кейс #3.2. Модуль записи  микрофона</vt:lpstr>
      <vt:lpstr>Кейс #3.2. Модуль записи  микрофона</vt:lpstr>
      <vt:lpstr>Кейс #3.2. Другие модули </vt:lpstr>
      <vt:lpstr>Кейс #3. Связь с другими  кампаниями</vt:lpstr>
      <vt:lpstr>Кейс #3. Связь с другими  кампаниями</vt:lpstr>
      <vt:lpstr>Примеры атак с использованием  замаскированных задержек времени</vt:lpstr>
      <vt:lpstr>Примеры атак с использованием  замаскированных задержек времени</vt:lpstr>
      <vt:lpstr>Примеры атак с использованием  замаскированных задержек времени</vt:lpstr>
      <vt:lpstr>Примеры атак с использованием  замаскированных задержек времени</vt:lpstr>
      <vt:lpstr>Примеры атак с использованием  замаскированных задержек времени</vt:lpstr>
      <vt:lpstr>Примеры атак с использованием  замаскированных задержек времени</vt:lpstr>
      <vt:lpstr>Примеры атак с использованием  замаскированных задержек времени</vt:lpstr>
      <vt:lpstr>Примеры атак с использованием  замаскированных задержек времени</vt:lpstr>
      <vt:lpstr>Примеры атак с использованием  замаскированных задержек времени</vt:lpstr>
      <vt:lpstr>Актуальность задач  дизассемблирования</vt:lpstr>
      <vt:lpstr>Актуальность задач  дизассемблирования</vt:lpstr>
      <vt:lpstr>Актуальность задач дизассемблирования</vt:lpstr>
      <vt:lpstr>Актуальность задач  дизассемблирования</vt:lpstr>
      <vt:lpstr>Актуальность задач  дизассемблирования</vt:lpstr>
      <vt:lpstr>Гитхабификация ИБ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Сидоренко Валентина Геннадьевна</cp:lastModifiedBy>
  <cp:revision>10</cp:revision>
  <cp:lastPrinted>2023-05-17T11:28:08Z</cp:lastPrinted>
  <dcterms:created xsi:type="dcterms:W3CDTF">2021-11-29T10:22:08Z</dcterms:created>
  <dcterms:modified xsi:type="dcterms:W3CDTF">2023-11-12T10:09:30Z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0x010100BE59C381F157584E847F40BF3D5760D4</vt:lpwstr>
  </property>
  <property fmtid="{D5CDD505-2E9C-101B-9397-08002B2CF9AE}" pid="3" name="Order">
    <vt:r8>6400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