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358" r:id="rId6"/>
    <p:sldId id="364" r:id="rId7"/>
    <p:sldId id="365" r:id="rId8"/>
    <p:sldId id="355" r:id="rId9"/>
    <p:sldId id="347" r:id="rId10"/>
    <p:sldId id="342" r:id="rId11"/>
    <p:sldId id="357" r:id="rId12"/>
    <p:sldId id="359" r:id="rId13"/>
    <p:sldId id="361" r:id="rId14"/>
    <p:sldId id="362" r:id="rId15"/>
    <p:sldId id="360" r:id="rId16"/>
    <p:sldId id="363" r:id="rId17"/>
    <p:sldId id="366" r:id="rId18"/>
    <p:sldId id="367" r:id="rId19"/>
    <p:sldId id="260" r:id="rId20"/>
  </p:sldIdLst>
  <p:sldSz cx="12192000" cy="6858000"/>
  <p:notesSz cx="9947275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идоренко Валентина Геннадьевна" initials="СВГ" lastIdx="1" clrIdx="0">
    <p:extLst>
      <p:ext uri="{19B8F6BF-5375-455C-9EA6-DF929625EA0E}">
        <p15:presenceInfo xmlns:p15="http://schemas.microsoft.com/office/powerpoint/2012/main" userId="S::sidorenko_v@edu.rut-miit.ru::9fd89ba1-258d-4f41-8d6a-6540ac52a2c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75" autoAdjust="0"/>
    <p:restoredTop sz="93193" autoAdjust="0"/>
  </p:normalViewPr>
  <p:slideViewPr>
    <p:cSldViewPr snapToGrid="0">
      <p:cViewPr varScale="1">
        <p:scale>
          <a:sx n="107" d="100"/>
          <a:sy n="107" d="100"/>
        </p:scale>
        <p:origin x="12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8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BDAA8-6AFD-40D7-B2DC-3974A8D79420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4D8C9-A3E5-4C02-991D-E2CD654828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1081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C75B8-12E8-4D9F-8F85-5D57A486AD22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4728" y="3300412"/>
            <a:ext cx="795782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765FE-06FB-4088-B15A-7CEB200242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02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765FE-06FB-4088-B15A-7CEB2002429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03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D2BD5-6C6F-48A0-B518-DD4B2CFEDC3E}" type="datetime1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D55B-DBAA-40C9-96F1-9AC9D67C8380}" type="datetime1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D90F-A6B2-49D5-B676-6CAF838D29CE}" type="datetime1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768FD-C195-4808-88A8-B065091832EB}" type="datetime1">
              <a:rPr lang="ru-RU" smtClean="0"/>
              <a:t>27.10.2024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6CC82-F715-4F1B-8A76-50C69FAB6C27}" type="datetime1">
              <a:rPr lang="ru-RU" smtClean="0"/>
              <a:t>27.10.2024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A5486-FB1F-4B1B-9550-BAA854518CF3}" type="datetime1">
              <a:rPr lang="ru-RU" smtClean="0"/>
              <a:t>27.10.2024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0244-3D84-4B3F-AD26-97E5D37E4300}" type="datetime1">
              <a:rPr lang="ru-RU" smtClean="0"/>
              <a:t>27.10.2024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19FC-E126-4CBB-8012-0D9C792BB58C}" type="datetime1">
              <a:rPr lang="ru-RU" smtClean="0"/>
              <a:t>27.10.2024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2F15C-F248-4AA2-8218-2A24266A843F}" type="datetime1">
              <a:rPr lang="ru-RU" smtClean="0"/>
              <a:t>27.10.2024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E28CD-96F2-4C53-8864-12B0AB282278}" type="datetime1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E9E3C-136C-4190-B3F4-BF3FA1292472}" type="datetime1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37925-8FCB-4513-AC74-80672112080C}" type="datetime1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slide" Target="slide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34532" y="1484352"/>
            <a:ext cx="52536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Разработка системы машинного обучения для анализа и классификации генераторов псевдослучайных чисел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5E264AE-23E1-2709-CE8D-108B8C159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4518" y="1112876"/>
            <a:ext cx="742950" cy="74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711DC-FFC8-076A-FA29-B2B4C996EBDA}"/>
              </a:ext>
            </a:extLst>
          </p:cNvPr>
          <p:cNvSpPr txBox="1"/>
          <p:nvPr/>
        </p:nvSpPr>
        <p:spPr>
          <a:xfrm>
            <a:off x="534532" y="4815425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Валерий Павлович Куминов</a:t>
            </a:r>
          </a:p>
          <a:p>
            <a:endParaRPr lang="ru-RU" dirty="0">
              <a:solidFill>
                <a:schemeClr val="accent5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ТКИ-641</a:t>
            </a:r>
          </a:p>
          <a:p>
            <a:endParaRPr lang="ru-RU" sz="1800" dirty="0">
              <a:solidFill>
                <a:schemeClr val="accent5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46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1F5237-074B-F0B2-3DD2-384D2E20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sp>
        <p:nvSpPr>
          <p:cNvPr id="5" name="AutoShape 2" descr="Picture background">
            <a:extLst>
              <a:ext uri="{FF2B5EF4-FFF2-40B4-BE49-F238E27FC236}">
                <a16:creationId xmlns:a16="http://schemas.microsoft.com/office/drawing/2014/main" id="{4A879C40-D6D9-464C-241D-1C482E4736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 descr="Picture background">
            <a:extLst>
              <a:ext uri="{FF2B5EF4-FFF2-40B4-BE49-F238E27FC236}">
                <a16:creationId xmlns:a16="http://schemas.microsoft.com/office/drawing/2014/main" id="{A3D005D4-F12E-20FA-1B77-BC326D41F657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ГПСЧ</a:t>
            </a:r>
            <a:endParaRPr lang="ru-RU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1761CE75-FB06-F808-4723-CDFFA0901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4518" y="1112876"/>
            <a:ext cx="742950" cy="74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ture background">
            <a:extLst>
              <a:ext uri="{FF2B5EF4-FFF2-40B4-BE49-F238E27FC236}">
                <a16:creationId xmlns:a16="http://schemas.microsoft.com/office/drawing/2014/main" id="{307903EE-DEC5-D63D-ECE3-01851F3874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0BA68D-9213-A3FC-082B-9FC183A67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10" y="1411093"/>
            <a:ext cx="9050013" cy="517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82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268FC-8EFA-3EEB-5826-EA9AA8E4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AE95D5-D466-248E-5465-FFD534A1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2E40FF0-38C5-4D99-3405-2FE763A1A6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861" y="2164650"/>
            <a:ext cx="6771821" cy="355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30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0B445-F6E0-ADB7-83D2-CC8B3BC0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FB5545-47A5-8C88-91DE-8846C732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BDE8C37E-2DC4-1A26-D8FF-806DC8497D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053" y="1027906"/>
            <a:ext cx="5052141" cy="3484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800467-1C67-B6A2-514B-5B454B92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4089505"/>
            <a:ext cx="6029124" cy="2631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522070-F184-CDF4-B161-C8C7AE69B084}"/>
              </a:ext>
            </a:extLst>
          </p:cNvPr>
          <p:cNvSpPr txBox="1"/>
          <p:nvPr/>
        </p:nvSpPr>
        <p:spPr>
          <a:xfrm>
            <a:off x="176874" y="185366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F2F2F"/>
                </a:solidFill>
                <a:effectLst/>
                <a:latin typeface="YS Text"/>
              </a:rPr>
              <a:t>Machine Learning. ML — это метод, в которых алгоритм, учат думать и действовать как человек на основе полученного опыта или данных. Читать, писать, рисовать, отличать рэп от рока, а картошку от морковки.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769E11-E191-60A8-FE95-27119C51C554}"/>
              </a:ext>
            </a:extLst>
          </p:cNvPr>
          <p:cNvSpPr txBox="1"/>
          <p:nvPr/>
        </p:nvSpPr>
        <p:spPr>
          <a:xfrm>
            <a:off x="6627612" y="4515035"/>
            <a:ext cx="5564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82523"/>
                </a:solidFill>
                <a:effectLst/>
                <a:latin typeface="Ginto"/>
              </a:rPr>
              <a:t>Нейроны</a:t>
            </a:r>
            <a:r>
              <a:rPr lang="ru-RU" dirty="0">
                <a:solidFill>
                  <a:srgbClr val="282523"/>
                </a:solidFill>
                <a:latin typeface="Ginto"/>
              </a:rPr>
              <a:t> - </a:t>
            </a:r>
            <a:r>
              <a:rPr lang="ru-RU" b="0" i="0" dirty="0">
                <a:solidFill>
                  <a:srgbClr val="282523"/>
                </a:solidFill>
                <a:effectLst/>
                <a:latin typeface="Ginto"/>
              </a:rPr>
              <a:t>это базовые элементы нервной системы, передающие информацию через электрические и химические сигналы. В биологии они соединяются, образуя сети, которые позволяют мышлению и чувствам. В искусственных нейронных сетях нейроны представляют собой узлы, которые обрабатывают и передают данные, имитируя работу биологических нейронов.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700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AF40FD-01DC-D32E-B3C9-B20A375C8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04" y="1076315"/>
            <a:ext cx="5934669" cy="57816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19AB62-FF26-948E-071C-6AF0C904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622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Xorshift128</a:t>
            </a:r>
            <a:endParaRPr lang="ru-RU" sz="3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A3A3FF-1D42-0DDC-6875-D2E6DD45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720"/>
            <a:ext cx="5431173" cy="4351338"/>
          </a:xfrm>
        </p:spPr>
        <p:txBody>
          <a:bodyPr>
            <a:normAutofit fontScale="25000" lnSpcReduction="20000"/>
          </a:bodyPr>
          <a:lstStyle/>
          <a:p>
            <a:r>
              <a:rPr lang="en-US" sz="48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xorshift128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352454534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987654323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2356786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65432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_random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nonlocal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FFFFFFFF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48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32-bit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_random</a:t>
            </a:r>
            <a:endParaRPr lang="en-US" sz="4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8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8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'xorshift128.txt'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8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xorshift128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8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3000000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48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48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480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8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480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48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8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8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480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48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9BCEFD-0B08-A42D-7138-3E9B9E17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05E1EB-8976-FC18-B125-7902CE0D2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928" y="1142207"/>
            <a:ext cx="1733550" cy="553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hlinkClick r:id="rId5" action="ppaction://hlinksldjump"/>
            <a:extLst>
              <a:ext uri="{FF2B5EF4-FFF2-40B4-BE49-F238E27FC236}">
                <a16:creationId xmlns:a16="http://schemas.microsoft.com/office/drawing/2014/main" id="{7AF355E8-621A-79BE-178D-30EA65194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581662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28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19411"/>
            <a:ext cx="10515600" cy="1005201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Результаты тестирования 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NIST</a:t>
            </a:r>
            <a:endParaRPr lang="ru-RU" sz="3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8375CD-3C33-BAFF-04D1-3A89D7B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8F63C0-28AD-AD44-B32C-11AA4FD1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433086"/>
            <a:ext cx="5737467" cy="4313047"/>
          </a:xfrm>
          <a:prstGeom prst="rect">
            <a:avLst/>
          </a:prstGeom>
        </p:spPr>
      </p:pic>
      <p:pic>
        <p:nvPicPr>
          <p:cNvPr id="3" name="Picture 2">
            <a:hlinkClick r:id="rId3" action="ppaction://hlinksldjump"/>
            <a:extLst>
              <a:ext uri="{FF2B5EF4-FFF2-40B4-BE49-F238E27FC236}">
                <a16:creationId xmlns:a16="http://schemas.microsoft.com/office/drawing/2014/main" id="{089E796E-00BC-6783-1651-13CFEF007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581662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D1941-480D-EDC5-1249-78CD1A2E916F}"/>
              </a:ext>
            </a:extLst>
          </p:cNvPr>
          <p:cNvSpPr txBox="1"/>
          <p:nvPr/>
        </p:nvSpPr>
        <p:spPr>
          <a:xfrm>
            <a:off x="6259633" y="232981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Xorshift128</a:t>
            </a:r>
            <a:r>
              <a:rPr lang="ru-RU" dirty="0"/>
              <a:t> успешно прошел большинство </a:t>
            </a:r>
          </a:p>
          <a:p>
            <a:r>
              <a:rPr lang="ru-RU" dirty="0"/>
              <a:t>статистических тестов, что мотивирует сделать вывод о его хорошем качестве. </a:t>
            </a:r>
          </a:p>
          <a:p>
            <a:endParaRPr lang="ru-RU" dirty="0"/>
          </a:p>
          <a:p>
            <a:r>
              <a:rPr lang="ru-RU" dirty="0"/>
              <a:t>Спектральный тест и тест на периодичность не были пройдены идеально. </a:t>
            </a:r>
          </a:p>
          <a:p>
            <a:endParaRPr lang="ru-RU" dirty="0"/>
          </a:p>
          <a:p>
            <a:r>
              <a:rPr lang="ru-RU" dirty="0"/>
              <a:t>Это может указывать на наличие </a:t>
            </a:r>
          </a:p>
          <a:p>
            <a:r>
              <a:rPr lang="ru-RU" dirty="0"/>
              <a:t>детерминированности в генерируемых последовательностях. </a:t>
            </a:r>
          </a:p>
        </p:txBody>
      </p:sp>
    </p:spTree>
    <p:extLst>
      <p:ext uri="{BB962C8B-B14F-4D97-AF65-F5344CB8AC3E}">
        <p14:creationId xmlns:p14="http://schemas.microsoft.com/office/powerpoint/2010/main" val="129053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3068" y="178436"/>
            <a:ext cx="10741307" cy="1005201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Построение нейронной сети</a:t>
            </a:r>
            <a:r>
              <a:rPr lang="en-US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Xorshift128</a:t>
            </a:r>
            <a:endParaRPr lang="ru-RU" sz="30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8375CD-3C33-BAFF-04D1-3A89D7B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31DD5D11-6839-9BB4-AD11-6D02B770451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F44B4B-4923-C359-0344-329187A9E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68" y="1521690"/>
            <a:ext cx="4968425" cy="5199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2">
            <a:hlinkClick r:id="rId3" action="ppaction://hlinksldjump"/>
            <a:extLst>
              <a:ext uri="{FF2B5EF4-FFF2-40B4-BE49-F238E27FC236}">
                <a16:creationId xmlns:a16="http://schemas.microsoft.com/office/drawing/2014/main" id="{78C854EE-FC9D-A970-F052-89ED8A7E1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581662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AE59AA-80B0-01FD-1C6C-D7E18B0B215F}"/>
              </a:ext>
            </a:extLst>
          </p:cNvPr>
          <p:cNvSpPr txBox="1"/>
          <p:nvPr/>
        </p:nvSpPr>
        <p:spPr>
          <a:xfrm>
            <a:off x="5257800" y="1643162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входном слое 128 узлов, символизирующих 4 числа размерностью по 32 бит каждое. </a:t>
            </a:r>
          </a:p>
          <a:p>
            <a:pPr indent="450215" algn="just"/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скрытом слое предполагаем 1024 узла исходя из того, что XOR является нелинейной операцией,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моделирования которой необходимо достаточное количество узлов, но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такое, удовлетворяющее следующим требованиям: </a:t>
            </a:r>
          </a:p>
          <a:p>
            <a:pPr marL="342900" indent="-342900" algn="just"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злов не должно быть мало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одель может не справиться с поиском закономерностей в данных (проблема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недообучения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marL="342900" indent="-342900" algn="just"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Узлов не должно быть слишком много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одель станет слишком сложной и займет много времени для обучения, а также может начать «запоминать» данные, а не обучаться обобщающим шаблонам (проблема переобучения)</a:t>
            </a: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выходном слое 32 узла, символизирующих пятое число размерностью 32 бит. </a:t>
            </a:r>
          </a:p>
        </p:txBody>
      </p:sp>
    </p:spTree>
    <p:extLst>
      <p:ext uri="{BB962C8B-B14F-4D97-AF65-F5344CB8AC3E}">
        <p14:creationId xmlns:p14="http://schemas.microsoft.com/office/powerpoint/2010/main" val="78815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041" y="242829"/>
            <a:ext cx="10515600" cy="1005201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Обучение модели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8375CD-3C33-BAFF-04D1-3A89D7B8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31DD5D11-6839-9BB4-AD11-6D02B770451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pic>
        <p:nvPicPr>
          <p:cNvPr id="20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08594135-42CD-94E5-54F3-E9B4A5656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581662"/>
            <a:ext cx="742950" cy="74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358F909-DDB2-9523-B04D-3EEBB2D8C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991393"/>
            <a:ext cx="6040401" cy="573008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91F268-69CF-72DA-0C63-7B59EBDF5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4276" y="1248030"/>
            <a:ext cx="5430999" cy="56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>
            <a:extLst>
              <a:ext uri="{FF2B5EF4-FFF2-40B4-BE49-F238E27FC236}">
                <a16:creationId xmlns:a16="http://schemas.microsoft.com/office/drawing/2014/main" id="{E055E5CC-8753-83CA-8BFB-E38FA8722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447" y="153726"/>
            <a:ext cx="2538853" cy="6704274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F70B9C-BC0A-679A-6466-E5CE66FF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3F1A6C2-45AD-9CF0-0989-3DF08AE1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Обучение модели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AEC39-FA9F-CF20-F141-0FE04EFBBA02}"/>
              </a:ext>
            </a:extLst>
          </p:cNvPr>
          <p:cNvSpPr txBox="1"/>
          <p:nvPr/>
        </p:nvSpPr>
        <p:spPr>
          <a:xfrm>
            <a:off x="241300" y="1458189"/>
            <a:ext cx="4038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Происходит считывание данных из файла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Преобразование их в двоичные строки и создание массивов признаков и целевых значений для обучения нейронной сети. 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Разделение данных на обучающие и тестовые наборы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Загрузка и компиляция модели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Использование </a:t>
            </a:r>
            <a:r>
              <a:rPr lang="ru-RU" dirty="0" err="1"/>
              <a:t>Keras</a:t>
            </a:r>
            <a:r>
              <a:rPr lang="ru-RU" dirty="0"/>
              <a:t> </a:t>
            </a:r>
            <a:r>
              <a:rPr lang="ru-RU" dirty="0" err="1"/>
              <a:t>Tuner</a:t>
            </a:r>
            <a:r>
              <a:rPr lang="ru-RU" dirty="0"/>
              <a:t> для подбора наилучших </a:t>
            </a:r>
            <a:r>
              <a:rPr lang="ru-RU" dirty="0" err="1"/>
              <a:t>гиперпараметров</a:t>
            </a:r>
            <a:r>
              <a:rPr lang="ru-RU" dirty="0"/>
              <a:t> модели</a:t>
            </a:r>
            <a:endParaRPr lang="en-US" dirty="0"/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Обучение и сохранение модели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FA313-50D9-B1C8-CB0D-0C4A8D3F44CD}"/>
              </a:ext>
            </a:extLst>
          </p:cNvPr>
          <p:cNvSpPr txBox="1"/>
          <p:nvPr/>
        </p:nvSpPr>
        <p:spPr>
          <a:xfrm>
            <a:off x="7848600" y="1899860"/>
            <a:ext cx="3759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</a:t>
            </a:r>
            <a:r>
              <a:rPr lang="ru-RU" dirty="0"/>
              <a:t>Модель состоит из последовательных слоев: одного </a:t>
            </a:r>
            <a:r>
              <a:rPr lang="ru-RU" dirty="0" err="1"/>
              <a:t>полносвязного</a:t>
            </a:r>
            <a:r>
              <a:rPr lang="ru-RU" dirty="0"/>
              <a:t> слоя с 1024 нейронами и активацией </a:t>
            </a:r>
            <a:r>
              <a:rPr lang="ru-RU" dirty="0" err="1"/>
              <a:t>ReLU</a:t>
            </a:r>
            <a:r>
              <a:rPr lang="ru-RU" dirty="0"/>
              <a:t> и выходного слоя с 32 нейронами и активацией </a:t>
            </a:r>
            <a:r>
              <a:rPr lang="en-US" dirty="0"/>
              <a:t>sigmoid</a:t>
            </a:r>
            <a:r>
              <a:rPr lang="ru-RU" dirty="0"/>
              <a:t>. </a:t>
            </a:r>
            <a:endParaRPr lang="en-US" dirty="0"/>
          </a:p>
          <a:p>
            <a:r>
              <a:rPr lang="en-US" dirty="0"/>
              <a:t>   </a:t>
            </a:r>
            <a:r>
              <a:rPr lang="ru-RU" dirty="0"/>
              <a:t>Оптимизатор </a:t>
            </a:r>
            <a:r>
              <a:rPr lang="ru-RU" dirty="0" err="1"/>
              <a:t>Nadam</a:t>
            </a:r>
            <a:r>
              <a:rPr lang="ru-RU" dirty="0"/>
              <a:t> используется для обновления весов, чтобы минимизировать функцию потерь </a:t>
            </a:r>
            <a:r>
              <a:rPr lang="ru-RU" dirty="0" err="1"/>
              <a:t>binary_crossentropy</a:t>
            </a:r>
            <a:r>
              <a:rPr lang="ru-RU" dirty="0"/>
              <a:t> и для улучшения метрики </a:t>
            </a:r>
            <a:r>
              <a:rPr lang="ru-RU" dirty="0" err="1"/>
              <a:t>binary_accuracy</a:t>
            </a:r>
            <a:r>
              <a:rPr lang="ru-RU" dirty="0"/>
              <a:t>.</a:t>
            </a:r>
          </a:p>
          <a:p>
            <a:r>
              <a:rPr lang="ru-RU" dirty="0"/>
              <a:t>   После обучения модель оценивается на тестовом наборе данных, и выводятся значения потерь и 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226232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EBEE-8ECC-0ABC-D97C-00DC092D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-73025"/>
            <a:ext cx="10515600" cy="1325563"/>
          </a:xfrm>
        </p:spPr>
        <p:txBody>
          <a:bodyPr/>
          <a:lstStyle/>
          <a:p>
            <a:r>
              <a:rPr lang="en-US" dirty="0"/>
              <a:t>Mersenne Twister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5331F8-5DED-EDC7-CAA5-3731426E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965F67-85A8-57DA-3539-0D41E0D35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3" y="1004887"/>
            <a:ext cx="6328047" cy="571658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B134DB-0EB2-D6BD-C9C3-A9C3016E7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710" y="136525"/>
            <a:ext cx="5459767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1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495DA-D364-D875-1791-FFF666D4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Mersenne Twister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A6E232-EA2F-6D9B-A884-1B9026B2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82699A-2729-C843-85B1-FB130328D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428" y="206375"/>
            <a:ext cx="3548876" cy="6515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97C5C-C39B-2C5B-80A3-E5ADE000ECC6}"/>
              </a:ext>
            </a:extLst>
          </p:cNvPr>
          <p:cNvSpPr txBox="1"/>
          <p:nvPr/>
        </p:nvSpPr>
        <p:spPr>
          <a:xfrm>
            <a:off x="0" y="1089164"/>
            <a:ext cx="51674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В функции </a:t>
            </a:r>
            <a:r>
              <a:rPr lang="ru-RU" dirty="0" err="1"/>
              <a:t>seed_mt</a:t>
            </a:r>
            <a:r>
              <a:rPr lang="ru-RU" dirty="0"/>
              <a:t>() инициализируется массив состояний MT с помощью начального значения. </a:t>
            </a:r>
          </a:p>
          <a:p>
            <a:pPr marL="342900" indent="-342900">
              <a:buAutoNum type="arabicPeriod"/>
            </a:pPr>
            <a:r>
              <a:rPr lang="ru-RU" dirty="0"/>
              <a:t>Каждый элемент массива рассчитывается, основываясь на предыдущем элементе и константах генератора, и срезается до 32 бит.</a:t>
            </a:r>
          </a:p>
          <a:p>
            <a:pPr marL="342900" indent="-342900">
              <a:buAutoNum type="arabicPeriod"/>
            </a:pPr>
            <a:r>
              <a:rPr lang="ru-RU" dirty="0"/>
              <a:t>В функции </a:t>
            </a:r>
            <a:r>
              <a:rPr lang="ru-RU" dirty="0" err="1"/>
              <a:t>extract_state</a:t>
            </a:r>
            <a:r>
              <a:rPr lang="ru-RU" dirty="0"/>
              <a:t>() по мере необходимости извлекаются значения из массива MT, чтобы получить случайные числа, либо, если массив исчерпан, вызывается функция </a:t>
            </a:r>
            <a:r>
              <a:rPr lang="ru-RU" dirty="0" err="1"/>
              <a:t>twist</a:t>
            </a:r>
            <a:r>
              <a:rPr lang="ru-RU" dirty="0"/>
              <a:t>() для обновления состояний генератора.</a:t>
            </a:r>
          </a:p>
          <a:p>
            <a:pPr marL="342900" indent="-342900">
              <a:buAutoNum type="arabicPeriod"/>
            </a:pPr>
            <a:r>
              <a:rPr lang="ru-RU" dirty="0"/>
              <a:t>В функции </a:t>
            </a:r>
            <a:r>
              <a:rPr lang="ru-RU" dirty="0" err="1"/>
              <a:t>twist</a:t>
            </a:r>
            <a:r>
              <a:rPr lang="ru-RU" dirty="0"/>
              <a:t>() каждый элемент MT пересчитывается, используя побитовые операции и маски, чтобы создать новые состояния. Элементы объединяются с верхними и нижними масками, после чего проходят проверку на младший бит, применяя дополнительное преобразование, если младший бит равен 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BC75E-ED4A-D103-9577-854708ECFD95}"/>
              </a:ext>
            </a:extLst>
          </p:cNvPr>
          <p:cNvSpPr txBox="1"/>
          <p:nvPr/>
        </p:nvSpPr>
        <p:spPr>
          <a:xfrm>
            <a:off x="8727282" y="1557199"/>
            <a:ext cx="34647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К каждому элементу массива состояний применяется операция </a:t>
            </a:r>
            <a:r>
              <a:rPr lang="ru-RU" dirty="0" err="1"/>
              <a:t>xorshifter</a:t>
            </a:r>
            <a:r>
              <a:rPr lang="ru-RU" dirty="0"/>
              <a:t>(), где числа последовательно сдвигаются влево и вправо, подвергаясь побитовым операциям XOR с константами, чтобы усилить случайность значений.</a:t>
            </a:r>
          </a:p>
          <a:p>
            <a:pPr marL="342900" indent="-342900">
              <a:buAutoNum type="arabicPeriod" startAt="5"/>
            </a:pPr>
            <a:r>
              <a:rPr lang="ru-RU" dirty="0"/>
              <a:t>Окончательные результаты сохраняются в файл</a:t>
            </a:r>
          </a:p>
        </p:txBody>
      </p:sp>
    </p:spTree>
    <p:extLst>
      <p:ext uri="{BB962C8B-B14F-4D97-AF65-F5344CB8AC3E}">
        <p14:creationId xmlns:p14="http://schemas.microsoft.com/office/powerpoint/2010/main" val="173906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02A63-A355-4550-86AA-8F2E2D53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Построение нейронной сети</a:t>
            </a:r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MT</a:t>
            </a:r>
            <a:endParaRPr lang="ru-RU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619FCC-B64B-3A1C-47A9-5C404FF3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950D5E-EA65-4994-9FCA-43A3515BE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462088"/>
            <a:ext cx="5003800" cy="5299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A95F5E-6199-427E-FE7E-0B9DC8C578AD}"/>
              </a:ext>
            </a:extLst>
          </p:cNvPr>
          <p:cNvSpPr txBox="1"/>
          <p:nvPr/>
        </p:nvSpPr>
        <p:spPr>
          <a:xfrm>
            <a:off x="5562600" y="1060113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Построение модели осуществляется в 2 этапа.</a:t>
            </a:r>
          </a:p>
          <a:p>
            <a:pPr indent="450215" algn="just"/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входном слое 32 узла, символизирующих 1 число размерностью 32 бит. </a:t>
            </a:r>
          </a:p>
          <a:p>
            <a:pPr indent="450215" algn="just"/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скрытом слое предполагаем 640 узла исходя из того, что XOR является нелинейной операцией,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моделирования которой необходимо достаточное количество узлов, но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такое, удовлетворяющее следующим требованиям: </a:t>
            </a:r>
          </a:p>
          <a:p>
            <a:pPr marL="342900" indent="-342900" algn="just">
              <a:buAutoNum type="arabicPeriod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злов не должно быть мало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одель может не справиться с поиском закономерностей в данных (проблема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недообучения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marL="342900" indent="-342900" algn="just"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Узлов не должно быть слишком много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одель станет слишком сложной и займет много времени для обучения, а также может начать «запоминать» данные, а не обучаться обобщающим шаблонам (проблема переобучения)</a:t>
            </a:r>
          </a:p>
          <a:p>
            <a:pPr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выходном слое 32 узла, символизирующих выходное число размерностью 32 бит. </a:t>
            </a:r>
          </a:p>
        </p:txBody>
      </p:sp>
    </p:spTree>
    <p:extLst>
      <p:ext uri="{BB962C8B-B14F-4D97-AF65-F5344CB8AC3E}">
        <p14:creationId xmlns:p14="http://schemas.microsoft.com/office/powerpoint/2010/main" val="2418303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531AA-1B20-2C78-B898-46CA42B0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428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/>
              <a:t>Обучение модели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F18178-1237-7F03-15F9-BAB325C6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65D6B0-9A2D-468E-EA1E-E296F63AA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006233"/>
            <a:ext cx="5534025" cy="5851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6ADF64-49AA-387A-0CA8-DC1F7B1498CB}"/>
              </a:ext>
            </a:extLst>
          </p:cNvPr>
          <p:cNvSpPr txBox="1"/>
          <p:nvPr/>
        </p:nvSpPr>
        <p:spPr>
          <a:xfrm>
            <a:off x="58674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входном слое 96 узлов, символизирующих 3 числа размерностью 96 бит. </a:t>
            </a:r>
          </a:p>
          <a:p>
            <a:pPr indent="450215" algn="just"/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скрытом слое предполагаем 96 узла исходя из того, что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Twisting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является более простой операцией,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моделирования которой необходимо более малое количество узлов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выходном слое 32 узла, символизирующих выходное число размерностью 32 бит. </a:t>
            </a:r>
          </a:p>
        </p:txBody>
      </p:sp>
    </p:spTree>
    <p:extLst>
      <p:ext uri="{BB962C8B-B14F-4D97-AF65-F5344CB8AC3E}">
        <p14:creationId xmlns:p14="http://schemas.microsoft.com/office/powerpoint/2010/main" val="2556173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6C879-1594-783D-CBF6-B0FA9B94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94" y="320675"/>
            <a:ext cx="4708988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Программа классификации и прогнозирования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248F722-F0E2-C581-374C-FAB4EBDDDC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352" y="0"/>
            <a:ext cx="3462342" cy="682522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D07454-4FAE-EEDD-E38E-19FD59D90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9ABF46DB-DFE7-E392-8BBA-6923017E36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" t="-1207" r="56447" b="37939"/>
          <a:stretch/>
        </p:blipFill>
        <p:spPr bwMode="auto">
          <a:xfrm>
            <a:off x="560294" y="1936751"/>
            <a:ext cx="2504470" cy="433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276B600-F3E6-9AE6-0834-B88092F23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10"/>
          <a:stretch/>
        </p:blipFill>
        <p:spPr bwMode="auto">
          <a:xfrm>
            <a:off x="8157882" y="4310902"/>
            <a:ext cx="379991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1755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9DBCE-D530-9389-1EBE-C8852EF9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C8EEF0-F244-8284-6EB3-873FFE54A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1. Провести анализ исследуемого алгоритма на наличие закономерностей (Как получается сгенерированное число).</a:t>
            </a:r>
          </a:p>
          <a:p>
            <a:r>
              <a:rPr lang="ru-RU" dirty="0"/>
              <a:t>2. Разработать нейронную(</a:t>
            </a:r>
            <a:r>
              <a:rPr lang="ru-RU" dirty="0" err="1"/>
              <a:t>ые</a:t>
            </a:r>
            <a:r>
              <a:rPr lang="ru-RU" dirty="0"/>
              <a:t>) сеть(и) и обучить модели.</a:t>
            </a:r>
          </a:p>
          <a:p>
            <a:r>
              <a:rPr lang="ru-RU" dirty="0"/>
              <a:t>3. Продемонстрировать результат успешного или неуспешного обучения. Если НС обучить невозможно, объяснить почему.</a:t>
            </a:r>
          </a:p>
          <a:p>
            <a:r>
              <a:rPr lang="ru-RU" dirty="0"/>
              <a:t>4. Сравнить полученные результаты с результатами, предыдущей работы.</a:t>
            </a:r>
          </a:p>
          <a:p>
            <a:r>
              <a:rPr lang="ru-RU" dirty="0"/>
              <a:t>5. Сделать вывод о работе.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566D4E-F174-89C1-30A9-ECCED748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045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39850"/>
            <a:ext cx="10515600" cy="52895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2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Спасибо за внимание! </a:t>
            </a:r>
          </a:p>
          <a:p>
            <a:pPr marL="0" indent="0" algn="ctr">
              <a:buNone/>
            </a:pPr>
            <a:endParaRPr lang="ru-RU" sz="4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8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B6EBC7-2752-5BAB-355B-D6C2F1D2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dirty="0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65686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B842F67280AE4093A662E000466428" ma:contentTypeVersion="3" ma:contentTypeDescription="Create a new document." ma:contentTypeScope="" ma:versionID="8e1c9b5244fc163861506b0d2df6ba39">
  <xsd:schema xmlns:xsd="http://www.w3.org/2001/XMLSchema" xmlns:xs="http://www.w3.org/2001/XMLSchema" xmlns:p="http://schemas.microsoft.com/office/2006/metadata/properties" xmlns:ns2="165a6f25-3682-4753-a518-ffc1891bc7cd" targetNamespace="http://schemas.microsoft.com/office/2006/metadata/properties" ma:root="true" ma:fieldsID="07def526045b3c0a8f7b9abc94fc6f55" ns2:_="">
    <xsd:import namespace="165a6f25-3682-4753-a518-ffc1891bc7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5a6f25-3682-4753-a518-ffc1891bc7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22C782-3334-4C80-B0AE-93C67AEF8B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5a6f25-3682-4753-a518-ffc1891bc7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DAC8BF-9480-4710-B173-66E15013FCE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E5662EA-11F7-405F-9DBF-9E47FF8A3F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5413</TotalTime>
  <Words>956</Words>
  <Application>Microsoft Office PowerPoint</Application>
  <PresentationFormat>Широкоэкранный</PresentationFormat>
  <Paragraphs>115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Ginto</vt:lpstr>
      <vt:lpstr>Tahoma</vt:lpstr>
      <vt:lpstr>Times New Roman</vt:lpstr>
      <vt:lpstr>YS Text</vt:lpstr>
      <vt:lpstr>Тема Office</vt:lpstr>
      <vt:lpstr>Презентация PowerPoint</vt:lpstr>
      <vt:lpstr>Что такое ГПСЧ</vt:lpstr>
      <vt:lpstr>Проблема</vt:lpstr>
      <vt:lpstr>Машинное обучение</vt:lpstr>
      <vt:lpstr>Xorshift128</vt:lpstr>
      <vt:lpstr>Результаты тестирования NIST</vt:lpstr>
      <vt:lpstr>Построение нейронной сети  Xorshift128</vt:lpstr>
      <vt:lpstr>Обучение модели</vt:lpstr>
      <vt:lpstr>Обучение модели</vt:lpstr>
      <vt:lpstr>Mersenne Twister</vt:lpstr>
      <vt:lpstr>Mersenne Twister</vt:lpstr>
      <vt:lpstr>Построение нейронной сети  MT</vt:lpstr>
      <vt:lpstr>Обучение модели</vt:lpstr>
      <vt:lpstr>Программа классификации и прогнозирования</vt:lpstr>
      <vt:lpstr>Задание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Куминов Валерий Павлович</cp:lastModifiedBy>
  <cp:revision>273</cp:revision>
  <cp:lastPrinted>2023-05-17T11:28:08Z</cp:lastPrinted>
  <dcterms:created xsi:type="dcterms:W3CDTF">2021-11-29T10:22:08Z</dcterms:created>
  <dcterms:modified xsi:type="dcterms:W3CDTF">2024-10-27T19:47:47Z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0x01010002B842F67280AE4093A662E000466428</vt:lpwstr>
  </property>
  <property fmtid="{D5CDD505-2E9C-101B-9397-08002B2CF9AE}" pid="3" name="Order">
    <vt:r8>2900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